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5" r:id="rId4"/>
    <p:sldMasterId id="2147483688" r:id="rId5"/>
  </p:sldMasterIdLst>
  <p:notesMasterIdLst>
    <p:notesMasterId r:id="rId7"/>
  </p:notesMasterIdLst>
  <p:sldIdLst>
    <p:sldId id="256" r:id="rId6"/>
    <p:sldId id="586" r:id="rId8"/>
    <p:sldId id="347" r:id="rId9"/>
    <p:sldId id="450" r:id="rId10"/>
    <p:sldId id="1527" r:id="rId11"/>
    <p:sldId id="1006" r:id="rId12"/>
    <p:sldId id="1327" r:id="rId13"/>
    <p:sldId id="1512" r:id="rId14"/>
    <p:sldId id="1513" r:id="rId15"/>
    <p:sldId id="1514" r:id="rId16"/>
    <p:sldId id="1466" r:id="rId17"/>
    <p:sldId id="1528" r:id="rId18"/>
    <p:sldId id="1880" r:id="rId19"/>
    <p:sldId id="1529" r:id="rId20"/>
    <p:sldId id="1468" r:id="rId21"/>
    <p:sldId id="1530" r:id="rId22"/>
    <p:sldId id="351" r:id="rId23"/>
    <p:sldId id="1881" r:id="rId24"/>
    <p:sldId id="1469" r:id="rId25"/>
    <p:sldId id="1470" r:id="rId26"/>
    <p:sldId id="1471" r:id="rId27"/>
    <p:sldId id="1516" r:id="rId28"/>
    <p:sldId id="1517" r:id="rId29"/>
    <p:sldId id="1901" r:id="rId30"/>
    <p:sldId id="1699" r:id="rId31"/>
    <p:sldId id="1701" r:id="rId32"/>
    <p:sldId id="1700" r:id="rId33"/>
    <p:sldId id="1473" r:id="rId34"/>
    <p:sldId id="1474" r:id="rId35"/>
    <p:sldId id="1526" r:id="rId36"/>
    <p:sldId id="1475" r:id="rId37"/>
    <p:sldId id="1476" r:id="rId38"/>
    <p:sldId id="1779" r:id="rId39"/>
    <p:sldId id="1478" r:id="rId40"/>
    <p:sldId id="1519" r:id="rId41"/>
    <p:sldId id="1479" r:id="rId42"/>
    <p:sldId id="1521" r:id="rId43"/>
    <p:sldId id="1520" r:id="rId44"/>
    <p:sldId id="1522" r:id="rId45"/>
    <p:sldId id="1480" r:id="rId46"/>
    <p:sldId id="1523" r:id="rId47"/>
    <p:sldId id="1524" r:id="rId48"/>
    <p:sldId id="1525" r:id="rId49"/>
    <p:sldId id="1481" r:id="rId50"/>
    <p:sldId id="1905" r:id="rId51"/>
    <p:sldId id="1483" r:id="rId52"/>
    <p:sldId id="1885" r:id="rId53"/>
    <p:sldId id="1484" r:id="rId54"/>
    <p:sldId id="1485" r:id="rId55"/>
    <p:sldId id="1486" r:id="rId56"/>
    <p:sldId id="1487" r:id="rId57"/>
    <p:sldId id="1488" r:id="rId58"/>
    <p:sldId id="1489" r:id="rId59"/>
    <p:sldId id="1490" r:id="rId60"/>
    <p:sldId id="1493" r:id="rId61"/>
    <p:sldId id="1491" r:id="rId62"/>
    <p:sldId id="1494" r:id="rId63"/>
    <p:sldId id="1495" r:id="rId64"/>
    <p:sldId id="1496" r:id="rId65"/>
    <p:sldId id="1531" r:id="rId66"/>
    <p:sldId id="1533" r:id="rId67"/>
    <p:sldId id="1907" r:id="rId68"/>
    <p:sldId id="1908" r:id="rId69"/>
    <p:sldId id="1910" r:id="rId70"/>
    <p:sldId id="1912" r:id="rId71"/>
    <p:sldId id="1911" r:id="rId72"/>
    <p:sldId id="1501" r:id="rId73"/>
    <p:sldId id="1886" r:id="rId74"/>
    <p:sldId id="1887" r:id="rId75"/>
    <p:sldId id="1535" r:id="rId76"/>
    <p:sldId id="352" r:id="rId77"/>
    <p:sldId id="446" r:id="rId78"/>
    <p:sldId id="1536" r:id="rId79"/>
    <p:sldId id="1538" r:id="rId80"/>
    <p:sldId id="1539" r:id="rId81"/>
    <p:sldId id="1540" r:id="rId82"/>
    <p:sldId id="1541" r:id="rId83"/>
    <p:sldId id="1542" r:id="rId84"/>
    <p:sldId id="1543" r:id="rId85"/>
    <p:sldId id="1545" r:id="rId86"/>
    <p:sldId id="1546" r:id="rId87"/>
    <p:sldId id="1547" r:id="rId88"/>
    <p:sldId id="1854" r:id="rId89"/>
    <p:sldId id="1888" r:id="rId90"/>
    <p:sldId id="1855" r:id="rId91"/>
    <p:sldId id="1890" r:id="rId92"/>
    <p:sldId id="1891" r:id="rId93"/>
    <p:sldId id="1889" r:id="rId94"/>
    <p:sldId id="1892" r:id="rId95"/>
    <p:sldId id="1847" r:id="rId96"/>
    <p:sldId id="1894" r:id="rId97"/>
    <p:sldId id="1913" r:id="rId98"/>
    <p:sldId id="1896" r:id="rId99"/>
    <p:sldId id="1509" r:id="rId100"/>
    <p:sldId id="1550" r:id="rId101"/>
    <p:sldId id="1552" r:id="rId102"/>
    <p:sldId id="1898" r:id="rId103"/>
    <p:sldId id="1555" r:id="rId104"/>
    <p:sldId id="1556" r:id="rId105"/>
    <p:sldId id="1561" r:id="rId106"/>
    <p:sldId id="1900" r:id="rId107"/>
    <p:sldId id="1899" r:id="rId108"/>
    <p:sldId id="1562" r:id="rId109"/>
    <p:sldId id="609" r:id="rId110"/>
    <p:sldId id="1563" r:id="rId111"/>
    <p:sldId id="1647" r:id="rId112"/>
    <p:sldId id="1648" r:id="rId113"/>
    <p:sldId id="1649" r:id="rId114"/>
    <p:sldId id="1650" r:id="rId115"/>
    <p:sldId id="1651" r:id="rId116"/>
    <p:sldId id="1652" r:id="rId117"/>
    <p:sldId id="1653" r:id="rId118"/>
    <p:sldId id="776" r:id="rId119"/>
  </p:sldIdLst>
  <p:sldSz cx="12192000" cy="6858000"/>
  <p:notesSz cx="6858000" cy="9144000"/>
  <p:custDataLst>
    <p:tags r:id="rId123"/>
  </p:custDataLst>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0"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C8FEFD"/>
    <a:srgbClr val="652B91"/>
    <a:srgbClr val="E2E20E"/>
    <a:srgbClr val="F1600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20"/>
    <p:restoredTop sz="91334"/>
  </p:normalViewPr>
  <p:slideViewPr>
    <p:cSldViewPr showGuides="1">
      <p:cViewPr varScale="1">
        <p:scale>
          <a:sx n="88" d="100"/>
          <a:sy n="88" d="100"/>
        </p:scale>
        <p:origin x="1080" y="90"/>
      </p:cViewPr>
      <p:guideLst>
        <p:guide orient="horz" pos="2230"/>
        <p:guide pos="3842"/>
      </p:guideLst>
    </p:cSldViewPr>
  </p:slideViewPr>
  <p:outlineViewPr>
    <p:cViewPr>
      <p:scale>
        <a:sx n="33" d="100"/>
        <a:sy n="33" d="100"/>
      </p:scale>
      <p:origin x="0" y="0"/>
    </p:cViewPr>
  </p:outlineViewPr>
  <p:notesTextViewPr>
    <p:cViewPr>
      <p:scale>
        <a:sx n="100" d="100"/>
        <a:sy n="100" d="100"/>
      </p:scale>
      <p:origin x="0" y="0"/>
    </p:cViewPr>
  </p:notesText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3" Type="http://schemas.openxmlformats.org/officeDocument/2006/relationships/tags" Target="tags/tag5.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6.xml"/><Relationship Id="rId119" Type="http://schemas.openxmlformats.org/officeDocument/2006/relationships/slide" Target="slides/slide113.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110" Type="http://schemas.openxmlformats.org/officeDocument/2006/relationships/slide" Target="slides/slide104.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kumimoji="1"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Tx/>
              <a:buNone/>
              <a:defRPr kumimoji="1"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4821" name="备注占位符 4"/>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Tx/>
              <a:buNone/>
              <a:defRPr kumimoji="1"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fontAlgn="base" hangingPunct="1">
              <a:buNone/>
            </a:pPr>
            <a:fld id="{9A0DB2DC-4C9A-4742-B13C-FB6460FD3503}" type="slidenum">
              <a:rPr lang="en-US" altLang="en-US" sz="1200" strike="noStrike" noProof="1" dirty="0">
                <a:latin typeface="Times New Roman" panose="02020603050405020304" pitchFamily="18" charset="0"/>
                <a:ea typeface="宋体" panose="02010600030101010101" pitchFamily="2" charset="-122"/>
                <a:cs typeface="+mn-cs"/>
              </a:rPr>
            </a:fld>
            <a:endParaRPr lang="en-US"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a:ln>
            <a:solidFill>
              <a:srgbClr val="000000"/>
            </a:solidFill>
            <a:miter/>
          </a:ln>
        </p:spPr>
      </p:sp>
      <p:sp>
        <p:nvSpPr>
          <p:cNvPr id="36866"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sz="2400" dirty="0">
              <a:latin typeface="Times New Roman" panose="02020603050405020304" pitchFamily="18" charset="0"/>
              <a:ea typeface="宋体" panose="02010600030101010101" pitchFamily="2" charset="-122"/>
            </a:endParaRPr>
          </a:p>
        </p:txBody>
      </p:sp>
      <p:sp>
        <p:nvSpPr>
          <p:cNvPr id="36867"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en-US" dirty="0">
                <a:latin typeface="Times New Roman" panose="02020603050405020304" pitchFamily="18" charset="0"/>
              </a:rPr>
            </a:fld>
            <a:endParaRPr lang="en-US" altLang="en-US"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dirty="0">
              <a:ea typeface="宋体" panose="02010600030101010101" pitchFamily="2" charset="-122"/>
            </a:endParaRPr>
          </a:p>
        </p:txBody>
      </p:sp>
      <p:sp>
        <p:nvSpPr>
          <p:cNvPr id="4301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en-US" dirty="0">
                <a:latin typeface="Times New Roman" panose="02020603050405020304" pitchFamily="18" charset="0"/>
              </a:rPr>
            </a:fld>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noTextEdit="1"/>
          </p:cNvSpPr>
          <p:nvPr>
            <p:ph type="sldImg"/>
          </p:nvPr>
        </p:nvSpPr>
        <p:spPr>
          <a:ln>
            <a:solidFill>
              <a:srgbClr val="000000"/>
            </a:solidFill>
            <a:miter/>
          </a:ln>
        </p:spPr>
      </p:sp>
      <p:sp>
        <p:nvSpPr>
          <p:cNvPr id="45058"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dirty="0">
              <a:ea typeface="宋体" panose="02010600030101010101" pitchFamily="2" charset="-122"/>
            </a:endParaRPr>
          </a:p>
        </p:txBody>
      </p:sp>
      <p:sp>
        <p:nvSpPr>
          <p:cNvPr id="4505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en-US" dirty="0">
                <a:latin typeface="Times New Roman" panose="02020603050405020304" pitchFamily="18" charset="0"/>
              </a:rPr>
            </a:fld>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noTextEdit="1"/>
          </p:cNvSpPr>
          <p:nvPr>
            <p:ph type="sldImg"/>
          </p:nvPr>
        </p:nvSpPr>
        <p:spPr>
          <a:ln>
            <a:solidFill>
              <a:srgbClr val="000000"/>
            </a:solidFill>
            <a:miter/>
          </a:ln>
        </p:spPr>
      </p:sp>
      <p:sp>
        <p:nvSpPr>
          <p:cNvPr id="47106"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dirty="0">
              <a:ea typeface="宋体" panose="02010600030101010101" pitchFamily="2" charset="-122"/>
            </a:endParaRPr>
          </a:p>
        </p:txBody>
      </p:sp>
      <p:sp>
        <p:nvSpPr>
          <p:cNvPr id="47107"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en-US" dirty="0">
                <a:latin typeface="Times New Roman" panose="02020603050405020304" pitchFamily="18" charset="0"/>
              </a:rPr>
            </a:fld>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TextEdit="1"/>
          </p:cNvSpPr>
          <p:nvPr>
            <p:ph type="sldImg"/>
          </p:nvPr>
        </p:nvSpPr>
        <p:spPr>
          <a:ln>
            <a:solidFill>
              <a:srgbClr val="000000"/>
            </a:solidFill>
            <a:miter/>
          </a:ln>
        </p:spPr>
      </p:sp>
      <p:sp>
        <p:nvSpPr>
          <p:cNvPr id="49154"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dirty="0">
              <a:ea typeface="宋体" panose="02010600030101010101" pitchFamily="2" charset="-122"/>
            </a:endParaRPr>
          </a:p>
        </p:txBody>
      </p:sp>
      <p:sp>
        <p:nvSpPr>
          <p:cNvPr id="4915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en-US" dirty="0">
                <a:latin typeface="Times New Roman" panose="02020603050405020304" pitchFamily="18" charset="0"/>
              </a:rPr>
            </a:fld>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a:ln>
            <a:solidFill>
              <a:srgbClr val="000000"/>
            </a:solidFill>
            <a:miter/>
          </a:ln>
        </p:spPr>
      </p:sp>
      <p:sp>
        <p:nvSpPr>
          <p:cNvPr id="51202"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dirty="0">
              <a:ea typeface="宋体" panose="02010600030101010101" pitchFamily="2" charset="-122"/>
            </a:endParaRPr>
          </a:p>
        </p:txBody>
      </p:sp>
      <p:sp>
        <p:nvSpPr>
          <p:cNvPr id="5120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fld id="{9A0DB2DC-4C9A-4742-B13C-FB6460FD3503}" type="slidenum">
              <a:rPr lang="en-US" altLang="en-US" dirty="0">
                <a:latin typeface="Times New Roman" panose="02020603050405020304" pitchFamily="18" charset="0"/>
              </a:rPr>
            </a:fld>
            <a:endParaRPr lang="en-US" altLang="en-US"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椭圆 12"/>
          <p:cNvSpPr/>
          <p:nvPr/>
        </p:nvSpPr>
        <p:spPr>
          <a:xfrm>
            <a:off x="1228577" y="1413798"/>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椭圆 13"/>
          <p:cNvSpPr/>
          <p:nvPr/>
        </p:nvSpPr>
        <p:spPr>
          <a:xfrm>
            <a:off x="1543051" y="1344613"/>
            <a:ext cx="84667" cy="6508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4" name="标题 13"/>
          <p:cNvSpPr>
            <a:spLocks noGrp="1"/>
          </p:cNvSpPr>
          <p:nvPr>
            <p:ph type="ctrTitle"/>
          </p:nvPr>
        </p:nvSpPr>
        <p:spPr>
          <a:xfrm>
            <a:off x="1910080" y="359898"/>
            <a:ext cx="9875520" cy="1472184"/>
          </a:xfrm>
        </p:spPr>
        <p:txBody>
          <a:bodyPr anchor="b"/>
          <a:lstStyle>
            <a:lvl1pPr algn="l">
              <a:defRPr/>
            </a:lvl1pPr>
          </a:lstStyle>
          <a:p>
            <a:pPr fontAlgn="base"/>
            <a:r>
              <a:rPr lang="zh-CN" altLang="en-US" strike="noStrike" noProof="1"/>
              <a:t>单击此处编辑母版标题样式</a:t>
            </a:r>
            <a:endParaRPr lang="en-US" strike="noStrike" noProof="1"/>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a:t>单击此处编辑母版副标题样式</a:t>
            </a:r>
            <a:endParaRPr lang="en-US" strike="noStrike" noProof="1"/>
          </a:p>
        </p:txBody>
      </p:sp>
      <p:sp>
        <p:nvSpPr>
          <p:cNvPr id="16" name="日期占位符 6"/>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19"/>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9"/>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3043767" y="0"/>
            <a:ext cx="9144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3048000" y="0"/>
            <a:ext cx="1016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896423"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7" name="椭圆 16"/>
          <p:cNvSpPr/>
          <p:nvPr/>
        </p:nvSpPr>
        <p:spPr>
          <a:xfrm>
            <a:off x="3210984" y="2746375"/>
            <a:ext cx="84667"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fontAlgn="base"/>
            <a:r>
              <a:rPr lang="zh-CN" altLang="en-US" strike="noStrike" noProof="1"/>
              <a:t>单击此处编辑母版文本样式</a:t>
            </a:r>
            <a:endParaRPr lang="zh-CN" altLang="en-US" strike="noStrike" noProof="1"/>
          </a:p>
        </p:txBody>
      </p:sp>
      <p:sp>
        <p:nvSpPr>
          <p:cNvPr id="18" name="日期占位符 3"/>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页脚占位符 4"/>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0" name="灯片编号占位符 5"/>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lstStyle>
            <a:lvl1pPr algn="ctr">
              <a:defRPr sz="4500" b="1" cap="none"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6"/>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7"/>
          <p:cNvSpPr>
            <a:spLocks noGrp="1"/>
          </p:cNvSpPr>
          <p:nvPr>
            <p:ph type="ftr" sz="quarter" idx="1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8"/>
          <p:cNvSpPr>
            <a:spLocks noGrp="1"/>
          </p:cNvSpPr>
          <p:nvPr>
            <p:ph type="sldNum" sz="quarter" idx="1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352551" y="0"/>
            <a:ext cx="10839451"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日期占位符 1"/>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2"/>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3"/>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1"/>
          </p:nvPr>
        </p:nvSpPr>
        <p:spPr>
          <a:xfrm>
            <a:off x="609600" y="2133600"/>
            <a:ext cx="10871200" cy="3992563"/>
          </a:xfrm>
        </p:spPr>
        <p:txBody>
          <a:bodyPr/>
          <a:lstStyle>
            <a:lvl1pPr>
              <a:defRPr sz="3200"/>
            </a:lvl1pPr>
            <a:lvl2pPr>
              <a:defRPr sz="2800"/>
            </a:lvl2pPr>
            <a:lvl3pPr>
              <a:defRPr sz="2400"/>
            </a:lvl3pPr>
            <a:lvl4pPr>
              <a:defRPr sz="2000"/>
            </a:lvl4pPr>
            <a:lvl5pPr>
              <a:defRPr sz="20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015995"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marL="0" marR="0" lvl="0" indent="-283210" algn="l" defTabSz="914400" rtl="0" eaLnBrk="1" fontAlgn="base" latinLnBrk="0" hangingPunct="1">
              <a:lnSpc>
                <a:spcPts val="3000"/>
              </a:lnSpc>
              <a:spcBef>
                <a:spcPts val="600"/>
              </a:spcBef>
              <a:spcAft>
                <a:spcPct val="0"/>
              </a:spcAft>
              <a:buClr>
                <a:schemeClr val="accent1"/>
              </a:buClr>
              <a:buSzPct val="80000"/>
              <a:buFont typeface="Wingdings 2" panose="05020102010507070707"/>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4" name="流程图: 过程 13"/>
          <p:cNvSpPr/>
          <p:nvPr/>
        </p:nvSpPr>
        <p:spPr>
          <a:xfrm rot="19468671">
            <a:off x="529167" y="954088"/>
            <a:ext cx="914400"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流程图: 过程 15"/>
          <p:cNvSpPr/>
          <p:nvPr/>
        </p:nvSpPr>
        <p:spPr>
          <a:xfrm rot="2103354" flipH="1">
            <a:off x="6671733" y="936625"/>
            <a:ext cx="865717"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pPr fontAlgn="base"/>
            <a:r>
              <a:rPr lang="zh-CN" altLang="en-US" strike="noStrike" noProof="1"/>
              <a:t>单击此处编辑母版标题样式</a:t>
            </a:r>
            <a:endParaRPr lang="en-US" strike="noStrike" noProof="1"/>
          </a:p>
        </p:txBody>
      </p:sp>
      <p:sp>
        <p:nvSpPr>
          <p:cNvPr id="3" name="图片占位符 2"/>
          <p:cNvSpPr>
            <a:spLocks noGrp="1"/>
          </p:cNvSpPr>
          <p:nvPr>
            <p:ph type="pic" idx="1"/>
          </p:nvPr>
        </p:nvSpPr>
        <p:spPr>
          <a:xfrm>
            <a:off x="1117600" y="1143003"/>
            <a:ext cx="5892800" cy="3514531"/>
          </a:xfrm>
          <a:prstGeom prst="roundRect">
            <a:avLst>
              <a:gd name="adj" fmla="val 783"/>
            </a:avLst>
          </a:prstGeom>
          <a:solidFill>
            <a:schemeClr val="bg2"/>
          </a:solidFill>
          <a:ln w="127000">
            <a:noFill/>
            <a:miter lim="800000"/>
          </a:ln>
          <a:effectLst/>
        </p:spPr>
        <p:txBody>
          <a:bodyPr vert="horz" wrap="square" lIns="91440" tIns="274320" rIns="91440" bIns="45720" numCol="1" anchor="t" anchorCtr="0" compatLnSpc="1">
            <a:normAutofit/>
          </a:bodyPr>
          <a:lstStyle>
            <a:lvl1pPr indent="0">
              <a:buNone/>
              <a:defRPr sz="3200"/>
            </a:lvl1pPr>
          </a:lstStyle>
          <a:p>
            <a:pPr marL="365125" marR="0" lvl="0" indent="0" algn="l" defTabSz="914400" rtl="0" eaLnBrk="0" fontAlgn="base" latinLnBrk="0" hangingPunct="0">
              <a:lnSpc>
                <a:spcPct val="100000"/>
              </a:lnSpc>
              <a:spcBef>
                <a:spcPts val="600"/>
              </a:spcBef>
              <a:spcAft>
                <a:spcPct val="0"/>
              </a:spcAft>
              <a:buClr>
                <a:schemeClr val="accent1"/>
              </a:buClr>
              <a:buSzPct val="80000"/>
              <a:buFont typeface="Wingdings 2" panose="05020102010507070707" pitchFamily="18" charset="2"/>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fontAlgn="base"/>
            <a:r>
              <a:rPr lang="zh-CN" altLang="en-US" strike="noStrike" noProof="1"/>
              <a:t>单击此处编辑母版文本样式</a:t>
            </a:r>
            <a:endParaRPr lang="zh-CN" altLang="en-US" strike="noStrike" noProof="1"/>
          </a:p>
        </p:txBody>
      </p:sp>
      <p:sp>
        <p:nvSpPr>
          <p:cNvPr id="17"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39"/>
            <a:ext cx="2438400" cy="5851525"/>
          </a:xfrm>
        </p:spPr>
        <p:txBody>
          <a:bodyPr vert="eaVert"/>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a:xfrm>
            <a:off x="1524000" y="274640"/>
            <a:ext cx="74168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13" name="灯片编号占位符 2"/>
          <p:cNvSpPr>
            <a:spLocks noGrp="1"/>
          </p:cNvSpPr>
          <p:nvPr>
            <p:ph type="sldNum" sz="quarter" idx="4"/>
          </p:nvPr>
        </p:nvSpPr>
        <p:spPr>
          <a:xfrm>
            <a:off x="10320867" y="6481763"/>
            <a:ext cx="1727200" cy="260350"/>
          </a:xfrm>
          <a:prstGeom prst="rect">
            <a:avLst/>
          </a:prstGeom>
        </p:spPr>
        <p:txBody>
          <a:bodyPr vert="horz" wrap="square" lIns="91440" tIns="45720" rIns="91440" bIns="45720" numCol="1" anchor="b" anchorCtr="0" compatLnSpc="1"/>
          <a:lstStyle/>
          <a:p>
            <a:pPr algn="ctr" eaLnBrk="1" fontAlgn="base" hangingPunct="1">
              <a:buNone/>
            </a:pPr>
            <a:r>
              <a:rPr lang="en-US" altLang="en-GB" strike="noStrike" noProof="1">
                <a:latin typeface="Times New Roman" panose="02020603050405020304" pitchFamily="18" charset="0"/>
                <a:ea typeface="宋体" panose="02010600030101010101" pitchFamily="2" charset="-122"/>
                <a:cs typeface="+mn-cs"/>
              </a:rPr>
              <a:t>  </a:t>
            </a:r>
            <a:fld id="{9A0DB2DC-4C9A-4742-B13C-FB6460FD3503}" type="slidenum">
              <a:rPr lang="en-US" altLang="en-GB" strike="noStrike" noProof="1" dirty="0">
                <a:latin typeface="Times New Roman" panose="02020603050405020304" pitchFamily="18" charset="0"/>
                <a:ea typeface="宋体" panose="02010600030101010101" pitchFamily="2" charset="-122"/>
                <a:cs typeface="+mn-cs"/>
              </a:rPr>
            </a:fld>
            <a:r>
              <a:rPr lang="en-US" altLang="zh-CN" strike="noStrike" noProof="1">
                <a:latin typeface="Times New Roman" panose="02020603050405020304" pitchFamily="18" charset="0"/>
                <a:ea typeface="宋体" panose="02010600030101010101" pitchFamily="2" charset="-122"/>
                <a:cs typeface="+mn-cs"/>
              </a:rPr>
              <a:t>/134</a:t>
            </a:r>
            <a:endParaRPr lang="en-US" altLang="zh-CN" strike="noStrike" noProof="1"/>
          </a:p>
        </p:txBody>
      </p:sp>
      <p:sp>
        <p:nvSpPr>
          <p:cNvPr id="14" name="日期占位符 2"/>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页脚占位符 3"/>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Sp="0">
  <p:cSld name="1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2290" name="Line 1034"/>
          <p:cNvSpPr/>
          <p:nvPr userDrawn="1"/>
        </p:nvSpPr>
        <p:spPr>
          <a:xfrm>
            <a:off x="0" y="457200"/>
            <a:ext cx="12192000" cy="0"/>
          </a:xfrm>
          <a:prstGeom prst="line">
            <a:avLst/>
          </a:prstGeom>
          <a:ln w="127000" cap="flat" cmpd="thinThick">
            <a:solidFill>
              <a:schemeClr val="hlink"/>
            </a:solidFill>
            <a:prstDash val="solid"/>
            <a:round/>
            <a:headEnd type="none" w="med" len="med"/>
            <a:tailEnd type="none" w="med" len="med"/>
          </a:ln>
        </p:spPr>
      </p:sp>
      <p:sp>
        <p:nvSpPr>
          <p:cNvPr id="12291" name="Rectangle 1035"/>
          <p:cNvSpPr/>
          <p:nvPr userDrawn="1"/>
        </p:nvSpPr>
        <p:spPr>
          <a:xfrm>
            <a:off x="0" y="-76200"/>
            <a:ext cx="7416800" cy="583565"/>
          </a:xfrm>
          <a:prstGeom prst="rect">
            <a:avLst/>
          </a:prstGeom>
          <a:noFill/>
          <a:ln w="0">
            <a:noFill/>
          </a:ln>
        </p:spPr>
        <p:txBody>
          <a:bodyPr anchor="t" anchorCtr="0">
            <a:spAutoFit/>
          </a:bodyPr>
          <a:lstStyle/>
          <a:p>
            <a:pPr lvl="0" eaLnBrk="0" hangingPunct="0"/>
            <a:r>
              <a:rPr lang="zh-CN" altLang="en-US" sz="3200" dirty="0">
                <a:solidFill>
                  <a:srgbClr val="000099"/>
                </a:solidFill>
                <a:latin typeface="Times New Roman" panose="02020603050405020304" pitchFamily="18" charset="0"/>
                <a:ea typeface="隶书" panose="02010509060101010101" pitchFamily="49" charset="-122"/>
              </a:rPr>
              <a:t>第 3 章整合项目资源</a:t>
            </a:r>
            <a:endParaRPr lang="zh-CN" altLang="en-US" dirty="0">
              <a:latin typeface="Times New Roman" panose="02020603050405020304" pitchFamily="18" charset="0"/>
            </a:endParaRPr>
          </a:p>
        </p:txBody>
      </p:sp>
      <p:sp>
        <p:nvSpPr>
          <p:cNvPr id="16" name="Rectangle 1032"/>
          <p:cNvSpPr>
            <a:spLocks noGrp="1" noChangeArrowheads="1"/>
          </p:cNvSpPr>
          <p:nvPr>
            <p:ph type="ftr" sz="quarter" idx="3"/>
          </p:nvPr>
        </p:nvSpPr>
        <p:spPr bwMode="auto">
          <a:xfrm>
            <a:off x="101600" y="6400800"/>
            <a:ext cx="2438400" cy="457200"/>
          </a:xfrm>
          <a:prstGeom prst="rect">
            <a:avLst/>
          </a:prstGeom>
          <a:ln>
            <a:miter lim="800000"/>
          </a:ln>
        </p:spPr>
        <p:txBody>
          <a:bodyPr vert="horz" wrap="square" lIns="92075" tIns="46038" rIns="92075" bIns="46038" numCol="1" anchor="ctr" anchorCtr="0" compatLnSpc="1"/>
          <a:lstStyle>
            <a:lvl1pPr>
              <a:defRPr kumimoji="0" sz="1400" b="0" i="1">
                <a:solidFill>
                  <a:schemeClr val="tx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400" b="0" i="1" u="none" strike="noStrike" kern="1200" cap="none" spc="0" normalizeH="0" baseline="0" noProof="0">
                <a:ln>
                  <a:noFill/>
                </a:ln>
                <a:solidFill>
                  <a:schemeClr val="tx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uLnTx/>
                <a:uFillTx/>
                <a:latin typeface="Times New Roman" panose="02020603050405020304" pitchFamily="18" charset="0"/>
                <a:ea typeface="+mn-ea"/>
                <a:cs typeface="+mn-cs"/>
              </a:rPr>
              <a:t>SSPM/WRL</a:t>
            </a:r>
            <a:endParaRPr kumimoji="0" lang="en-US" altLang="zh-CN" sz="1400" b="0" i="1" u="none" strike="noStrike" kern="1200" cap="none" spc="0" normalizeH="0" baseline="0" noProof="0">
              <a:ln>
                <a:noFill/>
              </a:ln>
              <a:solidFill>
                <a:schemeClr val="tx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uLnTx/>
              <a:uFillTx/>
              <a:latin typeface="Times New Roman" panose="02020603050405020304" pitchFamily="18" charset="0"/>
              <a:ea typeface="+mn-ea"/>
              <a:cs typeface="+mn-cs"/>
            </a:endParaRPr>
          </a:p>
        </p:txBody>
      </p:sp>
      <p:sp>
        <p:nvSpPr>
          <p:cNvPr id="17" name="Rectangle 1033"/>
          <p:cNvSpPr>
            <a:spLocks noGrp="1" noChangeArrowheads="1"/>
          </p:cNvSpPr>
          <p:nvPr>
            <p:ph type="sldNum" sz="quarter" idx="4"/>
          </p:nvPr>
        </p:nvSpPr>
        <p:spPr bwMode="auto">
          <a:xfrm>
            <a:off x="9652000" y="6400800"/>
            <a:ext cx="2540000" cy="457200"/>
          </a:xfrm>
          <a:prstGeom prst="rect">
            <a:avLst/>
          </a:prstGeom>
          <a:ln>
            <a:miter lim="800000"/>
          </a:ln>
        </p:spPr>
        <p:txBody>
          <a:bodyPr vert="horz" wrap="square" lIns="92075" tIns="46038" rIns="92075" bIns="46038"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r>
              <a:rPr lang="en-US" altLang="zh-CN" strike="noStrike" noProof="1">
                <a:latin typeface="Times New Roman" panose="02020603050405020304" pitchFamily="18" charset="0"/>
                <a:ea typeface="宋体" panose="02010600030101010101" pitchFamily="2" charset="-122"/>
                <a:cs typeface="+mn-cs"/>
              </a:rPr>
              <a:t>/3</a:t>
            </a:r>
            <a:r>
              <a:rPr lang="en-GB" altLang="zh-CN" strike="noStrike" noProof="1">
                <a:latin typeface="Times New Roman" panose="02020603050405020304" pitchFamily="18" charset="0"/>
                <a:ea typeface="宋体" panose="02010600030101010101" pitchFamily="2" charset="-122"/>
                <a:cs typeface="+mn-cs"/>
              </a:rPr>
              <a:t>3</a:t>
            </a:r>
            <a:endParaRPr lang="en-US" altLang="zh-CN" strike="noStrike" noProof="1"/>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椭圆 12"/>
          <p:cNvSpPr/>
          <p:nvPr/>
        </p:nvSpPr>
        <p:spPr>
          <a:xfrm>
            <a:off x="1228577" y="1413798"/>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椭圆 13"/>
          <p:cNvSpPr/>
          <p:nvPr/>
        </p:nvSpPr>
        <p:spPr>
          <a:xfrm>
            <a:off x="1543051" y="1344613"/>
            <a:ext cx="84667" cy="6508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4" name="标题 13"/>
          <p:cNvSpPr>
            <a:spLocks noGrp="1"/>
          </p:cNvSpPr>
          <p:nvPr>
            <p:ph type="ctrTitle"/>
          </p:nvPr>
        </p:nvSpPr>
        <p:spPr>
          <a:xfrm>
            <a:off x="1910080" y="359898"/>
            <a:ext cx="9875520" cy="1472184"/>
          </a:xfrm>
        </p:spPr>
        <p:txBody>
          <a:bodyPr anchor="b"/>
          <a:lstStyle>
            <a:lvl1pPr algn="l">
              <a:defRPr/>
            </a:lvl1pPr>
          </a:lstStyle>
          <a:p>
            <a:pPr fontAlgn="base"/>
            <a:r>
              <a:rPr lang="zh-CN" altLang="en-US" strike="noStrike" noProof="1"/>
              <a:t>单击此处编辑母版标题样式</a:t>
            </a:r>
            <a:endParaRPr lang="en-US" strike="noStrike" noProof="1"/>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a:t>单击此处编辑母版副标题样式</a:t>
            </a:r>
            <a:endParaRPr lang="en-US" strike="noStrike" noProof="1"/>
          </a:p>
        </p:txBody>
      </p:sp>
      <p:sp>
        <p:nvSpPr>
          <p:cNvPr id="16" name="日期占位符 6"/>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19"/>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9"/>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3043767" y="0"/>
            <a:ext cx="9144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3048000" y="0"/>
            <a:ext cx="1016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896423"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7" name="椭圆 16"/>
          <p:cNvSpPr/>
          <p:nvPr/>
        </p:nvSpPr>
        <p:spPr>
          <a:xfrm>
            <a:off x="3210984" y="2746375"/>
            <a:ext cx="84667"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fontAlgn="base"/>
            <a:r>
              <a:rPr lang="zh-CN" altLang="en-US" strike="noStrike" noProof="1"/>
              <a:t>单击此处编辑母版文本样式</a:t>
            </a:r>
            <a:endParaRPr lang="zh-CN" altLang="en-US" strike="noStrike" noProof="1"/>
          </a:p>
        </p:txBody>
      </p:sp>
      <p:sp>
        <p:nvSpPr>
          <p:cNvPr id="18" name="日期占位符 3"/>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页脚占位符 4"/>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0" name="灯片编号占位符 5"/>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lstStyle>
            <a:lvl1pPr algn="ctr">
              <a:defRPr sz="4500" b="1" cap="none"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6"/>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7"/>
          <p:cNvSpPr>
            <a:spLocks noGrp="1"/>
          </p:cNvSpPr>
          <p:nvPr>
            <p:ph type="ftr" sz="quarter" idx="1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8"/>
          <p:cNvSpPr>
            <a:spLocks noGrp="1"/>
          </p:cNvSpPr>
          <p:nvPr>
            <p:ph type="sldNum" sz="quarter" idx="1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showMasterSp="0">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352551" y="0"/>
            <a:ext cx="10839451"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日期占位符 1"/>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2"/>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3"/>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1"/>
          </p:nvPr>
        </p:nvSpPr>
        <p:spPr>
          <a:xfrm>
            <a:off x="609600" y="2133600"/>
            <a:ext cx="10871200" cy="3992563"/>
          </a:xfrm>
        </p:spPr>
        <p:txBody>
          <a:bodyPr/>
          <a:lstStyle>
            <a:lvl1pPr>
              <a:defRPr sz="3200"/>
            </a:lvl1pPr>
            <a:lvl2pPr>
              <a:defRPr sz="2800"/>
            </a:lvl2pPr>
            <a:lvl3pPr>
              <a:defRPr sz="2400"/>
            </a:lvl3pPr>
            <a:lvl4pPr>
              <a:defRPr sz="2000"/>
            </a:lvl4pPr>
            <a:lvl5pPr>
              <a:defRPr sz="20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015995"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marL="0" marR="0" lvl="0" indent="-283210" algn="l" defTabSz="914400" rtl="0" eaLnBrk="1" fontAlgn="base" latinLnBrk="0" hangingPunct="1">
              <a:lnSpc>
                <a:spcPts val="3000"/>
              </a:lnSpc>
              <a:spcBef>
                <a:spcPts val="600"/>
              </a:spcBef>
              <a:spcAft>
                <a:spcPct val="0"/>
              </a:spcAft>
              <a:buClr>
                <a:schemeClr val="accent1"/>
              </a:buClr>
              <a:buSzPct val="80000"/>
              <a:buFont typeface="Wingdings 2" panose="05020102010507070707"/>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4" name="流程图: 过程 13"/>
          <p:cNvSpPr/>
          <p:nvPr/>
        </p:nvSpPr>
        <p:spPr>
          <a:xfrm rot="19468671">
            <a:off x="529167" y="954088"/>
            <a:ext cx="914400"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流程图: 过程 15"/>
          <p:cNvSpPr/>
          <p:nvPr/>
        </p:nvSpPr>
        <p:spPr>
          <a:xfrm rot="2103354" flipH="1">
            <a:off x="6671733" y="936625"/>
            <a:ext cx="865717"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pPr fontAlgn="base"/>
            <a:r>
              <a:rPr lang="zh-CN" altLang="en-US" strike="noStrike" noProof="1"/>
              <a:t>单击此处编辑母版标题样式</a:t>
            </a:r>
            <a:endParaRPr lang="en-US" strike="noStrike" noProof="1"/>
          </a:p>
        </p:txBody>
      </p:sp>
      <p:sp>
        <p:nvSpPr>
          <p:cNvPr id="3" name="图片占位符 2"/>
          <p:cNvSpPr>
            <a:spLocks noGrp="1"/>
          </p:cNvSpPr>
          <p:nvPr>
            <p:ph type="pic" idx="1"/>
          </p:nvPr>
        </p:nvSpPr>
        <p:spPr>
          <a:xfrm>
            <a:off x="1117600" y="1143003"/>
            <a:ext cx="5892800" cy="3514531"/>
          </a:xfrm>
          <a:prstGeom prst="roundRect">
            <a:avLst>
              <a:gd name="adj" fmla="val 783"/>
            </a:avLst>
          </a:prstGeom>
          <a:solidFill>
            <a:schemeClr val="bg2"/>
          </a:solidFill>
          <a:ln w="127000">
            <a:noFill/>
            <a:miter lim="800000"/>
          </a:ln>
          <a:effectLst/>
        </p:spPr>
        <p:txBody>
          <a:bodyPr vert="horz" wrap="square" lIns="91440" tIns="274320" rIns="91440" bIns="45720" numCol="1" anchor="t" anchorCtr="0" compatLnSpc="1">
            <a:normAutofit/>
          </a:bodyPr>
          <a:lstStyle>
            <a:lvl1pPr indent="0">
              <a:buNone/>
              <a:defRPr sz="3200"/>
            </a:lvl1pPr>
          </a:lstStyle>
          <a:p>
            <a:pPr marL="365125" marR="0" lvl="0" indent="0" algn="l" defTabSz="914400" rtl="0" eaLnBrk="0" fontAlgn="base" latinLnBrk="0" hangingPunct="0">
              <a:lnSpc>
                <a:spcPct val="100000"/>
              </a:lnSpc>
              <a:spcBef>
                <a:spcPts val="600"/>
              </a:spcBef>
              <a:spcAft>
                <a:spcPct val="0"/>
              </a:spcAft>
              <a:buClr>
                <a:schemeClr val="accent1"/>
              </a:buClr>
              <a:buSzPct val="80000"/>
              <a:buFont typeface="Wingdings 2" panose="05020102010507070707" pitchFamily="18" charset="2"/>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fontAlgn="base"/>
            <a:r>
              <a:rPr lang="zh-CN" altLang="en-US" strike="noStrike" noProof="1"/>
              <a:t>单击此处编辑母版文本样式</a:t>
            </a:r>
            <a:endParaRPr lang="zh-CN" altLang="en-US" strike="noStrike" noProof="1"/>
          </a:p>
        </p:txBody>
      </p:sp>
      <p:sp>
        <p:nvSpPr>
          <p:cNvPr id="17"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39"/>
            <a:ext cx="2438400" cy="5851525"/>
          </a:xfrm>
        </p:spPr>
        <p:txBody>
          <a:bodyPr vert="eaVert"/>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a:xfrm>
            <a:off x="1524000" y="274640"/>
            <a:ext cx="74168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13" name="灯片编号占位符 2"/>
          <p:cNvSpPr>
            <a:spLocks noGrp="1"/>
          </p:cNvSpPr>
          <p:nvPr>
            <p:ph type="sldNum" sz="quarter" idx="4"/>
          </p:nvPr>
        </p:nvSpPr>
        <p:spPr>
          <a:xfrm>
            <a:off x="10320867" y="6481763"/>
            <a:ext cx="1727200" cy="260350"/>
          </a:xfrm>
          <a:prstGeom prst="rect">
            <a:avLst/>
          </a:prstGeom>
        </p:spPr>
        <p:txBody>
          <a:bodyPr vert="horz" wrap="square" lIns="91440" tIns="45720" rIns="91440" bIns="45720" numCol="1" anchor="b" anchorCtr="0" compatLnSpc="1"/>
          <a:lstStyle/>
          <a:p>
            <a:pPr algn="ctr" eaLnBrk="1" fontAlgn="base" hangingPunct="1">
              <a:buNone/>
            </a:pPr>
            <a:r>
              <a:rPr lang="en-US" altLang="en-GB" strike="noStrike" noProof="1">
                <a:latin typeface="Times New Roman" panose="02020603050405020304" pitchFamily="18" charset="0"/>
                <a:ea typeface="宋体" panose="02010600030101010101" pitchFamily="2" charset="-122"/>
                <a:cs typeface="+mn-cs"/>
              </a:rPr>
              <a:t>  </a:t>
            </a:r>
            <a:fld id="{9A0DB2DC-4C9A-4742-B13C-FB6460FD3503}" type="slidenum">
              <a:rPr lang="en-US" altLang="en-GB" strike="noStrike" noProof="1" dirty="0">
                <a:latin typeface="Times New Roman" panose="02020603050405020304" pitchFamily="18" charset="0"/>
                <a:ea typeface="宋体" panose="02010600030101010101" pitchFamily="2" charset="-122"/>
                <a:cs typeface="+mn-cs"/>
              </a:rPr>
            </a:fld>
            <a:r>
              <a:rPr lang="en-US" altLang="zh-CN" strike="noStrike" noProof="1">
                <a:latin typeface="Times New Roman" panose="02020603050405020304" pitchFamily="18" charset="0"/>
                <a:ea typeface="宋体" panose="02010600030101010101" pitchFamily="2" charset="-122"/>
                <a:cs typeface="+mn-cs"/>
              </a:rPr>
              <a:t>/134</a:t>
            </a:r>
            <a:endParaRPr lang="en-US" altLang="zh-CN" strike="noStrike" noProof="1">
              <a:ea typeface="华文中宋" panose="02010600040101010101" pitchFamily="2" charset="-122"/>
            </a:endParaRPr>
          </a:p>
        </p:txBody>
      </p:sp>
      <p:sp>
        <p:nvSpPr>
          <p:cNvPr id="14" name="日期占位符 2"/>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页脚占位符 3"/>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椭圆 12"/>
          <p:cNvSpPr/>
          <p:nvPr/>
        </p:nvSpPr>
        <p:spPr>
          <a:xfrm>
            <a:off x="1228577" y="1413798"/>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椭圆 13"/>
          <p:cNvSpPr/>
          <p:nvPr/>
        </p:nvSpPr>
        <p:spPr>
          <a:xfrm>
            <a:off x="1543051" y="1344613"/>
            <a:ext cx="84667" cy="6508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4" name="标题 13"/>
          <p:cNvSpPr>
            <a:spLocks noGrp="1"/>
          </p:cNvSpPr>
          <p:nvPr>
            <p:ph type="ctrTitle"/>
          </p:nvPr>
        </p:nvSpPr>
        <p:spPr>
          <a:xfrm>
            <a:off x="1910080" y="359898"/>
            <a:ext cx="9875520" cy="1472184"/>
          </a:xfrm>
        </p:spPr>
        <p:txBody>
          <a:bodyPr anchor="b"/>
          <a:lstStyle>
            <a:lvl1pPr algn="l">
              <a:defRPr/>
            </a:lvl1pPr>
          </a:lstStyle>
          <a:p>
            <a:pPr fontAlgn="base"/>
            <a:r>
              <a:rPr lang="zh-CN" altLang="en-US" strike="noStrike" noProof="1"/>
              <a:t>单击此处编辑母版标题样式</a:t>
            </a:r>
            <a:endParaRPr lang="en-US" strike="noStrike" noProof="1"/>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a:t>单击此处编辑母版副标题样式</a:t>
            </a:r>
            <a:endParaRPr lang="en-US" strike="noStrike" noProof="1"/>
          </a:p>
        </p:txBody>
      </p:sp>
      <p:sp>
        <p:nvSpPr>
          <p:cNvPr id="16" name="日期占位符 6"/>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19"/>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9"/>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3043767" y="0"/>
            <a:ext cx="9144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3048000" y="0"/>
            <a:ext cx="1016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896423"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7" name="椭圆 16"/>
          <p:cNvSpPr/>
          <p:nvPr/>
        </p:nvSpPr>
        <p:spPr>
          <a:xfrm>
            <a:off x="3210984" y="2746375"/>
            <a:ext cx="84667"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fontAlgn="base"/>
            <a:r>
              <a:rPr lang="zh-CN" altLang="en-US" strike="noStrike" noProof="1"/>
              <a:t>单击此处编辑母版文本样式</a:t>
            </a:r>
            <a:endParaRPr lang="zh-CN" altLang="en-US" strike="noStrike" noProof="1"/>
          </a:p>
        </p:txBody>
      </p:sp>
      <p:sp>
        <p:nvSpPr>
          <p:cNvPr id="18" name="日期占位符 3"/>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页脚占位符 4"/>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0" name="灯片编号占位符 5"/>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lstStyle>
            <a:lvl1pPr algn="ctr">
              <a:defRPr sz="4500" b="1" cap="none"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6"/>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7"/>
          <p:cNvSpPr>
            <a:spLocks noGrp="1"/>
          </p:cNvSpPr>
          <p:nvPr>
            <p:ph type="ftr" sz="quarter" idx="1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8"/>
          <p:cNvSpPr>
            <a:spLocks noGrp="1"/>
          </p:cNvSpPr>
          <p:nvPr>
            <p:ph type="sldNum" sz="quarter" idx="1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352551" y="0"/>
            <a:ext cx="10839451"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日期占位符 1"/>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2"/>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3"/>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1"/>
          </p:nvPr>
        </p:nvSpPr>
        <p:spPr>
          <a:xfrm>
            <a:off x="609600" y="2133600"/>
            <a:ext cx="10871200" cy="3992563"/>
          </a:xfrm>
        </p:spPr>
        <p:txBody>
          <a:bodyPr/>
          <a:lstStyle>
            <a:lvl1pPr>
              <a:defRPr sz="3200"/>
            </a:lvl1pPr>
            <a:lvl2pPr>
              <a:defRPr sz="2800"/>
            </a:lvl2pPr>
            <a:lvl3pPr>
              <a:defRPr sz="2400"/>
            </a:lvl3pPr>
            <a:lvl4pPr>
              <a:defRPr sz="2000"/>
            </a:lvl4pPr>
            <a:lvl5pPr>
              <a:defRPr sz="20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015995"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marL="0" marR="0" lvl="0" indent="-283210" algn="l" defTabSz="914400" rtl="0" eaLnBrk="1" fontAlgn="base" latinLnBrk="0" hangingPunct="1">
              <a:lnSpc>
                <a:spcPts val="3000"/>
              </a:lnSpc>
              <a:spcBef>
                <a:spcPts val="600"/>
              </a:spcBef>
              <a:spcAft>
                <a:spcPct val="0"/>
              </a:spcAft>
              <a:buClr>
                <a:schemeClr val="accent1"/>
              </a:buClr>
              <a:buSzPct val="80000"/>
              <a:buFont typeface="Wingdings 2" panose="05020102010507070707"/>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4" name="流程图: 过程 13"/>
          <p:cNvSpPr/>
          <p:nvPr/>
        </p:nvSpPr>
        <p:spPr>
          <a:xfrm rot="19468671">
            <a:off x="529167" y="954088"/>
            <a:ext cx="914400"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流程图: 过程 15"/>
          <p:cNvSpPr/>
          <p:nvPr/>
        </p:nvSpPr>
        <p:spPr>
          <a:xfrm rot="2103354" flipH="1">
            <a:off x="6671733" y="936625"/>
            <a:ext cx="865717"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pPr fontAlgn="base"/>
            <a:r>
              <a:rPr lang="zh-CN" altLang="en-US" strike="noStrike" noProof="1"/>
              <a:t>单击此处编辑母版标题样式</a:t>
            </a:r>
            <a:endParaRPr lang="en-US" strike="noStrike" noProof="1"/>
          </a:p>
        </p:txBody>
      </p:sp>
      <p:sp>
        <p:nvSpPr>
          <p:cNvPr id="3" name="图片占位符 2"/>
          <p:cNvSpPr>
            <a:spLocks noGrp="1"/>
          </p:cNvSpPr>
          <p:nvPr>
            <p:ph type="pic" idx="1"/>
          </p:nvPr>
        </p:nvSpPr>
        <p:spPr>
          <a:xfrm>
            <a:off x="1117600" y="1143003"/>
            <a:ext cx="5892800" cy="3514531"/>
          </a:xfrm>
          <a:prstGeom prst="roundRect">
            <a:avLst>
              <a:gd name="adj" fmla="val 783"/>
            </a:avLst>
          </a:prstGeom>
          <a:solidFill>
            <a:schemeClr val="bg2"/>
          </a:solidFill>
          <a:ln w="127000">
            <a:noFill/>
            <a:miter lim="800000"/>
          </a:ln>
          <a:effectLst/>
        </p:spPr>
        <p:txBody>
          <a:bodyPr vert="horz" wrap="square" lIns="91440" tIns="274320" rIns="91440" bIns="45720" numCol="1" anchor="t" anchorCtr="0" compatLnSpc="1">
            <a:normAutofit/>
          </a:bodyPr>
          <a:lstStyle>
            <a:lvl1pPr indent="0">
              <a:buNone/>
              <a:defRPr sz="3200"/>
            </a:lvl1pPr>
          </a:lstStyle>
          <a:p>
            <a:pPr marL="365125" marR="0" lvl="0" indent="0" algn="l" defTabSz="914400" rtl="0" eaLnBrk="0" fontAlgn="base" latinLnBrk="0" hangingPunct="0">
              <a:lnSpc>
                <a:spcPct val="100000"/>
              </a:lnSpc>
              <a:spcBef>
                <a:spcPts val="600"/>
              </a:spcBef>
              <a:spcAft>
                <a:spcPct val="0"/>
              </a:spcAft>
              <a:buClr>
                <a:schemeClr val="accent1"/>
              </a:buClr>
              <a:buSzPct val="80000"/>
              <a:buFont typeface="Wingdings 2" panose="05020102010507070707" pitchFamily="18" charset="2"/>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fontAlgn="base"/>
            <a:r>
              <a:rPr lang="zh-CN" altLang="en-US" strike="noStrike" noProof="1"/>
              <a:t>单击此处编辑母版文本样式</a:t>
            </a:r>
            <a:endParaRPr lang="zh-CN" altLang="en-US" strike="noStrike" noProof="1"/>
          </a:p>
        </p:txBody>
      </p:sp>
      <p:sp>
        <p:nvSpPr>
          <p:cNvPr id="17"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39"/>
            <a:ext cx="2438400" cy="5851525"/>
          </a:xfrm>
        </p:spPr>
        <p:txBody>
          <a:bodyPr vert="eaVert"/>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a:xfrm>
            <a:off x="1524000" y="274640"/>
            <a:ext cx="74168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13" name="灯片编号占位符 2"/>
          <p:cNvSpPr>
            <a:spLocks noGrp="1"/>
          </p:cNvSpPr>
          <p:nvPr>
            <p:ph type="sldNum" sz="quarter" idx="4"/>
          </p:nvPr>
        </p:nvSpPr>
        <p:spPr>
          <a:xfrm>
            <a:off x="10320867" y="6481763"/>
            <a:ext cx="1727200" cy="260350"/>
          </a:xfrm>
          <a:prstGeom prst="rect">
            <a:avLst/>
          </a:prstGeom>
        </p:spPr>
        <p:txBody>
          <a:bodyPr vert="horz" wrap="square" lIns="91440" tIns="45720" rIns="91440" bIns="45720" numCol="1" anchor="b" anchorCtr="0" compatLnSpc="1"/>
          <a:lstStyle/>
          <a:p>
            <a:pPr algn="ctr" eaLnBrk="1" fontAlgn="base" hangingPunct="1">
              <a:buNone/>
            </a:pPr>
            <a:r>
              <a:rPr lang="en-US" altLang="en-GB" strike="noStrike" noProof="1">
                <a:latin typeface="Times New Roman" panose="02020603050405020304" pitchFamily="18" charset="0"/>
                <a:ea typeface="宋体" panose="02010600030101010101" pitchFamily="2" charset="-122"/>
                <a:cs typeface="+mn-cs"/>
              </a:rPr>
              <a:t>  </a:t>
            </a:r>
            <a:fld id="{9A0DB2DC-4C9A-4742-B13C-FB6460FD3503}" type="slidenum">
              <a:rPr lang="en-US" altLang="en-GB" strike="noStrike" noProof="1" dirty="0">
                <a:latin typeface="Times New Roman" panose="02020603050405020304" pitchFamily="18" charset="0"/>
                <a:ea typeface="宋体" panose="02010600030101010101" pitchFamily="2" charset="-122"/>
                <a:cs typeface="+mn-cs"/>
              </a:rPr>
            </a:fld>
            <a:r>
              <a:rPr lang="en-US" altLang="zh-CN" strike="noStrike" noProof="1">
                <a:latin typeface="Times New Roman" panose="02020603050405020304" pitchFamily="18" charset="0"/>
                <a:ea typeface="宋体" panose="02010600030101010101" pitchFamily="2" charset="-122"/>
                <a:cs typeface="+mn-cs"/>
              </a:rPr>
              <a:t>/134</a:t>
            </a:r>
            <a:endParaRPr lang="en-US" altLang="zh-CN" strike="noStrike" noProof="1">
              <a:ea typeface="华文中宋" panose="02010600040101010101" pitchFamily="2" charset="-122"/>
            </a:endParaRPr>
          </a:p>
        </p:txBody>
      </p:sp>
      <p:sp>
        <p:nvSpPr>
          <p:cNvPr id="14" name="日期占位符 2"/>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页脚占位符 3"/>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椭圆 12"/>
          <p:cNvSpPr/>
          <p:nvPr/>
        </p:nvSpPr>
        <p:spPr>
          <a:xfrm>
            <a:off x="1228577" y="1413798"/>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椭圆 13"/>
          <p:cNvSpPr/>
          <p:nvPr/>
        </p:nvSpPr>
        <p:spPr>
          <a:xfrm>
            <a:off x="1543051" y="1344613"/>
            <a:ext cx="84667" cy="6508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4" name="标题 13"/>
          <p:cNvSpPr>
            <a:spLocks noGrp="1"/>
          </p:cNvSpPr>
          <p:nvPr>
            <p:ph type="ctrTitle"/>
          </p:nvPr>
        </p:nvSpPr>
        <p:spPr>
          <a:xfrm>
            <a:off x="1910080" y="359898"/>
            <a:ext cx="9875520" cy="1472184"/>
          </a:xfrm>
        </p:spPr>
        <p:txBody>
          <a:bodyPr anchor="b"/>
          <a:lstStyle>
            <a:lvl1pPr algn="l">
              <a:defRPr/>
            </a:lvl1pPr>
          </a:lstStyle>
          <a:p>
            <a:pPr fontAlgn="base"/>
            <a:r>
              <a:rPr lang="zh-CN" altLang="en-US" strike="noStrike" noProof="1"/>
              <a:t>单击此处编辑母版标题样式</a:t>
            </a:r>
            <a:endParaRPr lang="en-US" strike="noStrike" noProof="1"/>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a:t>单击此处编辑母版副标题样式</a:t>
            </a:r>
            <a:endParaRPr lang="en-US" strike="noStrike" noProof="1"/>
          </a:p>
        </p:txBody>
      </p:sp>
      <p:sp>
        <p:nvSpPr>
          <p:cNvPr id="16" name="日期占位符 6"/>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19"/>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9"/>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3043767" y="0"/>
            <a:ext cx="9144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3048000" y="0"/>
            <a:ext cx="1016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896423"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7" name="椭圆 16"/>
          <p:cNvSpPr/>
          <p:nvPr/>
        </p:nvSpPr>
        <p:spPr>
          <a:xfrm>
            <a:off x="3210984" y="2746375"/>
            <a:ext cx="84667"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fontAlgn="base"/>
            <a:r>
              <a:rPr lang="zh-CN" altLang="en-US" strike="noStrike" noProof="1"/>
              <a:t>单击此处编辑母版文本样式</a:t>
            </a:r>
            <a:endParaRPr lang="zh-CN" altLang="en-US" strike="noStrike" noProof="1"/>
          </a:p>
        </p:txBody>
      </p:sp>
      <p:sp>
        <p:nvSpPr>
          <p:cNvPr id="18" name="日期占位符 3"/>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页脚占位符 4"/>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0" name="灯片编号占位符 5"/>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lstStyle>
            <a:lvl1pPr algn="ctr">
              <a:defRPr sz="4500" b="1" cap="none"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fontAlgn="base"/>
            <a:r>
              <a:rPr lang="zh-CN" altLang="en-US" strike="noStrike" noProof="1"/>
              <a:t>单击此处编辑母版文本样式</a:t>
            </a:r>
            <a:endParaRPr lang="zh-CN" altLang="en-US" strike="noStrike" noProof="1"/>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6"/>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7"/>
          <p:cNvSpPr>
            <a:spLocks noGrp="1"/>
          </p:cNvSpPr>
          <p:nvPr>
            <p:ph type="ftr" sz="quarter" idx="1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8"/>
          <p:cNvSpPr>
            <a:spLocks noGrp="1"/>
          </p:cNvSpPr>
          <p:nvPr>
            <p:ph type="sldNum" sz="quarter" idx="1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pPr fontAlgn="base"/>
            <a:r>
              <a:rPr lang="zh-CN" altLang="en-US" strike="noStrike" noProof="1"/>
              <a:t>单击此处编辑母版标题样式</a:t>
            </a:r>
            <a:endParaRPr lang="en-US" strike="noStrike" noProof="1"/>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showMasterSp="0">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352551" y="0"/>
            <a:ext cx="10839451"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日期占位符 1"/>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7" name="页脚占位符 2"/>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灯片编号占位符 3"/>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pPr fontAlgn="base"/>
            <a:r>
              <a:rPr lang="zh-CN" altLang="en-US" strike="noStrike" noProof="1"/>
              <a:t>单击此处编辑母版标题样式</a:t>
            </a:r>
            <a:endParaRPr lang="en-US" strike="noStrike" noProof="1"/>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1"/>
          </p:nvPr>
        </p:nvSpPr>
        <p:spPr>
          <a:xfrm>
            <a:off x="609600" y="2133600"/>
            <a:ext cx="10871200" cy="3992563"/>
          </a:xfrm>
        </p:spPr>
        <p:txBody>
          <a:bodyPr/>
          <a:lstStyle>
            <a:lvl1pPr>
              <a:defRPr sz="3200"/>
            </a:lvl1pPr>
            <a:lvl2pPr>
              <a:defRPr sz="2800"/>
            </a:lvl2pPr>
            <a:lvl3pPr>
              <a:defRPr sz="2400"/>
            </a:lvl3pPr>
            <a:lvl4pPr>
              <a:defRPr sz="2000"/>
            </a:lvl4pPr>
            <a:lvl5pPr>
              <a:defRPr sz="2000"/>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13"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4"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3" name="矩形 12"/>
          <p:cNvSpPr/>
          <p:nvPr/>
        </p:nvSpPr>
        <p:spPr>
          <a:xfrm>
            <a:off x="1015995"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marL="0" marR="0" lvl="0" indent="-283210" algn="l" defTabSz="914400" rtl="0" eaLnBrk="1" fontAlgn="base" latinLnBrk="0" hangingPunct="1">
              <a:lnSpc>
                <a:spcPts val="3000"/>
              </a:lnSpc>
              <a:spcBef>
                <a:spcPts val="600"/>
              </a:spcBef>
              <a:spcAft>
                <a:spcPct val="0"/>
              </a:spcAft>
              <a:buClr>
                <a:schemeClr val="accent1"/>
              </a:buClr>
              <a:buSzPct val="80000"/>
              <a:buFont typeface="Wingdings 2" panose="05020102010507070707"/>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4" name="流程图: 过程 13"/>
          <p:cNvSpPr/>
          <p:nvPr/>
        </p:nvSpPr>
        <p:spPr>
          <a:xfrm rot="19468671">
            <a:off x="529167" y="954088"/>
            <a:ext cx="914400"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6" name="流程图: 过程 15"/>
          <p:cNvSpPr/>
          <p:nvPr/>
        </p:nvSpPr>
        <p:spPr>
          <a:xfrm rot="2103354" flipH="1">
            <a:off x="6671733" y="936625"/>
            <a:ext cx="865717"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pPr fontAlgn="base"/>
            <a:r>
              <a:rPr lang="zh-CN" altLang="en-US" strike="noStrike" noProof="1"/>
              <a:t>单击此处编辑母版标题样式</a:t>
            </a:r>
            <a:endParaRPr lang="en-US" strike="noStrike" noProof="1"/>
          </a:p>
        </p:txBody>
      </p:sp>
      <p:sp>
        <p:nvSpPr>
          <p:cNvPr id="3" name="图片占位符 2"/>
          <p:cNvSpPr>
            <a:spLocks noGrp="1"/>
          </p:cNvSpPr>
          <p:nvPr>
            <p:ph type="pic" idx="1"/>
          </p:nvPr>
        </p:nvSpPr>
        <p:spPr>
          <a:xfrm>
            <a:off x="1117600" y="1143003"/>
            <a:ext cx="5892800" cy="3514531"/>
          </a:xfrm>
          <a:prstGeom prst="roundRect">
            <a:avLst>
              <a:gd name="adj" fmla="val 783"/>
            </a:avLst>
          </a:prstGeom>
          <a:solidFill>
            <a:schemeClr val="bg2"/>
          </a:solidFill>
          <a:ln w="127000">
            <a:noFill/>
            <a:miter lim="800000"/>
          </a:ln>
          <a:effectLst/>
        </p:spPr>
        <p:txBody>
          <a:bodyPr vert="horz" wrap="square" lIns="91440" tIns="274320" rIns="91440" bIns="45720" numCol="1" anchor="t" anchorCtr="0" compatLnSpc="1">
            <a:normAutofit/>
          </a:bodyPr>
          <a:lstStyle>
            <a:lvl1pPr indent="0">
              <a:buNone/>
              <a:defRPr sz="3200"/>
            </a:lvl1pPr>
          </a:lstStyle>
          <a:p>
            <a:pPr marL="365125" marR="0" lvl="0" indent="0" algn="l" defTabSz="914400" rtl="0" eaLnBrk="0" fontAlgn="base" latinLnBrk="0" hangingPunct="0">
              <a:lnSpc>
                <a:spcPct val="100000"/>
              </a:lnSpc>
              <a:spcBef>
                <a:spcPts val="600"/>
              </a:spcBef>
              <a:spcAft>
                <a:spcPct val="0"/>
              </a:spcAft>
              <a:buClr>
                <a:schemeClr val="accent1"/>
              </a:buClr>
              <a:buSzPct val="80000"/>
              <a:buFont typeface="Wingdings 2" panose="05020102010507070707" pitchFamily="18" charset="2"/>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fontAlgn="base"/>
            <a:r>
              <a:rPr lang="zh-CN" altLang="en-US" strike="noStrike" noProof="1"/>
              <a:t>单击此处编辑母版文本样式</a:t>
            </a:r>
            <a:endParaRPr lang="zh-CN" altLang="en-US" strike="noStrike" noProof="1"/>
          </a:p>
        </p:txBody>
      </p:sp>
      <p:sp>
        <p:nvSpPr>
          <p:cNvPr id="17" name="日期占位符 4"/>
          <p:cNvSpPr>
            <a:spLocks noGrp="1"/>
          </p:cNvSpPr>
          <p:nvPr>
            <p:ph type="dt" sz="half" idx="1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9" name="灯片编号占位符 6"/>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p>
            <a:pPr algn="ctr"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p>
        </p:txBody>
      </p:sp>
    </p:spTree>
  </p:cSld>
  <p:clrMapOvr>
    <a:masterClrMapping/>
  </p:clrMapOvr>
  <p:transition>
    <p:strips dir="rd"/>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39"/>
            <a:ext cx="2438400" cy="5851525"/>
          </a:xfrm>
        </p:spPr>
        <p:txBody>
          <a:bodyPr vert="eaVert"/>
          <a:lstStyle/>
          <a:p>
            <a:pPr fontAlgn="base"/>
            <a:r>
              <a:rPr lang="zh-CN" altLang="en-US" strike="noStrike" noProof="1"/>
              <a:t>单击此处编辑母版标题样式</a:t>
            </a:r>
            <a:endParaRPr lang="en-US" strike="noStrike" noProof="1"/>
          </a:p>
        </p:txBody>
      </p:sp>
      <p:sp>
        <p:nvSpPr>
          <p:cNvPr id="3" name="竖排文字占位符 2"/>
          <p:cNvSpPr>
            <a:spLocks noGrp="1"/>
          </p:cNvSpPr>
          <p:nvPr>
            <p:ph type="body" orient="vert" idx="1"/>
          </p:nvPr>
        </p:nvSpPr>
        <p:spPr>
          <a:xfrm>
            <a:off x="1524000" y="274640"/>
            <a:ext cx="74168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Tree>
  </p:cSld>
  <p:clrMapOvr>
    <a:masterClrMapping/>
  </p:clrMapOvr>
  <p:transition>
    <p:strips dir="rd"/>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Only">
  <p:cSld name="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13" name="灯片编号占位符 2"/>
          <p:cNvSpPr>
            <a:spLocks noGrp="1"/>
          </p:cNvSpPr>
          <p:nvPr>
            <p:ph type="sldNum" sz="quarter" idx="4"/>
          </p:nvPr>
        </p:nvSpPr>
        <p:spPr>
          <a:xfrm>
            <a:off x="10320867" y="6481763"/>
            <a:ext cx="1727200" cy="260350"/>
          </a:xfrm>
          <a:prstGeom prst="rect">
            <a:avLst/>
          </a:prstGeom>
        </p:spPr>
        <p:txBody>
          <a:bodyPr vert="horz" wrap="square" lIns="91440" tIns="45720" rIns="91440" bIns="45720" numCol="1" anchor="b" anchorCtr="0" compatLnSpc="1"/>
          <a:lstStyle/>
          <a:p>
            <a:pPr algn="ctr" eaLnBrk="1" fontAlgn="base" hangingPunct="1">
              <a:buNone/>
            </a:pPr>
            <a:r>
              <a:rPr lang="en-US" altLang="en-GB" strike="noStrike" noProof="1">
                <a:latin typeface="Times New Roman" panose="02020603050405020304" pitchFamily="18" charset="0"/>
                <a:ea typeface="宋体" panose="02010600030101010101" pitchFamily="2" charset="-122"/>
                <a:cs typeface="+mn-cs"/>
              </a:rPr>
              <a:t>  </a:t>
            </a:r>
            <a:fld id="{9A0DB2DC-4C9A-4742-B13C-FB6460FD3503}" type="slidenum">
              <a:rPr lang="en-US" altLang="en-GB" strike="noStrike" noProof="1" dirty="0">
                <a:latin typeface="Times New Roman" panose="02020603050405020304" pitchFamily="18" charset="0"/>
                <a:ea typeface="宋体" panose="02010600030101010101" pitchFamily="2" charset="-122"/>
                <a:cs typeface="+mn-cs"/>
              </a:rPr>
            </a:fld>
            <a:r>
              <a:rPr lang="en-US" altLang="zh-CN" strike="noStrike" noProof="1">
                <a:latin typeface="Times New Roman" panose="02020603050405020304" pitchFamily="18" charset="0"/>
                <a:ea typeface="宋体" panose="02010600030101010101" pitchFamily="2" charset="-122"/>
                <a:cs typeface="+mn-cs"/>
              </a:rPr>
              <a:t>/134</a:t>
            </a:r>
            <a:endParaRPr lang="en-US" altLang="zh-CN" strike="noStrike" noProof="1">
              <a:ea typeface="华文中宋" panose="02010600040101010101" pitchFamily="2" charset="-122"/>
            </a:endParaRPr>
          </a:p>
        </p:txBody>
      </p:sp>
      <p:sp>
        <p:nvSpPr>
          <p:cNvPr id="14" name="日期占位符 2"/>
          <p:cNvSpPr>
            <a:spLocks noGrp="1"/>
          </p:cNvSpPr>
          <p:nvPr>
            <p:ph type="dt" sz="half" idx="2"/>
          </p:nvPr>
        </p:nvSpPr>
        <p:spPr>
          <a:xfrm>
            <a:off x="4775200" y="6305550"/>
            <a:ext cx="2844800" cy="476250"/>
          </a:xfrm>
          <a:prstGeom prst="rect">
            <a:avLst/>
          </a:prstGeom>
        </p:spPr>
        <p:txBody>
          <a:bodyPr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6" name="页脚占位符 3"/>
          <p:cNvSpPr>
            <a:spLocks noGrp="1"/>
          </p:cNvSpPr>
          <p:nvPr>
            <p:ph type="ftr" sz="quarter" idx="3"/>
          </p:nvPr>
        </p:nvSpPr>
        <p:spPr>
          <a:xfrm>
            <a:off x="7620000" y="6305550"/>
            <a:ext cx="3860800" cy="476250"/>
          </a:xfrm>
          <a:prstGeom prst="rect">
            <a:avLst/>
          </a:prstGeom>
        </p:spPr>
        <p:txBody>
          <a:bodyPr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6.xml"/><Relationship Id="rId8" Type="http://schemas.openxmlformats.org/officeDocument/2006/relationships/slideLayout" Target="../slideLayouts/slideLayout45.xml"/><Relationship Id="rId7" Type="http://schemas.openxmlformats.org/officeDocument/2006/relationships/slideLayout" Target="../slideLayouts/slideLayout44.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3" Type="http://schemas.openxmlformats.org/officeDocument/2006/relationships/slideLayout" Target="../slideLayouts/slideLayout40.xml"/><Relationship Id="rId2" Type="http://schemas.openxmlformats.org/officeDocument/2006/relationships/slideLayout" Target="../slideLayouts/slideLayout39.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9.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 name="饼形 6"/>
          <p:cNvSpPr/>
          <p:nvPr/>
        </p:nvSpPr>
        <p:spPr>
          <a:xfrm>
            <a:off x="-1087967" y="-815975"/>
            <a:ext cx="21844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224367" y="20638"/>
            <a:ext cx="2271184" cy="170338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同心圆 10"/>
          <p:cNvSpPr/>
          <p:nvPr/>
        </p:nvSpPr>
        <p:spPr>
          <a:xfrm rot="2315675">
            <a:off x="243841"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1350433" y="0"/>
            <a:ext cx="1084156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 name="标题占位符 4"/>
          <p:cNvSpPr>
            <a:spLocks noGrp="1"/>
          </p:cNvSpPr>
          <p:nvPr>
            <p:ph type="title"/>
          </p:nvPr>
        </p:nvSpPr>
        <p:spPr>
          <a:xfrm>
            <a:off x="1913467" y="274638"/>
            <a:ext cx="9999133" cy="1143000"/>
          </a:xfrm>
          <a:prstGeom prst="rect">
            <a:avLst/>
          </a:prstGeom>
        </p:spPr>
        <p:txBody>
          <a:bodyPr vert="horz" wrap="square" lIns="91440" tIns="45720" rIns="91440" bIns="45720" numCol="1" anchor="ctr" anchorCtr="0" compatLnSpc="1"/>
          <a:lstStyle/>
          <a:p>
            <a:pPr lvl="0" fontAlgn="base"/>
            <a:r>
              <a:rPr lang="en-US" altLang="en-US" strike="noStrike" noProof="1"/>
              <a:t>单击此处编辑母版标题样式</a:t>
            </a:r>
            <a:endParaRPr lang="en-US" altLang="en-US" strike="noStrike" noProof="1"/>
          </a:p>
        </p:txBody>
      </p:sp>
      <p:sp>
        <p:nvSpPr>
          <p:cNvPr id="1031" name="文本占位符 8"/>
          <p:cNvSpPr>
            <a:spLocks noGrp="1"/>
          </p:cNvSpPr>
          <p:nvPr>
            <p:ph type="body"/>
          </p:nvPr>
        </p:nvSpPr>
        <p:spPr>
          <a:xfrm>
            <a:off x="1913467" y="1447800"/>
            <a:ext cx="9999133" cy="48006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buFontTx/>
              <a:buNone/>
              <a:defRPr kumimoji="0" sz="1200">
                <a:solidFill>
                  <a:schemeClr val="bg2">
                    <a:shade val="50000"/>
                    <a:satMod val="200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buFontTx/>
              <a:buNone/>
              <a:defRPr kumimoji="0" sz="1200">
                <a:solidFill>
                  <a:schemeClr val="bg2">
                    <a:shade val="50000"/>
                    <a:satMod val="200000"/>
                  </a:schemeClr>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2" name="灯片编号占位符 21"/>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lvl1pPr algn="ctr">
              <a:defRPr sz="1200">
                <a:solidFill>
                  <a:srgbClr val="B5A788"/>
                </a:solidFill>
              </a:defRPr>
            </a:lvl1p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
        <p:nvSpPr>
          <p:cNvPr id="15" name="矩形 14"/>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strips dir="rd"/>
  </p:transition>
  <p:hf sldNum="0"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p:titleStyle>
    <p:body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7" name="饼形 6"/>
          <p:cNvSpPr/>
          <p:nvPr/>
        </p:nvSpPr>
        <p:spPr>
          <a:xfrm>
            <a:off x="-1087967" y="-815975"/>
            <a:ext cx="21844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224367" y="20638"/>
            <a:ext cx="2271184" cy="170338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同心圆 10"/>
          <p:cNvSpPr/>
          <p:nvPr/>
        </p:nvSpPr>
        <p:spPr>
          <a:xfrm rot="2315675">
            <a:off x="243841"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1350433" y="0"/>
            <a:ext cx="1084156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 name="标题占位符 4"/>
          <p:cNvSpPr>
            <a:spLocks noGrp="1"/>
          </p:cNvSpPr>
          <p:nvPr>
            <p:ph type="title"/>
          </p:nvPr>
        </p:nvSpPr>
        <p:spPr>
          <a:xfrm>
            <a:off x="1913467" y="274638"/>
            <a:ext cx="9999133" cy="1143000"/>
          </a:xfrm>
          <a:prstGeom prst="rect">
            <a:avLst/>
          </a:prstGeom>
        </p:spPr>
        <p:txBody>
          <a:bodyPr vert="horz" wrap="square" lIns="91440" tIns="45720" rIns="91440" bIns="45720" numCol="1" anchor="ctr" anchorCtr="0" compatLnSpc="1"/>
          <a:lstStyle/>
          <a:p>
            <a:pPr lvl="0" fontAlgn="base"/>
            <a:r>
              <a:rPr lang="en-US" altLang="en-US" strike="noStrike" noProof="1"/>
              <a:t>单击此处编辑母版标题样式</a:t>
            </a:r>
            <a:endParaRPr lang="en-US" altLang="en-US" strike="noStrike" noProof="1"/>
          </a:p>
        </p:txBody>
      </p:sp>
      <p:sp>
        <p:nvSpPr>
          <p:cNvPr id="2055" name="文本占位符 8"/>
          <p:cNvSpPr>
            <a:spLocks noGrp="1"/>
          </p:cNvSpPr>
          <p:nvPr>
            <p:ph type="body"/>
          </p:nvPr>
        </p:nvSpPr>
        <p:spPr>
          <a:xfrm>
            <a:off x="1913467" y="1447800"/>
            <a:ext cx="9999133" cy="48006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buFontTx/>
              <a:buNone/>
              <a:defRPr kumimoji="0" sz="1200">
                <a:solidFill>
                  <a:schemeClr val="bg2">
                    <a:shade val="50000"/>
                    <a:satMod val="200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buFontTx/>
              <a:buNone/>
              <a:defRPr kumimoji="0" sz="1200">
                <a:solidFill>
                  <a:schemeClr val="bg2">
                    <a:shade val="50000"/>
                    <a:satMod val="200000"/>
                  </a:schemeClr>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2" name="灯片编号占位符 21"/>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lvl1pPr algn="ctr">
              <a:defRPr sz="1200">
                <a:solidFill>
                  <a:srgbClr val="B5A788"/>
                </a:solidFill>
              </a:defRPr>
            </a:lvl1p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
        <p:nvSpPr>
          <p:cNvPr id="15" name="矩形 14"/>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ransition>
    <p:strips dir="rd"/>
  </p:transition>
  <p:hf sldNum="0"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p:titleStyle>
    <p:body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7" name="饼形 6"/>
          <p:cNvSpPr/>
          <p:nvPr/>
        </p:nvSpPr>
        <p:spPr>
          <a:xfrm>
            <a:off x="-1087967" y="-815975"/>
            <a:ext cx="21844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224367" y="20638"/>
            <a:ext cx="2271184" cy="170338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同心圆 10"/>
          <p:cNvSpPr/>
          <p:nvPr/>
        </p:nvSpPr>
        <p:spPr>
          <a:xfrm rot="2315675">
            <a:off x="243841"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1350433" y="0"/>
            <a:ext cx="1084156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 name="标题占位符 4"/>
          <p:cNvSpPr>
            <a:spLocks noGrp="1"/>
          </p:cNvSpPr>
          <p:nvPr>
            <p:ph type="title"/>
          </p:nvPr>
        </p:nvSpPr>
        <p:spPr>
          <a:xfrm>
            <a:off x="1913467" y="274638"/>
            <a:ext cx="9999133" cy="1143000"/>
          </a:xfrm>
          <a:prstGeom prst="rect">
            <a:avLst/>
          </a:prstGeom>
        </p:spPr>
        <p:txBody>
          <a:bodyPr vert="horz" wrap="square" lIns="91440" tIns="45720" rIns="91440" bIns="45720" numCol="1" anchor="ctr" anchorCtr="0" compatLnSpc="1"/>
          <a:lstStyle/>
          <a:p>
            <a:pPr lvl="0" fontAlgn="base"/>
            <a:r>
              <a:rPr lang="en-US" altLang="en-US" strike="noStrike" noProof="1"/>
              <a:t>单击此处编辑母版标题样式</a:t>
            </a:r>
            <a:endParaRPr lang="en-US" altLang="en-US" strike="noStrike" noProof="1"/>
          </a:p>
        </p:txBody>
      </p:sp>
      <p:sp>
        <p:nvSpPr>
          <p:cNvPr id="3079" name="文本占位符 8"/>
          <p:cNvSpPr>
            <a:spLocks noGrp="1"/>
          </p:cNvSpPr>
          <p:nvPr>
            <p:ph type="body"/>
          </p:nvPr>
        </p:nvSpPr>
        <p:spPr>
          <a:xfrm>
            <a:off x="1913467" y="1447800"/>
            <a:ext cx="9999133" cy="48006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buFontTx/>
              <a:buNone/>
              <a:defRPr kumimoji="0" sz="1200">
                <a:solidFill>
                  <a:schemeClr val="bg2">
                    <a:shade val="50000"/>
                    <a:satMod val="200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buFontTx/>
              <a:buNone/>
              <a:defRPr kumimoji="0" sz="1200">
                <a:solidFill>
                  <a:schemeClr val="bg2">
                    <a:shade val="50000"/>
                    <a:satMod val="200000"/>
                  </a:schemeClr>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2" name="灯片编号占位符 21"/>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lvl1pPr algn="ctr">
              <a:defRPr sz="1200">
                <a:solidFill>
                  <a:srgbClr val="B5A788"/>
                </a:solidFill>
              </a:defRPr>
            </a:lvl1p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
        <p:nvSpPr>
          <p:cNvPr id="15" name="矩形 14"/>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ransition>
    <p:strips dir="rd"/>
  </p:transition>
  <p:hf sldNum="0"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p:titleStyle>
    <p:body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7" name="饼形 6"/>
          <p:cNvSpPr/>
          <p:nvPr/>
        </p:nvSpPr>
        <p:spPr>
          <a:xfrm>
            <a:off x="-1087967" y="-815975"/>
            <a:ext cx="21844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椭圆 7"/>
          <p:cNvSpPr/>
          <p:nvPr/>
        </p:nvSpPr>
        <p:spPr>
          <a:xfrm>
            <a:off x="224367" y="20638"/>
            <a:ext cx="2271184" cy="170338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同心圆 10"/>
          <p:cNvSpPr/>
          <p:nvPr/>
        </p:nvSpPr>
        <p:spPr>
          <a:xfrm rot="2315675">
            <a:off x="243841"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1350433" y="0"/>
            <a:ext cx="1084156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 name="标题占位符 4"/>
          <p:cNvSpPr>
            <a:spLocks noGrp="1"/>
          </p:cNvSpPr>
          <p:nvPr>
            <p:ph type="title"/>
          </p:nvPr>
        </p:nvSpPr>
        <p:spPr>
          <a:xfrm>
            <a:off x="1913467" y="274638"/>
            <a:ext cx="9999133" cy="1143000"/>
          </a:xfrm>
          <a:prstGeom prst="rect">
            <a:avLst/>
          </a:prstGeom>
        </p:spPr>
        <p:txBody>
          <a:bodyPr vert="horz" wrap="square" lIns="91440" tIns="45720" rIns="91440" bIns="45720" numCol="1" anchor="ctr" anchorCtr="0" compatLnSpc="1"/>
          <a:lstStyle/>
          <a:p>
            <a:pPr lvl="0" fontAlgn="base"/>
            <a:r>
              <a:rPr lang="en-US" altLang="en-US" strike="noStrike" noProof="1"/>
              <a:t>单击此处编辑母版标题样式</a:t>
            </a:r>
            <a:endParaRPr lang="en-US" altLang="en-US" strike="noStrike" noProof="1"/>
          </a:p>
        </p:txBody>
      </p:sp>
      <p:sp>
        <p:nvSpPr>
          <p:cNvPr id="4103" name="文本占位符 8"/>
          <p:cNvSpPr>
            <a:spLocks noGrp="1"/>
          </p:cNvSpPr>
          <p:nvPr>
            <p:ph type="body"/>
          </p:nvPr>
        </p:nvSpPr>
        <p:spPr>
          <a:xfrm>
            <a:off x="1913467" y="1447800"/>
            <a:ext cx="9999133" cy="4800600"/>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buFontTx/>
              <a:buNone/>
              <a:defRPr kumimoji="0" sz="1200">
                <a:solidFill>
                  <a:schemeClr val="bg2">
                    <a:shade val="50000"/>
                    <a:satMod val="200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buFontTx/>
              <a:buNone/>
              <a:defRPr kumimoji="0" sz="1200">
                <a:solidFill>
                  <a:schemeClr val="bg2">
                    <a:shade val="50000"/>
                    <a:satMod val="200000"/>
                  </a:schemeClr>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22" name="灯片编号占位符 21"/>
          <p:cNvSpPr>
            <a:spLocks noGrp="1"/>
          </p:cNvSpPr>
          <p:nvPr>
            <p:ph type="sldNum" sz="quarter" idx="4"/>
          </p:nvPr>
        </p:nvSpPr>
        <p:spPr>
          <a:xfrm>
            <a:off x="11485033" y="6305550"/>
            <a:ext cx="609600" cy="476250"/>
          </a:xfrm>
          <a:prstGeom prst="rect">
            <a:avLst/>
          </a:prstGeom>
        </p:spPr>
        <p:txBody>
          <a:bodyPr vert="horz" wrap="square" lIns="91440" tIns="45720" rIns="91440" bIns="45720" numCol="1" anchor="b" anchorCtr="0" compatLnSpc="1"/>
          <a:lstStyle>
            <a:lvl1pPr algn="ctr">
              <a:defRPr sz="1200">
                <a:solidFill>
                  <a:srgbClr val="B5A788"/>
                </a:solidFill>
              </a:defRPr>
            </a:lvl1pPr>
          </a:lstStyle>
          <a:p>
            <a:pPr lvl="0" eaLnBrk="1" fontAlgn="base" hangingPunct="1">
              <a:buNone/>
            </a:pPr>
            <a:fld id="{9A0DB2DC-4C9A-4742-B13C-FB6460FD3503}" type="slidenum">
              <a:rPr lang="en-US" altLang="en-US" strike="noStrike" noProof="1" dirty="0">
                <a:latin typeface="Times New Roman" panose="02020603050405020304" pitchFamily="18" charset="0"/>
                <a:ea typeface="宋体" panose="02010600030101010101" pitchFamily="2" charset="-122"/>
                <a:cs typeface="+mn-cs"/>
              </a:rPr>
            </a:fld>
            <a:endParaRPr lang="en-US" altLang="en-US" strike="noStrike" noProof="1">
              <a:latin typeface="Times New Roman" panose="02020603050405020304" pitchFamily="18" charset="0"/>
            </a:endParaRPr>
          </a:p>
        </p:txBody>
      </p:sp>
      <p:sp>
        <p:nvSpPr>
          <p:cNvPr id="15" name="矩形 14"/>
          <p:cNvSpPr/>
          <p:nvPr/>
        </p:nvSpPr>
        <p:spPr bwMode="invGray">
          <a:xfrm>
            <a:off x="1352551" y="0"/>
            <a:ext cx="97367"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ransition>
    <p:strips dir="rd"/>
  </p:transition>
  <p:hf sldNum="0"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p:titleStyle>
    <p:body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4.xml"/><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7.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8.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7.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8.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7.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8.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7.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0.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0.xml"/><Relationship Id="rId2" Type="http://schemas.openxmlformats.org/officeDocument/2006/relationships/image" Target="../media/image10.wmf"/><Relationship Id="rId1" Type="http://schemas.openxmlformats.org/officeDocument/2006/relationships/oleObject" Target="../embeddings/oleObject3.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0.xml"/><Relationship Id="rId2" Type="http://schemas.openxmlformats.org/officeDocument/2006/relationships/image" Target="../media/image11.wmf"/><Relationship Id="rId1" Type="http://schemas.openxmlformats.org/officeDocument/2006/relationships/oleObject" Target="../embeddings/oleObject4.bin"/></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3.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2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2.jpe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oleObject" Target="../embeddings/oleObject5.bin"/></Relationships>
</file>

<file path=ppt/slides/_rels/slide107.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oleObject" Target="../embeddings/oleObject6.bin"/></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oleObject" Target="../embeddings/oleObject7.bin"/></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1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oleObject" Target="../embeddings/oleObject8.bin"/></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026"/>
          <p:cNvSpPr txBox="1">
            <a:spLocks noChangeArrowheads="1"/>
          </p:cNvSpPr>
          <p:nvPr/>
        </p:nvSpPr>
        <p:spPr>
          <a:xfrm>
            <a:off x="2362200" y="692150"/>
            <a:ext cx="8305800" cy="3657600"/>
          </a:xfrm>
          <a:prstGeom prst="rect">
            <a:avLst/>
          </a:prstGeom>
        </p:spPr>
        <p:txBody>
          <a:bodyPr anchor="ctr"/>
          <a:lstStyle/>
          <a:p>
            <a:pPr marR="0" algn="ctr" defTabSz="914400">
              <a:buClrTx/>
              <a:buSzTx/>
              <a:buFontTx/>
              <a:buNone/>
              <a:defRPr/>
            </a:pPr>
            <a:r>
              <a:rPr kumimoji="0" lang="zh-CN" altLang="en-US" sz="7200" b="1" kern="1200" cap="none" spc="0" normalizeH="0" baseline="0" noProof="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软件项目管理</a:t>
            </a:r>
            <a:br>
              <a:rPr kumimoji="0" lang="zh-CN" altLang="en-US" sz="4300"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br>
            <a:r>
              <a:rPr kumimoji="0" lang="zh-CN" altLang="en-US" sz="4300"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 </a:t>
            </a:r>
            <a:br>
              <a:rPr kumimoji="0" lang="zh-CN" altLang="en-US" sz="4300"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br>
            <a:r>
              <a:rPr kumimoji="0" lang="en-US" altLang="zh-CN" sz="3200" b="1"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Software project management</a:t>
            </a:r>
            <a:br>
              <a:rPr kumimoji="0" lang="en-US" altLang="zh-CN" sz="36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br>
            <a:endParaRPr kumimoji="0" lang="zh-CN" altLang="en-US" sz="43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sp>
        <p:nvSpPr>
          <p:cNvPr id="35842" name="Rectangle 1027"/>
          <p:cNvSpPr txBox="1"/>
          <p:nvPr/>
        </p:nvSpPr>
        <p:spPr>
          <a:xfrm>
            <a:off x="3965575" y="4368800"/>
            <a:ext cx="5530850" cy="622300"/>
          </a:xfrm>
          <a:prstGeom prst="rect">
            <a:avLst/>
          </a:prstGeom>
          <a:noFill/>
          <a:ln w="9525">
            <a:noFill/>
          </a:ln>
        </p:spPr>
        <p:txBody>
          <a:bodyPr anchor="t" anchorCtr="0"/>
          <a:lstStyle/>
          <a:p>
            <a:pPr algn="ctr">
              <a:spcBef>
                <a:spcPts val="600"/>
              </a:spcBef>
              <a:buClr>
                <a:schemeClr val="accent1"/>
              </a:buClr>
              <a:buSzPct val="80000"/>
            </a:pPr>
            <a:r>
              <a:rPr lang="zh-CN" altLang="en-US" sz="4400" b="1" dirty="0">
                <a:latin typeface="华文行楷" panose="02010800040101010101" pitchFamily="2" charset="-122"/>
                <a:ea typeface="华文行楷" panose="02010800040101010101" pitchFamily="2" charset="-122"/>
              </a:rPr>
              <a:t>计算机学院 刘佳琦</a:t>
            </a:r>
            <a:endParaRPr lang="zh-CN" altLang="en-US" sz="4400" b="1" dirty="0">
              <a:latin typeface="华文行楷" panose="02010800040101010101" pitchFamily="2" charset="-122"/>
              <a:ea typeface="华文行楷" panose="02010800040101010101" pitchFamily="2" charset="-122"/>
            </a:endParaRPr>
          </a:p>
        </p:txBody>
      </p:sp>
      <p:sp>
        <p:nvSpPr>
          <p:cNvPr id="35843" name="日期占位符 1"/>
          <p:cNvSpPr>
            <a:spLocks noGrp="1"/>
          </p:cNvSpPr>
          <p:nvPr>
            <p:ph type="dt" sz="half" idx="2"/>
          </p:nvPr>
        </p:nvSpPr>
        <p:spPr>
          <a:xfrm>
            <a:off x="5448300" y="5516563"/>
            <a:ext cx="1905000" cy="457200"/>
          </a:xfrm>
          <a:noFill/>
          <a:ln>
            <a:noFill/>
          </a:ln>
        </p:spPr>
        <p:txBody>
          <a:bodyPr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buFontTx/>
            </a:pPr>
            <a:fld id="{BB962C8B-B14F-4D97-AF65-F5344CB8AC3E}" type="datetime1">
              <a:rPr lang="zh-CN" altLang="en-US" b="1" dirty="0">
                <a:solidFill>
                  <a:srgbClr val="B5A788"/>
                </a:solidFill>
                <a:latin typeface="Times New Roman" panose="02020603050405020304" pitchFamily="18" charset="0"/>
                <a:ea typeface="宋体" panose="02010600030101010101" pitchFamily="2" charset="-122"/>
              </a:rPr>
            </a:fld>
            <a:endParaRPr lang="zh-CN" altLang="en-US" b="1" dirty="0">
              <a:solidFill>
                <a:srgbClr val="B5A788"/>
              </a:solidFill>
              <a:latin typeface="Times New Roman" panose="02020603050405020304" pitchFamily="18" charset="0"/>
              <a:ea typeface="宋体" panose="02010600030101010101" pitchFamily="2" charset="-122"/>
            </a:endParaRPr>
          </a:p>
        </p:txBody>
      </p:sp>
    </p:spTree>
    <p:custDataLst>
      <p:tags r:id="rId1"/>
    </p:custDataLst>
  </p:cSld>
  <p:clrMapOvr>
    <a:masterClrMapping/>
  </p:clrMapOvr>
  <p:transition>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2" name="Rectangle 4"/>
          <p:cNvSpPr>
            <a:spLocks noChangeArrowheads="1"/>
          </p:cNvSpPr>
          <p:nvPr/>
        </p:nvSpPr>
        <p:spPr bwMode="auto">
          <a:xfrm>
            <a:off x="1997075" y="2200275"/>
            <a:ext cx="8094663" cy="1691640"/>
          </a:xfrm>
          <a:prstGeom prst="rect">
            <a:avLst/>
          </a:prstGeom>
          <a:noFill/>
          <a:ln>
            <a:noFill/>
          </a:ln>
          <a:effectLst/>
        </p:spPr>
        <p:txBody>
          <a:bodyPr lIns="0" rIns="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5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第四章 </a:t>
            </a:r>
            <a:r>
              <a:rPr kumimoji="0" lang="en-US" altLang="zh-CN" sz="5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 </a:t>
            </a:r>
            <a:endParaRPr kumimoji="0" lang="en-US" altLang="zh-CN" sz="5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5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项目集成（整合）管理</a:t>
            </a:r>
            <a:endParaRPr kumimoji="0" lang="zh-CN" altLang="en-US" sz="5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endParaRPr>
          </a:p>
        </p:txBody>
      </p:sp>
      <p:sp>
        <p:nvSpPr>
          <p:cNvPr id="37890" name="AutoShape 5"/>
          <p:cNvSpPr/>
          <p:nvPr/>
        </p:nvSpPr>
        <p:spPr>
          <a:xfrm>
            <a:off x="2043113" y="2266950"/>
            <a:ext cx="8229600" cy="2012950"/>
          </a:xfrm>
          <a:prstGeom prst="roundRect">
            <a:avLst>
              <a:gd name="adj" fmla="val 16667"/>
            </a:avLst>
          </a:prstGeom>
          <a:noFill/>
          <a:ln w="25400" cap="flat" cmpd="sng">
            <a:solidFill>
              <a:srgbClr val="FF0000"/>
            </a:solidFill>
            <a:prstDash val="solid"/>
            <a:round/>
            <a:headEnd type="none" w="med" len="med"/>
            <a:tailEnd type="none" w="med" len="med"/>
          </a:ln>
        </p:spPr>
        <p:txBody>
          <a:bodyPr wrap="none" anchor="ctr" anchorCtr="0"/>
          <a:lstStyle/>
          <a:p>
            <a:pPr algn="ctr" eaLnBrk="0" hangingPunct="0"/>
            <a:endParaRPr lang="zh-CN" altLang="en-US" sz="1800" dirty="0">
              <a:latin typeface="Arial" panose="020B0604020202020204" pitchFamily="34" charset="0"/>
              <a:ea typeface="楷体_GB2312"/>
            </a:endParaRPr>
          </a:p>
        </p:txBody>
      </p:sp>
    </p:spTree>
  </p:cSld>
  <p:clrMapOvr>
    <a:masterClrMapping/>
  </p:clrMapOvr>
  <p:transition>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22" name="Text Box 14"/>
          <p:cNvSpPr txBox="1"/>
          <p:nvPr/>
        </p:nvSpPr>
        <p:spPr>
          <a:xfrm>
            <a:off x="2000885" y="1628775"/>
            <a:ext cx="9372600" cy="3107690"/>
          </a:xfrm>
          <a:prstGeom prst="rect">
            <a:avLst/>
          </a:prstGeom>
          <a:noFill/>
          <a:ln w="50800">
            <a:noFill/>
          </a:ln>
        </p:spPr>
        <p:txBody>
          <a:bodyPr wrap="square" anchor="t" anchorCtr="0">
            <a:spAutoFit/>
          </a:bodyPr>
          <a:lstStyle/>
          <a:p>
            <a:pPr marL="457200" indent="-457200" eaLnBrk="0" hangingPunct="0">
              <a:spcBef>
                <a:spcPct val="50000"/>
              </a:spcBef>
              <a:buFont typeface="Wingdings" panose="05000000000000000000" pitchFamily="2" charset="2"/>
              <a:buChar char="ü"/>
            </a:pPr>
            <a:r>
              <a:rPr lang="zh-CN" altLang="en-US" sz="2800" dirty="0">
                <a:latin typeface="Times New Roman" panose="02020603050405020304" pitchFamily="18" charset="0"/>
                <a:ea typeface="宋体" panose="02010600030101010101" pitchFamily="2" charset="-122"/>
              </a:rPr>
              <a:t> 一个</a:t>
            </a:r>
            <a:r>
              <a:rPr lang="zh-CN" altLang="en-GB" sz="2800" dirty="0">
                <a:latin typeface="Times New Roman" panose="02020603050405020304" pitchFamily="18" charset="0"/>
                <a:ea typeface="宋体" panose="02010600030101010101" pitchFamily="2" charset="-122"/>
              </a:rPr>
              <a:t>项目的成功，</a:t>
            </a:r>
            <a:r>
              <a:rPr lang="zh-CN" altLang="en-GB" sz="2800" dirty="0">
                <a:solidFill>
                  <a:srgbClr val="FF0000"/>
                </a:solidFill>
                <a:latin typeface="Times New Roman" panose="02020603050405020304" pitchFamily="18" charset="0"/>
                <a:ea typeface="宋体" panose="02010600030101010101" pitchFamily="2" charset="-122"/>
              </a:rPr>
              <a:t>30%</a:t>
            </a:r>
            <a:r>
              <a:rPr lang="zh-CN" altLang="en-GB" sz="2800" dirty="0">
                <a:latin typeface="Times New Roman" panose="02020603050405020304" pitchFamily="18" charset="0"/>
                <a:ea typeface="宋体" panose="02010600030101010101" pitchFamily="2" charset="-122"/>
              </a:rPr>
              <a:t>靠</a:t>
            </a:r>
            <a:r>
              <a:rPr lang="zh-CN" altLang="en-GB" sz="2800" dirty="0">
                <a:solidFill>
                  <a:srgbClr val="0000FF"/>
                </a:solidFill>
                <a:latin typeface="Times New Roman" panose="02020603050405020304" pitchFamily="18" charset="0"/>
                <a:ea typeface="宋体" panose="02010600030101010101" pitchFamily="2" charset="-122"/>
              </a:rPr>
              <a:t>项目经理的能力</a:t>
            </a:r>
            <a:r>
              <a:rPr lang="zh-CN" altLang="en-GB" sz="2800" dirty="0">
                <a:latin typeface="Times New Roman" panose="02020603050405020304" pitchFamily="18" charset="0"/>
                <a:ea typeface="宋体" panose="02010600030101010101" pitchFamily="2" charset="-122"/>
              </a:rPr>
              <a:t>，</a:t>
            </a:r>
            <a:r>
              <a:rPr lang="zh-CN" altLang="en-GB" sz="2800" dirty="0">
                <a:solidFill>
                  <a:srgbClr val="FF0000"/>
                </a:solidFill>
                <a:latin typeface="Times New Roman" panose="02020603050405020304" pitchFamily="18" charset="0"/>
                <a:ea typeface="宋体" panose="02010600030101010101" pitchFamily="2" charset="-122"/>
              </a:rPr>
              <a:t>70%</a:t>
            </a:r>
            <a:r>
              <a:rPr lang="zh-CN" altLang="en-GB" sz="2800" dirty="0">
                <a:latin typeface="Times New Roman" panose="02020603050405020304" pitchFamily="18" charset="0"/>
                <a:ea typeface="宋体" panose="02010600030101010101" pitchFamily="2" charset="-122"/>
              </a:rPr>
              <a:t>取决于</a:t>
            </a:r>
            <a:r>
              <a:rPr lang="zh-CN" altLang="en-GB" sz="2800" dirty="0">
                <a:solidFill>
                  <a:srgbClr val="0000FF"/>
                </a:solidFill>
                <a:latin typeface="Times New Roman" panose="02020603050405020304" pitchFamily="18" charset="0"/>
                <a:ea typeface="宋体" panose="02010600030101010101" pitchFamily="2" charset="-122"/>
              </a:rPr>
              <a:t>企业项目管理的制度和环境</a:t>
            </a:r>
            <a:r>
              <a:rPr lang="zh-CN" altLang="en-GB" sz="2800" dirty="0">
                <a:latin typeface="Times New Roman" panose="02020603050405020304" pitchFamily="18" charset="0"/>
                <a:ea typeface="宋体" panose="02010600030101010101" pitchFamily="2" charset="-122"/>
              </a:rPr>
              <a:t>。</a:t>
            </a:r>
            <a:endParaRPr lang="zh-CN" altLang="en-GB" sz="2800" dirty="0">
              <a:latin typeface="Times New Roman" panose="02020603050405020304" pitchFamily="18" charset="0"/>
              <a:ea typeface="宋体" panose="02010600030101010101" pitchFamily="2" charset="-122"/>
            </a:endParaRPr>
          </a:p>
          <a:p>
            <a:pPr marL="457200" indent="-457200" eaLnBrk="0" hangingPunct="0">
              <a:spcBef>
                <a:spcPct val="50000"/>
              </a:spcBef>
              <a:buFont typeface="Wingdings" panose="05000000000000000000" pitchFamily="2" charset="2"/>
              <a:buChar char="ü"/>
            </a:pPr>
            <a:r>
              <a:rPr lang="zh-CN" altLang="en-US" sz="2800" dirty="0">
                <a:latin typeface="Times New Roman" panose="02020603050405020304" pitchFamily="18" charset="0"/>
                <a:ea typeface="宋体" panose="02010600030101010101" pitchFamily="2" charset="-122"/>
              </a:rPr>
              <a:t> 采用</a:t>
            </a:r>
            <a:r>
              <a:rPr lang="zh-CN" altLang="en-US" sz="2800" dirty="0">
                <a:solidFill>
                  <a:srgbClr val="FF0000"/>
                </a:solidFill>
                <a:latin typeface="Times New Roman" panose="02020603050405020304" pitchFamily="18" charset="0"/>
                <a:ea typeface="宋体" panose="02010600030101010101" pitchFamily="2" charset="-122"/>
              </a:rPr>
              <a:t>系统方法</a:t>
            </a:r>
            <a:r>
              <a:rPr lang="zh-CN" altLang="en-US" sz="2800" dirty="0">
                <a:latin typeface="Times New Roman" panose="02020603050405020304" pitchFamily="18" charset="0"/>
                <a:ea typeface="宋体" panose="02010600030101010101" pitchFamily="2" charset="-122"/>
              </a:rPr>
              <a:t>来考虑和解决管理项目中存在的问题主要包括</a:t>
            </a:r>
            <a:r>
              <a:rPr lang="zh-CN" altLang="en-US" sz="2800" dirty="0">
                <a:solidFill>
                  <a:srgbClr val="0000FF"/>
                </a:solidFill>
                <a:latin typeface="Times New Roman" panose="02020603050405020304" pitchFamily="18" charset="0"/>
                <a:ea typeface="宋体" panose="02010600030101010101" pitchFamily="2" charset="-122"/>
              </a:rPr>
              <a:t>系统哲学、系统分析和系统管理</a:t>
            </a:r>
            <a:r>
              <a:rPr lang="zh-CN" altLang="en-US" sz="2800" dirty="0">
                <a:latin typeface="Times New Roman" panose="02020603050405020304" pitchFamily="18" charset="0"/>
                <a:ea typeface="宋体" panose="02010600030101010101" pitchFamily="2" charset="-122"/>
              </a:rPr>
              <a:t>三个方面。</a:t>
            </a:r>
            <a:endParaRPr lang="zh-CN" altLang="en-US" sz="2800" dirty="0">
              <a:latin typeface="Times New Roman" panose="02020603050405020304" pitchFamily="18" charset="0"/>
              <a:ea typeface="宋体" panose="02010600030101010101" pitchFamily="2" charset="-122"/>
            </a:endParaRPr>
          </a:p>
          <a:p>
            <a:pPr marL="457200" indent="-457200" eaLnBrk="0" hangingPunct="0">
              <a:spcBef>
                <a:spcPct val="50000"/>
              </a:spcBef>
              <a:buFont typeface="Wingdings" panose="05000000000000000000" pitchFamily="2" charset="2"/>
              <a:buChar char="ü"/>
            </a:pPr>
            <a:r>
              <a:rPr lang="zh-CN" altLang="en-US" sz="2800" dirty="0">
                <a:latin typeface="Times New Roman" panose="02020603050405020304" pitchFamily="18" charset="0"/>
                <a:ea typeface="宋体" panose="02010600030101010101" pitchFamily="2" charset="-122"/>
              </a:rPr>
              <a:t>  组织由四个不同的框架组成，包括：</a:t>
            </a:r>
            <a:r>
              <a:rPr lang="zh-CN" altLang="en-US" sz="2800" dirty="0">
                <a:solidFill>
                  <a:srgbClr val="FF0000"/>
                </a:solidFill>
                <a:latin typeface="Times New Roman" panose="02020603050405020304" pitchFamily="18" charset="0"/>
                <a:ea typeface="宋体" panose="02010600030101010101" pitchFamily="2" charset="-122"/>
              </a:rPr>
              <a:t>结构框架，人力资源，政治框架，标识框架。</a:t>
            </a:r>
            <a:endParaRPr lang="zh-CN" altLang="en-US" sz="2800" dirty="0">
              <a:solidFill>
                <a:srgbClr val="FF0000"/>
              </a:solidFill>
              <a:latin typeface="Times New Roman" panose="02020603050405020304" pitchFamily="18" charset="0"/>
              <a:ea typeface="宋体" panose="02010600030101010101" pitchFamily="2" charset="-122"/>
            </a:endParaRPr>
          </a:p>
        </p:txBody>
      </p:sp>
      <p:sp>
        <p:nvSpPr>
          <p:cNvPr id="9" name="Rectangle 2"/>
          <p:cNvSpPr>
            <a:spLocks noGrp="1" noChangeArrowheads="1"/>
          </p:cNvSpPr>
          <p:nvPr>
            <p:ph type="ctrTitle"/>
          </p:nvPr>
        </p:nvSpPr>
        <p:spPr bwMode="auto">
          <a:xfrm>
            <a:off x="4943475" y="260350"/>
            <a:ext cx="2667000" cy="681038"/>
          </a:xfrm>
          <a:solidFill>
            <a:srgbClr val="FFFFFF"/>
          </a:solidFill>
          <a:ln>
            <a:solidFill>
              <a:schemeClr val="tx1"/>
            </a:solidFill>
            <a:miter lim="800000"/>
          </a:ln>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990000"/>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j-cs"/>
              </a:rPr>
              <a:t>课 程 回 顾</a:t>
            </a:r>
            <a:r>
              <a:rPr kumimoji="0" lang="zh-CN" altLang="en-US" sz="3600" b="1" i="0" u="none" strike="noStrike" kern="1200" cap="none" spc="0" normalizeH="0" baseline="0" noProof="0">
                <a:ln>
                  <a:noFill/>
                </a:ln>
                <a:solidFill>
                  <a:srgbClr val="572314"/>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j-cs"/>
              </a:rPr>
              <a:t> </a:t>
            </a:r>
            <a:endParaRPr kumimoji="0" lang="zh-CN" altLang="en-US" sz="3600" b="1" i="0" u="none" strike="noStrike" kern="1200" cap="none" spc="0" normalizeH="0" baseline="0" noProof="0">
              <a:ln>
                <a:noFill/>
              </a:ln>
              <a:solidFill>
                <a:srgbClr val="572314"/>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j-cs"/>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9822">
                                            <p:txEl>
                                              <p:pRg st="0" end="0"/>
                                            </p:txEl>
                                          </p:spTgt>
                                        </p:tgtEl>
                                        <p:attrNameLst>
                                          <p:attrName>style.visibility</p:attrName>
                                        </p:attrNameLst>
                                      </p:cBhvr>
                                      <p:to>
                                        <p:strVal val="visible"/>
                                      </p:to>
                                    </p:set>
                                    <p:animEffect transition="in" filter="slide(fromBottom)">
                                      <p:cBhvr>
                                        <p:cTn id="7" dur="500"/>
                                        <p:tgtEl>
                                          <p:spTgt spid="1198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19822">
                                            <p:txEl>
                                              <p:pRg st="1" end="1"/>
                                            </p:txEl>
                                          </p:spTgt>
                                        </p:tgtEl>
                                        <p:attrNameLst>
                                          <p:attrName>style.visibility</p:attrName>
                                        </p:attrNameLst>
                                      </p:cBhvr>
                                      <p:to>
                                        <p:strVal val="visible"/>
                                      </p:to>
                                    </p:set>
                                    <p:animEffect transition="in" filter="slide(fromBottom)">
                                      <p:cBhvr>
                                        <p:cTn id="12" dur="500"/>
                                        <p:tgtEl>
                                          <p:spTgt spid="1198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9822">
                                            <p:txEl>
                                              <p:pRg st="2" end="2"/>
                                            </p:txEl>
                                          </p:spTgt>
                                        </p:tgtEl>
                                        <p:attrNameLst>
                                          <p:attrName>style.visibility</p:attrName>
                                        </p:attrNameLst>
                                      </p:cBhvr>
                                      <p:to>
                                        <p:strVal val="visible"/>
                                      </p:to>
                                    </p:set>
                                    <p:animEffect transition="in" filter="slide(fromBottom)">
                                      <p:cBhvr>
                                        <p:cTn id="17" dur="500"/>
                                        <p:tgtEl>
                                          <p:spTgt spid="1198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2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ext Box 3"/>
          <p:cNvSpPr txBox="1"/>
          <p:nvPr/>
        </p:nvSpPr>
        <p:spPr>
          <a:xfrm>
            <a:off x="1905000" y="2895600"/>
            <a:ext cx="8382000" cy="2630170"/>
          </a:xfrm>
          <a:prstGeom prst="rect">
            <a:avLst/>
          </a:prstGeom>
          <a:noFill/>
          <a:ln w="28575">
            <a:noFill/>
          </a:ln>
        </p:spPr>
        <p:txBody>
          <a:bodyPr anchor="t" anchorCtr="0">
            <a:spAutoFit/>
          </a:bodyPr>
          <a:lstStyle/>
          <a:p>
            <a:pPr eaLnBrk="0" hangingPunct="0">
              <a:lnSpc>
                <a:spcPct val="110000"/>
              </a:lnSpc>
              <a:spcBef>
                <a:spcPct val="50000"/>
              </a:spcBef>
            </a:pPr>
            <a:r>
              <a:rPr lang="zh-CN" altLang="en-US" sz="15000" dirty="0">
                <a:solidFill>
                  <a:srgbClr val="FF0000"/>
                </a:solidFill>
                <a:latin typeface="Times New Roman" panose="02020603050405020304" pitchFamily="18" charset="0"/>
              </a:rPr>
              <a:t>九九归一</a:t>
            </a:r>
            <a:endParaRPr lang="zh-CN" altLang="en-US" sz="15000" dirty="0">
              <a:solidFill>
                <a:srgbClr val="FF0000"/>
              </a:solidFill>
              <a:latin typeface="Times New Roman" panose="02020603050405020304" pitchFamily="18" charset="0"/>
            </a:endParaRPr>
          </a:p>
        </p:txBody>
      </p:sp>
      <p:sp>
        <p:nvSpPr>
          <p:cNvPr id="317444" name="AutoShape 4"/>
          <p:cNvSpPr/>
          <p:nvPr/>
        </p:nvSpPr>
        <p:spPr>
          <a:xfrm>
            <a:off x="1828800" y="1122045"/>
            <a:ext cx="4772025" cy="1849755"/>
          </a:xfrm>
          <a:prstGeom prst="wedgeRoundRectCallout">
            <a:avLst>
              <a:gd name="adj1" fmla="val -7421"/>
              <a:gd name="adj2" fmla="val 96773"/>
              <a:gd name="adj3" fmla="val 16667"/>
            </a:avLst>
          </a:prstGeom>
          <a:solidFill>
            <a:srgbClr val="CCFFCC"/>
          </a:solidFill>
          <a:ln w="28575" cap="flat" cmpd="sng">
            <a:solidFill>
              <a:schemeClr val="accent1"/>
            </a:solidFill>
            <a:prstDash val="solid"/>
            <a:miter/>
            <a:headEnd type="none" w="med" len="med"/>
            <a:tailEnd type="none" w="med" len="med"/>
          </a:ln>
        </p:spPr>
        <p:txBody>
          <a:bodyPr anchor="t" anchorCtr="0"/>
          <a:lstStyle/>
          <a:p>
            <a:pPr eaLnBrk="0" hangingPunct="0">
              <a:lnSpc>
                <a:spcPct val="110000"/>
              </a:lnSpc>
            </a:pPr>
            <a:r>
              <a:rPr lang="en-US" altLang="zh-CN" dirty="0">
                <a:solidFill>
                  <a:srgbClr val="0000FF"/>
                </a:solidFill>
                <a:latin typeface="楷体_GB2312"/>
              </a:rPr>
              <a:t>10</a:t>
            </a:r>
            <a:r>
              <a:rPr lang="zh-CN" altLang="en-US" dirty="0">
                <a:solidFill>
                  <a:srgbClr val="0000FF"/>
                </a:solidFill>
                <a:latin typeface="宋体" panose="02010600030101010101" pitchFamily="2" charset="-122"/>
              </a:rPr>
              <a:t>大知识领域 </a:t>
            </a:r>
            <a:endParaRPr lang="zh-CN" altLang="en-US" dirty="0">
              <a:solidFill>
                <a:srgbClr val="0000FF"/>
              </a:solidFill>
              <a:latin typeface="宋体" panose="02010600030101010101" pitchFamily="2" charset="-122"/>
            </a:endParaRPr>
          </a:p>
          <a:p>
            <a:pPr eaLnBrk="0" hangingPunct="0">
              <a:lnSpc>
                <a:spcPct val="110000"/>
              </a:lnSpc>
            </a:pPr>
            <a:r>
              <a:rPr lang="zh-CN" altLang="en-US" dirty="0">
                <a:latin typeface="楷体_GB2312"/>
              </a:rPr>
              <a:t>范围、时间、成本、质量、人力资源、沟通、风险、 采购、</a:t>
            </a:r>
            <a:r>
              <a:rPr lang="zh-CN" altLang="en-US" b="1" dirty="0">
                <a:solidFill>
                  <a:srgbClr val="FF0000"/>
                </a:solidFill>
                <a:latin typeface="楷体_GB2312"/>
              </a:rPr>
              <a:t>集成（整合）管理</a:t>
            </a:r>
            <a:r>
              <a:rPr lang="zh-CN" altLang="en-US" dirty="0">
                <a:latin typeface="楷体_GB2312"/>
              </a:rPr>
              <a:t>、干系人管理</a:t>
            </a:r>
            <a:endParaRPr lang="zh-CN" altLang="en-US" dirty="0">
              <a:latin typeface="楷体_GB2312"/>
            </a:endParaRPr>
          </a:p>
        </p:txBody>
      </p:sp>
      <p:sp>
        <p:nvSpPr>
          <p:cNvPr id="317445" name="AutoShape 5"/>
          <p:cNvSpPr/>
          <p:nvPr/>
        </p:nvSpPr>
        <p:spPr>
          <a:xfrm>
            <a:off x="2438400" y="5715000"/>
            <a:ext cx="4594225" cy="914400"/>
          </a:xfrm>
          <a:prstGeom prst="wedgeRoundRectCallout">
            <a:avLst>
              <a:gd name="adj1" fmla="val 12134"/>
              <a:gd name="adj2" fmla="val -118750"/>
              <a:gd name="adj3" fmla="val 16667"/>
            </a:avLst>
          </a:prstGeom>
          <a:solidFill>
            <a:srgbClr val="CCFFCC"/>
          </a:solidFill>
          <a:ln w="28575" cap="flat" cmpd="sng">
            <a:solidFill>
              <a:schemeClr val="accent2"/>
            </a:solidFill>
            <a:prstDash val="solid"/>
            <a:miter/>
            <a:headEnd type="none" w="med" len="med"/>
            <a:tailEnd type="none" w="med" len="med"/>
          </a:ln>
        </p:spPr>
        <p:txBody>
          <a:bodyPr anchor="t" anchorCtr="0"/>
          <a:lstStyle/>
          <a:p>
            <a:pPr eaLnBrk="0" hangingPunct="0">
              <a:lnSpc>
                <a:spcPct val="110000"/>
              </a:lnSpc>
            </a:pPr>
            <a:r>
              <a:rPr lang="zh-CN" altLang="en-US" dirty="0">
                <a:solidFill>
                  <a:srgbClr val="0000FF"/>
                </a:solidFill>
                <a:latin typeface="Times New Roman" panose="02020603050405020304" pitchFamily="18" charset="0"/>
              </a:rPr>
              <a:t>5个过程组</a:t>
            </a:r>
            <a:endParaRPr lang="zh-CN" altLang="en-US" dirty="0">
              <a:solidFill>
                <a:srgbClr val="0000FF"/>
              </a:solidFill>
              <a:latin typeface="Times New Roman" panose="02020603050405020304" pitchFamily="18" charset="0"/>
            </a:endParaRPr>
          </a:p>
          <a:p>
            <a:pPr eaLnBrk="0" hangingPunct="0">
              <a:lnSpc>
                <a:spcPct val="110000"/>
              </a:lnSpc>
            </a:pPr>
            <a:r>
              <a:rPr lang="zh-CN" altLang="en-US" dirty="0">
                <a:latin typeface="楷体_GB2312"/>
              </a:rPr>
              <a:t>启动、计划、执行、控制、收尾</a:t>
            </a:r>
            <a:endParaRPr lang="zh-CN" altLang="en-US" dirty="0">
              <a:latin typeface="楷体_GB2312"/>
            </a:endParaRPr>
          </a:p>
        </p:txBody>
      </p:sp>
      <p:sp>
        <p:nvSpPr>
          <p:cNvPr id="317446" name="AutoShape 6"/>
          <p:cNvSpPr/>
          <p:nvPr/>
        </p:nvSpPr>
        <p:spPr>
          <a:xfrm>
            <a:off x="7467600" y="5410200"/>
            <a:ext cx="2971800" cy="914400"/>
          </a:xfrm>
          <a:prstGeom prst="wedgeRoundRectCallout">
            <a:avLst>
              <a:gd name="adj1" fmla="val 2403"/>
              <a:gd name="adj2" fmla="val -162500"/>
              <a:gd name="adj3" fmla="val 16667"/>
            </a:avLst>
          </a:prstGeom>
          <a:solidFill>
            <a:srgbClr val="CCFFCC"/>
          </a:solidFill>
          <a:ln w="28575" cap="flat" cmpd="sng">
            <a:solidFill>
              <a:schemeClr val="hlink"/>
            </a:solidFill>
            <a:prstDash val="solid"/>
            <a:miter/>
            <a:headEnd type="none" w="med" len="med"/>
            <a:tailEnd type="none" w="med" len="med"/>
          </a:ln>
        </p:spPr>
        <p:txBody>
          <a:bodyPr anchor="t" anchorCtr="0"/>
          <a:lstStyle/>
          <a:p>
            <a:pPr eaLnBrk="0" hangingPunct="0">
              <a:lnSpc>
                <a:spcPct val="110000"/>
              </a:lnSpc>
            </a:pPr>
            <a:r>
              <a:rPr lang="zh-CN" altLang="en-US" sz="2800" dirty="0">
                <a:latin typeface="Times New Roman" panose="02020603050405020304" pitchFamily="18" charset="0"/>
              </a:rPr>
              <a:t>完成一次性目标</a:t>
            </a:r>
            <a:endParaRPr lang="zh-CN" altLang="en-US" sz="2800" dirty="0">
              <a:latin typeface="Times New Roman" panose="02020603050405020304" pitchFamily="18" charset="0"/>
            </a:endParaRPr>
          </a:p>
        </p:txBody>
      </p:sp>
      <p:sp>
        <p:nvSpPr>
          <p:cNvPr id="317447" name="AutoShape 7"/>
          <p:cNvSpPr/>
          <p:nvPr/>
        </p:nvSpPr>
        <p:spPr>
          <a:xfrm>
            <a:off x="6705600" y="1981200"/>
            <a:ext cx="3657600" cy="914400"/>
          </a:xfrm>
          <a:prstGeom prst="wedgeRoundRectCallout">
            <a:avLst>
              <a:gd name="adj1" fmla="val -91097"/>
              <a:gd name="adj2" fmla="val 131250"/>
              <a:gd name="adj3" fmla="val 16667"/>
            </a:avLst>
          </a:prstGeom>
          <a:solidFill>
            <a:srgbClr val="CCFFCC"/>
          </a:solidFill>
          <a:ln w="28575" cap="flat" cmpd="sng">
            <a:solidFill>
              <a:schemeClr val="accent2"/>
            </a:solidFill>
            <a:prstDash val="solid"/>
            <a:miter/>
            <a:headEnd type="none" w="med" len="med"/>
            <a:tailEnd type="none" w="med" len="med"/>
          </a:ln>
        </p:spPr>
        <p:txBody>
          <a:bodyPr anchor="t" anchorCtr="0"/>
          <a:lstStyle/>
          <a:p>
            <a:pPr eaLnBrk="0" hangingPunct="0">
              <a:lnSpc>
                <a:spcPct val="110000"/>
              </a:lnSpc>
            </a:pPr>
            <a:r>
              <a:rPr lang="zh-CN" altLang="en-US" dirty="0">
                <a:solidFill>
                  <a:srgbClr val="0000FF"/>
                </a:solidFill>
                <a:latin typeface="Times New Roman" panose="02020603050405020304" pitchFamily="18" charset="0"/>
              </a:rPr>
              <a:t>4个阶段</a:t>
            </a:r>
            <a:endParaRPr lang="zh-CN" altLang="en-US" dirty="0">
              <a:solidFill>
                <a:srgbClr val="0000FF"/>
              </a:solidFill>
              <a:latin typeface="Times New Roman" panose="02020603050405020304" pitchFamily="18" charset="0"/>
            </a:endParaRPr>
          </a:p>
          <a:p>
            <a:pPr eaLnBrk="0" hangingPunct="0">
              <a:lnSpc>
                <a:spcPct val="110000"/>
              </a:lnSpc>
            </a:pPr>
            <a:r>
              <a:rPr lang="zh-CN" altLang="en-US" dirty="0">
                <a:latin typeface="楷体_GB2312"/>
              </a:rPr>
              <a:t>概念、开发、实施、收尾</a:t>
            </a:r>
            <a:endParaRPr lang="zh-CN" altLang="en-US" dirty="0">
              <a:latin typeface="Times New Roman" panose="02020603050405020304" pitchFamily="18" charset="0"/>
            </a:endParaRPr>
          </a:p>
        </p:txBody>
      </p:sp>
      <p:sp>
        <p:nvSpPr>
          <p:cNvPr id="12" name="Rectangle 2"/>
          <p:cNvSpPr txBox="1">
            <a:spLocks noChangeArrowheads="1"/>
          </p:cNvSpPr>
          <p:nvPr/>
        </p:nvSpPr>
        <p:spPr bwMode="auto">
          <a:xfrm>
            <a:off x="4943475" y="260350"/>
            <a:ext cx="2667000" cy="681038"/>
          </a:xfrm>
          <a:prstGeom prst="rect">
            <a:avLst/>
          </a:prstGeom>
          <a:solidFill>
            <a:srgbClr val="FFFFFF"/>
          </a:solidFill>
          <a:ln>
            <a:solidFill>
              <a:schemeClr val="tx1"/>
            </a:solid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990000"/>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j-cs"/>
              </a:rPr>
              <a:t>课 程 回 顾</a:t>
            </a:r>
            <a:r>
              <a:rPr kumimoji="0" lang="zh-CN" altLang="en-US" sz="3600" b="1" i="0" u="none" strike="noStrike" kern="1200" cap="none" spc="0" normalizeH="0" baseline="0" noProof="0">
                <a:ln>
                  <a:noFill/>
                </a:ln>
                <a:solidFill>
                  <a:srgbClr val="572314"/>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j-cs"/>
              </a:rPr>
              <a:t> </a:t>
            </a:r>
            <a:endParaRPr kumimoji="0" lang="zh-CN" altLang="en-US" sz="3600" b="1" i="0" u="none" strike="noStrike" kern="1200" cap="none" spc="0" normalizeH="0" baseline="0" noProof="0">
              <a:ln>
                <a:noFill/>
              </a:ln>
              <a:solidFill>
                <a:srgbClr val="572314"/>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j-cs"/>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44"/>
                                        </p:tgtEl>
                                        <p:attrNameLst>
                                          <p:attrName>style.visibility</p:attrName>
                                        </p:attrNameLst>
                                      </p:cBhvr>
                                      <p:to>
                                        <p:strVal val="visible"/>
                                      </p:to>
                                    </p:set>
                                    <p:anim calcmode="lin" valueType="num">
                                      <p:cBhvr>
                                        <p:cTn id="7" dur="500" fill="hold"/>
                                        <p:tgtEl>
                                          <p:spTgt spid="317444"/>
                                        </p:tgtEl>
                                        <p:attrNameLst>
                                          <p:attrName>ppt_x</p:attrName>
                                        </p:attrNameLst>
                                      </p:cBhvr>
                                      <p:tavLst>
                                        <p:tav tm="0">
                                          <p:val>
                                            <p:strVal val="0-#ppt_w/2"/>
                                          </p:val>
                                        </p:tav>
                                        <p:tav tm="100000">
                                          <p:val>
                                            <p:strVal val="#ppt_x"/>
                                          </p:val>
                                        </p:tav>
                                      </p:tavLst>
                                    </p:anim>
                                    <p:anim calcmode="lin" valueType="num">
                                      <p:cBhvr>
                                        <p:cTn id="8" dur="500" fill="hold"/>
                                        <p:tgtEl>
                                          <p:spTgt spid="3174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17447"/>
                                        </p:tgtEl>
                                        <p:attrNameLst>
                                          <p:attrName>style.visibility</p:attrName>
                                        </p:attrNameLst>
                                      </p:cBhvr>
                                      <p:to>
                                        <p:strVal val="visible"/>
                                      </p:to>
                                    </p:set>
                                    <p:anim calcmode="lin" valueType="num">
                                      <p:cBhvr>
                                        <p:cTn id="13" dur="500" fill="hold"/>
                                        <p:tgtEl>
                                          <p:spTgt spid="317447"/>
                                        </p:tgtEl>
                                        <p:attrNameLst>
                                          <p:attrName>ppt_x</p:attrName>
                                        </p:attrNameLst>
                                      </p:cBhvr>
                                      <p:tavLst>
                                        <p:tav tm="0">
                                          <p:val>
                                            <p:strVal val="1+#ppt_w/2"/>
                                          </p:val>
                                        </p:tav>
                                        <p:tav tm="100000">
                                          <p:val>
                                            <p:strVal val="#ppt_x"/>
                                          </p:val>
                                        </p:tav>
                                      </p:tavLst>
                                    </p:anim>
                                    <p:anim calcmode="lin" valueType="num">
                                      <p:cBhvr>
                                        <p:cTn id="14" dur="500" fill="hold"/>
                                        <p:tgtEl>
                                          <p:spTgt spid="3174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445"/>
                                        </p:tgtEl>
                                        <p:attrNameLst>
                                          <p:attrName>style.visibility</p:attrName>
                                        </p:attrNameLst>
                                      </p:cBhvr>
                                      <p:to>
                                        <p:strVal val="visible"/>
                                      </p:to>
                                    </p:set>
                                    <p:anim calcmode="lin" valueType="num">
                                      <p:cBhvr>
                                        <p:cTn id="19" dur="500" fill="hold"/>
                                        <p:tgtEl>
                                          <p:spTgt spid="317445"/>
                                        </p:tgtEl>
                                        <p:attrNameLst>
                                          <p:attrName>ppt_x</p:attrName>
                                        </p:attrNameLst>
                                      </p:cBhvr>
                                      <p:tavLst>
                                        <p:tav tm="0">
                                          <p:val>
                                            <p:strVal val="#ppt_x"/>
                                          </p:val>
                                        </p:tav>
                                        <p:tav tm="100000">
                                          <p:val>
                                            <p:strVal val="#ppt_x"/>
                                          </p:val>
                                        </p:tav>
                                      </p:tavLst>
                                    </p:anim>
                                    <p:anim calcmode="lin" valueType="num">
                                      <p:cBhvr>
                                        <p:cTn id="20" dur="500" fill="hold"/>
                                        <p:tgtEl>
                                          <p:spTgt spid="31744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317446"/>
                                        </p:tgtEl>
                                        <p:attrNameLst>
                                          <p:attrName>style.visibility</p:attrName>
                                        </p:attrNameLst>
                                      </p:cBhvr>
                                      <p:to>
                                        <p:strVal val="visible"/>
                                      </p:to>
                                    </p:set>
                                    <p:anim calcmode="lin" valueType="num">
                                      <p:cBhvr>
                                        <p:cTn id="25" dur="500" fill="hold"/>
                                        <p:tgtEl>
                                          <p:spTgt spid="317446"/>
                                        </p:tgtEl>
                                        <p:attrNameLst>
                                          <p:attrName>ppt_x</p:attrName>
                                        </p:attrNameLst>
                                      </p:cBhvr>
                                      <p:tavLst>
                                        <p:tav tm="0">
                                          <p:val>
                                            <p:strVal val="1+#ppt_w/2"/>
                                          </p:val>
                                        </p:tav>
                                        <p:tav tm="100000">
                                          <p:val>
                                            <p:strVal val="#ppt_x"/>
                                          </p:val>
                                        </p:tav>
                                      </p:tavLst>
                                    </p:anim>
                                    <p:anim calcmode="lin" valueType="num">
                                      <p:cBhvr>
                                        <p:cTn id="26" dur="500" fill="hold"/>
                                        <p:tgtEl>
                                          <p:spTgt spid="3174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4" grpId="0" bldLvl="0" animBg="1"/>
      <p:bldP spid="317445" grpId="0" bldLvl="0" animBg="1"/>
      <p:bldP spid="317446" grpId="0" bldLvl="0" animBg="1"/>
      <p:bldP spid="31744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3"/>
          <p:cNvSpPr txBox="1"/>
          <p:nvPr/>
        </p:nvSpPr>
        <p:spPr>
          <a:xfrm>
            <a:off x="2063750" y="1412875"/>
            <a:ext cx="9755505" cy="4892675"/>
          </a:xfrm>
          <a:prstGeom prst="rect">
            <a:avLst/>
          </a:prstGeom>
          <a:noFill/>
          <a:ln w="28575">
            <a:noFill/>
          </a:ln>
        </p:spPr>
        <p:txBody>
          <a:bodyPr wrap="square" anchor="t" anchorCtr="0">
            <a:spAutoFit/>
          </a:bodyPr>
          <a:lstStyle/>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理解项目集成管理的重要性</a:t>
            </a:r>
            <a:endParaRPr lang="zh-CN" altLang="en-US" sz="2600" dirty="0">
              <a:latin typeface="Gill Sans MT" panose="020B0502020104020203" pitchFamily="34" charset="0"/>
              <a:ea typeface="华文中宋" panose="02010600040101010101" pitchFamily="2" charset="-122"/>
            </a:endParaRPr>
          </a:p>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理解</a:t>
            </a:r>
            <a:r>
              <a:rPr lang="zh-CN" altLang="en-US" sz="2600" dirty="0">
                <a:solidFill>
                  <a:srgbClr val="FF0000"/>
                </a:solidFill>
                <a:latin typeface="Gill Sans MT" panose="020B0502020104020203" pitchFamily="34" charset="0"/>
                <a:ea typeface="华文中宋" panose="02010600040101010101" pitchFamily="2" charset="-122"/>
              </a:rPr>
              <a:t>项目集成管理的</a:t>
            </a:r>
            <a:r>
              <a:rPr lang="en-US" altLang="zh-CN" sz="2600" dirty="0">
                <a:solidFill>
                  <a:srgbClr val="FF0000"/>
                </a:solidFill>
                <a:latin typeface="Gill Sans MT" panose="020B0502020104020203" pitchFamily="34" charset="0"/>
                <a:ea typeface="华文中宋" panose="02010600040101010101" pitchFamily="2" charset="-122"/>
              </a:rPr>
              <a:t>7</a:t>
            </a:r>
            <a:r>
              <a:rPr lang="zh-CN" altLang="en-US" sz="2600" dirty="0">
                <a:solidFill>
                  <a:srgbClr val="FF0000"/>
                </a:solidFill>
                <a:latin typeface="Gill Sans MT" panose="020B0502020104020203" pitchFamily="34" charset="0"/>
                <a:ea typeface="华文中宋" panose="02010600040101010101" pitchFamily="2" charset="-122"/>
              </a:rPr>
              <a:t>过程：制定项目章程、制定项目管理计划、指导与管理项目工作、管理项目知识、监控项目工作、实施整体变更控制、项目或阶段</a:t>
            </a:r>
            <a:r>
              <a:rPr lang="zh-CN" altLang="en-US" sz="2600" dirty="0">
                <a:solidFill>
                  <a:srgbClr val="FF0000"/>
                </a:solidFill>
                <a:latin typeface="Gill Sans MT" panose="020B0502020104020203" pitchFamily="34" charset="0"/>
                <a:ea typeface="华文中宋" panose="02010600040101010101" pitchFamily="2" charset="-122"/>
                <a:sym typeface="+mn-ea"/>
              </a:rPr>
              <a:t>收尾</a:t>
            </a:r>
            <a:endParaRPr lang="zh-CN" altLang="en-US" sz="2600" dirty="0">
              <a:solidFill>
                <a:srgbClr val="FF0000"/>
              </a:solidFill>
              <a:latin typeface="Gill Sans MT" panose="020B0502020104020203" pitchFamily="34" charset="0"/>
              <a:ea typeface="华文中宋" panose="02010600040101010101" pitchFamily="2" charset="-122"/>
            </a:endParaRPr>
          </a:p>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理解</a:t>
            </a:r>
            <a:r>
              <a:rPr lang="zh-CN" altLang="en-US" sz="2600" dirty="0">
                <a:solidFill>
                  <a:srgbClr val="FF0000"/>
                </a:solidFill>
                <a:latin typeface="Gill Sans MT" panose="020B0502020104020203" pitchFamily="34" charset="0"/>
                <a:ea typeface="华文中宋" panose="02010600040101010101" pitchFamily="2" charset="-122"/>
              </a:rPr>
              <a:t>战略计划与项目选择的关系</a:t>
            </a:r>
            <a:r>
              <a:rPr lang="zh-CN" altLang="en-US" sz="2600" dirty="0">
                <a:latin typeface="Gill Sans MT" panose="020B0502020104020203" pitchFamily="34" charset="0"/>
                <a:ea typeface="华文中宋" panose="02010600040101010101" pitchFamily="2" charset="-122"/>
              </a:rPr>
              <a:t>，应用</a:t>
            </a:r>
            <a:r>
              <a:rPr lang="zh-CN" altLang="en-US" sz="2600" dirty="0">
                <a:solidFill>
                  <a:srgbClr val="FF0000"/>
                </a:solidFill>
                <a:latin typeface="Gill Sans MT" panose="020B0502020104020203" pitchFamily="34" charset="0"/>
                <a:ea typeface="华文中宋" panose="02010600040101010101" pitchFamily="2" charset="-122"/>
              </a:rPr>
              <a:t>不同的项目选择方法</a:t>
            </a:r>
            <a:endParaRPr lang="zh-CN" altLang="en-US" sz="2600" dirty="0">
              <a:latin typeface="Gill Sans MT" panose="020B0502020104020203" pitchFamily="34" charset="0"/>
              <a:ea typeface="华文中宋" panose="02010600040101010101" pitchFamily="2" charset="-122"/>
            </a:endParaRPr>
          </a:p>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理解</a:t>
            </a:r>
            <a:r>
              <a:rPr lang="zh-CN" altLang="en-US" sz="2600" dirty="0">
                <a:solidFill>
                  <a:srgbClr val="FF0000"/>
                </a:solidFill>
                <a:latin typeface="Gill Sans MT" panose="020B0502020104020203" pitchFamily="34" charset="0"/>
                <a:ea typeface="华文中宋" panose="02010600040101010101" pitchFamily="2" charset="-122"/>
              </a:rPr>
              <a:t>项目计划的主要组成部分及编制要求</a:t>
            </a:r>
            <a:endParaRPr lang="zh-CN" altLang="en-US" sz="2600" dirty="0">
              <a:latin typeface="Gill Sans MT" panose="020B0502020104020203" pitchFamily="34" charset="0"/>
              <a:ea typeface="华文中宋" panose="02010600040101010101" pitchFamily="2" charset="-122"/>
            </a:endParaRPr>
          </a:p>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掌握项目计划的执行和取得工作结果的几个重要方面</a:t>
            </a:r>
            <a:endParaRPr lang="zh-CN" altLang="en-US" sz="2600" dirty="0">
              <a:latin typeface="Gill Sans MT" panose="020B0502020104020203" pitchFamily="34" charset="0"/>
              <a:ea typeface="华文中宋" panose="02010600040101010101" pitchFamily="2" charset="-122"/>
            </a:endParaRPr>
          </a:p>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了解</a:t>
            </a:r>
            <a:r>
              <a:rPr lang="zh-CN" altLang="en-US" sz="2600" dirty="0">
                <a:solidFill>
                  <a:srgbClr val="FF0000"/>
                </a:solidFill>
                <a:latin typeface="Gill Sans MT" panose="020B0502020104020203" pitchFamily="34" charset="0"/>
                <a:ea typeface="华文中宋" panose="02010600040101010101" pitchFamily="2" charset="-122"/>
              </a:rPr>
              <a:t>集成变更控制过程</a:t>
            </a:r>
            <a:r>
              <a:rPr lang="zh-CN" altLang="en-US" sz="2600" dirty="0">
                <a:latin typeface="Gill Sans MT" panose="020B0502020104020203" pitchFamily="34" charset="0"/>
                <a:ea typeface="华文中宋" panose="02010600040101010101" pitchFamily="2" charset="-122"/>
              </a:rPr>
              <a:t>，掌握计划更新的方法</a:t>
            </a:r>
            <a:endParaRPr lang="zh-CN" altLang="en-US" sz="2600" dirty="0">
              <a:latin typeface="Gill Sans MT" panose="020B0502020104020203" pitchFamily="34" charset="0"/>
              <a:ea typeface="华文中宋" panose="02010600040101010101" pitchFamily="2" charset="-122"/>
            </a:endParaRPr>
          </a:p>
          <a:p>
            <a:pPr marL="342900" indent="-342900" eaLnBrk="0" hangingPunct="0">
              <a:spcBef>
                <a:spcPct val="50000"/>
              </a:spcBef>
              <a:buClr>
                <a:srgbClr val="FF0000"/>
              </a:buClr>
              <a:buFont typeface="Wingdings" panose="05000000000000000000" pitchFamily="2" charset="2"/>
              <a:buChar char="Ø"/>
            </a:pPr>
            <a:r>
              <a:rPr lang="zh-CN" altLang="en-US" sz="2600" dirty="0">
                <a:latin typeface="Gill Sans MT" panose="020B0502020104020203" pitchFamily="34" charset="0"/>
                <a:ea typeface="华文中宋" panose="02010600040101010101" pitchFamily="2" charset="-122"/>
              </a:rPr>
              <a:t> 理解高层管理对项目管理的参与对项目的成功的重要性</a:t>
            </a:r>
            <a:endParaRPr lang="zh-CN" altLang="en-US" sz="2600" dirty="0">
              <a:latin typeface="Gill Sans MT" panose="020B0502020104020203" pitchFamily="34" charset="0"/>
              <a:ea typeface="华文中宋" panose="02010600040101010101" pitchFamily="2" charset="-122"/>
            </a:endParaRPr>
          </a:p>
        </p:txBody>
      </p:sp>
      <p:sp>
        <p:nvSpPr>
          <p:cNvPr id="5" name="Rectangle 1026"/>
          <p:cNvSpPr txBox="1">
            <a:spLocks noChangeArrowheads="1"/>
          </p:cNvSpPr>
          <p:nvPr/>
        </p:nvSpPr>
        <p:spPr>
          <a:xfrm>
            <a:off x="2711450" y="188913"/>
            <a:ext cx="7561263"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学习目标</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6" name="直接连接符 5"/>
          <p:cNvCxnSpPr/>
          <p:nvPr/>
        </p:nvCxnSpPr>
        <p:spPr>
          <a:xfrm>
            <a:off x="2711450" y="1196975"/>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a:spLocks noGrp="1"/>
          </p:cNvSpPr>
          <p:nvPr>
            <p:ph type="sldNum" sz="quarter" idx="4"/>
          </p:nvPr>
        </p:nvSpPr>
        <p:spPr>
          <a:xfrm>
            <a:off x="8763000" y="6553200"/>
            <a:ext cx="1905000" cy="457200"/>
          </a:xfrm>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a:fld id="{9A0DB2DC-4C9A-4742-B13C-FB6460FD3503}" type="slidenum">
              <a:rPr lang="en-US" altLang="en-US" sz="1400" dirty="0">
                <a:solidFill>
                  <a:schemeClr val="bg2"/>
                </a:solidFill>
                <a:latin typeface="Times New Roman" panose="02020603050405020304" pitchFamily="18" charset="0"/>
              </a:rPr>
            </a:fld>
            <a:r>
              <a:rPr lang="en-US" altLang="zh-CN" sz="1400" dirty="0">
                <a:solidFill>
                  <a:schemeClr val="bg2"/>
                </a:solidFill>
                <a:latin typeface="Times New Roman" panose="02020603050405020304" pitchFamily="18" charset="0"/>
              </a:rPr>
              <a:t>/18</a:t>
            </a:r>
            <a:endParaRPr lang="en-US" altLang="zh-CN" sz="1400" dirty="0">
              <a:solidFill>
                <a:schemeClr val="bg2"/>
              </a:solidFill>
              <a:latin typeface="Times New Roman" panose="02020603050405020304" pitchFamily="18" charset="0"/>
            </a:endParaRPr>
          </a:p>
        </p:txBody>
      </p:sp>
      <p:sp>
        <p:nvSpPr>
          <p:cNvPr id="6" name="Rectangle 1026"/>
          <p:cNvSpPr txBox="1">
            <a:spLocks noChangeArrowheads="1"/>
          </p:cNvSpPr>
          <p:nvPr/>
        </p:nvSpPr>
        <p:spPr>
          <a:xfrm>
            <a:off x="2711450" y="188913"/>
            <a:ext cx="7561263"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项目集成管理</a:t>
            </a:r>
            <a:r>
              <a:rPr kumimoji="0" lang="en-US" altLang="zh-CN" sz="3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rPr>
              <a:t> </a:t>
            </a:r>
            <a:endParaRPr kumimoji="0" lang="en-US" altLang="zh-CN" sz="3200" b="0" i="0" u="none" strike="noStrike" kern="1200" cap="none" spc="0" normalizeH="0" baseline="0" noProof="0" dirty="0">
              <a:ln>
                <a:noFill/>
              </a:ln>
              <a:solidFill>
                <a:srgbClr val="99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j-cs"/>
            </a:endParaRPr>
          </a:p>
        </p:txBody>
      </p:sp>
      <p:cxnSp>
        <p:nvCxnSpPr>
          <p:cNvPr id="5" name="直接连接符 4"/>
          <p:cNvCxnSpPr/>
          <p:nvPr/>
        </p:nvCxnSpPr>
        <p:spPr>
          <a:xfrm>
            <a:off x="2711450" y="1196975"/>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1988" name="Rectangle 3"/>
          <p:cNvSpPr txBox="1"/>
          <p:nvPr/>
        </p:nvSpPr>
        <p:spPr>
          <a:xfrm>
            <a:off x="2711450" y="1339850"/>
            <a:ext cx="7561263" cy="5075238"/>
          </a:xfrm>
          <a:prstGeom prst="rect">
            <a:avLst/>
          </a:prstGeom>
          <a:noFill/>
          <a:ln w="9525">
            <a:noFill/>
          </a:ln>
        </p:spPr>
        <p:txBody>
          <a:bodyPr anchor="t" anchorCtr="0"/>
          <a:lstStyle/>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4.1 </a:t>
            </a:r>
            <a:r>
              <a:rPr lang="zh-CN" altLang="en-US" dirty="0">
                <a:solidFill>
                  <a:srgbClr val="002060"/>
                </a:solidFill>
                <a:latin typeface="Arial" panose="020B0604020202020204" pitchFamily="34" charset="0"/>
                <a:ea typeface="华文中宋" panose="02010600040101010101" pitchFamily="2" charset="-122"/>
              </a:rPr>
              <a:t>什么是项目集成管理</a:t>
            </a:r>
            <a:endParaRPr lang="zh-CN" altLang="en-US" dirty="0">
              <a:solidFill>
                <a:srgbClr val="002060"/>
              </a:solidFill>
              <a:latin typeface="Arial" panose="020B0604020202020204" pitchFamily="34" charset="0"/>
              <a:ea typeface="华文中宋" panose="02010600040101010101" pitchFamily="2" charset="-122"/>
            </a:endParaRPr>
          </a:p>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4.2 </a:t>
            </a:r>
            <a:r>
              <a:rPr lang="zh-CN" altLang="en-US" dirty="0">
                <a:solidFill>
                  <a:srgbClr val="002060"/>
                </a:solidFill>
                <a:latin typeface="Arial" panose="020B0604020202020204" pitchFamily="34" charset="0"/>
                <a:ea typeface="华文中宋" panose="02010600040101010101" pitchFamily="2" charset="-122"/>
              </a:rPr>
              <a:t>战略计划和项目选择</a:t>
            </a:r>
            <a:endParaRPr lang="zh-CN" altLang="en-US" dirty="0">
              <a:solidFill>
                <a:srgbClr val="002060"/>
              </a:solidFill>
              <a:latin typeface="Arial" panose="020B0604020202020204" pitchFamily="34" charset="0"/>
              <a:ea typeface="华文中宋" panose="02010600040101010101" pitchFamily="2" charset="-122"/>
            </a:endParaRPr>
          </a:p>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4.3 </a:t>
            </a:r>
            <a:r>
              <a:rPr lang="zh-CN" altLang="en-US" dirty="0">
                <a:solidFill>
                  <a:srgbClr val="002060"/>
                </a:solidFill>
                <a:latin typeface="Arial" panose="020B0604020202020204" pitchFamily="34" charset="0"/>
                <a:ea typeface="华文中宋" panose="02010600040101010101" pitchFamily="2" charset="-122"/>
              </a:rPr>
              <a:t>制定</a:t>
            </a:r>
            <a:r>
              <a:rPr lang="zh-CN" altLang="zh-CN" dirty="0">
                <a:solidFill>
                  <a:srgbClr val="002060"/>
                </a:solidFill>
                <a:latin typeface="Arial" panose="020B0604020202020204" pitchFamily="34" charset="0"/>
                <a:ea typeface="华文中宋" panose="02010600040101010101" pitchFamily="2" charset="-122"/>
              </a:rPr>
              <a:t>项目管理计划</a:t>
            </a:r>
            <a:endParaRPr lang="zh-CN" altLang="zh-CN" dirty="0">
              <a:solidFill>
                <a:srgbClr val="002060"/>
              </a:solidFill>
              <a:latin typeface="Arial" panose="020B0604020202020204" pitchFamily="34" charset="0"/>
              <a:ea typeface="华文中宋" panose="02010600040101010101" pitchFamily="2" charset="-122"/>
            </a:endParaRPr>
          </a:p>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4.4 </a:t>
            </a:r>
            <a:r>
              <a:rPr lang="zh-CN" altLang="en-US" dirty="0">
                <a:solidFill>
                  <a:srgbClr val="002060"/>
                </a:solidFill>
                <a:latin typeface="Arial" panose="020B0604020202020204" pitchFamily="34" charset="0"/>
                <a:ea typeface="华文中宋" panose="02010600040101010101" pitchFamily="2" charset="-122"/>
              </a:rPr>
              <a:t>指导与管理</a:t>
            </a:r>
            <a:r>
              <a:rPr lang="zh-CN" altLang="zh-CN" dirty="0">
                <a:solidFill>
                  <a:srgbClr val="002060"/>
                </a:solidFill>
                <a:latin typeface="Arial" panose="020B0604020202020204" pitchFamily="34" charset="0"/>
                <a:ea typeface="华文中宋" panose="02010600040101010101" pitchFamily="2" charset="-122"/>
                <a:sym typeface="华文中宋" panose="02010600040101010101" pitchFamily="2" charset="-122"/>
              </a:rPr>
              <a:t>项目</a:t>
            </a:r>
            <a:r>
              <a:rPr lang="zh-CN" altLang="en-US" dirty="0">
                <a:solidFill>
                  <a:srgbClr val="002060"/>
                </a:solidFill>
                <a:latin typeface="Arial" panose="020B0604020202020204" pitchFamily="34" charset="0"/>
                <a:ea typeface="华文中宋" panose="02010600040101010101" pitchFamily="2" charset="-122"/>
                <a:sym typeface="华文中宋" panose="02010600040101010101" pitchFamily="2" charset="-122"/>
              </a:rPr>
              <a:t>工作</a:t>
            </a:r>
            <a:r>
              <a:rPr lang="zh-CN" altLang="zh-CN" dirty="0">
                <a:solidFill>
                  <a:srgbClr val="002060"/>
                </a:solidFill>
                <a:latin typeface="Arial" panose="020B0604020202020204" pitchFamily="34" charset="0"/>
                <a:ea typeface="华文中宋" panose="02010600040101010101" pitchFamily="2" charset="-122"/>
                <a:sym typeface="华文中宋" panose="02010600040101010101" pitchFamily="2" charset="-122"/>
              </a:rPr>
              <a:t>（</a:t>
            </a:r>
            <a:r>
              <a:rPr lang="zh-CN" altLang="en-US" dirty="0">
                <a:solidFill>
                  <a:srgbClr val="002060"/>
                </a:solidFill>
                <a:latin typeface="Arial" panose="020B0604020202020204" pitchFamily="34" charset="0"/>
                <a:ea typeface="华文中宋" panose="02010600040101010101" pitchFamily="2" charset="-122"/>
              </a:rPr>
              <a:t>项目实施）</a:t>
            </a:r>
            <a:endParaRPr lang="zh-CN" altLang="en-US" dirty="0">
              <a:solidFill>
                <a:srgbClr val="002060"/>
              </a:solidFill>
              <a:latin typeface="Arial" panose="020B0604020202020204" pitchFamily="34" charset="0"/>
              <a:ea typeface="华文中宋" panose="02010600040101010101" pitchFamily="2" charset="-122"/>
            </a:endParaRPr>
          </a:p>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4.5 </a:t>
            </a:r>
            <a:r>
              <a:rPr lang="zh-CN" altLang="en-US" dirty="0">
                <a:solidFill>
                  <a:srgbClr val="002060"/>
                </a:solidFill>
                <a:latin typeface="Arial" panose="020B0604020202020204" pitchFamily="34" charset="0"/>
                <a:ea typeface="华文中宋" panose="02010600040101010101" pitchFamily="2" charset="-122"/>
              </a:rPr>
              <a:t>监控项目工作</a:t>
            </a:r>
            <a:endParaRPr lang="zh-CN" altLang="en-US" dirty="0">
              <a:solidFill>
                <a:srgbClr val="002060"/>
              </a:solidFill>
              <a:latin typeface="Arial" panose="020B0604020202020204" pitchFamily="34" charset="0"/>
              <a:ea typeface="华文中宋" panose="02010600040101010101" pitchFamily="2" charset="-122"/>
            </a:endParaRPr>
          </a:p>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4.6 </a:t>
            </a:r>
            <a:r>
              <a:rPr lang="zh-CN" altLang="en-US" dirty="0">
                <a:solidFill>
                  <a:srgbClr val="002060"/>
                </a:solidFill>
                <a:latin typeface="Arial" panose="020B0604020202020204" pitchFamily="34" charset="0"/>
                <a:ea typeface="华文中宋" panose="02010600040101010101" pitchFamily="2" charset="-122"/>
              </a:rPr>
              <a:t>实施集成变更控制</a:t>
            </a:r>
            <a:endParaRPr lang="zh-CN" altLang="en-US" dirty="0">
              <a:solidFill>
                <a:srgbClr val="002060"/>
              </a:solidFill>
              <a:latin typeface="Arial" panose="020B0604020202020204" pitchFamily="34" charset="0"/>
              <a:ea typeface="华文中宋" panose="02010600040101010101" pitchFamily="2" charset="-122"/>
            </a:endParaRPr>
          </a:p>
          <a:p>
            <a:pPr marL="469900" indent="-469900" eaLnBrk="0" hangingPunct="0">
              <a:lnSpc>
                <a:spcPct val="150000"/>
              </a:lnSpc>
              <a:spcBef>
                <a:spcPct val="20000"/>
              </a:spcBef>
              <a:buClr>
                <a:schemeClr val="accent2"/>
              </a:buClr>
              <a:buFont typeface="Wingdings" panose="05000000000000000000" pitchFamily="2" charset="2"/>
            </a:pPr>
            <a:r>
              <a:rPr lang="en-US" altLang="zh-CN" dirty="0">
                <a:solidFill>
                  <a:srgbClr val="002060"/>
                </a:solidFill>
                <a:latin typeface="Arial" panose="020B0604020202020204" pitchFamily="34" charset="0"/>
                <a:ea typeface="华文中宋" panose="02010600040101010101" pitchFamily="2" charset="-122"/>
              </a:rPr>
              <a:t>4.7 </a:t>
            </a:r>
            <a:r>
              <a:rPr lang="zh-CN" altLang="en-US" dirty="0">
                <a:solidFill>
                  <a:srgbClr val="002060"/>
                </a:solidFill>
                <a:latin typeface="Arial" panose="020B0604020202020204" pitchFamily="34" charset="0"/>
                <a:ea typeface="华文中宋" panose="02010600040101010101" pitchFamily="2" charset="-122"/>
              </a:rPr>
              <a:t>终止项目</a:t>
            </a:r>
            <a:endParaRPr lang="zh-CN" altLang="en-US" dirty="0">
              <a:solidFill>
                <a:srgbClr val="002060"/>
              </a:solidFill>
              <a:latin typeface="Arial" panose="020B0604020202020204" pitchFamily="34" charset="0"/>
              <a:ea typeface="华文中宋" panose="02010600040101010101" pitchFamily="2" charset="-122"/>
            </a:endParaRPr>
          </a:p>
        </p:txBody>
      </p:sp>
    </p:spTree>
  </p:cSld>
  <p:clrMapOvr>
    <a:masterClrMapping/>
  </p:clrMapOvr>
  <p:transition>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p:cNvSpPr>
            <a:spLocks noGrp="1"/>
          </p:cNvSpPr>
          <p:nvPr>
            <p:ph type="sldNum" sz="quarter" idx="4"/>
          </p:nvPr>
        </p:nvSpPr>
        <p:spPr>
          <a:xfrm>
            <a:off x="8763000" y="6553200"/>
            <a:ext cx="1905000" cy="457200"/>
          </a:xfrm>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a:fld id="{9A0DB2DC-4C9A-4742-B13C-FB6460FD3503}" type="slidenum">
              <a:rPr lang="en-US" altLang="en-US" sz="1400" dirty="0">
                <a:solidFill>
                  <a:schemeClr val="bg2"/>
                </a:solidFill>
                <a:latin typeface="Times New Roman" panose="02020603050405020304" pitchFamily="18" charset="0"/>
              </a:rPr>
            </a:fld>
            <a:r>
              <a:rPr lang="en-US" altLang="zh-CN" sz="1400" dirty="0">
                <a:solidFill>
                  <a:schemeClr val="bg2"/>
                </a:solidFill>
                <a:latin typeface="Times New Roman" panose="02020603050405020304" pitchFamily="18" charset="0"/>
              </a:rPr>
              <a:t>/18</a:t>
            </a:r>
            <a:endParaRPr lang="en-US" altLang="zh-CN" sz="1400" dirty="0">
              <a:solidFill>
                <a:schemeClr val="bg2"/>
              </a:solidFill>
              <a:latin typeface="Times New Roman" panose="02020603050405020304" pitchFamily="18" charset="0"/>
            </a:endParaRPr>
          </a:p>
        </p:txBody>
      </p:sp>
      <p:sp>
        <p:nvSpPr>
          <p:cNvPr id="6" name="Rectangle 1026"/>
          <p:cNvSpPr txBox="1">
            <a:spLocks noChangeArrowheads="1"/>
          </p:cNvSpPr>
          <p:nvPr/>
        </p:nvSpPr>
        <p:spPr>
          <a:xfrm>
            <a:off x="2711450" y="188913"/>
            <a:ext cx="7561263"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开篇案例</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711450" y="1196975"/>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075" name="Rectangle 2" descr="Rectangle: Click to edit Master text styles&#10;Second level&#10;Third level&#10;Fourth level&#10;Fifth level"/>
          <p:cNvSpPr/>
          <p:nvPr/>
        </p:nvSpPr>
        <p:spPr>
          <a:xfrm>
            <a:off x="1990090" y="1484630"/>
            <a:ext cx="9400540" cy="4558030"/>
          </a:xfrm>
          <a:prstGeom prst="rect">
            <a:avLst/>
          </a:prstGeom>
          <a:noFill/>
          <a:ln w="9525">
            <a:noFill/>
          </a:ln>
        </p:spPr>
        <p:txBody>
          <a:bodyPr lIns="0" tIns="0" rIns="0" bIns="0"/>
          <a:lstStyle/>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最近</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Nick</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成为硅谷一家公司重要的生物科技项目的项目经理（之前是软件开发的领导）</a:t>
            </a:r>
            <a:endPar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endParaRPr>
          </a:p>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该项目是为用于装配和分析人体染色体的</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DNA</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测试仪而开发硬件和软件，是公司最大的项目，未来有巨大的成长潜力和收益</a:t>
            </a:r>
            <a:endPar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endParaRPr>
          </a:p>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三年内更换了</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3</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sym typeface="+mn-ea"/>
              </a:rPr>
              <a:t>个项目经理</a:t>
            </a:r>
            <a:endPar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这时公司正与一家更大的公司谈判双方未来的并购事宜，这也影响到了高层管理对完成这个项目的紧迫感。</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精力高度充沛，也非常聪明，并且具有保证项目成功的技术背景。他研究了技术问题，并且发现了影响</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DNA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测试仪器工作的一些重要缺陷。</a:t>
            </a:r>
            <a:endParaRPr kumimoji="0" lang="zh-CN" altLang="en-US" b="1" i="0" u="none" strike="noStrike" kern="1200" cap="none" spc="0" normalizeH="0" baseline="0" noProof="0" dirty="0">
              <a:ln>
                <a:noFill/>
              </a:ln>
              <a:solidFill>
                <a:srgbClr val="FF0000"/>
              </a:solidFill>
              <a:effectLst>
                <a:outerShdw blurRad="38100" dist="38100" dir="2700000">
                  <a:srgbClr val="000000"/>
                </a:outerShdw>
              </a:effectLst>
              <a:uLnTx/>
              <a:uFillTx/>
              <a:latin typeface="Tahoma" panose="020B0604030504040204" pitchFamily="34" charset="0"/>
              <a:ea typeface="楷体_GB2312" pitchFamily="49" charset="-122"/>
              <a:cs typeface="+mn-cs"/>
            </a:endParaRPr>
          </a:p>
        </p:txBody>
      </p:sp>
    </p:spTree>
  </p:cSld>
  <p:clrMapOvr>
    <a:masterClrMapping/>
  </p:clrMapOvr>
  <p:transition>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p:cNvSpPr>
            <a:spLocks noGrp="1"/>
          </p:cNvSpPr>
          <p:nvPr>
            <p:ph type="sldNum" sz="quarter" idx="4"/>
          </p:nvPr>
        </p:nvSpPr>
        <p:spPr>
          <a:xfrm>
            <a:off x="8763000" y="6553200"/>
            <a:ext cx="1905000" cy="457200"/>
          </a:xfrm>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a:fld id="{9A0DB2DC-4C9A-4742-B13C-FB6460FD3503}" type="slidenum">
              <a:rPr lang="en-US" altLang="en-US" sz="1400" dirty="0">
                <a:solidFill>
                  <a:schemeClr val="bg2"/>
                </a:solidFill>
                <a:latin typeface="Times New Roman" panose="02020603050405020304" pitchFamily="18" charset="0"/>
              </a:rPr>
            </a:fld>
            <a:r>
              <a:rPr lang="en-US" altLang="zh-CN" sz="1400" dirty="0">
                <a:solidFill>
                  <a:schemeClr val="bg2"/>
                </a:solidFill>
                <a:latin typeface="Times New Roman" panose="02020603050405020304" pitchFamily="18" charset="0"/>
              </a:rPr>
              <a:t>/18</a:t>
            </a:r>
            <a:endParaRPr lang="en-US" altLang="zh-CN" sz="1400" dirty="0">
              <a:solidFill>
                <a:schemeClr val="bg2"/>
              </a:solidFill>
              <a:latin typeface="Times New Roman" panose="02020603050405020304" pitchFamily="18" charset="0"/>
            </a:endParaRPr>
          </a:p>
        </p:txBody>
      </p:sp>
      <p:sp>
        <p:nvSpPr>
          <p:cNvPr id="6" name="Rectangle 1026"/>
          <p:cNvSpPr txBox="1">
            <a:spLocks noChangeArrowheads="1"/>
          </p:cNvSpPr>
          <p:nvPr/>
        </p:nvSpPr>
        <p:spPr>
          <a:xfrm>
            <a:off x="2711450" y="188913"/>
            <a:ext cx="7561263"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开篇案例</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711450" y="1196975"/>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075" name="Rectangle 2" descr="Rectangle: Click to edit Master text styles&#10;Second level&#10;Third level&#10;Fourth level&#10;Fifth level"/>
          <p:cNvSpPr/>
          <p:nvPr/>
        </p:nvSpPr>
        <p:spPr>
          <a:xfrm>
            <a:off x="1919605" y="1485265"/>
            <a:ext cx="9542145" cy="4150360"/>
          </a:xfrm>
          <a:prstGeom prst="rect">
            <a:avLst/>
          </a:prstGeom>
          <a:noFill/>
          <a:ln w="9525">
            <a:noFill/>
          </a:ln>
        </p:spPr>
        <p:txBody>
          <a:bodyPr lIns="0" tIns="0" rIns="0" bIns="0"/>
          <a:lstStyle/>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然而，对出任项目经理这一新的角色，他感到困难重重</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虽然</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和他的团队按时研制出了产品，但由于</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没有集中处理好项目的所有方面，高层管理还是非常生气。</a:t>
            </a:r>
            <a:r>
              <a:rPr kumimoji="0" lang="en-US" altLang="zh-CN" b="1" i="0" u="none" strike="noStrike" kern="1200" cap="none" spc="0" normalizeH="0" baseline="0" noProof="0" dirty="0">
                <a:ln>
                  <a:noFill/>
                </a:ln>
                <a:solidFill>
                  <a:srgbClr val="FF0000"/>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rgbClr val="FF0000"/>
                </a:solidFill>
                <a:effectLst>
                  <a:outerShdw blurRad="38100" dist="38100" dir="2700000">
                    <a:srgbClr val="FFFFFF"/>
                  </a:outerShdw>
                </a:effectLst>
                <a:uLnTx/>
                <a:uFillTx/>
                <a:latin typeface="Tahoma" panose="020B0604030504040204" pitchFamily="34" charset="0"/>
                <a:ea typeface="楷体_GB2312" pitchFamily="49" charset="-122"/>
                <a:cs typeface="+mn-cs"/>
              </a:rPr>
              <a:t>并未给高层管理提供项目的准确进度安排或其他详细的计划</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，只是承担了软件集成和解决纠纷的职责，所以并没有扮演好项目经理的角色。</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20000"/>
              </a:lnSpc>
              <a:spcBef>
                <a:spcPct val="20000"/>
              </a:spcBef>
              <a:spcAft>
                <a:spcPct val="0"/>
              </a:spcAft>
              <a:buClr>
                <a:schemeClr val="hlink"/>
              </a:buClr>
              <a:buSzPct val="110000"/>
              <a:buFont typeface="Wingdings" panose="05000000000000000000" charset="0"/>
              <a:buChar char="ü"/>
              <a:defRPr/>
            </a:pP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并不明白高层管理的问题，他的确交付了产品，难道是高层管理没有意识到他的价值</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a:t>
            </a:r>
            <a:endParaRPr kumimoji="0" lang="zh-CN" altLang="en-US" b="1" i="0" u="none" strike="noStrike" kern="1200" cap="none" spc="0" normalizeH="0" baseline="0" noProof="0" dirty="0">
              <a:ln>
                <a:noFill/>
              </a:ln>
              <a:solidFill>
                <a:srgbClr val="FF0000"/>
              </a:solidFill>
              <a:effectLst>
                <a:outerShdw blurRad="38100" dist="38100" dir="2700000">
                  <a:srgbClr val="000000"/>
                </a:outerShdw>
              </a:effectLst>
              <a:uLnTx/>
              <a:uFillTx/>
              <a:latin typeface="Tahoma" panose="020B0604030504040204" pitchFamily="34" charset="0"/>
              <a:ea typeface="楷体_GB2312" pitchFamily="49" charset="-122"/>
              <a:cs typeface="+mn-cs"/>
            </a:endParaRPr>
          </a:p>
        </p:txBody>
      </p:sp>
    </p:spTree>
  </p:cSld>
  <p:clrMapOvr>
    <a:masterClrMapping/>
  </p:clrMapOvr>
  <p:transition>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p:cNvSpPr>
            <a:spLocks noGrp="1"/>
          </p:cNvSpPr>
          <p:nvPr>
            <p:ph type="sldNum" sz="quarter" idx="4"/>
          </p:nvPr>
        </p:nvSpPr>
        <p:spPr>
          <a:xfrm>
            <a:off x="8763000" y="6553200"/>
            <a:ext cx="1905000" cy="457200"/>
          </a:xfrm>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a:fld id="{9A0DB2DC-4C9A-4742-B13C-FB6460FD3503}" type="slidenum">
              <a:rPr lang="en-US" altLang="en-US" sz="1400" dirty="0">
                <a:solidFill>
                  <a:schemeClr val="bg2"/>
                </a:solidFill>
                <a:latin typeface="Times New Roman" panose="02020603050405020304" pitchFamily="18" charset="0"/>
              </a:rPr>
            </a:fld>
            <a:r>
              <a:rPr lang="en-US" altLang="zh-CN" sz="1400" dirty="0">
                <a:solidFill>
                  <a:schemeClr val="bg2"/>
                </a:solidFill>
                <a:latin typeface="Times New Roman" panose="02020603050405020304" pitchFamily="18" charset="0"/>
              </a:rPr>
              <a:t>/18</a:t>
            </a:r>
            <a:endParaRPr lang="en-US" altLang="zh-CN" sz="1400" dirty="0">
              <a:solidFill>
                <a:schemeClr val="bg2"/>
              </a:solidFill>
              <a:latin typeface="Times New Roman" panose="02020603050405020304" pitchFamily="18" charset="0"/>
            </a:endParaRPr>
          </a:p>
        </p:txBody>
      </p:sp>
      <p:sp>
        <p:nvSpPr>
          <p:cNvPr id="6" name="Rectangle 1026"/>
          <p:cNvSpPr txBox="1">
            <a:spLocks noChangeArrowheads="1"/>
          </p:cNvSpPr>
          <p:nvPr/>
        </p:nvSpPr>
        <p:spPr>
          <a:xfrm>
            <a:off x="2711450" y="188913"/>
            <a:ext cx="7561263"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开篇案例 结局</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711450" y="1196975"/>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2" descr="Rectangle: Click to edit Master text styles&#10;Second level&#10;Third level&#10;Fourth level&#10;Fifth level"/>
          <p:cNvSpPr/>
          <p:nvPr/>
        </p:nvSpPr>
        <p:spPr>
          <a:xfrm>
            <a:off x="1994535" y="1412875"/>
            <a:ext cx="9549765" cy="3832860"/>
          </a:xfrm>
          <a:prstGeom prst="rect">
            <a:avLst/>
          </a:prstGeom>
          <a:noFill/>
          <a:ln w="9525">
            <a:noFill/>
          </a:ln>
        </p:spPr>
        <p:txBody>
          <a:bodyPr lIns="0" tIns="0" rIns="0" bIns="0"/>
          <a:lstStyle/>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未经与</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Carson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或其团队协商， </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的首席执行宫聘请了一位新人</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Jim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，作为自己与</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部门的人员之间的一个中间人。公司首席执行官和其他高层经理真的很喜欢这位新来的中层经理</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Jim</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他经常与他们会面，交流想法，并富有幽默感。</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Jim</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开始着手制定一项公司可在未来使用的、帮助管理项目的标准。例如，他开始为制定规划和进度报告制作样板，并将它们发布在公司的局域网上。</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R="0" lvl="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defRPr/>
            </a:pPr>
            <a:endPar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a:spLocks noGrp="1"/>
          </p:cNvSpPr>
          <p:nvPr>
            <p:ph type="sldNum" sz="quarter" idx="4"/>
          </p:nvPr>
        </p:nvSpPr>
        <p:spPr>
          <a:xfrm>
            <a:off x="8763000" y="6553200"/>
            <a:ext cx="1905000" cy="457200"/>
          </a:xfrm>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a:fld id="{9A0DB2DC-4C9A-4742-B13C-FB6460FD3503}" type="slidenum">
              <a:rPr lang="en-US" altLang="en-US" sz="1400" dirty="0">
                <a:solidFill>
                  <a:schemeClr val="bg2"/>
                </a:solidFill>
                <a:latin typeface="Times New Roman" panose="02020603050405020304" pitchFamily="18" charset="0"/>
              </a:rPr>
            </a:fld>
            <a:r>
              <a:rPr lang="en-US" altLang="zh-CN" sz="1400" dirty="0">
                <a:solidFill>
                  <a:schemeClr val="bg2"/>
                </a:solidFill>
                <a:latin typeface="Times New Roman" panose="02020603050405020304" pitchFamily="18" charset="0"/>
              </a:rPr>
              <a:t>/18</a:t>
            </a:r>
            <a:endParaRPr lang="en-US" altLang="zh-CN" sz="1400" dirty="0">
              <a:solidFill>
                <a:schemeClr val="bg2"/>
              </a:solidFill>
              <a:latin typeface="Times New Roman" panose="02020603050405020304" pitchFamily="18" charset="0"/>
            </a:endParaRPr>
          </a:p>
        </p:txBody>
      </p:sp>
      <p:sp>
        <p:nvSpPr>
          <p:cNvPr id="6" name="Rectangle 1026"/>
          <p:cNvSpPr txBox="1">
            <a:spLocks noChangeArrowheads="1"/>
          </p:cNvSpPr>
          <p:nvPr/>
        </p:nvSpPr>
        <p:spPr>
          <a:xfrm>
            <a:off x="2711450" y="188913"/>
            <a:ext cx="7561263"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开篇案例 结局</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711450" y="1196975"/>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8" name="矩形 3"/>
          <p:cNvSpPr/>
          <p:nvPr/>
        </p:nvSpPr>
        <p:spPr>
          <a:xfrm>
            <a:off x="1703705" y="1125220"/>
            <a:ext cx="9822180" cy="5527675"/>
          </a:xfrm>
          <a:prstGeom prst="rect">
            <a:avLst/>
          </a:prstGeom>
          <a:noFill/>
          <a:ln w="9525">
            <a:noFill/>
          </a:ln>
        </p:spPr>
        <p:txBody>
          <a:bodyPr>
            <a:noAutofit/>
          </a:bodyPr>
          <a:lstStyle/>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行政总裁建议，将</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调往另一部门，但</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不同意。在没有考虑后果的情况下，首席执行官向</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提出让他离开公司并支付给他一笔遣散费。由于计划中的企业并购，首席执行官知道，无论如何他们都可能要让一些人离开。</a:t>
            </a:r>
            <a:endPar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向首席执行官提出，他还有没有休完的两个月假期以及较高比例的股票期权。在与妻子商议后他发觉，如果辞职他将会得到</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7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万多美元。于是</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Nick </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接受了遣散方案。</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有了这样</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次失败的作为项目经理的经验之后，他觉得还是适合做一名技术专家。</a:t>
            </a:r>
            <a:endPar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a:p>
            <a:pPr marL="342900" marR="0" lvl="0" indent="-342900" algn="just" defTabSz="914400" rtl="0" eaLnBrk="0" fontAlgn="ctr" latinLnBrk="0" hangingPunct="0">
              <a:lnSpc>
                <a:spcPct val="130000"/>
              </a:lnSpc>
              <a:spcBef>
                <a:spcPct val="20000"/>
              </a:spcBef>
              <a:spcAft>
                <a:spcPct val="0"/>
              </a:spcAft>
              <a:buClr>
                <a:schemeClr val="hlink"/>
              </a:buClr>
              <a:buSzPct val="110000"/>
              <a:buFont typeface="Wingdings" panose="05000000000000000000" pitchFamily="2" charset="2"/>
              <a:buChar char="ü"/>
              <a:defRPr/>
            </a:pP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而</a:t>
            </a:r>
            <a:r>
              <a:rPr kumimoji="0" lang="en-US" altLang="zh-CN"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Jim</a:t>
            </a:r>
            <a:r>
              <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rPr>
              <a:t>，在他的位置上干得很起劲，并帮助公司改善了项目管理的做法，确保公司在高度竞争的市场中取得了成功。</a:t>
            </a:r>
            <a:endParaRPr kumimoji="0" lang="zh-CN" altLang="en-US" b="1" i="0" u="none" strike="noStrike" kern="1200" cap="none" spc="0" normalizeH="0" baseline="0" noProof="0" dirty="0">
              <a:ln>
                <a:noFill/>
              </a:ln>
              <a:solidFill>
                <a:schemeClr val="tx1"/>
              </a:solidFill>
              <a:effectLst>
                <a:outerShdw blurRad="38100" dist="38100" dir="2700000">
                  <a:srgbClr val="FFFFFF"/>
                </a:outerShdw>
              </a:effectLst>
              <a:uLnTx/>
              <a:uFillTx/>
              <a:latin typeface="Tahoma" panose="020B0604030504040204" pitchFamily="34" charset="0"/>
              <a:ea typeface="楷体_GB2312" pitchFamily="49" charset="-122"/>
              <a:cs typeface="+mn-cs"/>
            </a:endParaRPr>
          </a:p>
        </p:txBody>
      </p:sp>
    </p:spTree>
  </p:cSld>
  <p:clrMapOvr>
    <a:masterClrMapping/>
  </p:clrMapOvr>
  <p:transition>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8"/>
          <p:cNvSpPr txBox="1"/>
          <p:nvPr/>
        </p:nvSpPr>
        <p:spPr>
          <a:xfrm>
            <a:off x="3287713" y="476250"/>
            <a:ext cx="6407150" cy="1143000"/>
          </a:xfrm>
          <a:prstGeom prst="rect">
            <a:avLst/>
          </a:prstGeom>
          <a:noFill/>
          <a:ln w="9525">
            <a:noFill/>
          </a:ln>
        </p:spPr>
        <p:txBody>
          <a:bodyPr lIns="92075" tIns="46038" rIns="92075" bIns="46038" anchor="ctr" anchorCtr="0"/>
          <a:lstStyle/>
          <a:p>
            <a:pPr marR="0" defTabSz="914400" eaLnBrk="0" hangingPunct="0">
              <a:buClrTx/>
              <a:buSzTx/>
              <a:buFontTx/>
              <a:buNone/>
              <a:defRPr/>
            </a:pPr>
            <a:r>
              <a:rPr kumimoji="0" lang="zh-CN" altLang="en-US" sz="36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项目为什么要集成管理？</a:t>
            </a:r>
            <a:endParaRPr kumimoji="0" lang="zh-CN" altLang="en-US" sz="36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52227" name="Freeform 10"/>
          <p:cNvSpPr/>
          <p:nvPr/>
        </p:nvSpPr>
        <p:spPr>
          <a:xfrm>
            <a:off x="3287713" y="1484313"/>
            <a:ext cx="5111750" cy="7302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2509" h="196">
                <a:moveTo>
                  <a:pt x="5" y="93"/>
                </a:moveTo>
                <a:lnTo>
                  <a:pt x="39" y="61"/>
                </a:lnTo>
                <a:lnTo>
                  <a:pt x="71" y="43"/>
                </a:lnTo>
                <a:lnTo>
                  <a:pt x="104" y="28"/>
                </a:lnTo>
                <a:lnTo>
                  <a:pt x="144" y="18"/>
                </a:lnTo>
                <a:lnTo>
                  <a:pt x="182" y="13"/>
                </a:lnTo>
                <a:lnTo>
                  <a:pt x="227" y="10"/>
                </a:lnTo>
                <a:lnTo>
                  <a:pt x="281" y="13"/>
                </a:lnTo>
                <a:lnTo>
                  <a:pt x="321" y="22"/>
                </a:lnTo>
                <a:lnTo>
                  <a:pt x="357" y="34"/>
                </a:lnTo>
                <a:lnTo>
                  <a:pt x="408" y="60"/>
                </a:lnTo>
                <a:lnTo>
                  <a:pt x="440" y="85"/>
                </a:lnTo>
                <a:lnTo>
                  <a:pt x="474" y="111"/>
                </a:lnTo>
                <a:lnTo>
                  <a:pt x="509" y="129"/>
                </a:lnTo>
                <a:lnTo>
                  <a:pt x="561" y="142"/>
                </a:lnTo>
                <a:lnTo>
                  <a:pt x="626" y="148"/>
                </a:lnTo>
                <a:lnTo>
                  <a:pt x="677" y="145"/>
                </a:lnTo>
                <a:lnTo>
                  <a:pt x="728" y="135"/>
                </a:lnTo>
                <a:lnTo>
                  <a:pt x="770" y="117"/>
                </a:lnTo>
                <a:lnTo>
                  <a:pt x="806" y="93"/>
                </a:lnTo>
                <a:lnTo>
                  <a:pt x="860" y="57"/>
                </a:lnTo>
                <a:lnTo>
                  <a:pt x="899" y="36"/>
                </a:lnTo>
                <a:lnTo>
                  <a:pt x="950" y="13"/>
                </a:lnTo>
                <a:lnTo>
                  <a:pt x="998" y="4"/>
                </a:lnTo>
                <a:lnTo>
                  <a:pt x="1043" y="3"/>
                </a:lnTo>
                <a:lnTo>
                  <a:pt x="1119" y="6"/>
                </a:lnTo>
                <a:lnTo>
                  <a:pt x="1181" y="21"/>
                </a:lnTo>
                <a:lnTo>
                  <a:pt x="1214" y="39"/>
                </a:lnTo>
                <a:lnTo>
                  <a:pt x="1260" y="66"/>
                </a:lnTo>
                <a:lnTo>
                  <a:pt x="1308" y="102"/>
                </a:lnTo>
                <a:lnTo>
                  <a:pt x="1349" y="121"/>
                </a:lnTo>
                <a:lnTo>
                  <a:pt x="1403" y="133"/>
                </a:lnTo>
                <a:lnTo>
                  <a:pt x="1458" y="138"/>
                </a:lnTo>
                <a:lnTo>
                  <a:pt x="1514" y="133"/>
                </a:lnTo>
                <a:lnTo>
                  <a:pt x="1557" y="123"/>
                </a:lnTo>
                <a:lnTo>
                  <a:pt x="1593" y="111"/>
                </a:lnTo>
                <a:lnTo>
                  <a:pt x="1635" y="84"/>
                </a:lnTo>
                <a:lnTo>
                  <a:pt x="1668" y="61"/>
                </a:lnTo>
                <a:lnTo>
                  <a:pt x="1704" y="39"/>
                </a:lnTo>
                <a:lnTo>
                  <a:pt x="1754" y="18"/>
                </a:lnTo>
                <a:lnTo>
                  <a:pt x="1794" y="6"/>
                </a:lnTo>
                <a:lnTo>
                  <a:pt x="1844" y="1"/>
                </a:lnTo>
                <a:lnTo>
                  <a:pt x="1907" y="0"/>
                </a:lnTo>
                <a:lnTo>
                  <a:pt x="1958" y="4"/>
                </a:lnTo>
                <a:lnTo>
                  <a:pt x="2003" y="18"/>
                </a:lnTo>
                <a:lnTo>
                  <a:pt x="2039" y="33"/>
                </a:lnTo>
                <a:lnTo>
                  <a:pt x="2073" y="54"/>
                </a:lnTo>
                <a:lnTo>
                  <a:pt x="2118" y="88"/>
                </a:lnTo>
                <a:lnTo>
                  <a:pt x="2153" y="109"/>
                </a:lnTo>
                <a:lnTo>
                  <a:pt x="2192" y="124"/>
                </a:lnTo>
                <a:lnTo>
                  <a:pt x="2244" y="135"/>
                </a:lnTo>
                <a:lnTo>
                  <a:pt x="2303" y="138"/>
                </a:lnTo>
                <a:lnTo>
                  <a:pt x="2355" y="129"/>
                </a:lnTo>
                <a:lnTo>
                  <a:pt x="2412" y="106"/>
                </a:lnTo>
                <a:lnTo>
                  <a:pt x="2439" y="87"/>
                </a:lnTo>
                <a:lnTo>
                  <a:pt x="2463" y="66"/>
                </a:lnTo>
                <a:lnTo>
                  <a:pt x="2475" y="61"/>
                </a:lnTo>
                <a:lnTo>
                  <a:pt x="2489" y="61"/>
                </a:lnTo>
                <a:lnTo>
                  <a:pt x="2499" y="66"/>
                </a:lnTo>
                <a:lnTo>
                  <a:pt x="2507" y="76"/>
                </a:lnTo>
                <a:lnTo>
                  <a:pt x="2508" y="85"/>
                </a:lnTo>
                <a:lnTo>
                  <a:pt x="2508" y="96"/>
                </a:lnTo>
                <a:lnTo>
                  <a:pt x="2504" y="106"/>
                </a:lnTo>
                <a:lnTo>
                  <a:pt x="2490" y="118"/>
                </a:lnTo>
                <a:lnTo>
                  <a:pt x="2463" y="139"/>
                </a:lnTo>
                <a:lnTo>
                  <a:pt x="2429" y="160"/>
                </a:lnTo>
                <a:lnTo>
                  <a:pt x="2399" y="172"/>
                </a:lnTo>
                <a:lnTo>
                  <a:pt x="2352" y="183"/>
                </a:lnTo>
                <a:lnTo>
                  <a:pt x="2298" y="186"/>
                </a:lnTo>
                <a:lnTo>
                  <a:pt x="2238" y="184"/>
                </a:lnTo>
                <a:lnTo>
                  <a:pt x="2192" y="180"/>
                </a:lnTo>
                <a:lnTo>
                  <a:pt x="2156" y="172"/>
                </a:lnTo>
                <a:lnTo>
                  <a:pt x="2114" y="156"/>
                </a:lnTo>
                <a:lnTo>
                  <a:pt x="2076" y="133"/>
                </a:lnTo>
                <a:lnTo>
                  <a:pt x="2049" y="112"/>
                </a:lnTo>
                <a:lnTo>
                  <a:pt x="2018" y="87"/>
                </a:lnTo>
                <a:lnTo>
                  <a:pt x="1977" y="67"/>
                </a:lnTo>
                <a:lnTo>
                  <a:pt x="1934" y="55"/>
                </a:lnTo>
                <a:lnTo>
                  <a:pt x="1886" y="49"/>
                </a:lnTo>
                <a:lnTo>
                  <a:pt x="1836" y="49"/>
                </a:lnTo>
                <a:lnTo>
                  <a:pt x="1776" y="64"/>
                </a:lnTo>
                <a:lnTo>
                  <a:pt x="1743" y="79"/>
                </a:lnTo>
                <a:lnTo>
                  <a:pt x="1707" y="99"/>
                </a:lnTo>
                <a:lnTo>
                  <a:pt x="1677" y="118"/>
                </a:lnTo>
                <a:lnTo>
                  <a:pt x="1626" y="147"/>
                </a:lnTo>
                <a:lnTo>
                  <a:pt x="1586" y="165"/>
                </a:lnTo>
                <a:lnTo>
                  <a:pt x="1535" y="180"/>
                </a:lnTo>
                <a:lnTo>
                  <a:pt x="1475" y="186"/>
                </a:lnTo>
                <a:lnTo>
                  <a:pt x="1437" y="186"/>
                </a:lnTo>
                <a:lnTo>
                  <a:pt x="1377" y="180"/>
                </a:lnTo>
                <a:lnTo>
                  <a:pt x="1322" y="165"/>
                </a:lnTo>
                <a:lnTo>
                  <a:pt x="1269" y="136"/>
                </a:lnTo>
                <a:lnTo>
                  <a:pt x="1230" y="109"/>
                </a:lnTo>
                <a:lnTo>
                  <a:pt x="1197" y="84"/>
                </a:lnTo>
                <a:lnTo>
                  <a:pt x="1163" y="67"/>
                </a:lnTo>
                <a:lnTo>
                  <a:pt x="1128" y="55"/>
                </a:lnTo>
                <a:lnTo>
                  <a:pt x="1071" y="48"/>
                </a:lnTo>
                <a:lnTo>
                  <a:pt x="1020" y="49"/>
                </a:lnTo>
                <a:lnTo>
                  <a:pt x="974" y="57"/>
                </a:lnTo>
                <a:lnTo>
                  <a:pt x="914" y="78"/>
                </a:lnTo>
                <a:lnTo>
                  <a:pt x="879" y="103"/>
                </a:lnTo>
                <a:lnTo>
                  <a:pt x="831" y="135"/>
                </a:lnTo>
                <a:lnTo>
                  <a:pt x="777" y="166"/>
                </a:lnTo>
                <a:lnTo>
                  <a:pt x="713" y="187"/>
                </a:lnTo>
                <a:lnTo>
                  <a:pt x="659" y="193"/>
                </a:lnTo>
                <a:lnTo>
                  <a:pt x="600" y="195"/>
                </a:lnTo>
                <a:lnTo>
                  <a:pt x="543" y="189"/>
                </a:lnTo>
                <a:lnTo>
                  <a:pt x="494" y="175"/>
                </a:lnTo>
                <a:lnTo>
                  <a:pt x="450" y="154"/>
                </a:lnTo>
                <a:lnTo>
                  <a:pt x="408" y="123"/>
                </a:lnTo>
                <a:lnTo>
                  <a:pt x="377" y="99"/>
                </a:lnTo>
                <a:lnTo>
                  <a:pt x="338" y="79"/>
                </a:lnTo>
                <a:lnTo>
                  <a:pt x="291" y="64"/>
                </a:lnTo>
                <a:lnTo>
                  <a:pt x="251" y="60"/>
                </a:lnTo>
                <a:lnTo>
                  <a:pt x="191" y="58"/>
                </a:lnTo>
                <a:lnTo>
                  <a:pt x="144" y="67"/>
                </a:lnTo>
                <a:lnTo>
                  <a:pt x="96" y="82"/>
                </a:lnTo>
                <a:lnTo>
                  <a:pt x="56" y="108"/>
                </a:lnTo>
                <a:lnTo>
                  <a:pt x="0" y="157"/>
                </a:lnTo>
                <a:lnTo>
                  <a:pt x="5" y="93"/>
                </a:lnTo>
              </a:path>
            </a:pathLst>
          </a:custGeom>
          <a:solidFill>
            <a:schemeClr val="bg2"/>
          </a:solidFill>
          <a:ln w="9525" cap="flat" cmpd="sng">
            <a:solidFill>
              <a:schemeClr val="bg2"/>
            </a:solidFill>
            <a:prstDash val="solid"/>
            <a:bevel/>
            <a:headEnd type="none" w="med" len="med"/>
            <a:tailEnd type="none" w="med" len="med"/>
          </a:ln>
        </p:spPr>
        <p:txBody>
          <a:bodyPr/>
          <a:lstStyle/>
          <a:p>
            <a:endParaRPr lang="zh-CN" altLang="en-US"/>
          </a:p>
        </p:txBody>
      </p:sp>
      <p:sp>
        <p:nvSpPr>
          <p:cNvPr id="7" name="文本框 6"/>
          <p:cNvSpPr txBox="1"/>
          <p:nvPr/>
        </p:nvSpPr>
        <p:spPr>
          <a:xfrm>
            <a:off x="2424430" y="1720850"/>
            <a:ext cx="8883015" cy="3989705"/>
          </a:xfrm>
          <a:prstGeom prst="rect">
            <a:avLst/>
          </a:prstGeom>
          <a:noFill/>
          <a:ln w="9525">
            <a:noFill/>
          </a:ln>
        </p:spPr>
        <p:txBody>
          <a:bodyPr wrap="square" anchor="t" anchorCtr="0">
            <a:spAutoFit/>
          </a:bodyPr>
          <a:lstStyle/>
          <a:p>
            <a:pPr marL="457200" indent="-457200" eaLnBrk="0" hangingPunct="0">
              <a:lnSpc>
                <a:spcPts val="3800"/>
              </a:lnSpc>
              <a:buClr>
                <a:srgbClr val="00B050"/>
              </a:buClr>
              <a:buFont typeface="Wingdings" panose="05000000000000000000" pitchFamily="2" charset="2"/>
              <a:buChar char="ü"/>
            </a:pPr>
            <a:r>
              <a:rPr lang="zh-CN" altLang="en-US" sz="2800" dirty="0">
                <a:latin typeface="Times New Roman" panose="02020603050405020304" pitchFamily="18" charset="0"/>
                <a:ea typeface="宋体" panose="02010600030101010101" pitchFamily="2" charset="-122"/>
              </a:rPr>
              <a:t> 一个项目的完成是一个</a:t>
            </a:r>
            <a:r>
              <a:rPr lang="zh-CN" altLang="en-US" sz="2800" dirty="0">
                <a:solidFill>
                  <a:srgbClr val="FF0000"/>
                </a:solidFill>
                <a:latin typeface="Times New Roman" panose="02020603050405020304" pitchFamily="18" charset="0"/>
                <a:ea typeface="宋体" panose="02010600030101010101" pitchFamily="2" charset="-122"/>
              </a:rPr>
              <a:t>复杂的系统工程</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pPr marL="457200" indent="-457200" eaLnBrk="0" hangingPunct="0">
              <a:lnSpc>
                <a:spcPts val="3800"/>
              </a:lnSpc>
              <a:buClr>
                <a:srgbClr val="00B050"/>
              </a:buClr>
              <a:buFont typeface="Wingdings" panose="05000000000000000000" pitchFamily="2" charset="2"/>
              <a:buChar char="ü"/>
            </a:pPr>
            <a:r>
              <a:rPr lang="zh-CN" altLang="en-US" sz="2800" dirty="0">
                <a:latin typeface="Times New Roman" panose="02020603050405020304" pitchFamily="18" charset="0"/>
                <a:ea typeface="宋体" panose="02010600030101010101" pitchFamily="2" charset="-122"/>
              </a:rPr>
              <a:t>在一个项目的实现过程中，各种要素都会直接或间接地影响一个项目的成功，项目中任何一个要素的变更都会对项目其它方面造成影响。</a:t>
            </a:r>
            <a:endParaRPr lang="en-US" altLang="zh-CN" sz="2800" dirty="0">
              <a:latin typeface="Times New Roman" panose="02020603050405020304" pitchFamily="18" charset="0"/>
            </a:endParaRPr>
          </a:p>
          <a:p>
            <a:pPr marL="457200" indent="-457200" eaLnBrk="0" hangingPunct="0">
              <a:lnSpc>
                <a:spcPts val="3800"/>
              </a:lnSpc>
              <a:buClr>
                <a:srgbClr val="00B050"/>
              </a:buClr>
              <a:buFont typeface="Wingdings" panose="05000000000000000000" pitchFamily="2" charset="2"/>
              <a:buChar char="ü"/>
            </a:pPr>
            <a:r>
              <a:rPr lang="zh-CN" altLang="en-US" sz="2800" dirty="0">
                <a:latin typeface="Times New Roman" panose="02020603050405020304" pitchFamily="18" charset="0"/>
                <a:ea typeface="宋体" panose="02010600030101010101" pitchFamily="2" charset="-122"/>
              </a:rPr>
              <a:t>这种</a:t>
            </a:r>
            <a:r>
              <a:rPr lang="zh-CN" altLang="en-US" sz="2800" dirty="0">
                <a:solidFill>
                  <a:srgbClr val="FF0000"/>
                </a:solidFill>
                <a:latin typeface="Times New Roman" panose="02020603050405020304" pitchFamily="18" charset="0"/>
                <a:ea typeface="宋体" panose="02010600030101010101" pitchFamily="2" charset="-122"/>
              </a:rPr>
              <a:t>项目各要素之间的相互影响和关联</a:t>
            </a:r>
            <a:r>
              <a:rPr lang="zh-CN" altLang="en-US" sz="2800" dirty="0">
                <a:latin typeface="Times New Roman" panose="02020603050405020304" pitchFamily="18" charset="0"/>
                <a:ea typeface="宋体" panose="02010600030101010101" pitchFamily="2" charset="-122"/>
              </a:rPr>
              <a:t>就要求在一个项目的管理中必须</a:t>
            </a:r>
            <a:r>
              <a:rPr lang="zh-CN" altLang="en-US" sz="2800" b="1" dirty="0">
                <a:solidFill>
                  <a:srgbClr val="FF0000"/>
                </a:solidFill>
                <a:latin typeface="Times New Roman" panose="02020603050405020304" pitchFamily="18" charset="0"/>
                <a:ea typeface="宋体" panose="02010600030101010101" pitchFamily="2" charset="-122"/>
              </a:rPr>
              <a:t>充分、有效地开展</a:t>
            </a:r>
            <a:r>
              <a:rPr lang="zh-CN" altLang="en-US" sz="2800" b="1">
                <a:solidFill>
                  <a:srgbClr val="FF0000"/>
                </a:solidFill>
                <a:latin typeface="Times New Roman" panose="02020603050405020304" pitchFamily="18" charset="0"/>
                <a:ea typeface="宋体" panose="02010600030101010101" pitchFamily="2" charset="-122"/>
              </a:rPr>
              <a:t>项目的集成管理</a:t>
            </a:r>
            <a:r>
              <a:rPr lang="zh-CN" altLang="en-US" sz="2800" dirty="0">
                <a:latin typeface="Times New Roman" panose="02020603050405020304" pitchFamily="18" charset="0"/>
                <a:ea typeface="宋体" panose="02010600030101010101" pitchFamily="2" charset="-122"/>
              </a:rPr>
              <a:t>，通过项目集成管理对</a:t>
            </a:r>
            <a:r>
              <a:rPr lang="zh-CN" altLang="en-US" sz="2800" dirty="0">
                <a:solidFill>
                  <a:srgbClr val="0000FF"/>
                </a:solidFill>
                <a:latin typeface="Times New Roman" panose="02020603050405020304" pitchFamily="18" charset="0"/>
                <a:ea typeface="宋体" panose="02010600030101010101" pitchFamily="2" charset="-122"/>
              </a:rPr>
              <a:t>项目各方面的目标进行协调</a:t>
            </a:r>
            <a:r>
              <a:rPr lang="zh-CN" altLang="en-US" sz="2800" dirty="0">
                <a:latin typeface="Times New Roman" panose="02020603050405020304" pitchFamily="18" charset="0"/>
                <a:ea typeface="宋体" panose="02010600030101010101" pitchFamily="2" charset="-122"/>
              </a:rPr>
              <a:t>和对</a:t>
            </a:r>
            <a:r>
              <a:rPr lang="zh-CN" altLang="en-US" sz="2800" dirty="0">
                <a:solidFill>
                  <a:srgbClr val="0000FF"/>
                </a:solidFill>
                <a:latin typeface="Times New Roman" panose="02020603050405020304" pitchFamily="18" charset="0"/>
                <a:ea typeface="宋体" panose="02010600030101010101" pitchFamily="2" charset="-122"/>
              </a:rPr>
              <a:t>项目各项活动进行综合性的管理与控制</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2" name="Rectangle 5"/>
          <p:cNvSpPr>
            <a:spLocks noGrp="1"/>
          </p:cNvSpPr>
          <p:nvPr>
            <p:ph type="title" idx="4294967295"/>
          </p:nvPr>
        </p:nvSpPr>
        <p:spPr>
          <a:xfrm>
            <a:off x="2279650" y="0"/>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3250" name="Group 8"/>
          <p:cNvGrpSpPr/>
          <p:nvPr/>
        </p:nvGrpSpPr>
        <p:grpSpPr>
          <a:xfrm>
            <a:off x="1519238" y="811213"/>
            <a:ext cx="9148762" cy="85725"/>
            <a:chOff x="0" y="0"/>
            <a:chExt cx="5763" cy="54"/>
          </a:xfrm>
        </p:grpSpPr>
        <p:sp>
          <p:nvSpPr>
            <p:cNvPr id="5325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325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30" name="文本框 29"/>
          <p:cNvSpPr txBox="1"/>
          <p:nvPr/>
        </p:nvSpPr>
        <p:spPr>
          <a:xfrm>
            <a:off x="2136775" y="928688"/>
            <a:ext cx="8278813" cy="1691640"/>
          </a:xfrm>
          <a:prstGeom prst="rect">
            <a:avLst/>
          </a:prstGeom>
          <a:noFill/>
        </p:spPr>
        <p:txBody>
          <a:bodyPr wrap="square">
            <a:spAutoFit/>
          </a:bodyPr>
          <a:lstStyle/>
          <a:p>
            <a:pPr marL="457200" marR="0" indent="-457200" defTabSz="914400" eaLnBrk="0" hangingPunct="0">
              <a:buClrTx/>
              <a:buSzTx/>
              <a:buFontTx/>
              <a:buNone/>
              <a:defRPr/>
            </a:pPr>
            <a:r>
              <a:rPr kumimoji="0" lang="en-US" altLang="zh-CN" sz="2600" b="1"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1.</a:t>
            </a:r>
            <a:r>
              <a:rPr kumimoji="0" lang="zh-CN" altLang="en-US" sz="2600" b="1"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 </a:t>
            </a:r>
            <a:r>
              <a:rPr kumimoji="0" lang="zh-CN" altLang="en-US" sz="2600" b="1" kern="1200" cap="none" spc="0" normalizeH="0" baseline="0" noProof="0" dirty="0">
                <a:latin typeface="宋体" panose="02010600030101010101" pitchFamily="2" charset="-122"/>
                <a:ea typeface="宋体" panose="02010600030101010101" pitchFamily="2" charset="-122"/>
                <a:cs typeface="+mn-cs"/>
              </a:rPr>
              <a:t>项目集成管理</a:t>
            </a:r>
            <a:r>
              <a:rPr kumimoji="0" lang="zh-CN" altLang="en-US" sz="2600" b="1" kern="1200" cap="none" spc="0" normalizeH="0" baseline="0" noProof="0" dirty="0">
                <a:solidFill>
                  <a:srgbClr val="FF0000"/>
                </a:solidFill>
                <a:latin typeface="宋体" panose="02010600030101010101" pitchFamily="2" charset="-122"/>
                <a:ea typeface="宋体" panose="02010600030101010101" pitchFamily="2" charset="-122"/>
                <a:cs typeface="+mn-cs"/>
              </a:rPr>
              <a:t>任务</a:t>
            </a:r>
            <a:r>
              <a:rPr kumimoji="0" lang="zh-CN" altLang="en-US" sz="2600" b="1" kern="1200" cap="none" spc="0" normalizeH="0" baseline="0" noProof="0" dirty="0">
                <a:latin typeface="宋体" panose="02010600030101010101" pitchFamily="2" charset="-122"/>
                <a:ea typeface="宋体" panose="02010600030101010101" pitchFamily="2" charset="-122"/>
                <a:cs typeface="+mn-cs"/>
              </a:rPr>
              <a:t>是在</a:t>
            </a:r>
            <a:r>
              <a:rPr kumimoji="0" lang="zh-CN" altLang="en-US" sz="2600" b="1" kern="1200" cap="none" spc="0" normalizeH="0" baseline="0" noProof="0" dirty="0">
                <a:solidFill>
                  <a:srgbClr val="339966"/>
                </a:solidFill>
                <a:latin typeface="宋体" panose="02010600030101010101" pitchFamily="2" charset="-122"/>
                <a:ea typeface="宋体" panose="02010600030101010101" pitchFamily="2" charset="-122"/>
                <a:cs typeface="+mn-cs"/>
              </a:rPr>
              <a:t>项目生命周期中</a:t>
            </a:r>
            <a:r>
              <a:rPr kumimoji="0" lang="zh-CN" altLang="en-US" sz="2600" b="1" kern="1200" cap="none" spc="0" normalizeH="0" baseline="0" noProof="0" dirty="0">
                <a:solidFill>
                  <a:srgbClr val="99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协调</a:t>
            </a:r>
            <a:r>
              <a:rPr kumimoji="0" lang="zh-CN" altLang="en-US" sz="2600" b="1"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所有其他项目管理知识领域</a:t>
            </a:r>
            <a:r>
              <a:rPr kumimoji="0" lang="zh-CN" altLang="en-US" sz="2600" b="1" kern="1200" cap="none" spc="0" normalizeH="0" baseline="0" noProof="0" dirty="0">
                <a:latin typeface="宋体" panose="02010600030101010101" pitchFamily="2" charset="-122"/>
                <a:ea typeface="宋体" panose="02010600030101010101" pitchFamily="2" charset="-122"/>
                <a:cs typeface="+mn-cs"/>
              </a:rPr>
              <a:t>所涉及的过程。</a:t>
            </a:r>
            <a:endParaRPr kumimoji="0" lang="zh-CN" altLang="en-GB" sz="2600" b="1" kern="1200" cap="none" spc="0" normalizeH="0" baseline="0" noProof="0" dirty="0">
              <a:latin typeface="宋体" panose="02010600030101010101" pitchFamily="2" charset="-122"/>
              <a:ea typeface="宋体" panose="02010600030101010101" pitchFamily="2" charset="-122"/>
              <a:cs typeface="+mn-cs"/>
            </a:endParaRPr>
          </a:p>
          <a:p>
            <a:pPr marL="457200" marR="0" indent="-457200" defTabSz="914400" eaLnBrk="0" hangingPunct="0">
              <a:buClrTx/>
              <a:buSzTx/>
              <a:buFontTx/>
              <a:buNone/>
              <a:defRPr/>
            </a:pPr>
            <a:r>
              <a:rPr kumimoji="0" lang="zh-CN" altLang="en-US" sz="2600" b="1" kern="1200" cap="none" spc="0" normalizeH="0" baseline="0" noProof="0" dirty="0">
                <a:latin typeface="宋体" panose="02010600030101010101" pitchFamily="2" charset="-122"/>
                <a:ea typeface="宋体" panose="02010600030101010101" pitchFamily="2" charset="-122"/>
                <a:cs typeface="+mn-cs"/>
              </a:rPr>
              <a:t>－－它确保项目所有的组成要素在</a:t>
            </a:r>
            <a:r>
              <a:rPr kumimoji="0" lang="zh-CN" altLang="en-US" sz="2600" b="1" kern="1200" cap="none" spc="0" normalizeH="0" baseline="0" noProof="0" dirty="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恰当的时间</a:t>
            </a:r>
            <a:r>
              <a:rPr kumimoji="0" lang="zh-CN" altLang="en-US" sz="2600" b="1" kern="1200" cap="none" spc="0" normalizeH="0" baseline="0" noProof="0" dirty="0">
                <a:solidFill>
                  <a:srgbClr val="990000"/>
                </a:solidFill>
                <a:latin typeface="宋体" panose="02010600030101010101" pitchFamily="2" charset="-122"/>
                <a:ea typeface="宋体" panose="02010600030101010101" pitchFamily="2" charset="-122"/>
                <a:cs typeface="+mn-cs"/>
              </a:rPr>
              <a:t>、</a:t>
            </a:r>
            <a:r>
              <a:rPr kumimoji="0" lang="zh-CN" altLang="en-US" sz="2600" b="1" kern="1200" cap="none" spc="0" normalizeH="0" baseline="0" noProof="0" dirty="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正确的地方</a:t>
            </a:r>
            <a:r>
              <a:rPr kumimoji="0" lang="zh-CN" altLang="en-US" sz="2600" b="1" kern="1200" cap="none" spc="0" normalizeH="0" baseline="0" noProof="0" dirty="0">
                <a:solidFill>
                  <a:srgbClr val="990000"/>
                </a:solidFill>
                <a:latin typeface="宋体" panose="02010600030101010101" pitchFamily="2" charset="-122"/>
                <a:ea typeface="宋体" panose="02010600030101010101" pitchFamily="2" charset="-122"/>
                <a:cs typeface="+mn-cs"/>
              </a:rPr>
              <a:t>、</a:t>
            </a:r>
            <a:r>
              <a:rPr kumimoji="0" lang="zh-CN" altLang="en-US" sz="2600" b="1" kern="1200" cap="none" spc="0" normalizeH="0" baseline="0" noProof="0" dirty="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合适的人物</a:t>
            </a:r>
            <a:r>
              <a:rPr kumimoji="0" lang="zh-CN" altLang="en-US" sz="2600" b="1" kern="1200" cap="none" spc="0" normalizeH="0" baseline="0" noProof="0" dirty="0">
                <a:latin typeface="宋体" panose="02010600030101010101" pitchFamily="2" charset="-122"/>
                <a:ea typeface="宋体" panose="02010600030101010101" pitchFamily="2" charset="-122"/>
                <a:cs typeface="+mn-cs"/>
              </a:rPr>
              <a:t>结合在一起，以</a:t>
            </a:r>
            <a:r>
              <a:rPr kumimoji="0" lang="zh-CN" altLang="en-US" sz="2600" b="1" kern="1200" cap="none" spc="0" normalizeH="0" baseline="0" noProof="0" dirty="0">
                <a:solidFill>
                  <a:srgbClr val="339966"/>
                </a:solidFill>
                <a:latin typeface="宋体" panose="02010600030101010101" pitchFamily="2" charset="-122"/>
                <a:ea typeface="宋体" panose="02010600030101010101" pitchFamily="2" charset="-122"/>
                <a:cs typeface="+mn-cs"/>
              </a:rPr>
              <a:t>成功</a:t>
            </a:r>
            <a:r>
              <a:rPr kumimoji="0" lang="zh-CN" altLang="en-US" sz="2600" b="1" kern="1200" cap="none" spc="0" normalizeH="0" baseline="0" noProof="0" dirty="0">
                <a:latin typeface="宋体" panose="02010600030101010101" pitchFamily="2" charset="-122"/>
                <a:ea typeface="宋体" panose="02010600030101010101" pitchFamily="2" charset="-122"/>
                <a:cs typeface="+mn-cs"/>
              </a:rPr>
              <a:t>地</a:t>
            </a:r>
            <a:r>
              <a:rPr kumimoji="0" lang="zh-CN" altLang="en-US" sz="2600" b="1" kern="1200" cap="none" spc="0" normalizeH="0" baseline="0" noProof="0" dirty="0">
                <a:solidFill>
                  <a:srgbClr val="99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完成</a:t>
            </a:r>
            <a:r>
              <a:rPr kumimoji="0" lang="zh-CN" altLang="en-US" sz="2600" b="1"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a:t>
            </a:r>
            <a:r>
              <a:rPr kumimoji="0" lang="zh-CN" altLang="en-US" sz="2600" b="1" kern="1200" cap="none" spc="0" normalizeH="0" baseline="0" noProof="0" dirty="0">
                <a:latin typeface="宋体" panose="02010600030101010101" pitchFamily="2" charset="-122"/>
                <a:ea typeface="宋体" panose="02010600030101010101" pitchFamily="2" charset="-122"/>
                <a:cs typeface="+mn-cs"/>
              </a:rPr>
              <a:t>。 </a:t>
            </a:r>
            <a:endParaRPr kumimoji="0" lang="en-US" altLang="zh-CN" sz="2600" b="1" kern="1200" cap="none" spc="0" normalizeH="0" baseline="0" noProof="0" dirty="0">
              <a:latin typeface="宋体" panose="02010600030101010101" pitchFamily="2" charset="-122"/>
              <a:ea typeface="宋体" panose="02010600030101010101" pitchFamily="2" charset="-122"/>
              <a:cs typeface="+mn-cs"/>
            </a:endParaRPr>
          </a:p>
        </p:txBody>
      </p:sp>
      <p:grpSp>
        <p:nvGrpSpPr>
          <p:cNvPr id="53254" name="组合 2"/>
          <p:cNvGrpSpPr/>
          <p:nvPr/>
        </p:nvGrpSpPr>
        <p:grpSpPr>
          <a:xfrm>
            <a:off x="3603625" y="2887663"/>
            <a:ext cx="6164263" cy="3181688"/>
            <a:chOff x="2079307" y="2887421"/>
            <a:chExt cx="6164948" cy="3181970"/>
          </a:xfrm>
        </p:grpSpPr>
        <p:sp>
          <p:nvSpPr>
            <p:cNvPr id="53255" name="Oval 53"/>
            <p:cNvSpPr/>
            <p:nvPr/>
          </p:nvSpPr>
          <p:spPr>
            <a:xfrm>
              <a:off x="3097399" y="2887421"/>
              <a:ext cx="3581400" cy="2819400"/>
            </a:xfrm>
            <a:prstGeom prst="ellipse">
              <a:avLst/>
            </a:prstGeom>
            <a:solidFill>
              <a:srgbClr val="00FF00"/>
            </a:solidFill>
            <a:ln w="69850" cap="flat" cmpd="sng">
              <a:solidFill>
                <a:schemeClr val="tx1"/>
              </a:solidFill>
              <a:prstDash val="solid"/>
              <a:round/>
              <a:headEnd type="none" w="med" len="med"/>
              <a:tailEnd type="none" w="med" len="med"/>
            </a:ln>
          </p:spPr>
          <p:txBody>
            <a:bodyPr wrap="none" anchor="ctr" anchorCtr="0"/>
            <a:lstStyle/>
            <a:p>
              <a:pPr eaLnBrk="0" hangingPunct="0"/>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53256" name="Text Box 54"/>
            <p:cNvSpPr txBox="1"/>
            <p:nvPr/>
          </p:nvSpPr>
          <p:spPr>
            <a:xfrm>
              <a:off x="2213710" y="4258426"/>
              <a:ext cx="1485900" cy="460416"/>
            </a:xfrm>
            <a:prstGeom prst="rect">
              <a:avLst/>
            </a:prstGeom>
            <a:solidFill>
              <a:srgbClr val="C8FEFD"/>
            </a:solidFill>
            <a:ln w="50800"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dirty="0">
                  <a:solidFill>
                    <a:srgbClr val="0000FF"/>
                  </a:solidFill>
                  <a:latin typeface="楷体_GB2312"/>
                  <a:ea typeface="宋体" panose="02010600030101010101" pitchFamily="2" charset="-122"/>
                </a:rPr>
                <a:t>制定计划</a:t>
              </a:r>
              <a:endParaRPr lang="zh-CN" altLang="en-US" dirty="0">
                <a:solidFill>
                  <a:srgbClr val="0000FF"/>
                </a:solidFill>
                <a:latin typeface="楷体_GB2312"/>
                <a:ea typeface="宋体" panose="02010600030101010101" pitchFamily="2" charset="-122"/>
              </a:endParaRPr>
            </a:p>
          </p:txBody>
        </p:sp>
        <p:sp>
          <p:nvSpPr>
            <p:cNvPr id="53257" name="Text Box 55"/>
            <p:cNvSpPr txBox="1"/>
            <p:nvPr/>
          </p:nvSpPr>
          <p:spPr>
            <a:xfrm>
              <a:off x="6339255" y="4211975"/>
              <a:ext cx="1524000" cy="460416"/>
            </a:xfrm>
            <a:prstGeom prst="rect">
              <a:avLst/>
            </a:prstGeom>
            <a:solidFill>
              <a:srgbClr val="C8FEFD"/>
            </a:solidFill>
            <a:ln w="50800"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dirty="0">
                  <a:solidFill>
                    <a:srgbClr val="0000FF"/>
                  </a:solidFill>
                  <a:latin typeface="楷体_GB2312"/>
                  <a:ea typeface="宋体" panose="02010600030101010101" pitchFamily="2" charset="-122"/>
                </a:rPr>
                <a:t>执行计划</a:t>
              </a:r>
              <a:endParaRPr lang="zh-CN" altLang="en-US" dirty="0">
                <a:solidFill>
                  <a:srgbClr val="0000FF"/>
                </a:solidFill>
                <a:latin typeface="楷体_GB2312"/>
                <a:ea typeface="宋体" panose="02010600030101010101" pitchFamily="2" charset="-122"/>
              </a:endParaRPr>
            </a:p>
          </p:txBody>
        </p:sp>
        <p:sp>
          <p:nvSpPr>
            <p:cNvPr id="53258" name="Text Box 56"/>
            <p:cNvSpPr txBox="1"/>
            <p:nvPr/>
          </p:nvSpPr>
          <p:spPr>
            <a:xfrm>
              <a:off x="4358055" y="5608975"/>
              <a:ext cx="1631950" cy="460416"/>
            </a:xfrm>
            <a:prstGeom prst="rect">
              <a:avLst/>
            </a:prstGeom>
            <a:solidFill>
              <a:srgbClr val="00FF00"/>
            </a:solidFill>
            <a:ln w="50800"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dirty="0">
                  <a:solidFill>
                    <a:srgbClr val="0000FF"/>
                  </a:solidFill>
                  <a:latin typeface="楷体_GB2312"/>
                  <a:ea typeface="宋体" panose="02010600030101010101" pitchFamily="2" charset="-122"/>
                </a:rPr>
                <a:t>计划控制</a:t>
              </a:r>
              <a:endParaRPr lang="zh-CN" altLang="en-US" dirty="0">
                <a:solidFill>
                  <a:srgbClr val="0000FF"/>
                </a:solidFill>
                <a:latin typeface="楷体_GB2312"/>
                <a:ea typeface="宋体" panose="02010600030101010101" pitchFamily="2" charset="-122"/>
              </a:endParaRPr>
            </a:p>
          </p:txBody>
        </p:sp>
        <p:sp>
          <p:nvSpPr>
            <p:cNvPr id="53259" name="Text Box 60"/>
            <p:cNvSpPr txBox="1"/>
            <p:nvPr/>
          </p:nvSpPr>
          <p:spPr>
            <a:xfrm>
              <a:off x="3963779" y="3454440"/>
              <a:ext cx="2396004" cy="1936287"/>
            </a:xfrm>
            <a:prstGeom prst="rect">
              <a:avLst/>
            </a:prstGeom>
            <a:noFill/>
            <a:ln w="50800">
              <a:noFill/>
            </a:ln>
          </p:spPr>
          <p:txBody>
            <a:bodyPr anchor="t" anchorCtr="0">
              <a:spAutoFit/>
            </a:bodyPr>
            <a:lstStyle/>
            <a:p>
              <a:pPr eaLnBrk="0" hangingPunct="0">
                <a:lnSpc>
                  <a:spcPct val="60000"/>
                </a:lnSpc>
                <a:spcBef>
                  <a:spcPct val="50000"/>
                </a:spcBef>
              </a:pPr>
              <a:r>
                <a:rPr lang="zh-CN" altLang="en-US" b="1" dirty="0">
                  <a:latin typeface="宋体" panose="02010600030101010101" pitchFamily="2" charset="-122"/>
                  <a:ea typeface="宋体" panose="02010600030101010101" pitchFamily="2" charset="-122"/>
                </a:rPr>
                <a:t> 范围   质量 </a:t>
              </a:r>
              <a:endParaRPr lang="zh-CN" altLang="en-US" b="1"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b="1" dirty="0">
                  <a:latin typeface="宋体" panose="02010600030101010101" pitchFamily="2" charset="-122"/>
                  <a:ea typeface="宋体" panose="02010600030101010101" pitchFamily="2" charset="-122"/>
                </a:rPr>
                <a:t> 时间   成本</a:t>
              </a:r>
              <a:endParaRPr lang="zh-CN" altLang="en-US" b="1"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b="1" dirty="0">
                  <a:latin typeface="宋体" panose="02010600030101010101" pitchFamily="2" charset="-122"/>
                  <a:ea typeface="宋体" panose="02010600030101010101" pitchFamily="2" charset="-122"/>
                </a:rPr>
                <a:t>人力资源 沟通 </a:t>
              </a:r>
              <a:endParaRPr lang="zh-CN" altLang="en-US" b="1"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b="1" dirty="0">
                  <a:latin typeface="宋体" panose="02010600030101010101" pitchFamily="2" charset="-122"/>
                  <a:ea typeface="宋体" panose="02010600030101010101" pitchFamily="2" charset="-122"/>
                </a:rPr>
                <a:t>风险   采购</a:t>
              </a:r>
              <a:endParaRPr lang="zh-CN" altLang="en-US" b="1" dirty="0">
                <a:latin typeface="宋体" panose="02010600030101010101" pitchFamily="2" charset="-122"/>
                <a:ea typeface="宋体" panose="02010600030101010101" pitchFamily="2" charset="-122"/>
              </a:endParaRPr>
            </a:p>
            <a:p>
              <a:pPr eaLnBrk="0" hangingPunct="0">
                <a:lnSpc>
                  <a:spcPct val="60000"/>
                </a:lnSpc>
                <a:spcBef>
                  <a:spcPct val="50000"/>
                </a:spcBef>
              </a:pPr>
              <a:r>
                <a:rPr lang="en-US" altLang="zh-CN" b="1" dirty="0">
                  <a:latin typeface="宋体" panose="02010600030101010101" pitchFamily="2" charset="-122"/>
                </a:rPr>
                <a:t> </a:t>
              </a:r>
              <a:r>
                <a:rPr lang="zh-CN" altLang="en-US" b="1" dirty="0">
                  <a:latin typeface="宋体" panose="02010600030101010101" pitchFamily="2" charset="-122"/>
                  <a:ea typeface="宋体" panose="02010600030101010101" pitchFamily="2" charset="-122"/>
                </a:rPr>
                <a:t>干系人</a:t>
              </a:r>
              <a:endParaRPr lang="zh-CN" altLang="en-US" b="1" dirty="0">
                <a:latin typeface="宋体" panose="02010600030101010101" pitchFamily="2" charset="-122"/>
                <a:ea typeface="宋体" panose="02010600030101010101" pitchFamily="2" charset="-122"/>
              </a:endParaRPr>
            </a:p>
          </p:txBody>
        </p:sp>
        <p:sp>
          <p:nvSpPr>
            <p:cNvPr id="53260" name="AutoShape 61"/>
            <p:cNvSpPr/>
            <p:nvPr/>
          </p:nvSpPr>
          <p:spPr>
            <a:xfrm>
              <a:off x="2148255" y="5050175"/>
              <a:ext cx="1981200" cy="762000"/>
            </a:xfrm>
            <a:prstGeom prst="rightArrow">
              <a:avLst>
                <a:gd name="adj1" fmla="val 70000"/>
                <a:gd name="adj2" fmla="val 57428"/>
              </a:avLst>
            </a:prstGeom>
            <a:solidFill>
              <a:srgbClr val="C8FEFD"/>
            </a:solidFill>
            <a:ln w="50800" cap="flat" cmpd="sng">
              <a:solidFill>
                <a:schemeClr val="tx1"/>
              </a:solidFill>
              <a:prstDash val="solid"/>
              <a:miter/>
              <a:headEnd type="none" w="med" len="med"/>
              <a:tailEnd type="none" w="med" len="med"/>
            </a:ln>
          </p:spPr>
          <p:txBody>
            <a:bodyPr wrap="none" anchor="ctr" anchorCtr="0"/>
            <a:lstStyle/>
            <a:p>
              <a:pPr eaLnBrk="0" hangingPunct="0"/>
              <a:r>
                <a:rPr lang="zh-CN" altLang="en-US" dirty="0">
                  <a:solidFill>
                    <a:srgbClr val="0000FF"/>
                  </a:solidFill>
                  <a:latin typeface="楷体_GB2312"/>
                  <a:ea typeface="宋体" panose="02010600030101010101" pitchFamily="2" charset="-122"/>
                </a:rPr>
                <a:t>正确的地方</a:t>
              </a:r>
              <a:endParaRPr lang="zh-CN" altLang="en-US" dirty="0">
                <a:solidFill>
                  <a:srgbClr val="0000FF"/>
                </a:solidFill>
                <a:latin typeface="楷体_GB2312"/>
                <a:ea typeface="宋体" panose="02010600030101010101" pitchFamily="2" charset="-122"/>
              </a:endParaRPr>
            </a:p>
          </p:txBody>
        </p:sp>
        <p:sp>
          <p:nvSpPr>
            <p:cNvPr id="53261" name="AutoShape 63"/>
            <p:cNvSpPr/>
            <p:nvPr/>
          </p:nvSpPr>
          <p:spPr>
            <a:xfrm>
              <a:off x="2079307" y="3242542"/>
              <a:ext cx="1828800" cy="685800"/>
            </a:xfrm>
            <a:prstGeom prst="rightArrow">
              <a:avLst>
                <a:gd name="adj1" fmla="val 66666"/>
                <a:gd name="adj2" fmla="val 52703"/>
              </a:avLst>
            </a:prstGeom>
            <a:solidFill>
              <a:srgbClr val="C8FEFD"/>
            </a:solidFill>
            <a:ln w="50800" cap="flat" cmpd="sng">
              <a:solidFill>
                <a:schemeClr val="tx1"/>
              </a:solidFill>
              <a:prstDash val="solid"/>
              <a:miter/>
              <a:headEnd type="none" w="med" len="med"/>
              <a:tailEnd type="none" w="med" len="med"/>
            </a:ln>
          </p:spPr>
          <p:txBody>
            <a:bodyPr wrap="none" anchor="ctr" anchorCtr="0"/>
            <a:lstStyle/>
            <a:p>
              <a:pPr eaLnBrk="0" hangingPunct="0"/>
              <a:r>
                <a:rPr lang="zh-CN" altLang="en-US" dirty="0">
                  <a:solidFill>
                    <a:srgbClr val="0000FF"/>
                  </a:solidFill>
                  <a:latin typeface="Times New Roman" panose="02020603050405020304" pitchFamily="18" charset="0"/>
                  <a:ea typeface="宋体" panose="02010600030101010101" pitchFamily="2" charset="-122"/>
                </a:rPr>
                <a:t>恰当的时间</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53262" name="AutoShape 64"/>
            <p:cNvSpPr/>
            <p:nvPr/>
          </p:nvSpPr>
          <p:spPr>
            <a:xfrm>
              <a:off x="6415455" y="3297575"/>
              <a:ext cx="1828800" cy="762000"/>
            </a:xfrm>
            <a:prstGeom prst="leftArrow">
              <a:avLst>
                <a:gd name="adj1" fmla="val 65009"/>
                <a:gd name="adj2" fmla="val 62500"/>
              </a:avLst>
            </a:prstGeom>
            <a:solidFill>
              <a:srgbClr val="C8FEFD"/>
            </a:solidFill>
            <a:ln w="50800" cap="flat" cmpd="sng">
              <a:solidFill>
                <a:schemeClr val="tx1"/>
              </a:solidFill>
              <a:prstDash val="solid"/>
              <a:miter/>
              <a:headEnd type="none" w="med" len="med"/>
              <a:tailEnd type="none" w="med" len="med"/>
            </a:ln>
          </p:spPr>
          <p:txBody>
            <a:bodyPr wrap="none" anchor="ctr" anchorCtr="0"/>
            <a:lstStyle/>
            <a:p>
              <a:pPr eaLnBrk="0" hangingPunct="0"/>
              <a:r>
                <a:rPr lang="zh-CN" altLang="en-US" dirty="0">
                  <a:solidFill>
                    <a:srgbClr val="0000FF"/>
                  </a:solidFill>
                  <a:latin typeface="Times New Roman" panose="02020603050405020304" pitchFamily="18" charset="0"/>
                  <a:ea typeface="宋体" panose="02010600030101010101" pitchFamily="2" charset="-122"/>
                </a:rPr>
                <a:t>合适的人物</a:t>
              </a:r>
              <a:endParaRPr lang="zh-CN" altLang="en-US" dirty="0">
                <a:solidFill>
                  <a:srgbClr val="0000FF"/>
                </a:solidFill>
                <a:latin typeface="Times New Roman" panose="02020603050405020304" pitchFamily="18" charset="0"/>
                <a:ea typeface="宋体" panose="02010600030101010101" pitchFamily="2" charset="-122"/>
              </a:endParaRPr>
            </a:p>
          </p:txBody>
        </p:sp>
      </p:grpSp>
      <p:sp>
        <p:nvSpPr>
          <p:cNvPr id="53263" name="Text Box 65"/>
          <p:cNvSpPr txBox="1"/>
          <p:nvPr/>
        </p:nvSpPr>
        <p:spPr>
          <a:xfrm>
            <a:off x="5086350" y="6134100"/>
            <a:ext cx="4343400" cy="460375"/>
          </a:xfrm>
          <a:prstGeom prst="rect">
            <a:avLst/>
          </a:prstGeom>
          <a:noFill/>
          <a:ln w="50800">
            <a:noFill/>
          </a:ln>
        </p:spPr>
        <p:txBody>
          <a:bodyPr anchor="t" anchorCtr="0">
            <a:spAutoFit/>
          </a:bodyPr>
          <a:lstStyle/>
          <a:p>
            <a:pPr eaLnBrk="0" hangingPunct="0">
              <a:spcBef>
                <a:spcPct val="50000"/>
              </a:spcBef>
            </a:pPr>
            <a:r>
              <a:rPr lang="zh-CN" altLang="en-US" dirty="0">
                <a:latin typeface="宋体" panose="02010600030101010101" pitchFamily="2" charset="-122"/>
                <a:ea typeface="宋体" panose="02010600030101010101" pitchFamily="2" charset="-122"/>
              </a:rPr>
              <a:t>项目集成管理主要过程示意图</a:t>
            </a:r>
            <a:endParaRPr lang="en-US" altLang="zh-CN" dirty="0">
              <a:latin typeface="宋体" panose="02010600030101010101" pitchFamily="2" charset="-122"/>
            </a:endParaRPr>
          </a:p>
        </p:txBody>
      </p:sp>
    </p:spTree>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42" name="Rectangle 5"/>
          <p:cNvSpPr>
            <a:spLocks noGrp="1"/>
          </p:cNvSpPr>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6322" name="Group 8"/>
          <p:cNvGrpSpPr/>
          <p:nvPr/>
        </p:nvGrpSpPr>
        <p:grpSpPr>
          <a:xfrm>
            <a:off x="1519238" y="811213"/>
            <a:ext cx="9148762" cy="85725"/>
            <a:chOff x="0" y="0"/>
            <a:chExt cx="5763" cy="54"/>
          </a:xfrm>
        </p:grpSpPr>
        <p:sp>
          <p:nvSpPr>
            <p:cNvPr id="5632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632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2" name="文本框 1"/>
          <p:cNvSpPr txBox="1"/>
          <p:nvPr/>
        </p:nvSpPr>
        <p:spPr>
          <a:xfrm>
            <a:off x="2567305" y="1485265"/>
            <a:ext cx="8158480" cy="3107690"/>
          </a:xfrm>
          <a:prstGeom prst="rect">
            <a:avLst/>
          </a:prstGeom>
          <a:noFill/>
        </p:spPr>
        <p:txBody>
          <a:bodyPr wrap="square" rtlCol="0" anchor="t">
            <a:spAutoFit/>
          </a:bodyPr>
          <a:p>
            <a:pPr marL="457200" indent="-457200">
              <a:buFont typeface="Wingdings" panose="05000000000000000000" charset="0"/>
              <a:buChar char="Ø"/>
            </a:pPr>
            <a:r>
              <a:rPr lang="zh-CN" altLang="en-US" sz="2800">
                <a:solidFill>
                  <a:srgbClr val="FF0000"/>
                </a:solidFill>
              </a:rPr>
              <a:t>项目整合管理包括进行以下选择：</a:t>
            </a:r>
            <a:endParaRPr lang="zh-CN" altLang="en-US" sz="2800">
              <a:solidFill>
                <a:srgbClr val="FF0000"/>
              </a:solidFill>
            </a:endParaRPr>
          </a:p>
          <a:p>
            <a:endParaRPr lang="zh-CN" altLang="en-US" sz="2800"/>
          </a:p>
          <a:p>
            <a:pPr marL="457200" indent="-457200">
              <a:buFont typeface="Wingdings" panose="05000000000000000000" charset="0"/>
              <a:buChar char="ü"/>
            </a:pPr>
            <a:r>
              <a:rPr lang="zh-CN" altLang="en-US" sz="2800"/>
              <a:t>资源分配；</a:t>
            </a:r>
            <a:endParaRPr lang="zh-CN" altLang="en-US" sz="2800"/>
          </a:p>
          <a:p>
            <a:pPr marL="457200" indent="-457200">
              <a:buFont typeface="Wingdings" panose="05000000000000000000" charset="0"/>
              <a:buChar char="ü"/>
            </a:pPr>
            <a:r>
              <a:rPr lang="zh-CN" altLang="en-US" sz="2800"/>
              <a:t>平衡竞争性需求；</a:t>
            </a:r>
            <a:endParaRPr lang="zh-CN" altLang="en-US" sz="2800"/>
          </a:p>
          <a:p>
            <a:pPr marL="457200" indent="-457200">
              <a:buFont typeface="Wingdings" panose="05000000000000000000" charset="0"/>
              <a:buChar char="ü"/>
            </a:pPr>
            <a:r>
              <a:rPr lang="zh-CN" altLang="en-US" sz="2800"/>
              <a:t>研究各种备选方法；</a:t>
            </a:r>
            <a:endParaRPr lang="zh-CN" altLang="en-US" sz="2800"/>
          </a:p>
          <a:p>
            <a:pPr marL="457200" indent="-457200">
              <a:buFont typeface="Wingdings" panose="05000000000000000000" charset="0"/>
              <a:buChar char="ü"/>
            </a:pPr>
            <a:r>
              <a:rPr lang="zh-CN" altLang="en-US" sz="2800"/>
              <a:t>为实现项目目标而裁剪过程；</a:t>
            </a:r>
            <a:endParaRPr lang="zh-CN" altLang="en-US" sz="2800"/>
          </a:p>
          <a:p>
            <a:pPr marL="457200" indent="-457200">
              <a:buFont typeface="Wingdings" panose="05000000000000000000" charset="0"/>
              <a:buChar char="ü"/>
            </a:pPr>
            <a:r>
              <a:rPr lang="zh-CN" altLang="en-US" sz="2800"/>
              <a:t>管理各个项目管理知识领域之间的依赖关系。</a:t>
            </a:r>
            <a:endParaRPr lang="zh-CN" altLang="en-US" sz="2800"/>
          </a:p>
        </p:txBody>
      </p:sp>
    </p:spTree>
  </p:cSld>
  <p:clrMapOvr>
    <a:masterClrMapping/>
  </p:clrMapOvr>
  <p:transition>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2" name="Rectangle 5"/>
          <p:cNvSpPr>
            <a:spLocks noGrp="1"/>
          </p:cNvSpPr>
          <p:nvPr>
            <p:ph type="title" idx="4294967295"/>
          </p:nvPr>
        </p:nvSpPr>
        <p:spPr>
          <a:xfrm>
            <a:off x="2279650" y="0"/>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4274" name="Group 8"/>
          <p:cNvGrpSpPr/>
          <p:nvPr/>
        </p:nvGrpSpPr>
        <p:grpSpPr>
          <a:xfrm>
            <a:off x="1519238" y="811213"/>
            <a:ext cx="9148762" cy="85725"/>
            <a:chOff x="0" y="0"/>
            <a:chExt cx="5763" cy="54"/>
          </a:xfrm>
        </p:grpSpPr>
        <p:sp>
          <p:nvSpPr>
            <p:cNvPr id="5427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427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54277" name="Text Box 65"/>
          <p:cNvSpPr txBox="1"/>
          <p:nvPr/>
        </p:nvSpPr>
        <p:spPr>
          <a:xfrm>
            <a:off x="5086350" y="6134100"/>
            <a:ext cx="4343400" cy="460375"/>
          </a:xfrm>
          <a:prstGeom prst="rect">
            <a:avLst/>
          </a:prstGeom>
          <a:noFill/>
          <a:ln w="50800">
            <a:noFill/>
          </a:ln>
        </p:spPr>
        <p:txBody>
          <a:bodyPr anchor="t" anchorCtr="0">
            <a:spAutoFit/>
          </a:bodyPr>
          <a:lstStyle/>
          <a:p>
            <a:pPr eaLnBrk="0" hangingPunct="0">
              <a:spcBef>
                <a:spcPct val="50000"/>
              </a:spcBef>
            </a:pPr>
            <a:r>
              <a:rPr lang="zh-CN" altLang="en-US" dirty="0">
                <a:latin typeface="宋体" panose="02010600030101010101" pitchFamily="2" charset="-122"/>
                <a:ea typeface="宋体" panose="02010600030101010101" pitchFamily="2" charset="-122"/>
              </a:rPr>
              <a:t>项目集成管理主要过程示意图</a:t>
            </a:r>
            <a:endParaRPr lang="en-US" altLang="zh-CN" dirty="0">
              <a:latin typeface="宋体" panose="02010600030101010101" pitchFamily="2" charset="-122"/>
            </a:endParaRPr>
          </a:p>
        </p:txBody>
      </p:sp>
      <p:sp>
        <p:nvSpPr>
          <p:cNvPr id="54278" name="Text Box 1028"/>
          <p:cNvSpPr txBox="1"/>
          <p:nvPr/>
        </p:nvSpPr>
        <p:spPr>
          <a:xfrm>
            <a:off x="2351088" y="981075"/>
            <a:ext cx="7634287" cy="1706880"/>
          </a:xfrm>
          <a:prstGeom prst="rect">
            <a:avLst/>
          </a:prstGeom>
          <a:noFill/>
          <a:ln w="9525">
            <a:noFill/>
          </a:ln>
        </p:spPr>
        <p:txBody>
          <a:bodyPr anchor="t" anchorCtr="0">
            <a:spAutoFit/>
          </a:bodyPr>
          <a:lstStyle/>
          <a:p>
            <a:pPr algn="just" eaLnBrk="0" hangingPunct="0">
              <a:lnSpc>
                <a:spcPct val="125000"/>
              </a:lnSpc>
              <a:spcBef>
                <a:spcPct val="50000"/>
              </a:spcBef>
              <a:buClr>
                <a:schemeClr val="bg2"/>
              </a:buClr>
            </a:pPr>
            <a:r>
              <a:rPr lang="en-US" altLang="zh-CN" sz="2800" b="1" dirty="0">
                <a:solidFill>
                  <a:srgbClr val="FF0000"/>
                </a:solidFill>
                <a:latin typeface="宋体" panose="02010600030101010101" pitchFamily="2" charset="-122"/>
              </a:rPr>
              <a:t>2.</a:t>
            </a:r>
            <a:r>
              <a:rPr lang="zh-CN" altLang="en-US" sz="2800" b="1" dirty="0">
                <a:solidFill>
                  <a:srgbClr val="FF0000"/>
                </a:solidFill>
                <a:latin typeface="宋体" panose="02010600030101010101" pitchFamily="2" charset="-122"/>
                <a:ea typeface="宋体" panose="02010600030101010101" pitchFamily="2" charset="-122"/>
              </a:rPr>
              <a:t>具体内容：</a:t>
            </a:r>
            <a:r>
              <a:rPr lang="zh-CN" altLang="en-US" sz="2800" b="1" dirty="0">
                <a:latin typeface="宋体" panose="02010600030101010101" pitchFamily="2" charset="-122"/>
                <a:ea typeface="宋体" panose="02010600030101010101" pitchFamily="2" charset="-122"/>
              </a:rPr>
              <a:t>项目集成管理</a:t>
            </a:r>
            <a:r>
              <a:rPr lang="zh-CN" altLang="en-US" sz="2800" b="1" dirty="0">
                <a:solidFill>
                  <a:srgbClr val="990000"/>
                </a:solidFill>
                <a:latin typeface="宋体" panose="02010600030101010101" pitchFamily="2" charset="-122"/>
                <a:ea typeface="宋体" panose="02010600030101010101" pitchFamily="2" charset="-122"/>
              </a:rPr>
              <a:t>围绕</a:t>
            </a:r>
            <a:r>
              <a:rPr lang="zh-CN" altLang="en-US" sz="2800" b="1" dirty="0">
                <a:latin typeface="宋体" panose="02010600030101010101" pitchFamily="2" charset="-122"/>
                <a:ea typeface="宋体" panose="02010600030101010101" pitchFamily="2" charset="-122"/>
              </a:rPr>
              <a:t>项目计划进行，主要过程有：</a:t>
            </a:r>
            <a:r>
              <a:rPr lang="zh-CN" altLang="en-US" sz="2800" b="1" dirty="0">
                <a:solidFill>
                  <a:srgbClr val="FF33CC"/>
                </a:solidFill>
                <a:latin typeface="宋体" panose="02010600030101010101" pitchFamily="2" charset="-122"/>
                <a:ea typeface="宋体" panose="02010600030101010101" pitchFamily="2" charset="-122"/>
              </a:rPr>
              <a:t>计划制定</a:t>
            </a:r>
            <a:r>
              <a:rPr lang="zh-CN" altLang="en-US" sz="2800" b="1" dirty="0">
                <a:latin typeface="宋体" panose="02010600030101010101" pitchFamily="2" charset="-122"/>
                <a:ea typeface="宋体" panose="02010600030101010101" pitchFamily="2" charset="-122"/>
              </a:rPr>
              <a:t>、</a:t>
            </a:r>
            <a:r>
              <a:rPr lang="zh-CN" altLang="en-US" sz="2800" b="1" dirty="0">
                <a:solidFill>
                  <a:srgbClr val="FF33CC"/>
                </a:solidFill>
                <a:latin typeface="宋体" panose="02010600030101010101" pitchFamily="2" charset="-122"/>
                <a:ea typeface="宋体" panose="02010600030101010101" pitchFamily="2" charset="-122"/>
              </a:rPr>
              <a:t>计划执行</a:t>
            </a:r>
            <a:r>
              <a:rPr lang="zh-CN" altLang="en-US" sz="2800" b="1" dirty="0">
                <a:latin typeface="宋体" panose="02010600030101010101" pitchFamily="2" charset="-122"/>
                <a:ea typeface="宋体" panose="02010600030101010101" pitchFamily="2" charset="-122"/>
              </a:rPr>
              <a:t>和</a:t>
            </a:r>
            <a:r>
              <a:rPr lang="zh-CN" altLang="en-US" sz="2800" b="1" dirty="0">
                <a:solidFill>
                  <a:srgbClr val="FF33CC"/>
                </a:solidFill>
                <a:latin typeface="宋体" panose="02010600030101010101" pitchFamily="2" charset="-122"/>
                <a:ea typeface="宋体" panose="02010600030101010101" pitchFamily="2" charset="-122"/>
              </a:rPr>
              <a:t>计划变更控制</a:t>
            </a:r>
            <a:r>
              <a:rPr lang="zh-CN" altLang="en-US" sz="2800" b="1" dirty="0">
                <a:latin typeface="宋体" panose="02010600030101010101" pitchFamily="2" charset="-122"/>
                <a:ea typeface="宋体" panose="02010600030101010101" pitchFamily="2" charset="-122"/>
              </a:rPr>
              <a:t>。</a:t>
            </a:r>
            <a:endParaRPr lang="en-US" altLang="zh-CN" sz="2800" b="1" dirty="0">
              <a:latin typeface="宋体" panose="02010600030101010101" pitchFamily="2" charset="-122"/>
            </a:endParaRPr>
          </a:p>
        </p:txBody>
      </p:sp>
      <p:sp>
        <p:nvSpPr>
          <p:cNvPr id="54279" name="Oval 1029"/>
          <p:cNvSpPr/>
          <p:nvPr/>
        </p:nvSpPr>
        <p:spPr>
          <a:xfrm>
            <a:off x="4533900" y="2971800"/>
            <a:ext cx="3581400" cy="2819400"/>
          </a:xfrm>
          <a:prstGeom prst="ellipse">
            <a:avLst/>
          </a:prstGeom>
          <a:solidFill>
            <a:srgbClr val="00FF00"/>
          </a:solidFill>
          <a:ln w="69850" cap="flat" cmpd="sng">
            <a:solidFill>
              <a:schemeClr val="tx1"/>
            </a:solidFill>
            <a:prstDash val="solid"/>
            <a:round/>
            <a:headEnd type="none" w="med" len="med"/>
            <a:tailEnd type="none" w="med" len="med"/>
          </a:ln>
        </p:spPr>
        <p:txBody>
          <a:bodyPr wrap="none" anchor="ctr" anchorCtr="0"/>
          <a:lstStyle/>
          <a:p>
            <a:pPr eaLnBrk="0" hangingPunct="0"/>
            <a:endParaRPr lang="zh-CN" altLang="en-US" dirty="0">
              <a:latin typeface="Times New Roman" panose="02020603050405020304" pitchFamily="18" charset="0"/>
              <a:ea typeface="宋体" panose="02010600030101010101" pitchFamily="2" charset="-122"/>
            </a:endParaRPr>
          </a:p>
        </p:txBody>
      </p:sp>
      <p:sp>
        <p:nvSpPr>
          <p:cNvPr id="54280" name="Text Box 1030"/>
          <p:cNvSpPr txBox="1"/>
          <p:nvPr/>
        </p:nvSpPr>
        <p:spPr>
          <a:xfrm>
            <a:off x="3733800" y="4114800"/>
            <a:ext cx="1485900" cy="460375"/>
          </a:xfrm>
          <a:prstGeom prst="rect">
            <a:avLst/>
          </a:prstGeom>
          <a:solidFill>
            <a:srgbClr val="FFFF00"/>
          </a:solidFill>
          <a:ln w="50800"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dirty="0">
                <a:solidFill>
                  <a:srgbClr val="FF0000"/>
                </a:solidFill>
                <a:latin typeface="楷体_GB2312"/>
                <a:ea typeface="宋体" panose="02010600030101010101" pitchFamily="2" charset="-122"/>
              </a:rPr>
              <a:t>制定计划</a:t>
            </a:r>
            <a:endParaRPr lang="zh-CN" altLang="en-US" dirty="0">
              <a:solidFill>
                <a:srgbClr val="FF0000"/>
              </a:solidFill>
              <a:latin typeface="楷体_GB2312"/>
              <a:ea typeface="宋体" panose="02010600030101010101" pitchFamily="2" charset="-122"/>
            </a:endParaRPr>
          </a:p>
        </p:txBody>
      </p:sp>
      <p:sp>
        <p:nvSpPr>
          <p:cNvPr id="54281" name="Text Box 1031"/>
          <p:cNvSpPr txBox="1"/>
          <p:nvPr/>
        </p:nvSpPr>
        <p:spPr>
          <a:xfrm>
            <a:off x="7467600" y="4114800"/>
            <a:ext cx="1524000" cy="460375"/>
          </a:xfrm>
          <a:prstGeom prst="rect">
            <a:avLst/>
          </a:prstGeom>
          <a:solidFill>
            <a:srgbClr val="FFFF00"/>
          </a:solidFill>
          <a:ln w="50800"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dirty="0">
                <a:solidFill>
                  <a:srgbClr val="FF0000"/>
                </a:solidFill>
                <a:latin typeface="楷体_GB2312"/>
                <a:ea typeface="宋体" panose="02010600030101010101" pitchFamily="2" charset="-122"/>
              </a:rPr>
              <a:t>执行计划</a:t>
            </a:r>
            <a:endParaRPr lang="zh-CN" altLang="en-US" dirty="0">
              <a:solidFill>
                <a:srgbClr val="FF0000"/>
              </a:solidFill>
              <a:latin typeface="楷体_GB2312"/>
              <a:ea typeface="宋体" panose="02010600030101010101" pitchFamily="2" charset="-122"/>
            </a:endParaRPr>
          </a:p>
        </p:txBody>
      </p:sp>
      <p:sp>
        <p:nvSpPr>
          <p:cNvPr id="54282" name="Text Box 1032"/>
          <p:cNvSpPr txBox="1"/>
          <p:nvPr/>
        </p:nvSpPr>
        <p:spPr>
          <a:xfrm>
            <a:off x="5486400" y="5511800"/>
            <a:ext cx="1631950" cy="460375"/>
          </a:xfrm>
          <a:prstGeom prst="rect">
            <a:avLst/>
          </a:prstGeom>
          <a:solidFill>
            <a:srgbClr val="FFFF00"/>
          </a:solidFill>
          <a:ln w="50800" cap="flat" cmpd="sng">
            <a:solidFill>
              <a:schemeClr val="tx1"/>
            </a:solidFill>
            <a:prstDash val="solid"/>
            <a:miter/>
            <a:headEnd type="none" w="med" len="med"/>
            <a:tailEnd type="none" w="med" len="med"/>
          </a:ln>
        </p:spPr>
        <p:txBody>
          <a:bodyPr anchor="t" anchorCtr="0">
            <a:spAutoFit/>
          </a:bodyPr>
          <a:lstStyle/>
          <a:p>
            <a:pPr eaLnBrk="0" hangingPunct="0">
              <a:spcBef>
                <a:spcPct val="50000"/>
              </a:spcBef>
            </a:pPr>
            <a:r>
              <a:rPr lang="zh-CN" altLang="en-US" dirty="0">
                <a:solidFill>
                  <a:srgbClr val="FF0000"/>
                </a:solidFill>
                <a:latin typeface="楷体_GB2312"/>
                <a:ea typeface="宋体" panose="02010600030101010101" pitchFamily="2" charset="-122"/>
              </a:rPr>
              <a:t>计划控制</a:t>
            </a:r>
            <a:endParaRPr lang="zh-CN" altLang="en-US" dirty="0">
              <a:solidFill>
                <a:srgbClr val="FF0000"/>
              </a:solidFill>
              <a:latin typeface="楷体_GB2312"/>
              <a:ea typeface="宋体" panose="02010600030101010101" pitchFamily="2" charset="-122"/>
            </a:endParaRPr>
          </a:p>
        </p:txBody>
      </p:sp>
      <p:sp>
        <p:nvSpPr>
          <p:cNvPr id="54283" name="Text Box 1033"/>
          <p:cNvSpPr txBox="1"/>
          <p:nvPr/>
        </p:nvSpPr>
        <p:spPr>
          <a:xfrm>
            <a:off x="5232400" y="3505200"/>
            <a:ext cx="2232025" cy="1936115"/>
          </a:xfrm>
          <a:prstGeom prst="rect">
            <a:avLst/>
          </a:prstGeom>
          <a:noFill/>
          <a:ln w="50800">
            <a:noFill/>
          </a:ln>
        </p:spPr>
        <p:txBody>
          <a:bodyPr anchor="t" anchorCtr="0">
            <a:spAutoFit/>
          </a:bodyPr>
          <a:lstStyle/>
          <a:p>
            <a:pPr eaLnBrk="0" hangingPunct="0">
              <a:lnSpc>
                <a:spcPct val="60000"/>
              </a:lnSpc>
              <a:spcBef>
                <a:spcPct val="50000"/>
              </a:spcBef>
            </a:pPr>
            <a:r>
              <a:rPr lang="zh-CN" altLang="en-US" sz="1800" dirty="0">
                <a:solidFill>
                  <a:srgbClr val="333333"/>
                </a:solidFill>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范围   质量 </a:t>
            </a:r>
            <a:endParaRPr lang="zh-CN" altLang="en-US"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dirty="0">
                <a:latin typeface="宋体" panose="02010600030101010101" pitchFamily="2" charset="-122"/>
                <a:ea typeface="宋体" panose="02010600030101010101" pitchFamily="2" charset="-122"/>
              </a:rPr>
              <a:t> 时间   成本</a:t>
            </a:r>
            <a:endParaRPr lang="zh-CN" altLang="en-US"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sz="1800" dirty="0">
                <a:latin typeface="宋体" panose="02010600030101010101" pitchFamily="2" charset="-122"/>
                <a:ea typeface="宋体" panose="02010600030101010101" pitchFamily="2" charset="-122"/>
              </a:rPr>
              <a:t>人力资源</a:t>
            </a:r>
            <a:r>
              <a:rPr lang="zh-CN" altLang="en-US" dirty="0">
                <a:latin typeface="宋体" panose="02010600030101010101" pitchFamily="2" charset="-122"/>
                <a:ea typeface="宋体" panose="02010600030101010101" pitchFamily="2" charset="-122"/>
              </a:rPr>
              <a:t> 沟通 </a:t>
            </a:r>
            <a:endParaRPr lang="zh-CN" altLang="en-US"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dirty="0">
                <a:latin typeface="宋体" panose="02010600030101010101" pitchFamily="2" charset="-122"/>
                <a:ea typeface="宋体" panose="02010600030101010101" pitchFamily="2" charset="-122"/>
              </a:rPr>
              <a:t>风险   采购</a:t>
            </a:r>
            <a:endParaRPr lang="zh-CN" altLang="en-US" dirty="0">
              <a:latin typeface="宋体" panose="02010600030101010101" pitchFamily="2" charset="-122"/>
              <a:ea typeface="宋体" panose="02010600030101010101" pitchFamily="2" charset="-122"/>
            </a:endParaRPr>
          </a:p>
          <a:p>
            <a:pPr eaLnBrk="0" hangingPunct="0">
              <a:lnSpc>
                <a:spcPct val="60000"/>
              </a:lnSpc>
              <a:spcBef>
                <a:spcPct val="50000"/>
              </a:spcBef>
            </a:pPr>
            <a:r>
              <a:rPr lang="zh-CN" altLang="en-US" dirty="0">
                <a:latin typeface="宋体" panose="02010600030101010101" pitchFamily="2" charset="-122"/>
                <a:ea typeface="宋体" panose="02010600030101010101" pitchFamily="2" charset="-122"/>
              </a:rPr>
              <a:t>干系人</a:t>
            </a:r>
            <a:endParaRPr lang="zh-CN" altLang="en-US" dirty="0">
              <a:latin typeface="宋体" panose="02010600030101010101" pitchFamily="2" charset="-122"/>
              <a:ea typeface="宋体" panose="02010600030101010101" pitchFamily="2" charset="-122"/>
            </a:endParaRPr>
          </a:p>
        </p:txBody>
      </p:sp>
      <p:sp>
        <p:nvSpPr>
          <p:cNvPr id="23" name="AutoShape 1039"/>
          <p:cNvSpPr/>
          <p:nvPr/>
        </p:nvSpPr>
        <p:spPr>
          <a:xfrm>
            <a:off x="2362200" y="2895600"/>
            <a:ext cx="2219325" cy="838200"/>
          </a:xfrm>
          <a:prstGeom prst="wedgeRoundRectCallout">
            <a:avLst>
              <a:gd name="adj1" fmla="val 41745"/>
              <a:gd name="adj2" fmla="val 85227"/>
              <a:gd name="adj3" fmla="val 16667"/>
            </a:avLst>
          </a:prstGeom>
          <a:solidFill>
            <a:srgbClr val="C8FEFD"/>
          </a:solidFill>
          <a:ln w="50800" cap="flat" cmpd="sng">
            <a:solidFill>
              <a:srgbClr val="993300"/>
            </a:solidFill>
            <a:prstDash val="solid"/>
            <a:miter/>
            <a:headEnd type="none" w="med" len="med"/>
            <a:tailEnd type="none" w="med" len="med"/>
          </a:ln>
        </p:spPr>
        <p:txBody>
          <a:bodyPr anchor="ctr" anchorCtr="0"/>
          <a:lstStyle/>
          <a:p>
            <a:pPr eaLnBrk="0" hangingPunct="0"/>
            <a:r>
              <a:rPr lang="zh-CN" altLang="en-US" dirty="0">
                <a:latin typeface="楷体_GB2312"/>
                <a:ea typeface="宋体" panose="02010600030101010101" pitchFamily="2" charset="-122"/>
              </a:rPr>
              <a:t>收集其他计划整合项目计划</a:t>
            </a:r>
            <a:endParaRPr lang="zh-CN" altLang="en-US" dirty="0">
              <a:latin typeface="楷体_GB2312"/>
              <a:ea typeface="宋体" panose="02010600030101010101" pitchFamily="2" charset="-122"/>
            </a:endParaRPr>
          </a:p>
        </p:txBody>
      </p:sp>
      <p:sp>
        <p:nvSpPr>
          <p:cNvPr id="24" name="AutoShape 1040"/>
          <p:cNvSpPr/>
          <p:nvPr/>
        </p:nvSpPr>
        <p:spPr>
          <a:xfrm>
            <a:off x="7978775" y="2819400"/>
            <a:ext cx="2232025" cy="838200"/>
          </a:xfrm>
          <a:prstGeom prst="wedgeRoundRectCallout">
            <a:avLst>
              <a:gd name="adj1" fmla="val -24597"/>
              <a:gd name="adj2" fmla="val 97917"/>
              <a:gd name="adj3" fmla="val 16667"/>
            </a:avLst>
          </a:prstGeom>
          <a:solidFill>
            <a:srgbClr val="C8FEFD"/>
          </a:solidFill>
          <a:ln w="50800" cap="flat" cmpd="sng">
            <a:solidFill>
              <a:srgbClr val="993300"/>
            </a:solidFill>
            <a:prstDash val="solid"/>
            <a:miter/>
            <a:headEnd type="none" w="med" len="med"/>
            <a:tailEnd type="none" w="med" len="med"/>
          </a:ln>
        </p:spPr>
        <p:txBody>
          <a:bodyPr anchor="ctr" anchorCtr="0"/>
          <a:lstStyle/>
          <a:p>
            <a:pPr eaLnBrk="0" hangingPunct="0"/>
            <a:r>
              <a:rPr lang="zh-CN" altLang="en-US" dirty="0">
                <a:latin typeface="楷体_GB2312"/>
                <a:ea typeface="宋体" panose="02010600030101010101" pitchFamily="2" charset="-122"/>
              </a:rPr>
              <a:t>实施项目计划</a:t>
            </a:r>
            <a:endParaRPr lang="zh-CN" altLang="en-US" dirty="0">
              <a:latin typeface="楷体_GB2312"/>
              <a:ea typeface="宋体" panose="02010600030101010101" pitchFamily="2" charset="-122"/>
            </a:endParaRPr>
          </a:p>
        </p:txBody>
      </p:sp>
      <p:sp>
        <p:nvSpPr>
          <p:cNvPr id="25" name="AutoShape 1041"/>
          <p:cNvSpPr/>
          <p:nvPr/>
        </p:nvSpPr>
        <p:spPr>
          <a:xfrm>
            <a:off x="7924800" y="5029200"/>
            <a:ext cx="1981200" cy="838200"/>
          </a:xfrm>
          <a:prstGeom prst="wedgeRoundRectCallout">
            <a:avLst>
              <a:gd name="adj1" fmla="val -85977"/>
              <a:gd name="adj2" fmla="val 30681"/>
              <a:gd name="adj3" fmla="val 16667"/>
            </a:avLst>
          </a:prstGeom>
          <a:solidFill>
            <a:srgbClr val="C8FEFD"/>
          </a:solidFill>
          <a:ln w="50800" cap="flat" cmpd="sng">
            <a:solidFill>
              <a:srgbClr val="993300"/>
            </a:solidFill>
            <a:prstDash val="solid"/>
            <a:miter/>
            <a:headEnd type="none" w="med" len="med"/>
            <a:tailEnd type="none" w="med" len="med"/>
          </a:ln>
        </p:spPr>
        <p:txBody>
          <a:bodyPr anchor="ctr" anchorCtr="0"/>
          <a:lstStyle/>
          <a:p>
            <a:pPr eaLnBrk="0" hangingPunct="0"/>
            <a:r>
              <a:rPr lang="zh-CN" altLang="en-US" dirty="0">
                <a:latin typeface="楷体_GB2312"/>
                <a:ea typeface="宋体" panose="02010600030101010101" pitchFamily="2" charset="-122"/>
              </a:rPr>
              <a:t>调整整个项目的变更</a:t>
            </a:r>
            <a:endParaRPr lang="zh-CN" altLang="en-US" dirty="0">
              <a:latin typeface="楷体_GB2312"/>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ppt_x</p:attrName>
                                        </p:attrNameLst>
                                      </p:cBhvr>
                                      <p:tavLst>
                                        <p:tav tm="0">
                                          <p:val>
                                            <p:strVal val="0-#ppt_w/2"/>
                                          </p:val>
                                        </p:tav>
                                        <p:tav tm="100000">
                                          <p:val>
                                            <p:strVal val="#ppt_x"/>
                                          </p:val>
                                        </p:tav>
                                      </p:tavLst>
                                    </p:anim>
                                    <p:anim calcmode="lin" valueType="num">
                                      <p:cBhvr>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p:cTn id="13" dur="500" fill="hold"/>
                                        <p:tgtEl>
                                          <p:spTgt spid="24"/>
                                        </p:tgtEl>
                                        <p:attrNameLst>
                                          <p:attrName>ppt_x</p:attrName>
                                        </p:attrNameLst>
                                      </p:cBhvr>
                                      <p:tavLst>
                                        <p:tav tm="0">
                                          <p:val>
                                            <p:strVal val="1+#ppt_w/2"/>
                                          </p:val>
                                        </p:tav>
                                        <p:tav tm="100000">
                                          <p:val>
                                            <p:strVal val="#ppt_x"/>
                                          </p:val>
                                        </p:tav>
                                      </p:tavLst>
                                    </p:anim>
                                    <p:anim calcmode="lin" valueType="num">
                                      <p:cBhvr>
                                        <p:cTn id="14"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ppt_x</p:attrName>
                                        </p:attrNameLst>
                                      </p:cBhvr>
                                      <p:tavLst>
                                        <p:tav tm="0">
                                          <p:val>
                                            <p:strVal val="1+#ppt_w/2"/>
                                          </p:val>
                                        </p:tav>
                                        <p:tav tm="100000">
                                          <p:val>
                                            <p:strVal val="#ppt_x"/>
                                          </p:val>
                                        </p:tav>
                                      </p:tavLst>
                                    </p:anim>
                                    <p:anim calcmode="lin" valueType="num">
                                      <p:cBhvr>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25"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051"/>
          <p:cNvSpPr>
            <a:spLocks noGrp="1"/>
          </p:cNvSpPr>
          <p:nvPr>
            <p:ph idx="4294967295"/>
          </p:nvPr>
        </p:nvSpPr>
        <p:spPr>
          <a:xfrm>
            <a:off x="2279650" y="1341755"/>
            <a:ext cx="8772525" cy="4234180"/>
          </a:xfrm>
        </p:spPr>
        <p:txBody>
          <a:bodyPr vert="horz" wrap="square" lIns="0" tIns="0" rIns="0" bIns="0" anchor="t" anchorCtr="0"/>
          <a:lstStyle/>
          <a:p>
            <a:pPr marL="365125" marR="0" lvl="0" indent="-282575" algn="l" defTabSz="914400" rtl="0" eaLnBrk="1" fontAlgn="base" latinLnBrk="0" hangingPunct="1">
              <a:lnSpc>
                <a:spcPct val="110000"/>
              </a:lnSpc>
              <a:spcBef>
                <a:spcPct val="0"/>
              </a:spcBef>
              <a:spcAft>
                <a:spcPct val="0"/>
              </a:spcAft>
              <a:buClr>
                <a:srgbClr val="FF0000"/>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cs"/>
              </a:rPr>
              <a:t>项目集成管理在</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项目整个生命周期内，汇聚项目管理的知识领域，对所有项目</a:t>
            </a:r>
            <a:r>
              <a:rPr kumimoji="0" lang="zh-CN" altLang="en-US" sz="2800" b="0" i="0" u="none" strike="noStrike" kern="1200" cap="none" spc="0" normalizeH="0" baseline="0" noProof="0" dirty="0">
                <a:ln>
                  <a:noFill/>
                </a:ln>
                <a:solidFill>
                  <a:srgbClr val="FF0000"/>
                </a:solidFill>
                <a:effectLst/>
                <a:uLnTx/>
                <a:uFillTx/>
                <a:latin typeface="+mn-lt"/>
                <a:ea typeface="+mn-ea"/>
                <a:cs typeface="+mn-cs"/>
              </a:rPr>
              <a:t>计划，进行整合执行及控制</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，以保证项目各要素相互协调的全部工作和活动的过程。</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a:p>
            <a:pPr marL="82550" marR="0" lvl="0" indent="0" algn="l" defTabSz="914400" rtl="0" eaLnBrk="1" fontAlgn="base" latinLnBrk="0" hangingPunct="1">
              <a:lnSpc>
                <a:spcPct val="110000"/>
              </a:lnSpc>
              <a:spcBef>
                <a:spcPct val="0"/>
              </a:spcBef>
              <a:spcAft>
                <a:spcPct val="0"/>
              </a:spcAft>
              <a:buClr>
                <a:srgbClr val="FF0000"/>
              </a:buClr>
              <a:buSzPct val="80000"/>
              <a:buFont typeface="Wingdings" panose="05000000000000000000" pitchFamily="2" charset="2"/>
              <a:buNone/>
              <a:defRPr/>
            </a:pP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R="0" lvl="0" algn="l" defTabSz="914400" rtl="0" eaLnBrk="1" fontAlgn="base" latinLnBrk="0" hangingPunct="1">
              <a:lnSpc>
                <a:spcPct val="110000"/>
              </a:lnSpc>
              <a:spcBef>
                <a:spcPct val="0"/>
              </a:spcBef>
              <a:spcAft>
                <a:spcPct val="0"/>
              </a:spcAft>
              <a:buClr>
                <a:srgbClr val="FF0000"/>
              </a:buClr>
              <a:buSzPct val="80000"/>
              <a:buFont typeface="Wingdings" panose="05000000000000000000" charset="0"/>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项目集成管理是指为确保项目各项工作能够有机地</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协调和配合</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所开展的</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综合性和全局性</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的项目管理</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工作和过程</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sp>
        <p:nvSpPr>
          <p:cNvPr id="9242" name="Rectangle 5"/>
          <p:cNvSpPr>
            <a:spLocks noGrp="1"/>
          </p:cNvSpPr>
          <p:nvPr>
            <p:ph type="title" idx="4294967295"/>
          </p:nvPr>
        </p:nvSpPr>
        <p:spPr>
          <a:xfrm>
            <a:off x="2279650" y="0"/>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5299" name="Group 8"/>
          <p:cNvGrpSpPr/>
          <p:nvPr/>
        </p:nvGrpSpPr>
        <p:grpSpPr>
          <a:xfrm>
            <a:off x="1519238" y="811213"/>
            <a:ext cx="9148762" cy="85725"/>
            <a:chOff x="0" y="0"/>
            <a:chExt cx="5763" cy="54"/>
          </a:xfrm>
        </p:grpSpPr>
        <p:sp>
          <p:nvSpPr>
            <p:cNvPr id="55300"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5301"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2" name="Rectangle 5"/>
          <p:cNvSpPr>
            <a:spLocks noGrp="1"/>
          </p:cNvSpPr>
          <p:nvPr>
            <p:ph type="title" idx="4294967295"/>
          </p:nvPr>
        </p:nvSpPr>
        <p:spPr>
          <a:xfrm>
            <a:off x="2279650" y="0"/>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6322" name="Group 8"/>
          <p:cNvGrpSpPr/>
          <p:nvPr/>
        </p:nvGrpSpPr>
        <p:grpSpPr>
          <a:xfrm>
            <a:off x="1519238" y="811213"/>
            <a:ext cx="9148762" cy="85725"/>
            <a:chOff x="0" y="0"/>
            <a:chExt cx="5763" cy="54"/>
          </a:xfrm>
        </p:grpSpPr>
        <p:sp>
          <p:nvSpPr>
            <p:cNvPr id="5632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632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29" name="AutoShape 1044"/>
          <p:cNvSpPr/>
          <p:nvPr/>
        </p:nvSpPr>
        <p:spPr>
          <a:xfrm>
            <a:off x="7656513" y="914400"/>
            <a:ext cx="1330325" cy="1152525"/>
          </a:xfrm>
          <a:prstGeom prst="star24">
            <a:avLst>
              <a:gd name="adj" fmla="val 35417"/>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sp>
        <p:nvSpPr>
          <p:cNvPr id="56326" name="Text Box 1045"/>
          <p:cNvSpPr txBox="1"/>
          <p:nvPr/>
        </p:nvSpPr>
        <p:spPr>
          <a:xfrm>
            <a:off x="8266113" y="2209800"/>
            <a:ext cx="2438400" cy="3429000"/>
          </a:xfrm>
          <a:prstGeom prst="rect">
            <a:avLst/>
          </a:prstGeom>
          <a:noFill/>
          <a:ln w="9525">
            <a:noFill/>
          </a:ln>
        </p:spPr>
        <p:txBody>
          <a:bodyPr tIns="0" bIns="0" anchor="t" anchorCtr="0"/>
          <a:lstStyle/>
          <a:p>
            <a:pPr eaLnBrk="0" hangingPunct="0">
              <a:lnSpc>
                <a:spcPct val="90000"/>
              </a:lnSpc>
              <a:spcBef>
                <a:spcPct val="5000"/>
              </a:spcBef>
            </a:pPr>
            <a:r>
              <a:rPr lang="zh-CN" altLang="en-US" dirty="0">
                <a:latin typeface="华文行楷" panose="02010800040101010101" pitchFamily="2" charset="-122"/>
                <a:ea typeface="华文行楷" panose="02010800040101010101" pitchFamily="2" charset="-122"/>
              </a:rPr>
              <a:t>项目集成管理将</a:t>
            </a:r>
            <a:r>
              <a:rPr lang="en-US" altLang="zh-CN" dirty="0">
                <a:solidFill>
                  <a:srgbClr val="FF3300"/>
                </a:solidFill>
                <a:latin typeface="华文行楷" panose="02010800040101010101" pitchFamily="2" charset="-122"/>
                <a:ea typeface="华文行楷" panose="02010800040101010101" pitchFamily="2" charset="-122"/>
              </a:rPr>
              <a:t>9</a:t>
            </a:r>
            <a:r>
              <a:rPr lang="zh-CN" altLang="en-GB" dirty="0">
                <a:solidFill>
                  <a:srgbClr val="FF3300"/>
                </a:solidFill>
                <a:latin typeface="华文行楷" panose="02010800040101010101" pitchFamily="2" charset="-122"/>
                <a:ea typeface="华文行楷" panose="02010800040101010101" pitchFamily="2" charset="-122"/>
              </a:rPr>
              <a:t>大领域</a:t>
            </a:r>
            <a:r>
              <a:rPr lang="zh-CN" altLang="en-GB" dirty="0">
                <a:latin typeface="华文行楷" panose="02010800040101010101" pitchFamily="2" charset="-122"/>
                <a:ea typeface="华文行楷" panose="02010800040101010101" pitchFamily="2" charset="-122"/>
              </a:rPr>
              <a:t>的相关</a:t>
            </a:r>
            <a:r>
              <a:rPr lang="zh-CN" altLang="en-US" dirty="0">
                <a:latin typeface="华文行楷" panose="02010800040101010101" pitchFamily="2" charset="-122"/>
                <a:ea typeface="华文行楷" panose="02010800040101010101" pitchFamily="2" charset="-122"/>
              </a:rPr>
              <a:t>要素结合在一起，随着项目沿着其</a:t>
            </a:r>
            <a:r>
              <a:rPr lang="zh-CN" altLang="en-US" dirty="0">
                <a:solidFill>
                  <a:srgbClr val="FF3300"/>
                </a:solidFill>
                <a:latin typeface="华文行楷" panose="02010800040101010101" pitchFamily="2" charset="-122"/>
                <a:ea typeface="华文行楷" panose="02010800040101010101" pitchFamily="2" charset="-122"/>
              </a:rPr>
              <a:t>生命周期</a:t>
            </a:r>
            <a:r>
              <a:rPr lang="zh-CN" altLang="en-US" dirty="0">
                <a:latin typeface="华文行楷" panose="02010800040101010101" pitchFamily="2" charset="-122"/>
                <a:ea typeface="华文行楷" panose="02010800040101010101" pitchFamily="2" charset="-122"/>
              </a:rPr>
              <a:t>演化，这些要素将变得更加</a:t>
            </a:r>
            <a:r>
              <a:rPr lang="zh-CN" altLang="en-US" dirty="0">
                <a:solidFill>
                  <a:srgbClr val="FF3300"/>
                </a:solidFill>
                <a:latin typeface="华文行楷" panose="02010800040101010101" pitchFamily="2" charset="-122"/>
                <a:ea typeface="华文行楷" panose="02010800040101010101" pitchFamily="2" charset="-122"/>
              </a:rPr>
              <a:t>集中</a:t>
            </a:r>
            <a:r>
              <a:rPr lang="zh-CN" altLang="en-US" dirty="0">
                <a:latin typeface="华文行楷" panose="02010800040101010101" pitchFamily="2" charset="-122"/>
                <a:ea typeface="华文行楷" panose="02010800040101010101" pitchFamily="2" charset="-122"/>
              </a:rPr>
              <a:t>。</a:t>
            </a:r>
            <a:endParaRPr lang="zh-CN" altLang="en-US" dirty="0">
              <a:latin typeface="华文行楷" panose="02010800040101010101" pitchFamily="2" charset="-122"/>
              <a:ea typeface="华文行楷" panose="02010800040101010101" pitchFamily="2" charset="-122"/>
            </a:endParaRPr>
          </a:p>
          <a:p>
            <a:pPr eaLnBrk="0" hangingPunct="0">
              <a:lnSpc>
                <a:spcPct val="90000"/>
              </a:lnSpc>
              <a:spcBef>
                <a:spcPct val="5000"/>
              </a:spcBef>
            </a:pPr>
            <a:r>
              <a:rPr lang="zh-CN" altLang="en-US" dirty="0">
                <a:latin typeface="华文行楷" panose="02010800040101010101" pitchFamily="2" charset="-122"/>
                <a:ea typeface="华文行楷" panose="02010800040101010101" pitchFamily="2" charset="-122"/>
              </a:rPr>
              <a:t>这些要素完美</a:t>
            </a:r>
            <a:r>
              <a:rPr lang="zh-CN" altLang="en-US" dirty="0">
                <a:solidFill>
                  <a:srgbClr val="FF3300"/>
                </a:solidFill>
                <a:latin typeface="华文行楷" panose="02010800040101010101" pitchFamily="2" charset="-122"/>
                <a:ea typeface="华文行楷" panose="02010800040101010101" pitchFamily="2" charset="-122"/>
              </a:rPr>
              <a:t>揉合之际</a:t>
            </a:r>
            <a:r>
              <a:rPr lang="zh-CN" altLang="en-US" dirty="0">
                <a:latin typeface="华文行楷" panose="02010800040101010101" pitchFamily="2" charset="-122"/>
                <a:ea typeface="华文行楷" panose="02010800040101010101" pitchFamily="2" charset="-122"/>
              </a:rPr>
              <a:t>，就是项目</a:t>
            </a:r>
            <a:r>
              <a:rPr lang="zh-CN" altLang="en-US" dirty="0">
                <a:solidFill>
                  <a:srgbClr val="FF3300"/>
                </a:solidFill>
                <a:latin typeface="华文行楷" panose="02010800040101010101" pitchFamily="2" charset="-122"/>
                <a:ea typeface="华文行楷" panose="02010800040101010101" pitchFamily="2" charset="-122"/>
              </a:rPr>
              <a:t>成功之时</a:t>
            </a:r>
            <a:r>
              <a:rPr lang="zh-CN" altLang="en-US" dirty="0">
                <a:latin typeface="华文行楷" panose="02010800040101010101" pitchFamily="2" charset="-122"/>
                <a:ea typeface="华文行楷" panose="02010800040101010101" pitchFamily="2" charset="-122"/>
              </a:rPr>
              <a:t>。</a:t>
            </a:r>
            <a:endParaRPr lang="zh-CN" altLang="en-US" dirty="0">
              <a:latin typeface="华文行楷" panose="02010800040101010101" pitchFamily="2" charset="-122"/>
              <a:ea typeface="华文行楷" panose="02010800040101010101" pitchFamily="2" charset="-122"/>
            </a:endParaRPr>
          </a:p>
          <a:p>
            <a:pPr eaLnBrk="0" hangingPunct="0">
              <a:lnSpc>
                <a:spcPct val="90000"/>
              </a:lnSpc>
              <a:spcBef>
                <a:spcPct val="5000"/>
              </a:spcBef>
            </a:pPr>
            <a:endParaRPr lang="zh-CN" altLang="en-US" dirty="0">
              <a:latin typeface="华文行楷" panose="02010800040101010101" pitchFamily="2" charset="-122"/>
              <a:ea typeface="华文行楷" panose="02010800040101010101" pitchFamily="2" charset="-122"/>
            </a:endParaRPr>
          </a:p>
        </p:txBody>
      </p:sp>
      <p:sp>
        <p:nvSpPr>
          <p:cNvPr id="31" name="Text Box 1046"/>
          <p:cNvSpPr txBox="1"/>
          <p:nvPr/>
        </p:nvSpPr>
        <p:spPr>
          <a:xfrm>
            <a:off x="7732713" y="1143000"/>
            <a:ext cx="1139825" cy="611188"/>
          </a:xfrm>
          <a:prstGeom prst="rect">
            <a:avLst/>
          </a:prstGeom>
          <a:noFill/>
          <a:ln w="9525">
            <a:noFill/>
          </a:ln>
        </p:spPr>
        <p:txBody>
          <a:bodyPr tIns="0" bIns="0" anchor="t" anchorCtr="0"/>
          <a:lstStyle/>
          <a:p>
            <a:pPr eaLnBrk="0" hangingPunct="0"/>
            <a:r>
              <a:rPr lang="zh-CN" altLang="en-US" dirty="0">
                <a:solidFill>
                  <a:srgbClr val="990000"/>
                </a:solidFill>
                <a:latin typeface="Times New Roman" panose="02020603050405020304" pitchFamily="18" charset="0"/>
                <a:ea typeface="华文新魏" panose="02010800040101010101" pitchFamily="2" charset="-122"/>
              </a:rPr>
              <a:t>项目</a:t>
            </a:r>
            <a:endParaRPr lang="zh-CN" altLang="en-US" dirty="0">
              <a:solidFill>
                <a:srgbClr val="990000"/>
              </a:solidFill>
              <a:latin typeface="Times New Roman" panose="02020603050405020304" pitchFamily="18" charset="0"/>
              <a:ea typeface="华文新魏" panose="02010800040101010101" pitchFamily="2" charset="-122"/>
            </a:endParaRPr>
          </a:p>
          <a:p>
            <a:pPr eaLnBrk="0" hangingPunct="0"/>
            <a:r>
              <a:rPr lang="zh-CN" altLang="en-US" dirty="0">
                <a:solidFill>
                  <a:srgbClr val="990000"/>
                </a:solidFill>
                <a:latin typeface="Times New Roman" panose="02020603050405020304" pitchFamily="18" charset="0"/>
                <a:ea typeface="华文新魏" panose="02010800040101010101" pitchFamily="2" charset="-122"/>
              </a:rPr>
              <a:t>成功</a:t>
            </a:r>
            <a:endParaRPr lang="zh-CN" altLang="en-US" dirty="0">
              <a:solidFill>
                <a:srgbClr val="990000"/>
              </a:solidFill>
              <a:latin typeface="Times New Roman" panose="02020603050405020304" pitchFamily="18" charset="0"/>
              <a:ea typeface="华文新魏" panose="02010800040101010101" pitchFamily="2" charset="-122"/>
            </a:endParaRPr>
          </a:p>
        </p:txBody>
      </p:sp>
      <p:sp>
        <p:nvSpPr>
          <p:cNvPr id="56328" name="Text Box 1047"/>
          <p:cNvSpPr txBox="1"/>
          <p:nvPr/>
        </p:nvSpPr>
        <p:spPr>
          <a:xfrm>
            <a:off x="4297363" y="6237288"/>
            <a:ext cx="3206750" cy="328612"/>
          </a:xfrm>
          <a:prstGeom prst="rect">
            <a:avLst/>
          </a:prstGeom>
          <a:noFill/>
          <a:ln w="9525">
            <a:noFill/>
          </a:ln>
        </p:spPr>
        <p:txBody>
          <a:bodyPr tIns="0" bIns="0" anchor="t" anchorCtr="0"/>
          <a:lstStyle/>
          <a:p>
            <a:pPr eaLnBrk="0" hangingPunct="0"/>
            <a:r>
              <a:rPr lang="zh-CN" altLang="en-US" dirty="0">
                <a:latin typeface="Times New Roman" panose="02020603050405020304" pitchFamily="18" charset="0"/>
                <a:ea typeface="宋体" panose="02010600030101010101" pitchFamily="2" charset="-122"/>
              </a:rPr>
              <a:t>项 目 集成 管 理 框 架</a:t>
            </a:r>
            <a:endParaRPr lang="zh-CN" altLang="en-US" dirty="0">
              <a:latin typeface="Times New Roman" panose="02020603050405020304" pitchFamily="18" charset="0"/>
              <a:ea typeface="宋体" panose="02010600030101010101" pitchFamily="2" charset="-122"/>
            </a:endParaRPr>
          </a:p>
        </p:txBody>
      </p:sp>
      <p:grpSp>
        <p:nvGrpSpPr>
          <p:cNvPr id="33" name="Group 1053"/>
          <p:cNvGrpSpPr/>
          <p:nvPr/>
        </p:nvGrpSpPr>
        <p:grpSpPr>
          <a:xfrm>
            <a:off x="2206625" y="1385888"/>
            <a:ext cx="5753100" cy="4495800"/>
            <a:chOff x="168" y="1119"/>
            <a:chExt cx="3722" cy="2673"/>
          </a:xfrm>
        </p:grpSpPr>
        <p:sp>
          <p:nvSpPr>
            <p:cNvPr id="56330" name="Text Box 1037"/>
            <p:cNvSpPr txBox="1"/>
            <p:nvPr/>
          </p:nvSpPr>
          <p:spPr>
            <a:xfrm>
              <a:off x="896" y="3529"/>
              <a:ext cx="719" cy="263"/>
            </a:xfrm>
            <a:prstGeom prst="rect">
              <a:avLst/>
            </a:prstGeom>
            <a:solidFill>
              <a:srgbClr val="FFFF99"/>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概 念</a:t>
              </a:r>
              <a:endParaRPr lang="zh-CN" altLang="en-US" sz="1800" dirty="0">
                <a:latin typeface="Times New Roman" panose="02020603050405020304" pitchFamily="18" charset="0"/>
                <a:ea typeface="宋体" panose="02010600030101010101" pitchFamily="2" charset="-122"/>
              </a:endParaRPr>
            </a:p>
          </p:txBody>
        </p:sp>
        <p:sp>
          <p:nvSpPr>
            <p:cNvPr id="56331" name="Text Box 1038"/>
            <p:cNvSpPr txBox="1"/>
            <p:nvPr/>
          </p:nvSpPr>
          <p:spPr>
            <a:xfrm>
              <a:off x="1665" y="3529"/>
              <a:ext cx="718" cy="263"/>
            </a:xfrm>
            <a:prstGeom prst="rect">
              <a:avLst/>
            </a:prstGeom>
            <a:solidFill>
              <a:srgbClr val="FFFF99"/>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开 发</a:t>
              </a:r>
              <a:endParaRPr lang="zh-CN" altLang="en-US" sz="1800" dirty="0">
                <a:latin typeface="Times New Roman" panose="02020603050405020304" pitchFamily="18" charset="0"/>
                <a:ea typeface="宋体" panose="02010600030101010101" pitchFamily="2" charset="-122"/>
              </a:endParaRPr>
            </a:p>
          </p:txBody>
        </p:sp>
        <p:sp>
          <p:nvSpPr>
            <p:cNvPr id="56332" name="Text Box 1039"/>
            <p:cNvSpPr txBox="1"/>
            <p:nvPr/>
          </p:nvSpPr>
          <p:spPr>
            <a:xfrm>
              <a:off x="2423" y="3528"/>
              <a:ext cx="718" cy="264"/>
            </a:xfrm>
            <a:prstGeom prst="rect">
              <a:avLst/>
            </a:prstGeom>
            <a:solidFill>
              <a:srgbClr val="FFFF99"/>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实 施</a:t>
              </a:r>
              <a:endParaRPr lang="zh-CN" altLang="en-US" sz="1800" dirty="0">
                <a:latin typeface="Times New Roman" panose="02020603050405020304" pitchFamily="18" charset="0"/>
                <a:ea typeface="宋体" panose="02010600030101010101" pitchFamily="2" charset="-122"/>
              </a:endParaRPr>
            </a:p>
          </p:txBody>
        </p:sp>
        <p:sp>
          <p:nvSpPr>
            <p:cNvPr id="56333" name="Text Box 1040"/>
            <p:cNvSpPr txBox="1"/>
            <p:nvPr/>
          </p:nvSpPr>
          <p:spPr>
            <a:xfrm>
              <a:off x="3161" y="3529"/>
              <a:ext cx="719" cy="263"/>
            </a:xfrm>
            <a:prstGeom prst="rect">
              <a:avLst/>
            </a:prstGeom>
            <a:solidFill>
              <a:srgbClr val="FFFF99"/>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收 尾</a:t>
              </a:r>
              <a:endParaRPr lang="zh-CN" altLang="en-US" sz="1800" dirty="0">
                <a:latin typeface="Times New Roman" panose="02020603050405020304" pitchFamily="18" charset="0"/>
                <a:ea typeface="宋体" panose="02010600030101010101" pitchFamily="2" charset="-122"/>
              </a:endParaRPr>
            </a:p>
          </p:txBody>
        </p:sp>
        <p:grpSp>
          <p:nvGrpSpPr>
            <p:cNvPr id="56334" name="Group 1052"/>
            <p:cNvGrpSpPr/>
            <p:nvPr/>
          </p:nvGrpSpPr>
          <p:grpSpPr>
            <a:xfrm>
              <a:off x="168" y="1119"/>
              <a:ext cx="3722" cy="2389"/>
              <a:chOff x="168" y="1119"/>
              <a:chExt cx="3722" cy="2389"/>
            </a:xfrm>
          </p:grpSpPr>
          <p:sp>
            <p:nvSpPr>
              <p:cNvPr id="56335" name="Text Box 1029"/>
              <p:cNvSpPr txBox="1"/>
              <p:nvPr/>
            </p:nvSpPr>
            <p:spPr>
              <a:xfrm>
                <a:off x="168" y="3023"/>
                <a:ext cx="718" cy="207"/>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采 购</a:t>
                </a:r>
                <a:endParaRPr lang="zh-CN" altLang="en-US" sz="1800" dirty="0">
                  <a:latin typeface="Times New Roman" panose="02020603050405020304" pitchFamily="18" charset="0"/>
                  <a:ea typeface="宋体" panose="02010600030101010101" pitchFamily="2" charset="-122"/>
                </a:endParaRPr>
              </a:p>
            </p:txBody>
          </p:sp>
          <p:sp>
            <p:nvSpPr>
              <p:cNvPr id="56336" name="Text Box 1030"/>
              <p:cNvSpPr txBox="1"/>
              <p:nvPr/>
            </p:nvSpPr>
            <p:spPr>
              <a:xfrm>
                <a:off x="168" y="2782"/>
                <a:ext cx="718" cy="207"/>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风 险</a:t>
                </a:r>
                <a:endParaRPr lang="zh-CN" altLang="en-US" sz="1800" dirty="0">
                  <a:latin typeface="Times New Roman" panose="02020603050405020304" pitchFamily="18" charset="0"/>
                  <a:ea typeface="宋体" panose="02010600030101010101" pitchFamily="2" charset="-122"/>
                </a:endParaRPr>
              </a:p>
            </p:txBody>
          </p:sp>
          <p:sp>
            <p:nvSpPr>
              <p:cNvPr id="56337" name="Text Box 1031"/>
              <p:cNvSpPr txBox="1"/>
              <p:nvPr/>
            </p:nvSpPr>
            <p:spPr>
              <a:xfrm>
                <a:off x="178" y="2504"/>
                <a:ext cx="718" cy="207"/>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沟 通</a:t>
                </a:r>
                <a:endParaRPr lang="zh-CN" altLang="en-US" sz="1800" dirty="0">
                  <a:latin typeface="Times New Roman" panose="02020603050405020304" pitchFamily="18" charset="0"/>
                  <a:ea typeface="宋体" panose="02010600030101010101" pitchFamily="2" charset="-122"/>
                </a:endParaRPr>
              </a:p>
            </p:txBody>
          </p:sp>
          <p:sp>
            <p:nvSpPr>
              <p:cNvPr id="56338" name="Text Box 1032"/>
              <p:cNvSpPr txBox="1"/>
              <p:nvPr/>
            </p:nvSpPr>
            <p:spPr>
              <a:xfrm>
                <a:off x="178" y="2192"/>
                <a:ext cx="718" cy="208"/>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人力资源</a:t>
                </a:r>
                <a:endParaRPr lang="zh-CN" altLang="en-US" sz="1800" dirty="0">
                  <a:latin typeface="Times New Roman" panose="02020603050405020304" pitchFamily="18" charset="0"/>
                  <a:ea typeface="宋体" panose="02010600030101010101" pitchFamily="2" charset="-122"/>
                </a:endParaRPr>
              </a:p>
            </p:txBody>
          </p:sp>
          <p:sp>
            <p:nvSpPr>
              <p:cNvPr id="56339" name="Text Box 1033"/>
              <p:cNvSpPr txBox="1"/>
              <p:nvPr/>
            </p:nvSpPr>
            <p:spPr>
              <a:xfrm>
                <a:off x="178" y="1924"/>
                <a:ext cx="718" cy="208"/>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质 量</a:t>
                </a:r>
                <a:endParaRPr lang="zh-CN" altLang="en-US" sz="1800" dirty="0">
                  <a:latin typeface="Times New Roman" panose="02020603050405020304" pitchFamily="18" charset="0"/>
                  <a:ea typeface="宋体" panose="02010600030101010101" pitchFamily="2" charset="-122"/>
                </a:endParaRPr>
              </a:p>
            </p:txBody>
          </p:sp>
          <p:sp>
            <p:nvSpPr>
              <p:cNvPr id="56340" name="Text Box 1034"/>
              <p:cNvSpPr txBox="1"/>
              <p:nvPr/>
            </p:nvSpPr>
            <p:spPr>
              <a:xfrm>
                <a:off x="178" y="1656"/>
                <a:ext cx="718" cy="207"/>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成 本</a:t>
                </a:r>
                <a:endParaRPr lang="zh-CN" altLang="en-US" sz="1800" dirty="0">
                  <a:latin typeface="Times New Roman" panose="02020603050405020304" pitchFamily="18" charset="0"/>
                  <a:ea typeface="宋体" panose="02010600030101010101" pitchFamily="2" charset="-122"/>
                </a:endParaRPr>
              </a:p>
            </p:txBody>
          </p:sp>
          <p:sp>
            <p:nvSpPr>
              <p:cNvPr id="56341" name="Text Box 1035"/>
              <p:cNvSpPr txBox="1"/>
              <p:nvPr/>
            </p:nvSpPr>
            <p:spPr>
              <a:xfrm>
                <a:off x="178" y="1388"/>
                <a:ext cx="718" cy="207"/>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时 间</a:t>
                </a:r>
                <a:endParaRPr lang="zh-CN" altLang="en-US" sz="1800" dirty="0">
                  <a:latin typeface="Times New Roman" panose="02020603050405020304" pitchFamily="18" charset="0"/>
                  <a:ea typeface="宋体" panose="02010600030101010101" pitchFamily="2" charset="-122"/>
                </a:endParaRPr>
              </a:p>
            </p:txBody>
          </p:sp>
          <p:sp>
            <p:nvSpPr>
              <p:cNvPr id="56342" name="Text Box 1036"/>
              <p:cNvSpPr txBox="1"/>
              <p:nvPr/>
            </p:nvSpPr>
            <p:spPr>
              <a:xfrm>
                <a:off x="178" y="1119"/>
                <a:ext cx="718" cy="208"/>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范 围</a:t>
                </a:r>
                <a:endParaRPr lang="zh-CN" altLang="en-US" sz="1800" dirty="0">
                  <a:latin typeface="Times New Roman" panose="02020603050405020304" pitchFamily="18" charset="0"/>
                  <a:ea typeface="宋体" panose="02010600030101010101" pitchFamily="2" charset="-122"/>
                </a:endParaRPr>
              </a:p>
            </p:txBody>
          </p:sp>
          <p:grpSp>
            <p:nvGrpSpPr>
              <p:cNvPr id="56343" name="Group 1051"/>
              <p:cNvGrpSpPr/>
              <p:nvPr/>
            </p:nvGrpSpPr>
            <p:grpSpPr>
              <a:xfrm>
                <a:off x="896" y="1119"/>
                <a:ext cx="2994" cy="2389"/>
                <a:chOff x="896" y="1119"/>
                <a:chExt cx="2994" cy="2389"/>
              </a:xfrm>
            </p:grpSpPr>
            <p:sp>
              <p:nvSpPr>
                <p:cNvPr id="56344" name="Freeform 1028"/>
                <p:cNvSpPr/>
                <p:nvPr/>
              </p:nvSpPr>
              <p:spPr>
                <a:xfrm>
                  <a:off x="896" y="1121"/>
                  <a:ext cx="2994" cy="2387"/>
                </a:xfrm>
                <a:custGeom>
                  <a:avLst/>
                  <a:gdLst/>
                  <a:ahLst/>
                  <a:cxnLst>
                    <a:cxn ang="0">
                      <a:pos x="0" y="0"/>
                    </a:cxn>
                    <a:cxn ang="0">
                      <a:pos x="0" y="4680"/>
                    </a:cxn>
                    <a:cxn ang="0">
                      <a:pos x="5220" y="4680"/>
                    </a:cxn>
                  </a:cxnLst>
                  <a:rect l="0" t="0" r="0" b="0"/>
                  <a:pathLst>
                    <a:path w="5220" h="4680">
                      <a:moveTo>
                        <a:pt x="0" y="0"/>
                      </a:moveTo>
                      <a:lnTo>
                        <a:pt x="0" y="4680"/>
                      </a:lnTo>
                      <a:lnTo>
                        <a:pt x="5220" y="4680"/>
                      </a:lnTo>
                    </a:path>
                  </a:pathLst>
                </a:custGeom>
                <a:noFill/>
                <a:ln w="31750" cap="flat" cmpd="sng">
                  <a:solidFill>
                    <a:srgbClr val="000000"/>
                  </a:solidFill>
                  <a:prstDash val="solid"/>
                  <a:round/>
                  <a:headEnd type="none" w="med" len="med"/>
                  <a:tailEnd type="none" w="med" len="med"/>
                </a:ln>
              </p:spPr>
              <p:txBody>
                <a:bodyPr/>
                <a:lstStyle/>
                <a:p>
                  <a:endParaRPr lang="zh-CN" altLang="en-US"/>
                </a:p>
              </p:txBody>
            </p:sp>
            <p:sp>
              <p:nvSpPr>
                <p:cNvPr id="56345" name="Freeform 1041"/>
                <p:cNvSpPr/>
                <p:nvPr/>
              </p:nvSpPr>
              <p:spPr>
                <a:xfrm>
                  <a:off x="896" y="1119"/>
                  <a:ext cx="2874" cy="897"/>
                </a:xfrm>
                <a:custGeom>
                  <a:avLst/>
                  <a:gdLst/>
                  <a:ahLst/>
                  <a:cxnLst>
                    <a:cxn ang="0">
                      <a:pos x="0" y="0"/>
                    </a:cxn>
                    <a:cxn ang="0">
                      <a:pos x="1980" y="1092"/>
                    </a:cxn>
                    <a:cxn ang="0">
                      <a:pos x="4320" y="156"/>
                    </a:cxn>
                  </a:cxnLst>
                  <a:rect l="0" t="0" r="0" b="0"/>
                  <a:pathLst>
                    <a:path w="4320" h="1118">
                      <a:moveTo>
                        <a:pt x="0" y="0"/>
                      </a:moveTo>
                      <a:cubicBezTo>
                        <a:pt x="630" y="533"/>
                        <a:pt x="1260" y="1066"/>
                        <a:pt x="1980" y="1092"/>
                      </a:cubicBezTo>
                      <a:cubicBezTo>
                        <a:pt x="2700" y="1118"/>
                        <a:pt x="3930" y="312"/>
                        <a:pt x="4320" y="156"/>
                      </a:cubicBezTo>
                    </a:path>
                  </a:pathLst>
                </a:custGeom>
                <a:noFill/>
                <a:ln w="101600" cap="flat" cmpd="sng">
                  <a:solidFill>
                    <a:schemeClr val="hlink"/>
                  </a:solidFill>
                  <a:prstDash val="solid"/>
                  <a:round/>
                  <a:headEnd type="none" w="med" len="med"/>
                  <a:tailEnd type="triangle" w="med" len="med"/>
                </a:ln>
              </p:spPr>
              <p:txBody>
                <a:bodyPr/>
                <a:lstStyle/>
                <a:p>
                  <a:endParaRPr lang="zh-CN" altLang="en-US"/>
                </a:p>
              </p:txBody>
            </p:sp>
            <p:sp>
              <p:nvSpPr>
                <p:cNvPr id="56346" name="Freeform 1042"/>
                <p:cNvSpPr/>
                <p:nvPr/>
              </p:nvSpPr>
              <p:spPr>
                <a:xfrm>
                  <a:off x="2856" y="1296"/>
                  <a:ext cx="1008" cy="2208"/>
                </a:xfrm>
                <a:custGeom>
                  <a:avLst/>
                  <a:gdLst/>
                  <a:ahLst/>
                  <a:cxnLst>
                    <a:cxn ang="0">
                      <a:pos x="1290" y="0"/>
                    </a:cxn>
                    <a:cxn ang="0">
                      <a:pos x="30" y="1404"/>
                    </a:cxn>
                    <a:cxn ang="0">
                      <a:pos x="1470" y="3432"/>
                    </a:cxn>
                  </a:cxnLst>
                  <a:rect l="0" t="0" r="0" b="0"/>
                  <a:pathLst>
                    <a:path w="1470" h="3432">
                      <a:moveTo>
                        <a:pt x="1290" y="0"/>
                      </a:moveTo>
                      <a:cubicBezTo>
                        <a:pt x="645" y="416"/>
                        <a:pt x="0" y="832"/>
                        <a:pt x="30" y="1404"/>
                      </a:cubicBezTo>
                      <a:cubicBezTo>
                        <a:pt x="60" y="1976"/>
                        <a:pt x="765" y="2704"/>
                        <a:pt x="1470" y="3432"/>
                      </a:cubicBezTo>
                    </a:path>
                  </a:pathLst>
                </a:custGeom>
                <a:noFill/>
                <a:ln w="101600" cap="flat" cmpd="sng">
                  <a:solidFill>
                    <a:schemeClr val="hlink"/>
                  </a:solidFill>
                  <a:prstDash val="solid"/>
                  <a:round/>
                  <a:headEnd type="triangle" w="med" len="med"/>
                  <a:tailEnd type="none" w="med" len="med"/>
                </a:ln>
              </p:spPr>
              <p:txBody>
                <a:bodyPr/>
                <a:lstStyle/>
                <a:p>
                  <a:endParaRPr lang="zh-CN" altLang="en-US"/>
                </a:p>
              </p:txBody>
            </p:sp>
            <p:sp>
              <p:nvSpPr>
                <p:cNvPr id="56347" name="Line 1043"/>
                <p:cNvSpPr/>
                <p:nvPr/>
              </p:nvSpPr>
              <p:spPr>
                <a:xfrm flipV="1">
                  <a:off x="3600" y="1234"/>
                  <a:ext cx="240" cy="104"/>
                </a:xfrm>
                <a:prstGeom prst="line">
                  <a:avLst/>
                </a:prstGeom>
                <a:ln w="101600" cap="flat" cmpd="sng">
                  <a:solidFill>
                    <a:schemeClr val="hlink"/>
                  </a:solidFill>
                  <a:prstDash val="solid"/>
                  <a:round/>
                  <a:headEnd type="none" w="med" len="med"/>
                  <a:tailEnd type="triangle" w="med" len="med"/>
                </a:ln>
              </p:spPr>
            </p:sp>
            <p:sp>
              <p:nvSpPr>
                <p:cNvPr id="56348" name="Rectangle 1050"/>
                <p:cNvSpPr/>
                <p:nvPr/>
              </p:nvSpPr>
              <p:spPr>
                <a:xfrm>
                  <a:off x="1011" y="2208"/>
                  <a:ext cx="1697" cy="347"/>
                </a:xfrm>
                <a:prstGeom prst="rect">
                  <a:avLst/>
                </a:prstGeom>
                <a:noFill/>
                <a:ln w="9525">
                  <a:noFill/>
                </a:ln>
              </p:spPr>
              <p:txBody>
                <a:bodyPr wrap="none" lIns="92075" tIns="46038" rIns="92075" bIns="46038" anchor="t" anchorCtr="0">
                  <a:spAutoFit/>
                </a:bodyPr>
                <a:lstStyle/>
                <a:p>
                  <a:pPr algn="r" eaLnBrk="0" hangingPunct="0"/>
                  <a:r>
                    <a:rPr lang="zh-CN" altLang="en-US" sz="3200" dirty="0">
                      <a:solidFill>
                        <a:schemeClr val="hlink"/>
                      </a:solidFill>
                      <a:latin typeface="华文楷体" panose="02010600040101010101" pitchFamily="2" charset="-122"/>
                      <a:ea typeface="华文楷体" panose="02010600040101010101" pitchFamily="2" charset="-122"/>
                    </a:rPr>
                    <a:t>项目集成管理</a:t>
                  </a:r>
                  <a:endParaRPr lang="zh-CN" altLang="en-US" sz="3200" dirty="0">
                    <a:solidFill>
                      <a:schemeClr val="hlink"/>
                    </a:solidFill>
                    <a:latin typeface="华文楷体" panose="02010600040101010101" pitchFamily="2" charset="-122"/>
                    <a:ea typeface="华文楷体" panose="02010600040101010101" pitchFamily="2" charset="-122"/>
                  </a:endParaRPr>
                </a:p>
              </p:txBody>
            </p:sp>
          </p:grpSp>
        </p:grpSp>
      </p:grpSp>
      <p:sp>
        <p:nvSpPr>
          <p:cNvPr id="56349" name="Text Box 1029"/>
          <p:cNvSpPr txBox="1"/>
          <p:nvPr/>
        </p:nvSpPr>
        <p:spPr>
          <a:xfrm>
            <a:off x="2192338" y="5062538"/>
            <a:ext cx="1109662" cy="347662"/>
          </a:xfrm>
          <a:prstGeom prst="rect">
            <a:avLst/>
          </a:prstGeom>
          <a:solidFill>
            <a:srgbClr val="FF9900"/>
          </a:solidFill>
          <a:ln w="9525">
            <a:noFill/>
          </a:ln>
        </p:spPr>
        <p:txBody>
          <a:bodyPr tIns="0" bIns="0" anchor="t" anchorCtr="0"/>
          <a:lstStyle/>
          <a:p>
            <a:pPr eaLnBrk="0" hangingPunct="0"/>
            <a:r>
              <a:rPr lang="zh-CN" altLang="en-US" sz="1800" dirty="0">
                <a:latin typeface="Times New Roman" panose="02020603050405020304" pitchFamily="18" charset="0"/>
                <a:ea typeface="宋体" panose="02010600030101010101" pitchFamily="2" charset="-122"/>
              </a:rPr>
              <a:t>干系人</a:t>
            </a:r>
            <a:endParaRPr lang="zh-CN" altLang="en-US" sz="1800" dirty="0">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0" fill="hold"/>
                                        <p:tgtEl>
                                          <p:spTgt spid="33"/>
                                        </p:tgtEl>
                                        <p:attrNameLst>
                                          <p:attrName>ppt_x</p:attrName>
                                        </p:attrNameLst>
                                      </p:cBhvr>
                                      <p:tavLst>
                                        <p:tav tm="0">
                                          <p:val>
                                            <p:strVal val="0-#ppt_w/2"/>
                                          </p:val>
                                        </p:tav>
                                        <p:tav tm="100000">
                                          <p:val>
                                            <p:strVal val="#ppt_x"/>
                                          </p:val>
                                        </p:tav>
                                      </p:tavLst>
                                    </p:anim>
                                    <p:anim calcmode="lin" valueType="num">
                                      <p:cBhvr>
                                        <p:cTn id="8" dur="5000" fill="hold"/>
                                        <p:tgtEl>
                                          <p:spTgt spid="33"/>
                                        </p:tgtEl>
                                        <p:attrNameLst>
                                          <p:attrName>ppt_y</p:attrName>
                                        </p:attrNameLst>
                                      </p:cBhvr>
                                      <p:tavLst>
                                        <p:tav tm="0">
                                          <p:val>
                                            <p:strVal val="#ppt_y"/>
                                          </p:val>
                                        </p:tav>
                                        <p:tav tm="100000">
                                          <p:val>
                                            <p:strVal val="#ppt_y"/>
                                          </p:val>
                                        </p:tav>
                                      </p:tavLst>
                                    </p:anim>
                                  </p:childTnLst>
                                </p:cTn>
                              </p:par>
                            </p:childTnLst>
                          </p:cTn>
                        </p:par>
                        <p:par>
                          <p:cTn id="9" fill="hold">
                            <p:stCondLst>
                              <p:cond delay="5000"/>
                            </p:stCondLst>
                            <p:childTnLst>
                              <p:par>
                                <p:cTn id="10" presetID="17" presetClass="entr" presetSubtype="10"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strVal val="#ppt_h"/>
                                          </p:val>
                                        </p:tav>
                                        <p:tav tm="100000">
                                          <p:val>
                                            <p:strVal val="#ppt_h"/>
                                          </p:val>
                                        </p:tav>
                                      </p:tavLst>
                                    </p:anim>
                                  </p:childTnLst>
                                </p:cTn>
                              </p:par>
                            </p:childTnLst>
                          </p:cTn>
                        </p:par>
                        <p:par>
                          <p:cTn id="14" fill="hold">
                            <p:stCondLst>
                              <p:cond delay="5500"/>
                            </p:stCondLst>
                            <p:childTnLst>
                              <p:par>
                                <p:cTn id="15" presetID="9" presetClass="entr" presetSubtype="0"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dissolve">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28" name="Text Box 24"/>
          <p:cNvSpPr txBox="1">
            <a:spLocks noChangeArrowheads="1"/>
          </p:cNvSpPr>
          <p:nvPr/>
        </p:nvSpPr>
        <p:spPr bwMode="auto">
          <a:xfrm>
            <a:off x="1768475" y="1412875"/>
            <a:ext cx="9703435" cy="3753485"/>
          </a:xfrm>
          <a:prstGeom prst="rect">
            <a:avLst/>
          </a:prstGeom>
          <a:noFill/>
          <a:ln w="50800">
            <a:noFill/>
            <a:miter lim="800000"/>
          </a:ln>
          <a:effectLst/>
        </p:spPr>
        <p:txBody>
          <a:bodyPr wrap="square">
            <a:spAutoFit/>
          </a:bodyPr>
          <a:lstStyle/>
          <a:p>
            <a:pPr marR="0" defTabSz="914400" eaLnBrk="0" hangingPunct="0">
              <a:spcBef>
                <a:spcPct val="50000"/>
              </a:spcBef>
              <a:buClrTx/>
              <a:buSzTx/>
              <a:buFont typeface="Wingdings" panose="05000000000000000000" pitchFamily="2" charset="2"/>
              <a:buNone/>
              <a:defRPr/>
            </a:pPr>
            <a:r>
              <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3.</a:t>
            </a: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关键：集成</a:t>
            </a:r>
            <a:r>
              <a:rPr kumimoji="0" lang="zh-CN" altLang="en-US" sz="2800" kern="1200" cap="none" spc="0" normalizeH="0" baseline="0" noProof="0" dirty="0">
                <a:latin typeface="宋体" panose="02010600030101010101" pitchFamily="2" charset="-122"/>
                <a:ea typeface="宋体" panose="02010600030101010101" pitchFamily="2" charset="-122"/>
                <a:cs typeface="+mn-cs"/>
              </a:rPr>
              <a:t>管理是</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实现</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整体项目成功</a:t>
            </a:r>
            <a:r>
              <a:rPr kumimoji="0" lang="zh-CN" altLang="en-US" sz="2800" kern="1200" cap="none" spc="0" normalizeH="0" baseline="0" noProof="0" dirty="0">
                <a:latin typeface="宋体" panose="02010600030101010101" pitchFamily="2" charset="-122"/>
                <a:ea typeface="宋体" panose="02010600030101010101" pitchFamily="2" charset="-122"/>
                <a:cs typeface="+mn-cs"/>
              </a:rPr>
              <a:t>的</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关键</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endParaRPr kumimoji="0" lang="zh-CN" altLang="en-US"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spcBef>
                <a:spcPct val="50000"/>
              </a:spcBef>
              <a:buClrTx/>
              <a:buSzTx/>
              <a:buFont typeface="Wingdings" panose="05000000000000000000" pitchFamily="2" charset="2"/>
              <a:buNone/>
              <a:defRPr/>
            </a:pPr>
            <a:r>
              <a:rPr kumimoji="0" lang="en-US" altLang="zh-CN"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4.</a:t>
            </a: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项目经理的主要任务</a:t>
            </a:r>
            <a:r>
              <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0" lang="zh-CN" altLang="en-US" sz="2800" kern="1200" cap="none" spc="0" normalizeH="0" baseline="0" noProof="0" dirty="0">
                <a:latin typeface="宋体" panose="02010600030101010101" pitchFamily="2" charset="-122"/>
                <a:ea typeface="宋体" panose="02010600030101010101" pitchFamily="2" charset="-122"/>
                <a:cs typeface="+mn-cs"/>
              </a:rPr>
              <a:t>是</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作好</a:t>
            </a:r>
            <a:r>
              <a:rPr kumimoji="0" lang="zh-CN" altLang="en-US" sz="2800" kern="1200" cap="none" spc="0" normalizeH="0" baseline="0" noProof="0" dirty="0">
                <a:latin typeface="宋体" panose="02010600030101010101" pitchFamily="2" charset="-122"/>
                <a:ea typeface="宋体" panose="02010600030101010101" pitchFamily="2" charset="-122"/>
                <a:cs typeface="+mn-cs"/>
              </a:rPr>
              <a:t>项目的</a:t>
            </a:r>
            <a:r>
              <a:rPr kumimoji="0" lang="zh-CN" altLang="en-US" sz="28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集成管理</a:t>
            </a:r>
            <a:r>
              <a:rPr kumimoji="0" lang="zh-CN" altLang="en-US" sz="2800" kern="1200" cap="none" spc="0" normalizeH="0" baseline="0" noProof="0" dirty="0">
                <a:latin typeface="宋体" panose="02010600030101010101" pitchFamily="2" charset="-122"/>
                <a:ea typeface="宋体" panose="02010600030101010101" pitchFamily="2" charset="-122"/>
                <a:cs typeface="+mn-cs"/>
              </a:rPr>
              <a:t>，特别是:</a:t>
            </a:r>
            <a:endParaRPr kumimoji="0" lang="zh-CN" altLang="en-US"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lnSpc>
                <a:spcPct val="150000"/>
              </a:lnSpc>
              <a:spcBef>
                <a:spcPct val="50000"/>
              </a:spcBef>
              <a:buClrTx/>
              <a:buSzTx/>
              <a:buFontTx/>
              <a:buNone/>
              <a:defRPr/>
            </a:pPr>
            <a:r>
              <a:rPr kumimoji="0" lang="en-US" altLang="zh-CN"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1)</a:t>
            </a:r>
            <a:r>
              <a:rPr kumimoji="0" lang="zh-CN" altLang="en-US" sz="28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主动控制</a:t>
            </a:r>
            <a:r>
              <a:rPr kumimoji="0" lang="zh-CN" altLang="en-US" sz="2800" kern="1200" cap="none" spc="0" normalizeH="0" baseline="0" noProof="0" dirty="0">
                <a:latin typeface="宋体" panose="02010600030101010101" pitchFamily="2" charset="-122"/>
                <a:ea typeface="宋体" panose="02010600030101010101" pitchFamily="2" charset="-122"/>
                <a:cs typeface="+mn-cs"/>
              </a:rPr>
              <a:t>项目的</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人员</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计划</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工作</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endParaRPr kumimoji="0" lang="zh-CN" altLang="en-US"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lnSpc>
                <a:spcPct val="150000"/>
              </a:lnSpc>
              <a:spcBef>
                <a:spcPct val="50000"/>
              </a:spcBef>
              <a:buClrTx/>
              <a:buSzTx/>
              <a:buFontTx/>
              <a:buNone/>
              <a:defRPr/>
            </a:pPr>
            <a:r>
              <a:rPr kumimoji="0" lang="en-US" altLang="zh-CN"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2)</a:t>
            </a:r>
            <a:r>
              <a:rPr kumimoji="0" lang="zh-CN" altLang="en-US" sz="28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及时协调</a:t>
            </a:r>
            <a:r>
              <a:rPr kumimoji="0" lang="zh-CN" altLang="en-US" sz="2800" kern="1200" cap="none" spc="0" normalizeH="0" baseline="0" noProof="0" dirty="0">
                <a:latin typeface="宋体" panose="02010600030101010101" pitchFamily="2" charset="-122"/>
                <a:ea typeface="宋体" panose="02010600030101010101" pitchFamily="2" charset="-122"/>
                <a:cs typeface="+mn-cs"/>
              </a:rPr>
              <a:t>各项目目标之间或人员之间的</a:t>
            </a: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冲突</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endParaRPr kumimoji="0" lang="zh-CN" altLang="en-US"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lnSpc>
                <a:spcPct val="150000"/>
              </a:lnSpc>
              <a:spcBef>
                <a:spcPct val="50000"/>
              </a:spcBef>
              <a:buClrTx/>
              <a:buSzTx/>
              <a:buFontTx/>
              <a:buNone/>
              <a:defRPr/>
            </a:pPr>
            <a:r>
              <a:rPr kumimoji="0" lang="en-US" altLang="zh-CN"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3)</a:t>
            </a:r>
            <a:r>
              <a:rPr kumimoji="0" lang="zh-CN" altLang="en-US" sz="28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适时认真</a:t>
            </a:r>
            <a:r>
              <a:rPr kumimoji="0" lang="zh-CN" altLang="en-US" sz="2800" kern="1200" cap="none" spc="0" normalizeH="0" baseline="0" noProof="0" dirty="0">
                <a:latin typeface="宋体" panose="02010600030101010101" pitchFamily="2" charset="-122"/>
                <a:ea typeface="宋体" panose="02010600030101010101" pitchFamily="2" charset="-122"/>
                <a:cs typeface="+mn-cs"/>
              </a:rPr>
              <a:t>向高层汇报重要的</a:t>
            </a:r>
            <a:r>
              <a:rPr kumimoji="0" lang="zh-CN" altLang="en-US" sz="28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项目信息</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endParaRPr kumimoji="0" lang="zh-CN" altLang="en-US" sz="2800" kern="1200" cap="none" spc="0" normalizeH="0" baseline="0" noProof="0" dirty="0">
              <a:latin typeface="宋体" panose="02010600030101010101" pitchFamily="2" charset="-122"/>
              <a:ea typeface="宋体" panose="02010600030101010101" pitchFamily="2" charset="-122"/>
              <a:cs typeface="+mn-cs"/>
            </a:endParaRPr>
          </a:p>
        </p:txBody>
      </p:sp>
      <p:sp>
        <p:nvSpPr>
          <p:cNvPr id="13"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7347" name="Group 8"/>
          <p:cNvGrpSpPr/>
          <p:nvPr/>
        </p:nvGrpSpPr>
        <p:grpSpPr>
          <a:xfrm>
            <a:off x="1519238" y="811213"/>
            <a:ext cx="9148762" cy="85725"/>
            <a:chOff x="0" y="0"/>
            <a:chExt cx="5763" cy="54"/>
          </a:xfrm>
        </p:grpSpPr>
        <p:sp>
          <p:nvSpPr>
            <p:cNvPr id="57348"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7349"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28" name="Text Box 24"/>
          <p:cNvSpPr txBox="1">
            <a:spLocks noChangeArrowheads="1"/>
          </p:cNvSpPr>
          <p:nvPr/>
        </p:nvSpPr>
        <p:spPr bwMode="auto">
          <a:xfrm>
            <a:off x="2424430" y="1412875"/>
            <a:ext cx="8798560" cy="3717290"/>
          </a:xfrm>
          <a:prstGeom prst="rect">
            <a:avLst/>
          </a:prstGeom>
          <a:noFill/>
          <a:ln w="50800">
            <a:noFill/>
            <a:miter lim="800000"/>
          </a:ln>
          <a:effectLst/>
        </p:spPr>
        <p:txBody>
          <a:bodyPr wrap="square">
            <a:noAutofit/>
          </a:bodyPr>
          <a:lstStyle/>
          <a:p>
            <a:pPr marL="457200" marR="0" indent="-457200" defTabSz="914400" eaLnBrk="0" hangingPunct="0">
              <a:spcBef>
                <a:spcPct val="50000"/>
              </a:spcBef>
              <a:buClrTx/>
              <a:buSzTx/>
              <a:buFont typeface="Wingdings" panose="05000000000000000000" charset="0"/>
              <a:buChar char="Ø"/>
              <a:defRPr/>
            </a:pPr>
            <a:r>
              <a:rPr kumimoji="0" lang="zh-CN" sz="2800" kern="1200" cap="none" spc="0" normalizeH="0" baseline="0" noProof="0" dirty="0">
                <a:latin typeface="宋体" panose="02010600030101010101" pitchFamily="2" charset="-122"/>
                <a:ea typeface="宋体" panose="02010600030101010101" pitchFamily="2" charset="-122"/>
                <a:cs typeface="+mn-cs"/>
              </a:rPr>
              <a:t>项目集成</a:t>
            </a:r>
            <a:r>
              <a:rPr kumimoji="0" sz="2800" kern="1200" cap="none" spc="0" normalizeH="0" baseline="0" noProof="0" dirty="0">
                <a:latin typeface="宋体" panose="02010600030101010101" pitchFamily="2" charset="-122"/>
                <a:ea typeface="宋体" panose="02010600030101010101" pitchFamily="2" charset="-122"/>
                <a:cs typeface="+mn-cs"/>
              </a:rPr>
              <a:t>管理由</a:t>
            </a:r>
            <a:r>
              <a:rPr kumimoji="0" sz="2800" kern="1200" cap="none" spc="0" normalizeH="0" baseline="0" noProof="0" dirty="0">
                <a:solidFill>
                  <a:srgbClr val="FF0000"/>
                </a:solidFill>
                <a:latin typeface="宋体" panose="02010600030101010101" pitchFamily="2" charset="-122"/>
                <a:ea typeface="宋体" panose="02010600030101010101" pitchFamily="2" charset="-122"/>
                <a:cs typeface="+mn-cs"/>
              </a:rPr>
              <a:t>项目经理负责</a:t>
            </a:r>
            <a:r>
              <a:rPr kumimoji="0" sz="2800" kern="1200" cap="none" spc="0" normalizeH="0" baseline="0" noProof="0" dirty="0">
                <a:latin typeface="宋体" panose="02010600030101010101" pitchFamily="2" charset="-122"/>
                <a:ea typeface="宋体" panose="02010600030101010101" pitchFamily="2" charset="-122"/>
                <a:cs typeface="+mn-cs"/>
              </a:rPr>
              <a:t>。</a:t>
            </a:r>
            <a:endParaRPr kumimoji="0"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spcBef>
                <a:spcPct val="50000"/>
              </a:spcBef>
              <a:buClrTx/>
              <a:buSzTx/>
              <a:buFont typeface="Wingdings" panose="05000000000000000000" pitchFamily="2" charset="2"/>
              <a:buNone/>
              <a:defRPr/>
            </a:pPr>
            <a:r>
              <a:rPr kumimoji="0" sz="2800" kern="1200" cap="none" spc="0" normalizeH="0" baseline="0" noProof="0" dirty="0">
                <a:latin typeface="宋体" panose="02010600030101010101" pitchFamily="2" charset="-122"/>
                <a:ea typeface="宋体" panose="02010600030101010101" pitchFamily="2" charset="-122"/>
                <a:cs typeface="+mn-cs"/>
              </a:rPr>
              <a:t>虽然其他知识领域可以由相关专家（如成本分析专家、进度规划专家、风险管理专家）管理，但是项目</a:t>
            </a:r>
            <a:r>
              <a:rPr kumimoji="0" lang="zh-CN" sz="2800" kern="1200" cap="none" spc="0" normalizeH="0" baseline="0" noProof="0" dirty="0">
                <a:latin typeface="宋体" panose="02010600030101010101" pitchFamily="2" charset="-122"/>
                <a:ea typeface="宋体" panose="02010600030101010101" pitchFamily="2" charset="-122"/>
                <a:cs typeface="+mn-cs"/>
              </a:rPr>
              <a:t>集成</a:t>
            </a:r>
            <a:r>
              <a:rPr kumimoji="0" sz="2800" kern="1200" cap="none" spc="0" normalizeH="0" baseline="0" noProof="0" dirty="0">
                <a:latin typeface="宋体" panose="02010600030101010101" pitchFamily="2" charset="-122"/>
                <a:ea typeface="宋体" panose="02010600030101010101" pitchFamily="2" charset="-122"/>
                <a:cs typeface="+mn-cs"/>
              </a:rPr>
              <a:t>管理的责任不能被授权或转移。只能由项目经理负责</a:t>
            </a:r>
            <a:r>
              <a:rPr kumimoji="0" lang="zh-CN" sz="2800" kern="1200" cap="none" spc="0" normalizeH="0" baseline="0" noProof="0" dirty="0">
                <a:latin typeface="宋体" panose="02010600030101010101" pitchFamily="2" charset="-122"/>
                <a:ea typeface="宋体" panose="02010600030101010101" pitchFamily="2" charset="-122"/>
                <a:cs typeface="+mn-cs"/>
              </a:rPr>
              <a:t>集成</a:t>
            </a:r>
            <a:r>
              <a:rPr kumimoji="0" sz="2800" kern="1200" cap="none" spc="0" normalizeH="0" baseline="0" noProof="0" dirty="0">
                <a:latin typeface="宋体" panose="02010600030101010101" pitchFamily="2" charset="-122"/>
                <a:ea typeface="宋体" panose="02010600030101010101" pitchFamily="2" charset="-122"/>
                <a:cs typeface="+mn-cs"/>
              </a:rPr>
              <a:t>所有其他知识领域的成果，并掌握项目总体情况。</a:t>
            </a:r>
            <a:endParaRPr kumimoji="0"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spcBef>
                <a:spcPct val="50000"/>
              </a:spcBef>
              <a:buClrTx/>
              <a:buSzTx/>
              <a:buFont typeface="Wingdings" panose="05000000000000000000" pitchFamily="2" charset="2"/>
              <a:buNone/>
              <a:defRPr/>
            </a:pPr>
            <a:r>
              <a:rPr kumimoji="0" sz="2800" kern="1200" cap="none" spc="0" normalizeH="0" baseline="0" noProof="0" dirty="0">
                <a:latin typeface="宋体" panose="02010600030101010101" pitchFamily="2" charset="-122"/>
                <a:ea typeface="宋体" panose="02010600030101010101" pitchFamily="2" charset="-122"/>
                <a:cs typeface="+mn-cs"/>
              </a:rPr>
              <a:t>项目经理必须对整个项目承担最终责任。</a:t>
            </a:r>
            <a:endParaRPr kumimoji="0" sz="2800" kern="1200" cap="none" spc="0" normalizeH="0" baseline="0" noProof="0" dirty="0">
              <a:latin typeface="宋体" panose="02010600030101010101" pitchFamily="2" charset="-122"/>
              <a:ea typeface="宋体" panose="02010600030101010101" pitchFamily="2" charset="-122"/>
              <a:cs typeface="+mn-cs"/>
            </a:endParaRPr>
          </a:p>
        </p:txBody>
      </p:sp>
      <p:sp>
        <p:nvSpPr>
          <p:cNvPr id="13"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7347" name="Group 8"/>
          <p:cNvGrpSpPr/>
          <p:nvPr/>
        </p:nvGrpSpPr>
        <p:grpSpPr>
          <a:xfrm>
            <a:off x="1519238" y="811213"/>
            <a:ext cx="9148762" cy="85725"/>
            <a:chOff x="0" y="0"/>
            <a:chExt cx="5763" cy="54"/>
          </a:xfrm>
        </p:grpSpPr>
        <p:sp>
          <p:nvSpPr>
            <p:cNvPr id="57348"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7349"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9"/>
          <p:cNvSpPr>
            <a:spLocks noGrp="1"/>
          </p:cNvSpPr>
          <p:nvPr>
            <p:ph type="body" idx="4294967295"/>
          </p:nvPr>
        </p:nvSpPr>
        <p:spPr>
          <a:xfrm>
            <a:off x="2638425" y="2125663"/>
            <a:ext cx="6626225" cy="3751263"/>
          </a:xfrm>
        </p:spPr>
        <p:txBody>
          <a:bodyPr vert="horz" wrap="square" lIns="0" tIns="0" rIns="0" bIns="0" anchor="t" anchorCtr="0"/>
          <a:lstStyle/>
          <a:p>
            <a:pPr marL="0" marR="0" lvl="0" indent="0" algn="l" defTabSz="914400" rtl="0" eaLnBrk="1" fontAlgn="base" latinLnBrk="0" hangingPunct="1">
              <a:lnSpc>
                <a:spcPct val="130000"/>
              </a:lnSpc>
              <a:spcBef>
                <a:spcPts val="600"/>
              </a:spcBef>
              <a:spcAft>
                <a:spcPct val="0"/>
              </a:spcAft>
              <a:buClr>
                <a:schemeClr val="tx1"/>
              </a:buClr>
              <a:buSzPct val="80000"/>
              <a:buFont typeface="Wingdings 2" panose="05020102010507070707" pitchFamily="18" charset="2"/>
              <a:buNone/>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         </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sp>
        <p:nvSpPr>
          <p:cNvPr id="10247" name="Rectangle 3"/>
          <p:cNvSpPr txBox="1"/>
          <p:nvPr/>
        </p:nvSpPr>
        <p:spPr>
          <a:xfrm>
            <a:off x="1919605" y="1268730"/>
            <a:ext cx="9026525" cy="4405630"/>
          </a:xfrm>
          <a:prstGeom prst="rect">
            <a:avLst/>
          </a:prstGeom>
          <a:noFill/>
          <a:ln w="9525">
            <a:noFill/>
          </a:ln>
        </p:spPr>
        <p:txBody>
          <a:bodyPr lIns="0" tIns="0" rIns="0" bIns="0"/>
          <a:lstStyle/>
          <a:p>
            <a:pPr marL="457200" marR="0" indent="-457200" algn="just" defTabSz="914400" eaLnBrk="0" hangingPunct="0">
              <a:lnSpc>
                <a:spcPct val="135000"/>
              </a:lnSpc>
              <a:buClrTx/>
              <a:buSzTx/>
              <a:buFont typeface="Wingdings" panose="05000000000000000000" pitchFamily="2" charset="2"/>
              <a:buChar char="Ø"/>
              <a:defRPr/>
            </a:pPr>
            <a:r>
              <a:rPr kumimoji="0" lang="zh-CN" altLang="en-US" sz="2800" kern="1200" cap="none" spc="0" normalizeH="0" baseline="0" noProof="0" dirty="0">
                <a:solidFill>
                  <a:srgbClr val="FF3300"/>
                </a:solidFill>
                <a:effectLst>
                  <a:outerShdw blurRad="38100" dist="38100" dir="2700000">
                    <a:srgbClr val="000000"/>
                  </a:outerShdw>
                </a:effectLst>
                <a:latin typeface="Times New Roman" panose="02020603050405020304" pitchFamily="18" charset="0"/>
                <a:ea typeface="楷体_GB2312" pitchFamily="49" charset="-122"/>
                <a:cs typeface="+mn-cs"/>
              </a:rPr>
              <a:t>项目集成管理</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是以</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项目整体利益最大化为目标和出发点</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，对项目的</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进度、成本、质量</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等各种项目管理要素进行</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协同和优化</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的一种综合性的管理活动。</a:t>
            </a:r>
            <a:endParaRPr kumimoji="0" lang="en-US" altLang="zh-CN"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endParaRPr>
          </a:p>
          <a:p>
            <a:pPr marL="457200" marR="0" indent="-457200" algn="just" defTabSz="914400" eaLnBrk="0" hangingPunct="0">
              <a:lnSpc>
                <a:spcPct val="135000"/>
              </a:lnSpc>
              <a:buClrTx/>
              <a:buSzTx/>
              <a:buFont typeface="Wingdings" panose="05000000000000000000" pitchFamily="2" charset="2"/>
              <a:buChar char="Ø"/>
              <a:defRPr/>
            </a:pPr>
            <a:r>
              <a:rPr kumimoji="0" lang="zh-CN" altLang="en-US" sz="2800" kern="1200" cap="none" spc="0" normalizeH="0" baseline="0" noProof="0" dirty="0">
                <a:solidFill>
                  <a:srgbClr val="FF0000"/>
                </a:solidFill>
                <a:effectLst>
                  <a:outerShdw blurRad="38100" dist="38100" dir="2700000">
                    <a:srgbClr val="000000"/>
                  </a:outerShdw>
                </a:effectLst>
                <a:latin typeface="Times New Roman" panose="02020603050405020304" pitchFamily="18" charset="0"/>
                <a:ea typeface="楷体_GB2312" pitchFamily="49" charset="-122"/>
                <a:cs typeface="+mn-cs"/>
              </a:rPr>
              <a:t>项目集成管理</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利用项目管理的</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系统方法、模型、工具</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，全面考虑项目从</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启动到收尾全过程中各个参与方之间的动态关系，</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对项目相关资源进行</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系统整合</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，以达到或超过项目设定的</a:t>
            </a:r>
            <a:r>
              <a:rPr kumimoji="0" lang="zh-CN" altLang="en-US" sz="2800" kern="1200" cap="none" spc="0" normalizeH="0" baseline="0" noProof="0" dirty="0">
                <a:solidFill>
                  <a:srgbClr val="0000FF"/>
                </a:solidFill>
                <a:effectLst>
                  <a:outerShdw blurRad="38100" dist="38100" dir="2700000">
                    <a:srgbClr val="FFFFFF"/>
                  </a:outerShdw>
                </a:effectLst>
                <a:latin typeface="Times New Roman" panose="02020603050405020304" pitchFamily="18" charset="0"/>
                <a:ea typeface="楷体_GB2312" pitchFamily="49" charset="-122"/>
                <a:cs typeface="+mn-cs"/>
              </a:rPr>
              <a:t>具体目标和投资效益</a:t>
            </a:r>
            <a:r>
              <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rPr>
              <a:t>的管理模式。</a:t>
            </a:r>
            <a:endParaRPr kumimoji="0" lang="zh-CN" altLang="en-US" sz="2800" kern="1200" cap="none" spc="0" normalizeH="0" baseline="0" noProof="0" dirty="0">
              <a:effectLst>
                <a:outerShdw blurRad="38100" dist="38100" dir="2700000">
                  <a:srgbClr val="FFFFFF"/>
                </a:outerShdw>
              </a:effectLst>
              <a:latin typeface="Times New Roman" panose="02020603050405020304" pitchFamily="18" charset="0"/>
              <a:ea typeface="楷体_GB2312" pitchFamily="49" charset="-122"/>
              <a:cs typeface="+mn-cs"/>
            </a:endParaRPr>
          </a:p>
        </p:txBody>
      </p:sp>
      <p:sp>
        <p:nvSpPr>
          <p:cNvPr id="8"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8372" name="Group 8"/>
          <p:cNvGrpSpPr/>
          <p:nvPr/>
        </p:nvGrpSpPr>
        <p:grpSpPr>
          <a:xfrm>
            <a:off x="1519238" y="811213"/>
            <a:ext cx="9148762" cy="85725"/>
            <a:chOff x="0" y="0"/>
            <a:chExt cx="5763" cy="54"/>
          </a:xfrm>
        </p:grpSpPr>
        <p:sp>
          <p:nvSpPr>
            <p:cNvPr id="5837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837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2"/>
          <p:cNvSpPr>
            <a:spLocks noGrp="1"/>
          </p:cNvSpPr>
          <p:nvPr>
            <p:ph idx="4294967295"/>
          </p:nvPr>
        </p:nvSpPr>
        <p:spPr>
          <a:xfrm>
            <a:off x="2012950" y="1210310"/>
            <a:ext cx="9173845" cy="5241925"/>
          </a:xfrm>
        </p:spPr>
        <p:txBody>
          <a:bodyPr vert="horz" wrap="square" lIns="0" tIns="0" rIns="0" bIns="0" anchor="t" anchorCtr="0"/>
          <a:lstStyle/>
          <a:p>
            <a:pPr marL="365125" marR="0" lvl="0" indent="-282575" algn="l" defTabSz="9144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Char char="Ø"/>
              <a:defRPr/>
            </a:pPr>
            <a:r>
              <a:rPr kumimoji="0" lang="zh-CN" altLang="en-US" sz="2400" b="0" i="0" u="none" strike="noStrike" kern="1200" cap="none" spc="0" normalizeH="0" baseline="0" noProof="0" dirty="0">
                <a:ln>
                  <a:noFill/>
                </a:ln>
                <a:solidFill>
                  <a:srgbClr val="FF3300"/>
                </a:solidFill>
                <a:uLnTx/>
                <a:uFillTx/>
                <a:latin typeface="+mn-lt"/>
                <a:ea typeface="+mn-ea"/>
                <a:cs typeface="+mn-cs"/>
              </a:rPr>
              <a:t>项目集成管理的目标</a:t>
            </a:r>
            <a:r>
              <a:rPr kumimoji="0" lang="zh-CN" altLang="en-US" sz="2400" b="0" i="0" u="none" strike="noStrike" kern="1200" cap="none" spc="0" normalizeH="0" baseline="0" noProof="0" dirty="0">
                <a:ln>
                  <a:noFill/>
                </a:ln>
                <a:solidFill>
                  <a:schemeClr val="tx1"/>
                </a:solidFill>
                <a:uLnTx/>
                <a:uFillTx/>
                <a:latin typeface="+mn-lt"/>
                <a:ea typeface="+mn-ea"/>
                <a:cs typeface="+mn-cs"/>
              </a:rPr>
              <a:t>是保障一个项目各方面的工作能够有机地</a:t>
            </a:r>
            <a:r>
              <a:rPr kumimoji="0" lang="zh-CN" altLang="en-US" sz="2400" b="0" i="0" u="none" strike="noStrike" kern="1200" cap="none" spc="0" normalizeH="0" baseline="0" noProof="0" dirty="0">
                <a:ln>
                  <a:noFill/>
                </a:ln>
                <a:solidFill>
                  <a:srgbClr val="0000FF"/>
                </a:solidFill>
                <a:uLnTx/>
                <a:uFillTx/>
                <a:latin typeface="+mn-lt"/>
                <a:ea typeface="+mn-ea"/>
                <a:cs typeface="+mn-cs"/>
              </a:rPr>
              <a:t>协调与配合</a:t>
            </a:r>
            <a:r>
              <a:rPr kumimoji="0" lang="zh-CN" altLang="en-US" sz="2400" b="0" i="0" u="none" strike="noStrike" kern="1200" cap="none" spc="0" normalizeH="0" baseline="0" noProof="0" dirty="0">
                <a:ln>
                  <a:noFill/>
                </a:ln>
                <a:solidFill>
                  <a:schemeClr val="tx1"/>
                </a:solidFill>
                <a:uLnTx/>
                <a:uFillTx/>
                <a:latin typeface="+mn-lt"/>
                <a:ea typeface="+mn-ea"/>
                <a:cs typeface="+mn-cs"/>
              </a:rPr>
              <a:t>，它的内容包括为达到甚至超过项目相关利益者的期望去协调各方面的目标和要求、计划安排最佳（或满意）的项目行动方案，以及集成控制项目的变更和协调项目各方面工作等内容。</a:t>
            </a:r>
            <a:endParaRPr kumimoji="0" lang="zh-CN" altLang="en-US" sz="2400" b="0" i="0" u="none" strike="noStrike" kern="1200" cap="none" spc="0" normalizeH="0" baseline="0" noProof="0" dirty="0">
              <a:ln>
                <a:noFill/>
              </a:ln>
              <a:solidFill>
                <a:schemeClr val="tx1"/>
              </a:solidFill>
              <a:uLnTx/>
              <a:uFillTx/>
              <a:latin typeface="+mn-lt"/>
              <a:ea typeface="+mn-ea"/>
              <a:cs typeface="+mn-cs"/>
            </a:endParaRPr>
          </a:p>
          <a:p>
            <a:pPr marL="365125" marR="0" lvl="0" indent="-282575" algn="l" defTabSz="9144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Char char="Ø"/>
              <a:defRPr/>
            </a:pPr>
            <a:r>
              <a:rPr kumimoji="0" lang="zh-CN" altLang="en-US" sz="2400" b="0" i="0" u="none" strike="noStrike" kern="1200" cap="none" spc="0" normalizeH="0" baseline="0" noProof="0" dirty="0">
                <a:ln>
                  <a:noFill/>
                </a:ln>
                <a:solidFill>
                  <a:srgbClr val="FF3300"/>
                </a:solidFill>
                <a:uLnTx/>
                <a:uFillTx/>
                <a:latin typeface="+mn-lt"/>
                <a:ea typeface="+mn-ea"/>
                <a:cs typeface="+mn-cs"/>
              </a:rPr>
              <a:t>项目集成管理的本质</a:t>
            </a:r>
            <a:r>
              <a:rPr kumimoji="0" lang="zh-CN" altLang="en-US" sz="2400" b="0" i="0" u="none" strike="noStrike" kern="1200" cap="none" spc="0" normalizeH="0" baseline="0" noProof="0" dirty="0">
                <a:ln>
                  <a:noFill/>
                </a:ln>
                <a:solidFill>
                  <a:schemeClr val="tx1"/>
                </a:solidFill>
                <a:uLnTx/>
                <a:uFillTx/>
                <a:latin typeface="+mn-lt"/>
                <a:ea typeface="+mn-ea"/>
                <a:cs typeface="+mn-cs"/>
              </a:rPr>
              <a:t>，是从全局观点出发，以</a:t>
            </a:r>
            <a:r>
              <a:rPr kumimoji="0" lang="zh-CN" altLang="en-US" sz="2400" b="0" i="0" u="none" strike="noStrike" kern="1200" cap="none" spc="0" normalizeH="0" baseline="0" noProof="0" dirty="0">
                <a:ln>
                  <a:noFill/>
                </a:ln>
                <a:solidFill>
                  <a:srgbClr val="0000FF"/>
                </a:solidFill>
                <a:uLnTx/>
                <a:uFillTx/>
                <a:latin typeface="+mn-lt"/>
                <a:ea typeface="+mn-ea"/>
                <a:cs typeface="+mn-cs"/>
              </a:rPr>
              <a:t>项目整体利益最大化作为目标</a:t>
            </a:r>
            <a:r>
              <a:rPr kumimoji="0" lang="zh-CN" altLang="en-US" sz="2400" b="0" i="0" u="none" strike="noStrike" kern="1200" cap="none" spc="0" normalizeH="0" baseline="0" noProof="0" dirty="0">
                <a:ln>
                  <a:noFill/>
                </a:ln>
                <a:solidFill>
                  <a:schemeClr val="tx1"/>
                </a:solidFill>
                <a:uLnTx/>
                <a:uFillTx/>
                <a:latin typeface="+mn-lt"/>
                <a:ea typeface="+mn-ea"/>
                <a:cs typeface="+mn-cs"/>
              </a:rPr>
              <a:t>，以项目时间、成本、质量、范围、采购等各种项目专项管理的</a:t>
            </a:r>
            <a:r>
              <a:rPr kumimoji="0" lang="zh-CN" altLang="en-US" sz="2400" b="0" i="0" u="none" strike="noStrike" kern="1200" cap="none" spc="0" normalizeH="0" baseline="0" noProof="0" dirty="0">
                <a:ln>
                  <a:noFill/>
                </a:ln>
                <a:solidFill>
                  <a:srgbClr val="0000FF"/>
                </a:solidFill>
                <a:uLnTx/>
                <a:uFillTx/>
                <a:latin typeface="+mn-lt"/>
                <a:ea typeface="+mn-ea"/>
                <a:cs typeface="+mn-cs"/>
              </a:rPr>
              <a:t>协调与整合</a:t>
            </a:r>
            <a:r>
              <a:rPr kumimoji="0" lang="zh-CN" altLang="en-US" sz="2400" b="0" i="0" u="none" strike="noStrike" kern="1200" cap="none" spc="0" normalizeH="0" baseline="0" noProof="0" dirty="0">
                <a:ln>
                  <a:noFill/>
                </a:ln>
                <a:solidFill>
                  <a:schemeClr val="tx1"/>
                </a:solidFill>
                <a:uLnTx/>
                <a:uFillTx/>
                <a:latin typeface="+mn-lt"/>
                <a:ea typeface="+mn-ea"/>
                <a:cs typeface="+mn-cs"/>
              </a:rPr>
              <a:t>为主要内容而开展的一种综合性管理活动。</a:t>
            </a:r>
            <a:endParaRPr kumimoji="0" lang="zh-CN" altLang="en-US" sz="2400" b="0" i="0" u="none" strike="noStrike" kern="1200" cap="none" spc="0" normalizeH="0" baseline="0" noProof="0" dirty="0">
              <a:ln>
                <a:noFill/>
              </a:ln>
              <a:solidFill>
                <a:schemeClr val="tx1"/>
              </a:solidFill>
              <a:uLnTx/>
              <a:uFillTx/>
              <a:latin typeface="+mn-lt"/>
              <a:ea typeface="+mn-ea"/>
              <a:cs typeface="+mn-cs"/>
            </a:endParaRPr>
          </a:p>
        </p:txBody>
      </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59395" name="Group 8"/>
          <p:cNvGrpSpPr/>
          <p:nvPr/>
        </p:nvGrpSpPr>
        <p:grpSpPr>
          <a:xfrm>
            <a:off x="1519238" y="811213"/>
            <a:ext cx="9148762" cy="85725"/>
            <a:chOff x="0" y="0"/>
            <a:chExt cx="5763" cy="54"/>
          </a:xfrm>
        </p:grpSpPr>
        <p:sp>
          <p:nvSpPr>
            <p:cNvPr id="5939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5939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4294967295"/>
          </p:nvPr>
        </p:nvSpPr>
        <p:spPr>
          <a:xfrm>
            <a:off x="2351405" y="1701165"/>
            <a:ext cx="8976995" cy="4879975"/>
          </a:xfrm>
        </p:spPr>
        <p:txBody>
          <a:bodyPr vert="horz" wrap="square" lIns="0" tIns="0" rIns="0" bIns="0" anchor="t" anchorCtr="0"/>
          <a:lstStyle/>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cs"/>
              </a:rPr>
              <a:t>  (1)  </a:t>
            </a:r>
            <a:r>
              <a:rPr kumimoji="0" lang="zh-CN" altLang="en-US" sz="2600" b="0" i="0" u="none" strike="noStrike" kern="1200" cap="none" spc="0" normalizeH="0" baseline="0" noProof="0" dirty="0">
                <a:ln>
                  <a:noFill/>
                </a:ln>
                <a:solidFill>
                  <a:srgbClr val="0000FF"/>
                </a:solidFill>
                <a:effectLst/>
                <a:uLnTx/>
                <a:uFillTx/>
                <a:latin typeface="+mn-lt"/>
                <a:ea typeface="+mn-ea"/>
                <a:cs typeface="+mn-cs"/>
              </a:rPr>
              <a:t>制定项目章程。</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它是指与项目利益相关者一起合作，制定正式批准项目的文件</a:t>
            </a:r>
            <a:r>
              <a:rPr kumimoji="0"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2600" b="0" i="0" u="none" strike="noStrike" kern="1200" cap="none" spc="0" normalizeH="0" baseline="0" noProof="0" dirty="0">
                <a:ln>
                  <a:noFill/>
                </a:ln>
                <a:solidFill>
                  <a:srgbClr val="FF0000"/>
                </a:solidFill>
                <a:effectLst/>
                <a:uLnTx/>
                <a:uFillTx/>
                <a:latin typeface="+mn-lt"/>
                <a:ea typeface="+mn-ea"/>
                <a:cs typeface="+mn-cs"/>
              </a:rPr>
              <a:t>章程。</a:t>
            </a:r>
            <a:endParaRPr kumimoji="0" lang="zh-CN" altLang="en-US" sz="2600" b="0" i="0" u="none" strike="noStrike" kern="1200" cap="none" spc="0" normalizeH="0" baseline="0" noProof="0" dirty="0">
              <a:ln>
                <a:noFill/>
              </a:ln>
              <a:solidFill>
                <a:srgbClr val="FF0000"/>
              </a:solidFill>
              <a:effectLst/>
              <a:uLnTx/>
              <a:uFillTx/>
              <a:latin typeface="+mn-lt"/>
              <a:ea typeface="+mn-ea"/>
              <a:cs typeface="+mn-cs"/>
            </a:endParaRPr>
          </a:p>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cs"/>
              </a:rPr>
              <a:t>  (2)  </a:t>
            </a:r>
            <a:r>
              <a:rPr kumimoji="0" lang="zh-CN" altLang="en-US" sz="2600" b="0" i="0" u="none" strike="noStrike" kern="1200" cap="none" spc="0" normalizeH="0" baseline="0" noProof="0" dirty="0">
                <a:ln>
                  <a:noFill/>
                </a:ln>
                <a:solidFill>
                  <a:srgbClr val="0000FF"/>
                </a:solidFill>
                <a:effectLst/>
                <a:uLnTx/>
                <a:uFillTx/>
                <a:latin typeface="+mn-lt"/>
                <a:ea typeface="+mn-ea"/>
                <a:cs typeface="+mn-cs"/>
              </a:rPr>
              <a:t>制定项目管理计划。</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这个阶段涉及协调项目计划的所有组成部分，创建一份一致、连贯的文件</a:t>
            </a:r>
            <a:r>
              <a:rPr kumimoji="0"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zh-CN" altLang="en-US" sz="2600" b="0" i="0" u="none" strike="noStrike" kern="1200" cap="none" spc="0" normalizeH="0" baseline="0" noProof="0" dirty="0">
                <a:ln>
                  <a:noFill/>
                </a:ln>
                <a:solidFill>
                  <a:srgbClr val="FF0000"/>
                </a:solidFill>
                <a:effectLst/>
                <a:uLnTx/>
                <a:uFillTx/>
                <a:latin typeface="+mn-lt"/>
                <a:ea typeface="+mn-ea"/>
                <a:cs typeface="+mn-cs"/>
              </a:rPr>
              <a:t>项目管理计划。</a:t>
            </a:r>
            <a:endParaRPr kumimoji="0" lang="zh-CN" altLang="en-US" sz="2600" b="0" i="0" u="none" strike="noStrike" kern="1200" cap="none" spc="0" normalizeH="0" baseline="0" noProof="0" dirty="0">
              <a:ln>
                <a:noFill/>
              </a:ln>
              <a:solidFill>
                <a:srgbClr val="FF0000"/>
              </a:solidFill>
              <a:effectLst/>
              <a:uLnTx/>
              <a:uFillTx/>
              <a:latin typeface="+mn-lt"/>
              <a:ea typeface="+mn-ea"/>
              <a:cs typeface="+mn-cs"/>
            </a:endParaRPr>
          </a:p>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lang="en-US" altLang="zh-CN" sz="2600" noProof="0" dirty="0">
                <a:ln>
                  <a:noFill/>
                </a:ln>
                <a:effectLst/>
                <a:uLnTx/>
                <a:uFillTx/>
                <a:sym typeface="+mn-ea"/>
              </a:rPr>
              <a:t>（3）</a:t>
            </a:r>
            <a:r>
              <a:rPr lang="zh-CN" altLang="en-US" sz="2600" noProof="0" dirty="0">
                <a:ln>
                  <a:noFill/>
                </a:ln>
                <a:solidFill>
                  <a:srgbClr val="0000FF"/>
                </a:solidFill>
                <a:effectLst/>
                <a:uLnTx/>
                <a:uFillTx/>
                <a:sym typeface="+mn-ea"/>
              </a:rPr>
              <a:t>指导和管理项目实施。</a:t>
            </a:r>
            <a:r>
              <a:rPr lang="zh-CN" altLang="en-US" sz="2600" noProof="0" dirty="0">
                <a:ln>
                  <a:noFill/>
                </a:ln>
                <a:effectLst/>
                <a:uLnTx/>
                <a:uFillTx/>
                <a:latin typeface="宋体" panose="02010600030101010101" pitchFamily="2" charset="-122"/>
                <a:ea typeface="宋体" panose="02010600030101010101" pitchFamily="2" charset="-122"/>
                <a:sym typeface="+mn-ea"/>
              </a:rPr>
              <a:t>涉及通过实施项目管理计划中的活动，来执行项目管理计划。这个阶段主要完成</a:t>
            </a:r>
            <a:r>
              <a:rPr lang="zh-CN" altLang="en-US" sz="2600" noProof="0" dirty="0">
                <a:ln>
                  <a:noFill/>
                </a:ln>
                <a:solidFill>
                  <a:srgbClr val="FF0000"/>
                </a:solidFill>
                <a:effectLst/>
                <a:uLnTx/>
                <a:uFillTx/>
                <a:latin typeface="宋体" panose="02010600030101010101" pitchFamily="2" charset="-122"/>
                <a:ea typeface="宋体" panose="02010600030101010101" pitchFamily="2" charset="-122"/>
                <a:sym typeface="+mn-ea"/>
              </a:rPr>
              <a:t>交付物、变更请求、工作绩效信息、被实施的变更请求、纠正措施、预防措施和缺陷修复。</a:t>
            </a:r>
            <a:endParaRPr kumimoji="0" lang="zh-CN" altLang="en-US" sz="2600" b="0" i="0" u="none" strike="noStrike" kern="1200" cap="none" spc="0" normalizeH="0" baseline="0" noProof="0" dirty="0">
              <a:ln>
                <a:noFill/>
              </a:ln>
              <a:solidFill>
                <a:schemeClr val="tx1"/>
              </a:solidFill>
              <a:effectLst/>
              <a:uLnTx/>
              <a:uFillTx/>
              <a:latin typeface="+mn-lt"/>
              <a:ea typeface="+mn-ea"/>
              <a:cs typeface="+mn-cs"/>
            </a:endParaRPr>
          </a:p>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  </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grpSp>
        <p:nvGrpSpPr>
          <p:cNvPr id="60418" name="Group 8"/>
          <p:cNvGrpSpPr/>
          <p:nvPr/>
        </p:nvGrpSpPr>
        <p:grpSpPr>
          <a:xfrm>
            <a:off x="1519238" y="639763"/>
            <a:ext cx="9148762" cy="85725"/>
            <a:chOff x="0" y="0"/>
            <a:chExt cx="5763" cy="54"/>
          </a:xfrm>
        </p:grpSpPr>
        <p:sp>
          <p:nvSpPr>
            <p:cNvPr id="60419"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0420"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60421" name="文本框 7"/>
          <p:cNvSpPr txBox="1"/>
          <p:nvPr/>
        </p:nvSpPr>
        <p:spPr>
          <a:xfrm>
            <a:off x="2135188" y="981075"/>
            <a:ext cx="7343775" cy="714375"/>
          </a:xfrm>
          <a:prstGeom prst="rect">
            <a:avLst/>
          </a:prstGeom>
          <a:noFill/>
          <a:ln w="9525">
            <a:noFill/>
          </a:ln>
        </p:spPr>
        <p:txBody>
          <a:bodyPr anchor="t" anchorCtr="0">
            <a:spAutoFit/>
          </a:bodyPr>
          <a:lstStyle/>
          <a:p>
            <a:pPr>
              <a:lnSpc>
                <a:spcPct val="135000"/>
              </a:lnSpc>
              <a:buFont typeface="Wingdings 2" panose="05020102010507070707" pitchFamily="18" charset="2"/>
            </a:pPr>
            <a:r>
              <a:rPr lang="zh-CN" altLang="en-US" sz="3000" b="1" dirty="0">
                <a:solidFill>
                  <a:srgbClr val="FF3300"/>
                </a:solidFill>
                <a:latin typeface="Times New Roman" panose="02020603050405020304" pitchFamily="18" charset="0"/>
                <a:ea typeface="宋体" panose="02010600030101010101" pitchFamily="2" charset="-122"/>
              </a:rPr>
              <a:t>项目集成管理的主要过程</a:t>
            </a:r>
            <a:endParaRPr lang="zh-CN" altLang="en-US" sz="3000" b="1" dirty="0">
              <a:latin typeface="Times New Roman" panose="02020603050405020304" pitchFamily="18" charset="0"/>
              <a:ea typeface="宋体" panose="02010600030101010101" pitchFamily="2" charset="-122"/>
            </a:endParaRPr>
          </a:p>
        </p:txBody>
      </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4294967295"/>
          </p:nvPr>
        </p:nvSpPr>
        <p:spPr>
          <a:xfrm>
            <a:off x="2279650" y="1989455"/>
            <a:ext cx="9178290" cy="2994025"/>
          </a:xfrm>
        </p:spPr>
        <p:txBody>
          <a:bodyPr vert="horz" wrap="square" lIns="0" tIns="0" rIns="0" bIns="0" anchor="t" anchorCtr="0"/>
          <a:lstStyle/>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kumimoji="0" lang="zh-CN" altLang="en-US" sz="26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(4) 管理项目知识。</a:t>
            </a:r>
            <a:r>
              <a:rPr kumimoji="0" lang="zh-CN" altLang="en-US" sz="2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使用现有的知识并生成新知识，已实现项目目标，并帮助组织学习。</a:t>
            </a:r>
            <a:endParaRPr kumimoji="0" lang="en-US" altLang="zh-CN"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kumimoji="0" lang="en-US" altLang="zh-CN" sz="26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(5) </a:t>
            </a:r>
            <a:r>
              <a:rPr kumimoji="0" lang="zh-CN" altLang="en-US" sz="26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监控项目工作。</a:t>
            </a:r>
            <a:r>
              <a:rPr kumimoji="0" lang="zh-CN" altLang="en-US" sz="2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监督项目工作是否符合项目的绩效目标。这个阶段主要完成</a:t>
            </a:r>
            <a:r>
              <a:rPr kumimoji="0" lang="zh-CN" altLang="en-US" sz="26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惩治和预防措施建议、缺陷修复建议以及变更请求</a:t>
            </a:r>
            <a:r>
              <a:rPr kumimoji="0" lang="zh-CN" altLang="en-US" sz="26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365125" marR="0" lvl="0" indent="-282575" algn="l" defTabSz="914400" rtl="0" eaLnBrk="1" fontAlgn="base" latinLnBrk="0" hangingPunct="1">
              <a:lnSpc>
                <a:spcPct val="135000"/>
              </a:lnSpc>
              <a:spcBef>
                <a:spcPct val="0"/>
              </a:spcBef>
              <a:spcAft>
                <a:spcPct val="0"/>
              </a:spcAft>
              <a:buClr>
                <a:schemeClr val="accent1"/>
              </a:buClr>
              <a:buSzPct val="80000"/>
              <a:buFont typeface="Wingdings 2" panose="05020102010507070707" pitchFamily="18" charset="2"/>
              <a:buNone/>
              <a:defRPr/>
            </a:pP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  </a:t>
            </a:r>
            <a:endPar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grpSp>
        <p:nvGrpSpPr>
          <p:cNvPr id="61442" name="Group 8"/>
          <p:cNvGrpSpPr/>
          <p:nvPr/>
        </p:nvGrpSpPr>
        <p:grpSpPr>
          <a:xfrm>
            <a:off x="1519238" y="639763"/>
            <a:ext cx="9148762" cy="85725"/>
            <a:chOff x="0" y="0"/>
            <a:chExt cx="5763" cy="54"/>
          </a:xfrm>
        </p:grpSpPr>
        <p:sp>
          <p:nvSpPr>
            <p:cNvPr id="6144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144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61445" name="文本框 7"/>
          <p:cNvSpPr txBox="1"/>
          <p:nvPr/>
        </p:nvSpPr>
        <p:spPr>
          <a:xfrm>
            <a:off x="2135188" y="981075"/>
            <a:ext cx="7343775" cy="714375"/>
          </a:xfrm>
          <a:prstGeom prst="rect">
            <a:avLst/>
          </a:prstGeom>
          <a:noFill/>
          <a:ln w="9525">
            <a:noFill/>
          </a:ln>
        </p:spPr>
        <p:txBody>
          <a:bodyPr anchor="t" anchorCtr="0">
            <a:spAutoFit/>
          </a:bodyPr>
          <a:lstStyle/>
          <a:p>
            <a:pPr>
              <a:lnSpc>
                <a:spcPct val="135000"/>
              </a:lnSpc>
              <a:buFont typeface="Wingdings 2" panose="05020102010507070707" pitchFamily="18" charset="2"/>
            </a:pPr>
            <a:r>
              <a:rPr lang="zh-CN" altLang="en-US" sz="3000" b="1" dirty="0">
                <a:solidFill>
                  <a:srgbClr val="FF3300"/>
                </a:solidFill>
                <a:latin typeface="Times New Roman" panose="02020603050405020304" pitchFamily="18" charset="0"/>
                <a:ea typeface="宋体" panose="02010600030101010101" pitchFamily="2" charset="-122"/>
              </a:rPr>
              <a:t>项目集成管理的主要过程</a:t>
            </a:r>
            <a:endParaRPr lang="zh-CN" altLang="en-US" sz="3000" b="1" dirty="0">
              <a:latin typeface="Times New Roman" panose="02020603050405020304" pitchFamily="18" charset="0"/>
              <a:ea typeface="宋体" panose="02010600030101010101" pitchFamily="2" charset="-122"/>
            </a:endParaRPr>
          </a:p>
        </p:txBody>
      </p:sp>
      <p:sp>
        <p:nvSpPr>
          <p:cNvPr id="2"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65" name="Group 8"/>
          <p:cNvGrpSpPr/>
          <p:nvPr/>
        </p:nvGrpSpPr>
        <p:grpSpPr>
          <a:xfrm>
            <a:off x="1519238" y="639763"/>
            <a:ext cx="9148762" cy="85725"/>
            <a:chOff x="0" y="0"/>
            <a:chExt cx="5763" cy="54"/>
          </a:xfrm>
        </p:grpSpPr>
        <p:sp>
          <p:nvSpPr>
            <p:cNvPr id="6246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246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62468" name="矩形 4"/>
          <p:cNvSpPr/>
          <p:nvPr/>
        </p:nvSpPr>
        <p:spPr>
          <a:xfrm>
            <a:off x="1829435" y="1412875"/>
            <a:ext cx="9700260" cy="3811905"/>
          </a:xfrm>
          <a:prstGeom prst="rect">
            <a:avLst/>
          </a:prstGeom>
          <a:noFill/>
          <a:ln w="9525">
            <a:noFill/>
          </a:ln>
        </p:spPr>
        <p:txBody>
          <a:bodyPr wrap="square" anchor="t" anchorCtr="0">
            <a:noAutofit/>
          </a:bodyPr>
          <a:lstStyle/>
          <a:p>
            <a:pPr marL="342900" indent="-342900" algn="just" eaLnBrk="0" hangingPunct="0">
              <a:lnSpc>
                <a:spcPct val="135000"/>
              </a:lnSpc>
            </a:pPr>
            <a:r>
              <a:rPr lang="en-US" altLang="zh-CN" sz="2600" dirty="0">
                <a:solidFill>
                  <a:srgbClr val="0000FF"/>
                </a:solidFill>
                <a:latin typeface="Times New Roman" panose="02020603050405020304" pitchFamily="18" charset="0"/>
                <a:ea typeface="楷体_GB2312"/>
              </a:rPr>
              <a:t>(6) </a:t>
            </a:r>
            <a:r>
              <a:rPr lang="zh-CN" altLang="en-US" sz="2600" dirty="0">
                <a:solidFill>
                  <a:srgbClr val="0000FF"/>
                </a:solidFill>
                <a:latin typeface="Times New Roman" panose="02020603050405020304" pitchFamily="18" charset="0"/>
                <a:ea typeface="楷体_GB2312"/>
              </a:rPr>
              <a:t>整体变更控制。整个项目生命周期中识别、评估和管理变更。</a:t>
            </a:r>
            <a:r>
              <a:rPr lang="zh-CN" altLang="en-US" sz="2600" dirty="0">
                <a:latin typeface="Times New Roman" panose="02020603050405020304" pitchFamily="18" charset="0"/>
                <a:ea typeface="楷体_GB2312"/>
              </a:rPr>
              <a:t> 审查所有变更请求，批准变更，管理对可交付成果、组织过程资产、项目文件和项目管理计划的变更，并对变更处理结果进行沟通的过程。</a:t>
            </a:r>
            <a:endParaRPr lang="zh-CN" altLang="en-US" sz="2600" dirty="0">
              <a:latin typeface="Times New Roman" panose="02020603050405020304" pitchFamily="18" charset="0"/>
              <a:ea typeface="楷体_GB2312"/>
            </a:endParaRPr>
          </a:p>
          <a:p>
            <a:pPr marL="342900" indent="-342900" algn="just" eaLnBrk="0" hangingPunct="0">
              <a:lnSpc>
                <a:spcPct val="135000"/>
              </a:lnSpc>
            </a:pPr>
            <a:r>
              <a:rPr lang="en-US" altLang="zh-CN" sz="2600" dirty="0">
                <a:solidFill>
                  <a:srgbClr val="0000FF"/>
                </a:solidFill>
                <a:latin typeface="Times New Roman" panose="02020603050405020304" pitchFamily="18" charset="0"/>
                <a:ea typeface="楷体_GB2312"/>
              </a:rPr>
              <a:t>(7) </a:t>
            </a:r>
            <a:r>
              <a:rPr lang="zh-CN" altLang="en-US" sz="2600" dirty="0">
                <a:solidFill>
                  <a:srgbClr val="0000FF"/>
                </a:solidFill>
                <a:latin typeface="Times New Roman" panose="02020603050405020304" pitchFamily="18" charset="0"/>
                <a:ea typeface="楷体_GB2312"/>
              </a:rPr>
              <a:t>项目收尾。</a:t>
            </a:r>
            <a:r>
              <a:rPr lang="zh-CN" altLang="en-US" sz="2600" dirty="0">
                <a:latin typeface="Times New Roman" panose="02020603050405020304" pitchFamily="18" charset="0"/>
                <a:ea typeface="楷体_GB2312"/>
              </a:rPr>
              <a:t>完成所有的项目活动，从而式结束项目。这个阶段包括</a:t>
            </a:r>
            <a:r>
              <a:rPr lang="zh-CN" altLang="en-US" sz="2600" dirty="0">
                <a:solidFill>
                  <a:srgbClr val="FF0000"/>
                </a:solidFill>
                <a:latin typeface="Times New Roman" panose="02020603050405020304" pitchFamily="18" charset="0"/>
                <a:ea typeface="楷体_GB2312"/>
              </a:rPr>
              <a:t>最终产品、服务或者成果，行政上和合同上的终止于续，以及对组织运营资产的更新。</a:t>
            </a:r>
            <a:endParaRPr lang="zh-CN" altLang="en-US" sz="2600" dirty="0">
              <a:solidFill>
                <a:srgbClr val="FF0000"/>
              </a:solidFill>
              <a:latin typeface="Times New Roman" panose="02020603050405020304" pitchFamily="18" charset="0"/>
              <a:ea typeface="楷体_GB2312"/>
            </a:endParaRPr>
          </a:p>
        </p:txBody>
      </p:sp>
      <p:sp>
        <p:nvSpPr>
          <p:cNvPr id="62469" name="文本框 7"/>
          <p:cNvSpPr txBox="1"/>
          <p:nvPr/>
        </p:nvSpPr>
        <p:spPr>
          <a:xfrm>
            <a:off x="2135188" y="784860"/>
            <a:ext cx="7343775" cy="714375"/>
          </a:xfrm>
          <a:prstGeom prst="rect">
            <a:avLst/>
          </a:prstGeom>
          <a:noFill/>
          <a:ln w="9525">
            <a:noFill/>
          </a:ln>
        </p:spPr>
        <p:txBody>
          <a:bodyPr anchor="t" anchorCtr="0">
            <a:spAutoFit/>
          </a:bodyPr>
          <a:lstStyle/>
          <a:p>
            <a:pPr>
              <a:lnSpc>
                <a:spcPct val="135000"/>
              </a:lnSpc>
              <a:buFont typeface="Wingdings 2" panose="05020102010507070707" pitchFamily="18" charset="2"/>
            </a:pPr>
            <a:r>
              <a:rPr lang="zh-CN" altLang="en-US" sz="3000" b="1" dirty="0">
                <a:solidFill>
                  <a:srgbClr val="FF3300"/>
                </a:solidFill>
                <a:latin typeface="Times New Roman" panose="02020603050405020304" pitchFamily="18" charset="0"/>
                <a:ea typeface="宋体" panose="02010600030101010101" pitchFamily="2" charset="-122"/>
              </a:rPr>
              <a:t>项目集成管理的主要过程</a:t>
            </a:r>
            <a:endParaRPr lang="zh-CN" altLang="en-US" sz="3000" b="1" dirty="0">
              <a:latin typeface="Times New Roman" panose="02020603050405020304" pitchFamily="18" charset="0"/>
              <a:ea typeface="宋体" panose="02010600030101010101" pitchFamily="2" charset="-122"/>
            </a:endParaRPr>
          </a:p>
        </p:txBody>
      </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65" name="Group 8"/>
          <p:cNvGrpSpPr/>
          <p:nvPr/>
        </p:nvGrpSpPr>
        <p:grpSpPr>
          <a:xfrm>
            <a:off x="1519238" y="639763"/>
            <a:ext cx="9148762" cy="85725"/>
            <a:chOff x="0" y="0"/>
            <a:chExt cx="5763" cy="54"/>
          </a:xfrm>
        </p:grpSpPr>
        <p:sp>
          <p:nvSpPr>
            <p:cNvPr id="6246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246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62469" name="文本框 7"/>
          <p:cNvSpPr txBox="1"/>
          <p:nvPr/>
        </p:nvSpPr>
        <p:spPr>
          <a:xfrm>
            <a:off x="2135188" y="784860"/>
            <a:ext cx="7343775" cy="714375"/>
          </a:xfrm>
          <a:prstGeom prst="rect">
            <a:avLst/>
          </a:prstGeom>
          <a:noFill/>
          <a:ln w="9525">
            <a:noFill/>
          </a:ln>
        </p:spPr>
        <p:txBody>
          <a:bodyPr anchor="t" anchorCtr="0">
            <a:spAutoFit/>
          </a:bodyPr>
          <a:lstStyle/>
          <a:p>
            <a:pPr>
              <a:lnSpc>
                <a:spcPct val="135000"/>
              </a:lnSpc>
              <a:buFont typeface="Wingdings 2" panose="05020102010507070707" pitchFamily="18" charset="2"/>
            </a:pPr>
            <a:r>
              <a:rPr lang="zh-CN" altLang="en-US" sz="3000" b="1" dirty="0">
                <a:solidFill>
                  <a:srgbClr val="FF3300"/>
                </a:solidFill>
                <a:latin typeface="Times New Roman" panose="02020603050405020304" pitchFamily="18" charset="0"/>
                <a:ea typeface="宋体" panose="02010600030101010101" pitchFamily="2" charset="-122"/>
              </a:rPr>
              <a:t>项目集成管理的主要过程</a:t>
            </a:r>
            <a:endParaRPr lang="zh-CN" altLang="en-US" sz="3000" b="1" dirty="0">
              <a:latin typeface="Times New Roman" panose="02020603050405020304" pitchFamily="18" charset="0"/>
              <a:ea typeface="宋体" panose="02010600030101010101" pitchFamily="2" charset="-122"/>
            </a:endParaRPr>
          </a:p>
        </p:txBody>
      </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2" name="文本框 1"/>
          <p:cNvSpPr txBox="1"/>
          <p:nvPr/>
        </p:nvSpPr>
        <p:spPr>
          <a:xfrm>
            <a:off x="2135505" y="1701165"/>
            <a:ext cx="9085580" cy="1814830"/>
          </a:xfrm>
          <a:prstGeom prst="rect">
            <a:avLst/>
          </a:prstGeom>
          <a:noFill/>
        </p:spPr>
        <p:txBody>
          <a:bodyPr wrap="square" rtlCol="0" anchor="t">
            <a:spAutoFit/>
          </a:bodyPr>
          <a:p>
            <a:pPr marL="342900" indent="-342900">
              <a:buFont typeface="Wingdings" panose="05000000000000000000" charset="0"/>
              <a:buChar char="Ø"/>
            </a:pPr>
            <a:r>
              <a:rPr lang="zh-CN" altLang="en-US" sz="2800"/>
              <a:t>项目管理过程组的各个过程之间经常反复发生联系。</a:t>
            </a:r>
            <a:endParaRPr lang="zh-CN" altLang="en-US" sz="2800"/>
          </a:p>
          <a:p>
            <a:pPr>
              <a:buFont typeface="Wingdings" panose="05000000000000000000" charset="0"/>
            </a:pPr>
            <a:r>
              <a:rPr lang="en-US" altLang="zh-CN" sz="2800"/>
              <a:t>     </a:t>
            </a:r>
            <a:r>
              <a:rPr lang="zh-CN" altLang="en-US" sz="2800"/>
              <a:t>例如，在项目早期，规划过程组为执行过程组提供书面的项目管理计划；然后，随着项目的进展，规划过程组还将根据变更情况，更新项目管理计划。</a:t>
            </a:r>
            <a:endParaRPr lang="zh-CN" altLang="en-US" sz="2800"/>
          </a:p>
        </p:txBody>
      </p:sp>
    </p:spTree>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2" name="Rectangle 5"/>
          <p:cNvSpPr>
            <a:spLocks noGrp="1"/>
          </p:cNvSpPr>
          <p:nvPr>
            <p:ph type="title" idx="4294967295"/>
          </p:nvPr>
        </p:nvSpPr>
        <p:spPr>
          <a:xfrm>
            <a:off x="2341563" y="83575"/>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63490" name="Group 8"/>
          <p:cNvGrpSpPr/>
          <p:nvPr/>
        </p:nvGrpSpPr>
        <p:grpSpPr>
          <a:xfrm>
            <a:off x="1519238" y="811213"/>
            <a:ext cx="9148762" cy="85725"/>
            <a:chOff x="0" y="0"/>
            <a:chExt cx="5763" cy="54"/>
          </a:xfrm>
        </p:grpSpPr>
        <p:sp>
          <p:nvSpPr>
            <p:cNvPr id="6349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349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graphicFrame>
        <p:nvGraphicFramePr>
          <p:cNvPr id="2" name="对象 1"/>
          <p:cNvGraphicFramePr/>
          <p:nvPr/>
        </p:nvGraphicFramePr>
        <p:xfrm>
          <a:off x="1707515" y="1006475"/>
          <a:ext cx="8764270" cy="5705475"/>
        </p:xfrm>
        <a:graphic>
          <a:graphicData uri="http://schemas.openxmlformats.org/presentationml/2006/ole">
            <mc:AlternateContent xmlns:mc="http://schemas.openxmlformats.org/markup-compatibility/2006">
              <mc:Choice xmlns:v="urn:schemas-microsoft-com:vml" Requires="v">
                <p:oleObj spid="_x0000_s3" name="" r:id="rId1" imgW="7600950" imgH="4057650" progId="Paint.Picture">
                  <p:embed/>
                </p:oleObj>
              </mc:Choice>
              <mc:Fallback>
                <p:oleObj name="" r:id="rId1" imgW="7600950" imgH="4057650" progId="Paint.Picture">
                  <p:embed/>
                  <p:pic>
                    <p:nvPicPr>
                      <p:cNvPr id="0" name="图片 2"/>
                      <p:cNvPicPr/>
                      <p:nvPr/>
                    </p:nvPicPr>
                    <p:blipFill>
                      <a:blip r:embed="rId2"/>
                      <a:stretch>
                        <a:fillRect/>
                      </a:stretch>
                    </p:blipFill>
                    <p:spPr>
                      <a:xfrm>
                        <a:off x="1707515" y="1006475"/>
                        <a:ext cx="8764270" cy="5705475"/>
                      </a:xfrm>
                      <a:prstGeom prst="rect">
                        <a:avLst/>
                      </a:prstGeom>
                    </p:spPr>
                  </p:pic>
                </p:oleObj>
              </mc:Fallback>
            </mc:AlternateContent>
          </a:graphicData>
        </a:graphic>
      </p:graphicFrame>
    </p:spTree>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2" name="Rectangle 5"/>
          <p:cNvSpPr>
            <a:spLocks noGrp="1"/>
          </p:cNvSpPr>
          <p:nvPr>
            <p:ph type="title" idx="4294967295"/>
          </p:nvPr>
        </p:nvSpPr>
        <p:spPr>
          <a:xfrm>
            <a:off x="2279650" y="0"/>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64514" name="Group 8"/>
          <p:cNvGrpSpPr/>
          <p:nvPr/>
        </p:nvGrpSpPr>
        <p:grpSpPr>
          <a:xfrm>
            <a:off x="1519238" y="811213"/>
            <a:ext cx="9148762" cy="85725"/>
            <a:chOff x="0" y="0"/>
            <a:chExt cx="5763" cy="54"/>
          </a:xfrm>
        </p:grpSpPr>
        <p:sp>
          <p:nvSpPr>
            <p:cNvPr id="6451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451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pic>
        <p:nvPicPr>
          <p:cNvPr id="64517" name="图片 3"/>
          <p:cNvPicPr>
            <a:picLocks noChangeAspect="1"/>
          </p:cNvPicPr>
          <p:nvPr/>
        </p:nvPicPr>
        <p:blipFill>
          <a:blip r:embed="rId1"/>
          <a:stretch>
            <a:fillRect/>
          </a:stretch>
        </p:blipFill>
        <p:spPr>
          <a:xfrm>
            <a:off x="1631950" y="1196975"/>
            <a:ext cx="10042525" cy="5453380"/>
          </a:xfrm>
          <a:prstGeom prst="rect">
            <a:avLst/>
          </a:prstGeom>
          <a:noFill/>
          <a:ln w="9525">
            <a:noFill/>
          </a:ln>
        </p:spPr>
      </p:pic>
    </p:spTree>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2" name="Rectangle 5"/>
          <p:cNvSpPr>
            <a:spLocks noGrp="1"/>
          </p:cNvSpPr>
          <p:nvPr>
            <p:ph type="title" idx="4294967295"/>
          </p:nvPr>
        </p:nvSpPr>
        <p:spPr>
          <a:xfrm>
            <a:off x="2279650" y="0"/>
            <a:ext cx="6305550" cy="981075"/>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65538" name="Group 8"/>
          <p:cNvGrpSpPr/>
          <p:nvPr/>
        </p:nvGrpSpPr>
        <p:grpSpPr>
          <a:xfrm>
            <a:off x="1519238" y="811213"/>
            <a:ext cx="9148762" cy="85725"/>
            <a:chOff x="0" y="0"/>
            <a:chExt cx="5763" cy="54"/>
          </a:xfrm>
        </p:grpSpPr>
        <p:sp>
          <p:nvSpPr>
            <p:cNvPr id="65539"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5540"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pic>
        <p:nvPicPr>
          <p:cNvPr id="65541" name="图片 5" descr="图片1"/>
          <p:cNvPicPr>
            <a:picLocks noChangeAspect="1"/>
          </p:cNvPicPr>
          <p:nvPr/>
        </p:nvPicPr>
        <p:blipFill>
          <a:blip r:embed="rId1"/>
          <a:stretch>
            <a:fillRect/>
          </a:stretch>
        </p:blipFill>
        <p:spPr>
          <a:xfrm>
            <a:off x="1559560" y="908685"/>
            <a:ext cx="10419080" cy="5870575"/>
          </a:xfrm>
          <a:prstGeom prst="rect">
            <a:avLst/>
          </a:prstGeom>
          <a:noFill/>
          <a:ln w="9525">
            <a:noFill/>
          </a:ln>
        </p:spPr>
      </p:pic>
    </p:spTree>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051"/>
          <p:cNvSpPr>
            <a:spLocks noGrp="1"/>
          </p:cNvSpPr>
          <p:nvPr>
            <p:ph idx="4294967295"/>
          </p:nvPr>
        </p:nvSpPr>
        <p:spPr>
          <a:xfrm>
            <a:off x="3071813" y="885825"/>
            <a:ext cx="5040313" cy="669925"/>
          </a:xfrm>
        </p:spPr>
        <p:txBody>
          <a:bodyPr vert="horz" wrap="square" lIns="0" tIns="0" rIns="0" bIns="0" anchor="t" anchorCtr="0"/>
          <a:lstStyle/>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2" panose="05020102010507070707" pitchFamily="18" charset="2"/>
              <a:buChar char=""/>
              <a:defRPr/>
            </a:pPr>
            <a:r>
              <a:rPr kumimoji="0" lang="zh-CN" altLang="en-US" sz="32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项目集成管理的思想</a:t>
            </a:r>
            <a:endParaRPr kumimoji="0" lang="zh-CN" altLang="en-US" sz="32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grpSp>
        <p:nvGrpSpPr>
          <p:cNvPr id="66562" name="Group 2052"/>
          <p:cNvGrpSpPr/>
          <p:nvPr/>
        </p:nvGrpSpPr>
        <p:grpSpPr>
          <a:xfrm>
            <a:off x="3071813" y="2276475"/>
            <a:ext cx="6289675" cy="3695700"/>
            <a:chOff x="-351" y="0"/>
            <a:chExt cx="4375" cy="2328"/>
          </a:xfrm>
        </p:grpSpPr>
        <p:sp>
          <p:nvSpPr>
            <p:cNvPr id="66563" name="AutoShape 2053"/>
            <p:cNvSpPr/>
            <p:nvPr/>
          </p:nvSpPr>
          <p:spPr>
            <a:xfrm>
              <a:off x="529" y="0"/>
              <a:ext cx="2534" cy="1812"/>
            </a:xfrm>
            <a:prstGeom prst="triangle">
              <a:avLst>
                <a:gd name="adj" fmla="val 50157"/>
              </a:avLst>
            </a:prstGeom>
            <a:solidFill>
              <a:srgbClr val="CCFF33"/>
            </a:solidFill>
            <a:ln w="28575" cap="flat" cmpd="sng">
              <a:solidFill>
                <a:schemeClr val="tx1"/>
              </a:solidFill>
              <a:prstDash val="dash"/>
              <a:miter/>
              <a:headEnd type="none" w="med" len="med"/>
              <a:tailEnd type="none" w="med" len="med"/>
            </a:ln>
          </p:spPr>
          <p:txBody>
            <a:bodyPr anchor="t" anchorCtr="0"/>
            <a:lstStyle/>
            <a:p>
              <a:pPr eaLnBrk="0" hangingPunct="0"/>
              <a:endParaRPr lang="zh-CN" altLang="en-US" dirty="0">
                <a:latin typeface="Franklin Gothic Book" panose="020B0503020102020204" pitchFamily="34" charset="0"/>
                <a:ea typeface="黑体" panose="02010609060101010101" pitchFamily="49" charset="-122"/>
              </a:endParaRPr>
            </a:p>
          </p:txBody>
        </p:sp>
        <p:sp>
          <p:nvSpPr>
            <p:cNvPr id="66564" name="Oval 2054"/>
            <p:cNvSpPr/>
            <p:nvPr/>
          </p:nvSpPr>
          <p:spPr>
            <a:xfrm>
              <a:off x="1097" y="557"/>
              <a:ext cx="1399" cy="12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eaLnBrk="0" hangingPunct="0"/>
              <a:endParaRPr lang="zh-CN" altLang="en-US" dirty="0">
                <a:latin typeface="Franklin Gothic Book" panose="020B0503020102020204" pitchFamily="34" charset="0"/>
                <a:ea typeface="黑体" panose="02010609060101010101" pitchFamily="49" charset="-122"/>
              </a:endParaRPr>
            </a:p>
          </p:txBody>
        </p:sp>
        <p:sp>
          <p:nvSpPr>
            <p:cNvPr id="66565" name="AutoShape 2055"/>
            <p:cNvSpPr/>
            <p:nvPr/>
          </p:nvSpPr>
          <p:spPr>
            <a:xfrm>
              <a:off x="945" y="314"/>
              <a:ext cx="1740" cy="1323"/>
            </a:xfrm>
            <a:prstGeom prst="triangle">
              <a:avLst>
                <a:gd name="adj" fmla="val 48870"/>
              </a:avLst>
            </a:prstGeom>
            <a:solidFill>
              <a:srgbClr val="FFFFFF"/>
            </a:solidFill>
            <a:ln w="9525" cap="flat" cmpd="sng">
              <a:solidFill>
                <a:schemeClr val="tx1"/>
              </a:solidFill>
              <a:prstDash val="solid"/>
              <a:miter/>
              <a:headEnd type="none" w="med" len="med"/>
              <a:tailEnd type="none" w="med" len="med"/>
            </a:ln>
          </p:spPr>
          <p:txBody>
            <a:bodyPr anchor="t" anchorCtr="0"/>
            <a:lstStyle/>
            <a:p>
              <a:pPr eaLnBrk="0" hangingPunct="0"/>
              <a:endParaRPr lang="zh-CN" altLang="en-US" dirty="0">
                <a:latin typeface="Franklin Gothic Book" panose="020B0503020102020204" pitchFamily="34" charset="0"/>
                <a:ea typeface="黑体" panose="02010609060101010101" pitchFamily="49" charset="-122"/>
              </a:endParaRPr>
            </a:p>
          </p:txBody>
        </p:sp>
        <p:sp>
          <p:nvSpPr>
            <p:cNvPr id="66566" name="Oval 2056"/>
            <p:cNvSpPr/>
            <p:nvPr/>
          </p:nvSpPr>
          <p:spPr>
            <a:xfrm>
              <a:off x="1320" y="734"/>
              <a:ext cx="978" cy="892"/>
            </a:xfrm>
            <a:prstGeom prst="ellipse">
              <a:avLst/>
            </a:prstGeom>
            <a:solidFill>
              <a:srgbClr val="FF66CC"/>
            </a:solidFill>
            <a:ln w="9525" cap="flat" cmpd="sng">
              <a:solidFill>
                <a:schemeClr val="tx1"/>
              </a:solidFill>
              <a:prstDash val="solid"/>
              <a:round/>
              <a:headEnd type="none" w="med" len="med"/>
              <a:tailEnd type="none" w="med" len="med"/>
            </a:ln>
          </p:spPr>
          <p:txBody>
            <a:bodyPr anchor="t" anchorCtr="0"/>
            <a:lstStyle/>
            <a:p>
              <a:pPr algn="ctr" eaLnBrk="0" hangingPunct="0"/>
              <a:endParaRPr lang="en-US" altLang="zh-CN" b="1" dirty="0">
                <a:latin typeface="Arial" panose="020B0604020202020204" pitchFamily="34" charset="0"/>
                <a:ea typeface="黑体" panose="02010609060101010101" pitchFamily="49" charset="-122"/>
              </a:endParaRPr>
            </a:p>
            <a:p>
              <a:pPr algn="ctr" eaLnBrk="0" hangingPunct="0"/>
              <a:r>
                <a:rPr lang="zh-CN" altLang="en-US" b="1" dirty="0">
                  <a:latin typeface="Arial" panose="020B0604020202020204" pitchFamily="34" charset="0"/>
                  <a:ea typeface="黑体" panose="02010609060101010101" pitchFamily="49" charset="-122"/>
                </a:rPr>
                <a:t>项目</a:t>
              </a:r>
              <a:endParaRPr lang="zh-CN" altLang="en-US" b="1" dirty="0">
                <a:latin typeface="Arial" panose="020B0604020202020204" pitchFamily="34" charset="0"/>
                <a:ea typeface="黑体" panose="02010609060101010101" pitchFamily="49" charset="-122"/>
              </a:endParaRPr>
            </a:p>
            <a:p>
              <a:pPr algn="ctr" eaLnBrk="0" hangingPunct="0"/>
              <a:r>
                <a:rPr lang="zh-CN" altLang="en-US" b="1" dirty="0">
                  <a:latin typeface="Arial" panose="020B0604020202020204" pitchFamily="34" charset="0"/>
                  <a:ea typeface="黑体" panose="02010609060101010101" pitchFamily="49" charset="-122"/>
                </a:rPr>
                <a:t>范围</a:t>
              </a:r>
              <a:endParaRPr lang="zh-CN" altLang="en-US" b="1" dirty="0">
                <a:latin typeface="Arial" panose="020B0604020202020204" pitchFamily="34" charset="0"/>
                <a:ea typeface="黑体" panose="02010609060101010101" pitchFamily="49" charset="-122"/>
              </a:endParaRPr>
            </a:p>
            <a:p>
              <a:pPr eaLnBrk="0" hangingPunct="0"/>
              <a:endParaRPr lang="en-US" altLang="zh-CN" sz="2600" b="1" dirty="0">
                <a:solidFill>
                  <a:schemeClr val="accent2"/>
                </a:solidFill>
                <a:latin typeface="Franklin Gothic Book" panose="020B0503020102020204" pitchFamily="34" charset="0"/>
                <a:ea typeface="黑体" panose="02010609060101010101" pitchFamily="49" charset="-122"/>
              </a:endParaRPr>
            </a:p>
          </p:txBody>
        </p:sp>
        <p:sp>
          <p:nvSpPr>
            <p:cNvPr id="66567" name="AutoShape 2057"/>
            <p:cNvSpPr/>
            <p:nvPr/>
          </p:nvSpPr>
          <p:spPr>
            <a:xfrm>
              <a:off x="-351" y="635"/>
              <a:ext cx="1183" cy="277"/>
            </a:xfrm>
            <a:prstGeom prst="wedgeRoundRectCallout">
              <a:avLst>
                <a:gd name="adj1" fmla="val 98676"/>
                <a:gd name="adj2" fmla="val 150000"/>
                <a:gd name="adj3" fmla="val 16667"/>
              </a:avLst>
            </a:prstGeom>
            <a:solidFill>
              <a:srgbClr val="FF66CC"/>
            </a:solidFill>
            <a:ln w="9525" cap="flat" cmpd="sng">
              <a:solidFill>
                <a:schemeClr val="tx1"/>
              </a:solidFill>
              <a:prstDash val="solid"/>
              <a:miter/>
              <a:headEnd type="none" w="med" len="med"/>
              <a:tailEnd type="none" w="med" len="med"/>
            </a:ln>
          </p:spPr>
          <p:txBody>
            <a:bodyPr anchor="t" anchorCtr="0"/>
            <a:lstStyle/>
            <a:p>
              <a:pPr algn="ctr" eaLnBrk="0" hangingPunct="0"/>
              <a:r>
                <a:rPr lang="zh-CN" altLang="en-US" b="1" dirty="0">
                  <a:latin typeface="Arial" panose="020B0604020202020204" pitchFamily="34" charset="0"/>
                  <a:ea typeface="黑体" panose="02010609060101010101" pitchFamily="49" charset="-122"/>
                </a:rPr>
                <a:t>项目成本</a:t>
              </a:r>
              <a:endParaRPr lang="zh-CN" altLang="en-US" b="1" dirty="0">
                <a:latin typeface="Arial" panose="020B0604020202020204" pitchFamily="34" charset="0"/>
                <a:ea typeface="黑体" panose="02010609060101010101" pitchFamily="49" charset="-122"/>
              </a:endParaRPr>
            </a:p>
          </p:txBody>
        </p:sp>
        <p:sp>
          <p:nvSpPr>
            <p:cNvPr id="66568" name="AutoShape 2058"/>
            <p:cNvSpPr/>
            <p:nvPr/>
          </p:nvSpPr>
          <p:spPr>
            <a:xfrm>
              <a:off x="1248" y="1986"/>
              <a:ext cx="1059" cy="342"/>
            </a:xfrm>
            <a:prstGeom prst="wedgeRoundRectCallout">
              <a:avLst>
                <a:gd name="adj1" fmla="val 57889"/>
                <a:gd name="adj2" fmla="val -219444"/>
                <a:gd name="adj3" fmla="val 16667"/>
              </a:avLst>
            </a:prstGeom>
            <a:solidFill>
              <a:srgbClr val="FF66CC"/>
            </a:solidFill>
            <a:ln w="9525" cap="flat" cmpd="sng">
              <a:solidFill>
                <a:schemeClr val="tx1"/>
              </a:solidFill>
              <a:prstDash val="solid"/>
              <a:miter/>
              <a:headEnd type="none" w="med" len="med"/>
              <a:tailEnd type="none" w="med" len="med"/>
            </a:ln>
          </p:spPr>
          <p:txBody>
            <a:bodyPr anchor="t" anchorCtr="0"/>
            <a:lstStyle/>
            <a:p>
              <a:pPr algn="ctr" eaLnBrk="0" hangingPunct="0"/>
              <a:r>
                <a:rPr lang="zh-CN" altLang="en-US" b="1" dirty="0">
                  <a:latin typeface="Arial" panose="020B0604020202020204" pitchFamily="34" charset="0"/>
                  <a:ea typeface="黑体" panose="02010609060101010101" pitchFamily="49" charset="-122"/>
                </a:rPr>
                <a:t>项目质量</a:t>
              </a:r>
              <a:endParaRPr lang="zh-CN" altLang="en-US" b="1" dirty="0">
                <a:latin typeface="Arial" panose="020B0604020202020204" pitchFamily="34" charset="0"/>
                <a:ea typeface="黑体" panose="02010609060101010101" pitchFamily="49" charset="-122"/>
              </a:endParaRPr>
            </a:p>
          </p:txBody>
        </p:sp>
        <p:sp>
          <p:nvSpPr>
            <p:cNvPr id="66569" name="AutoShape 2059"/>
            <p:cNvSpPr/>
            <p:nvPr/>
          </p:nvSpPr>
          <p:spPr>
            <a:xfrm>
              <a:off x="2803" y="463"/>
              <a:ext cx="1221" cy="343"/>
            </a:xfrm>
            <a:prstGeom prst="wedgeRoundRectCallout">
              <a:avLst>
                <a:gd name="adj1" fmla="val -102083"/>
                <a:gd name="adj2" fmla="val 125000"/>
                <a:gd name="adj3" fmla="val 16667"/>
              </a:avLst>
            </a:prstGeom>
            <a:solidFill>
              <a:srgbClr val="FF66CC"/>
            </a:solidFill>
            <a:ln w="9525" cap="flat" cmpd="sng">
              <a:solidFill>
                <a:schemeClr val="tx1"/>
              </a:solidFill>
              <a:prstDash val="solid"/>
              <a:miter/>
              <a:headEnd type="none" w="med" len="med"/>
              <a:tailEnd type="none" w="med" len="med"/>
            </a:ln>
          </p:spPr>
          <p:txBody>
            <a:bodyPr anchor="t" anchorCtr="0"/>
            <a:lstStyle/>
            <a:p>
              <a:pPr algn="ctr" eaLnBrk="0" hangingPunct="0"/>
              <a:r>
                <a:rPr lang="zh-CN" altLang="en-US" b="1" dirty="0">
                  <a:latin typeface="Arial" panose="020B0604020202020204" pitchFamily="34" charset="0"/>
                  <a:ea typeface="黑体" panose="02010609060101010101" pitchFamily="49" charset="-122"/>
                </a:rPr>
                <a:t>项目工期</a:t>
              </a:r>
              <a:endParaRPr lang="zh-CN" altLang="en-US" b="1" dirty="0">
                <a:latin typeface="Arial" panose="020B0604020202020204" pitchFamily="34" charset="0"/>
                <a:ea typeface="黑体" panose="02010609060101010101" pitchFamily="49" charset="-122"/>
              </a:endParaRPr>
            </a:p>
          </p:txBody>
        </p:sp>
      </p:grpSp>
      <p:grpSp>
        <p:nvGrpSpPr>
          <p:cNvPr id="66570" name="Group 8"/>
          <p:cNvGrpSpPr/>
          <p:nvPr/>
        </p:nvGrpSpPr>
        <p:grpSpPr>
          <a:xfrm>
            <a:off x="1519238" y="639763"/>
            <a:ext cx="9148762" cy="85725"/>
            <a:chOff x="0" y="0"/>
            <a:chExt cx="5763" cy="54"/>
          </a:xfrm>
        </p:grpSpPr>
        <p:sp>
          <p:nvSpPr>
            <p:cNvPr id="6657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657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2"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4294967295"/>
          </p:nvPr>
        </p:nvSpPr>
        <p:spPr>
          <a:xfrm>
            <a:off x="1778635" y="1339850"/>
            <a:ext cx="9748520" cy="5161280"/>
          </a:xfrm>
        </p:spPr>
        <p:txBody>
          <a:bodyPr vert="horz" wrap="square" lIns="0" tIns="0" rIns="0" bIns="0" anchor="t" anchorCtr="0"/>
          <a:lstStyle/>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一个现代项目的成功涉及项目</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成本、工期、质量、范围、风险</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等诸多要素，因此必须设法对这些要素进行全面的</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集成管理</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，才能够真正实现项目相关利益者的期望和项目目标。</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通常，现代项目各要素的集成管理的核心应该是</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项目的成本管理</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，也就是说，项目集成管理的方法应该是以</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成本管理为核心的</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但是，也会有一些特殊情况，比如可以不计成本的军事项目就能够按照以</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项目工期或者项目质量作为集成管理</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的核心区，建立一套相应的项目集成管理方法。</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grpSp>
        <p:nvGrpSpPr>
          <p:cNvPr id="67586" name="Group 8"/>
          <p:cNvGrpSpPr/>
          <p:nvPr/>
        </p:nvGrpSpPr>
        <p:grpSpPr>
          <a:xfrm>
            <a:off x="1519238" y="639763"/>
            <a:ext cx="9148762" cy="85725"/>
            <a:chOff x="0" y="0"/>
            <a:chExt cx="5763" cy="54"/>
          </a:xfrm>
        </p:grpSpPr>
        <p:sp>
          <p:nvSpPr>
            <p:cNvPr id="6758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758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p:cNvSpPr>
            <a:spLocks noGrp="1"/>
          </p:cNvSpPr>
          <p:nvPr>
            <p:ph idx="4294967295"/>
          </p:nvPr>
        </p:nvSpPr>
        <p:spPr>
          <a:xfrm>
            <a:off x="1847850" y="1268730"/>
            <a:ext cx="9441815" cy="3600450"/>
          </a:xfrm>
        </p:spPr>
        <p:txBody>
          <a:bodyPr vert="horz" wrap="square" lIns="0" tIns="0" rIns="0" bIns="0" anchor="t" anchorCtr="0"/>
          <a:lstStyle/>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在项目的定义阶段，项目的集成管理需要综合考虑项目</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成本、工期、范围、风险</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等各方面的因素；</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在项目计划阶段，项目的集成管理需要开展项目主要要素的</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集成计划和安排</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365125" marR="0" lvl="0" indent="-282575" algn="l" defTabSz="914400" rtl="0" eaLnBrk="1" fontAlgn="base" latinLnBrk="0" hangingPunct="1">
              <a:lnSpc>
                <a:spcPct val="10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而在项目实施阶段的项目集成管理主要是开展对于</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项目变更的总体控制</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，这些都属于项目全面集成管理的范畴。</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grpSp>
        <p:nvGrpSpPr>
          <p:cNvPr id="68610" name="Group 8"/>
          <p:cNvGrpSpPr/>
          <p:nvPr/>
        </p:nvGrpSpPr>
        <p:grpSpPr>
          <a:xfrm>
            <a:off x="1519238" y="639763"/>
            <a:ext cx="9148762" cy="85725"/>
            <a:chOff x="0" y="0"/>
            <a:chExt cx="5763" cy="54"/>
          </a:xfrm>
        </p:grpSpPr>
        <p:sp>
          <p:nvSpPr>
            <p:cNvPr id="6861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861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6"/>
          <p:cNvSpPr txBox="1"/>
          <p:nvPr/>
        </p:nvSpPr>
        <p:spPr>
          <a:xfrm>
            <a:off x="1761490" y="1341755"/>
            <a:ext cx="9777730" cy="3527425"/>
          </a:xfrm>
        </p:spPr>
        <p:txBody>
          <a:bodyPr vert="horz" wrap="square" lIns="0" tIns="0" rIns="0" bIns="0" anchor="t" anchorCtr="0"/>
          <a:lst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609600" marR="0" lvl="0" indent="-609600" algn="l" defTabSz="914400" rtl="0" eaLnBrk="1" fontAlgn="base" latinLnBrk="0" hangingPunct="1">
              <a:lnSpc>
                <a:spcPct val="125000"/>
              </a:lnSpc>
              <a:spcBef>
                <a:spcPts val="600"/>
              </a:spcBef>
              <a:spcAft>
                <a:spcPct val="0"/>
              </a:spcAft>
              <a:buClr>
                <a:srgbClr val="FF3300"/>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界面管理：涉及明确和管理项目众多元素的相互作用的交界点。</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（组织内部的沟通和关系）</a:t>
            </a:r>
            <a:endParaRPr kumimoji="0" lang="en-US" altLang="zh-CN"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endParaRPr>
          </a:p>
          <a:p>
            <a:pPr marL="609600" marR="0" lvl="0" indent="-609600" algn="l" defTabSz="914400" rtl="0" eaLnBrk="1" fontAlgn="base" latinLnBrk="0" hangingPunct="1">
              <a:lnSpc>
                <a:spcPct val="125000"/>
              </a:lnSpc>
              <a:spcBef>
                <a:spcPts val="600"/>
              </a:spcBef>
              <a:spcAft>
                <a:spcPct val="0"/>
              </a:spcAft>
              <a:buClr>
                <a:srgbClr val="FF3300"/>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项目集成管理</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是通过优秀的沟通和关系管理，来整合一个项目中所有人员的工作。</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grpSp>
        <p:nvGrpSpPr>
          <p:cNvPr id="69634" name="Group 8"/>
          <p:cNvGrpSpPr/>
          <p:nvPr/>
        </p:nvGrpSpPr>
        <p:grpSpPr>
          <a:xfrm>
            <a:off x="1519238" y="639763"/>
            <a:ext cx="9148762" cy="85725"/>
            <a:chOff x="0" y="0"/>
            <a:chExt cx="5763" cy="54"/>
          </a:xfrm>
        </p:grpSpPr>
        <p:sp>
          <p:nvSpPr>
            <p:cNvPr id="6963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6963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3"/>
          <p:cNvSpPr txBox="1">
            <a:spLocks noGrp="1"/>
          </p:cNvSpPr>
          <p:nvPr/>
        </p:nvSpPr>
        <p:spPr>
          <a:xfrm>
            <a:off x="8688388" y="6500813"/>
            <a:ext cx="1905000" cy="457200"/>
          </a:xfrm>
          <a:prstGeom prst="rect">
            <a:avLst/>
          </a:prstGeom>
          <a:noFill/>
          <a:ln w="9525">
            <a:noFill/>
          </a:ln>
        </p:spPr>
        <p:txBody>
          <a:bodyPr anchor="t" anchorCtr="0"/>
          <a:lstStyle/>
          <a:p>
            <a:pPr algn="r" eaLnBrk="0" hangingPunct="0">
              <a:spcBef>
                <a:spcPct val="50000"/>
              </a:spcBef>
            </a:pPr>
            <a:fld id="{9A0DB2DC-4C9A-4742-B13C-FB6460FD3503}" type="slidenum">
              <a:rPr lang="en-US" altLang="zh-CN" sz="1400" dirty="0">
                <a:latin typeface="Arial Black" panose="020B0A04020102020204" pitchFamily="34" charset="0"/>
              </a:rPr>
            </a:fld>
            <a:endParaRPr lang="en-US" altLang="zh-CN" sz="1400" dirty="0">
              <a:latin typeface="Arial Black" panose="020B0A04020102020204" pitchFamily="34" charset="0"/>
            </a:endParaRPr>
          </a:p>
        </p:txBody>
      </p:sp>
      <p:sp>
        <p:nvSpPr>
          <p:cNvPr id="17411" name="Rectangle 26"/>
          <p:cNvSpPr>
            <a:spLocks noGrp="1"/>
          </p:cNvSpPr>
          <p:nvPr>
            <p:ph idx="4294967295"/>
          </p:nvPr>
        </p:nvSpPr>
        <p:spPr>
          <a:xfrm>
            <a:off x="2495550" y="2349500"/>
            <a:ext cx="7558088" cy="2303463"/>
          </a:xfrm>
        </p:spPr>
        <p:txBody>
          <a:bodyPr vert="horz" wrap="square" lIns="0" tIns="0" rIns="0" bIns="0" anchor="t" anchorCtr="0"/>
          <a:lstStyle/>
          <a:p>
            <a:pPr marL="609600" marR="0" lvl="0" indent="-609600" algn="l" defTabSz="914400" rtl="0" eaLnBrk="1" fontAlgn="base" latinLnBrk="0" hangingPunct="1">
              <a:lnSpc>
                <a:spcPct val="125000"/>
              </a:lnSpc>
              <a:spcBef>
                <a:spcPts val="600"/>
              </a:spcBef>
              <a:spcAft>
                <a:spcPct val="0"/>
              </a:spcAft>
              <a:buClr>
                <a:srgbClr val="FF3300"/>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项目经理</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609600" marR="0" lvl="0" indent="-609600" algn="l" defTabSz="914400" rtl="0" eaLnBrk="1" fontAlgn="base" latinLnBrk="0" hangingPunct="1">
              <a:lnSpc>
                <a:spcPct val="125000"/>
              </a:lnSpc>
              <a:spcBef>
                <a:spcPts val="600"/>
              </a:spcBef>
              <a:spcAft>
                <a:spcPct val="0"/>
              </a:spcAft>
              <a:buClr>
                <a:srgbClr val="FF3300"/>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使项目利益相关人满意</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609600" marR="0" lvl="0" indent="-609600" algn="l" defTabSz="914400" rtl="0" eaLnBrk="1" fontAlgn="base" latinLnBrk="0" hangingPunct="1">
              <a:lnSpc>
                <a:spcPct val="125000"/>
              </a:lnSpc>
              <a:spcBef>
                <a:spcPts val="600"/>
              </a:spcBef>
              <a:spcAft>
                <a:spcPct val="0"/>
              </a:spcAft>
              <a:buClr>
                <a:srgbClr val="FF3300"/>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项目集成管理是在整个组织的环境中进行的，而不是只在一个具体的项目内部进行</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p:txBody>
      </p:sp>
      <p:sp>
        <p:nvSpPr>
          <p:cNvPr id="17412" name="Rectangle 5"/>
          <p:cNvSpPr>
            <a:spLocks noGrp="1"/>
          </p:cNvSpPr>
          <p:nvPr>
            <p:ph type="title" idx="4294967295"/>
          </p:nvPr>
        </p:nvSpPr>
        <p:spPr>
          <a:xfrm>
            <a:off x="2495550" y="1268413"/>
            <a:ext cx="5832475" cy="979488"/>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A50021"/>
                </a:solidFill>
                <a:effectLst/>
                <a:uLnTx/>
                <a:uFillTx/>
                <a:latin typeface="+mj-lt"/>
                <a:ea typeface="+mj-ea"/>
                <a:cs typeface="+mj-cs"/>
              </a:rPr>
              <a:t>项目集成管理中的几个要素</a:t>
            </a:r>
            <a:endParaRPr kumimoji="0" lang="zh-CN" altLang="en-US" sz="3200" b="0" i="0" u="none" strike="noStrike" kern="1200" cap="none" spc="0" normalizeH="0" baseline="0" noProof="0" dirty="0">
              <a:ln>
                <a:noFill/>
              </a:ln>
              <a:solidFill>
                <a:srgbClr val="A50021"/>
              </a:solidFill>
              <a:effectLst/>
              <a:uLnTx/>
              <a:uFillTx/>
              <a:latin typeface="+mj-lt"/>
              <a:ea typeface="+mj-ea"/>
              <a:cs typeface="+mj-cs"/>
            </a:endParaRPr>
          </a:p>
        </p:txBody>
      </p:sp>
      <p:grpSp>
        <p:nvGrpSpPr>
          <p:cNvPr id="70660" name="Group 8"/>
          <p:cNvGrpSpPr/>
          <p:nvPr/>
        </p:nvGrpSpPr>
        <p:grpSpPr>
          <a:xfrm>
            <a:off x="1519238" y="639763"/>
            <a:ext cx="9148762" cy="85725"/>
            <a:chOff x="0" y="0"/>
            <a:chExt cx="5763" cy="54"/>
          </a:xfrm>
        </p:grpSpPr>
        <p:sp>
          <p:nvSpPr>
            <p:cNvPr id="7066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066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Tree>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3"/>
          <p:cNvSpPr txBox="1">
            <a:spLocks noGrp="1"/>
          </p:cNvSpPr>
          <p:nvPr/>
        </p:nvSpPr>
        <p:spPr>
          <a:xfrm>
            <a:off x="8688388" y="6500813"/>
            <a:ext cx="1905000" cy="457200"/>
          </a:xfrm>
          <a:prstGeom prst="rect">
            <a:avLst/>
          </a:prstGeom>
          <a:noFill/>
          <a:ln w="9525">
            <a:noFill/>
          </a:ln>
        </p:spPr>
        <p:txBody>
          <a:bodyPr anchor="t" anchorCtr="0"/>
          <a:lstStyle/>
          <a:p>
            <a:pPr algn="r" eaLnBrk="0" hangingPunct="0">
              <a:spcBef>
                <a:spcPct val="50000"/>
              </a:spcBef>
            </a:pPr>
            <a:fld id="{9A0DB2DC-4C9A-4742-B13C-FB6460FD3503}" type="slidenum">
              <a:rPr lang="en-US" altLang="zh-CN" sz="1400" dirty="0">
                <a:latin typeface="Arial Black" panose="020B0A04020102020204" pitchFamily="34" charset="0"/>
              </a:rPr>
            </a:fld>
            <a:endParaRPr lang="en-US" altLang="zh-CN" sz="1400" dirty="0">
              <a:latin typeface="Arial Black" panose="020B0A04020102020204" pitchFamily="34" charset="0"/>
            </a:endParaRPr>
          </a:p>
        </p:txBody>
      </p:sp>
      <p:grpSp>
        <p:nvGrpSpPr>
          <p:cNvPr id="71682" name="Group 8"/>
          <p:cNvGrpSpPr/>
          <p:nvPr/>
        </p:nvGrpSpPr>
        <p:grpSpPr>
          <a:xfrm>
            <a:off x="1519238" y="639763"/>
            <a:ext cx="9148762" cy="85725"/>
            <a:chOff x="0" y="0"/>
            <a:chExt cx="5763" cy="54"/>
          </a:xfrm>
        </p:grpSpPr>
        <p:sp>
          <p:nvSpPr>
            <p:cNvPr id="7168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168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4" name="Rectangle 5"/>
          <p:cNvSpPr txBox="1"/>
          <p:nvPr/>
        </p:nvSpPr>
        <p:spPr>
          <a:xfrm>
            <a:off x="2279650" y="0"/>
            <a:ext cx="6305550" cy="9810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4.1 </a:t>
            </a:r>
            <a:r>
              <a:rPr kumimoji="0" lang="zh-CN" altLang="en-US" sz="3200" b="0" i="0" u="none" strike="noStrike" kern="1200" cap="none" spc="0" normalizeH="0" baseline="0" noProof="0">
                <a:ln>
                  <a:noFill/>
                </a:ln>
                <a:solidFill>
                  <a:srgbClr val="A50021"/>
                </a:solidFill>
                <a:effectLst>
                  <a:outerShdw blurRad="38100" dist="38100" dir="2700000">
                    <a:srgbClr val="000000"/>
                  </a:outerShdw>
                </a:effectLst>
                <a:uLnTx/>
                <a:uFillTx/>
                <a:latin typeface="+mj-lt"/>
                <a:ea typeface="+mj-ea"/>
                <a:cs typeface="+mj-cs"/>
              </a:rPr>
              <a:t>什么是项目集成管理</a:t>
            </a:r>
            <a:endParaRPr kumimoji="0" lang="zh-CN" altLang="en-US" sz="32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pic>
        <p:nvPicPr>
          <p:cNvPr id="71686" name="图片 1"/>
          <p:cNvPicPr>
            <a:picLocks noChangeAspect="1"/>
          </p:cNvPicPr>
          <p:nvPr/>
        </p:nvPicPr>
        <p:blipFill>
          <a:blip r:embed="rId1"/>
          <a:stretch>
            <a:fillRect/>
          </a:stretch>
        </p:blipFill>
        <p:spPr>
          <a:xfrm>
            <a:off x="2063750" y="1412875"/>
            <a:ext cx="9357995" cy="5228590"/>
          </a:xfrm>
          <a:prstGeom prst="rect">
            <a:avLst/>
          </a:prstGeom>
          <a:noFill/>
          <a:ln w="9525">
            <a:noFill/>
          </a:ln>
        </p:spPr>
      </p:pic>
      <p:sp>
        <p:nvSpPr>
          <p:cNvPr id="3" name="Rectangle 5"/>
          <p:cNvSpPr>
            <a:spLocks noGrp="1"/>
          </p:cNvSpPr>
          <p:nvPr/>
        </p:nvSpPr>
        <p:spPr>
          <a:xfrm>
            <a:off x="2206625" y="763588"/>
            <a:ext cx="5832475" cy="979488"/>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0" i="0" u="none" strike="noStrike" kern="1200" cap="none" spc="0" normalizeH="0" baseline="0" noProof="0" dirty="0">
                <a:ln>
                  <a:noFill/>
                </a:ln>
                <a:solidFill>
                  <a:srgbClr val="A50021"/>
                </a:solidFill>
                <a:effectLst/>
                <a:uLnTx/>
                <a:uFillTx/>
                <a:latin typeface="+mj-lt"/>
                <a:ea typeface="+mj-ea"/>
                <a:cs typeface="+mj-cs"/>
              </a:rPr>
              <a:t>十大知识领域规划内容</a:t>
            </a:r>
            <a:endParaRPr kumimoji="0" lang="zh-CN" altLang="en-US" sz="3200" b="0" i="0" u="none" strike="noStrike" kern="1200" cap="none" spc="0" normalizeH="0" baseline="0" noProof="0" dirty="0">
              <a:ln>
                <a:noFill/>
              </a:ln>
              <a:solidFill>
                <a:srgbClr val="A50021"/>
              </a:solidFill>
              <a:effectLst/>
              <a:uLnTx/>
              <a:uFillTx/>
              <a:latin typeface="+mj-lt"/>
              <a:ea typeface="+mj-ea"/>
              <a:cs typeface="+mj-cs"/>
            </a:endParaRPr>
          </a:p>
        </p:txBody>
      </p:sp>
    </p:spTree>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p:cNvSpPr>
          <p:nvPr>
            <p:ph type="body" idx="4294967295"/>
          </p:nvPr>
        </p:nvSpPr>
        <p:spPr>
          <a:xfrm>
            <a:off x="1776095" y="1340485"/>
            <a:ext cx="9738995" cy="4157980"/>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战略计划</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(strategic planning)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包括通过分析组织的优势和劣势，研究在商业环境中的机会和威胁，</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预测未来的趋势</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，以及预测对新产品和服务的需求来</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确定长期的目标</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许多人对用于战略计划的</a:t>
            </a:r>
            <a:r>
              <a:rPr kumimoji="0" lang="en-US" alt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SWOT </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方法</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分析非常熟悉，即优势、劣势、机会和威胁。</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0" marR="0" lvl="0" indent="0" algn="l" defTabSz="914400" rtl="0" eaLnBrk="1" fontAlgn="base" latinLnBrk="0" hangingPunct="1">
              <a:lnSpc>
                <a:spcPct val="110000"/>
              </a:lnSpc>
              <a:spcBef>
                <a:spcPts val="600"/>
              </a:spcBef>
              <a:spcAft>
                <a:spcPct val="0"/>
              </a:spcAft>
              <a:buClr>
                <a:srgbClr val="00B050"/>
              </a:buClr>
              <a:buSzPct val="80000"/>
              <a:buFont typeface="Wingdings 2" panose="05020102010507070707" pitchFamily="18" charset="2"/>
              <a:buNone/>
              <a:defRPr/>
            </a:pP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2">
                                            <p:txEl>
                                              <p:pRg st="0" end="0"/>
                                            </p:txEl>
                                          </p:spTgt>
                                        </p:tgtEl>
                                        <p:attrNameLst>
                                          <p:attrName>style.visibility</p:attrName>
                                        </p:attrNameLst>
                                      </p:cBhvr>
                                      <p:to>
                                        <p:strVal val="visible"/>
                                      </p:to>
                                    </p:set>
                                    <p:animEffect transition="in" filter="wipe(left)">
                                      <p:cBhvr>
                                        <p:cTn id="7" dur="1000"/>
                                        <p:tgtEl>
                                          <p:spTgt spid="194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2">
                                            <p:txEl>
                                              <p:pRg st="1" end="1"/>
                                            </p:txEl>
                                          </p:spTgt>
                                        </p:tgtEl>
                                        <p:attrNameLst>
                                          <p:attrName>style.visibility</p:attrName>
                                        </p:attrNameLst>
                                      </p:cBhvr>
                                      <p:to>
                                        <p:strVal val="visible"/>
                                      </p:to>
                                    </p:set>
                                    <p:animEffect transition="in" filter="wipe(left)">
                                      <p:cBhvr>
                                        <p:cTn id="12" dur="1000"/>
                                        <p:tgtEl>
                                          <p:spTgt spid="194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p:cNvSpPr>
          <p:nvPr>
            <p:ph type="body" idx="4294967295"/>
          </p:nvPr>
        </p:nvSpPr>
        <p:spPr>
          <a:xfrm>
            <a:off x="1847850" y="1268730"/>
            <a:ext cx="9049385" cy="4949825"/>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en-US" alt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SWOT </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即基于内外部竞争环境和竞争条件下的态势分析，就是将与研究对象密切相关的各种主要</a:t>
            </a:r>
            <a:r>
              <a:rPr kumimoji="0" lang="zh-CN" altLang="en-US" sz="2800" b="0" i="0" u="none" strike="noStrike" kern="1200" cap="none" spc="0" normalizeH="0" baseline="0" noProof="0" dirty="0">
                <a:ln>
                  <a:noFill/>
                </a:ln>
                <a:solidFill>
                  <a:srgbClr val="0000FF"/>
                </a:solidFill>
                <a:effectLst/>
                <a:uLnTx/>
                <a:uFillTx/>
                <a:latin typeface="+mn-lt"/>
                <a:ea typeface="+mn-ea"/>
                <a:cs typeface="+mn-cs"/>
              </a:rPr>
              <a:t>内部优势、劣势和外部的机会和威胁</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等，通过调查列举出来，并依照</a:t>
            </a:r>
            <a:r>
              <a:rPr kumimoji="0" lang="zh-CN" altLang="en-US" sz="2800" b="0" i="0" u="none" strike="noStrike" kern="1200" cap="none" spc="0" normalizeH="0" baseline="0" noProof="0" dirty="0">
                <a:ln>
                  <a:noFill/>
                </a:ln>
                <a:solidFill>
                  <a:srgbClr val="FF0000"/>
                </a:solidFill>
                <a:effectLst/>
                <a:uLnTx/>
                <a:uFillTx/>
                <a:latin typeface="+mn-lt"/>
                <a:ea typeface="+mn-ea"/>
                <a:cs typeface="+mn-cs"/>
              </a:rPr>
              <a:t>矩阵</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形式排列，然后用</a:t>
            </a:r>
            <a:r>
              <a:rPr kumimoji="0" lang="zh-CN" altLang="en-US" sz="2800" b="0" i="0" u="none" strike="noStrike" kern="1200" cap="none" spc="0" normalizeH="0" baseline="0" noProof="0" dirty="0">
                <a:ln>
                  <a:noFill/>
                </a:ln>
                <a:solidFill>
                  <a:srgbClr val="FF0000"/>
                </a:solidFill>
                <a:effectLst/>
                <a:uLnTx/>
                <a:uFillTx/>
                <a:latin typeface="+mn-lt"/>
                <a:ea typeface="+mn-ea"/>
                <a:cs typeface="+mn-cs"/>
              </a:rPr>
              <a:t>系统分析</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的思想，把各种因素相互匹配起来加以分析，从中得出一系列相应的结论，而结论通常带有一定的决策性。</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运用这种方法，可以对研究对象所处的情景进行</a:t>
            </a:r>
            <a:r>
              <a:rPr kumimoji="0" lang="zh-CN" altLang="en-US" sz="2800" b="0" i="0" u="none" strike="noStrike" kern="1200" cap="none" spc="0" normalizeH="0" baseline="0" noProof="0" dirty="0">
                <a:ln>
                  <a:noFill/>
                </a:ln>
                <a:solidFill>
                  <a:srgbClr val="FF0000"/>
                </a:solidFill>
                <a:effectLst/>
                <a:uLnTx/>
                <a:uFillTx/>
                <a:latin typeface="+mn-lt"/>
                <a:ea typeface="+mn-ea"/>
                <a:cs typeface="+mn-cs"/>
              </a:rPr>
              <a:t>全面、系统、准确</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的研究，从而根据研究结果制定相应的</a:t>
            </a:r>
            <a:r>
              <a:rPr kumimoji="0" lang="zh-CN" altLang="en-US" sz="2800" b="0" i="0" u="none" strike="noStrike" kern="1200" cap="none" spc="0" normalizeH="0" baseline="0" noProof="0" dirty="0">
                <a:ln>
                  <a:noFill/>
                </a:ln>
                <a:solidFill>
                  <a:srgbClr val="FF0000"/>
                </a:solidFill>
                <a:effectLst/>
                <a:uLnTx/>
                <a:uFillTx/>
                <a:latin typeface="+mn-lt"/>
                <a:ea typeface="+mn-ea"/>
                <a:cs typeface="+mn-cs"/>
              </a:rPr>
              <a:t>发展战略、计划以及对策</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等。</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73730" name="Group 8"/>
          <p:cNvGrpSpPr/>
          <p:nvPr/>
        </p:nvGrpSpPr>
        <p:grpSpPr>
          <a:xfrm>
            <a:off x="1511300" y="765175"/>
            <a:ext cx="9148763" cy="85725"/>
            <a:chOff x="0" y="0"/>
            <a:chExt cx="5763" cy="54"/>
          </a:xfrm>
        </p:grpSpPr>
        <p:sp>
          <p:nvSpPr>
            <p:cNvPr id="7373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373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2"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2">
                                            <p:txEl>
                                              <p:pRg st="0" end="0"/>
                                            </p:txEl>
                                          </p:spTgt>
                                        </p:tgtEl>
                                        <p:attrNameLst>
                                          <p:attrName>style.visibility</p:attrName>
                                        </p:attrNameLst>
                                      </p:cBhvr>
                                      <p:to>
                                        <p:strVal val="visible"/>
                                      </p:to>
                                    </p:set>
                                    <p:animEffect transition="in" filter="wipe(left)">
                                      <p:cBhvr>
                                        <p:cTn id="7" dur="1000"/>
                                        <p:tgtEl>
                                          <p:spTgt spid="194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2">
                                            <p:txEl>
                                              <p:pRg st="1" end="1"/>
                                            </p:txEl>
                                          </p:spTgt>
                                        </p:tgtEl>
                                        <p:attrNameLst>
                                          <p:attrName>style.visibility</p:attrName>
                                        </p:attrNameLst>
                                      </p:cBhvr>
                                      <p:to>
                                        <p:strVal val="visible"/>
                                      </p:to>
                                    </p:set>
                                    <p:animEffect transition="in" filter="wipe(left)">
                                      <p:cBhvr>
                                        <p:cTn id="12" dur="1000"/>
                                        <p:tgtEl>
                                          <p:spTgt spid="194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pic>
        <p:nvPicPr>
          <p:cNvPr id="74754" name="Picture 4" descr="ws_49"/>
          <p:cNvPicPr>
            <a:picLocks noChangeAspect="1"/>
          </p:cNvPicPr>
          <p:nvPr/>
        </p:nvPicPr>
        <p:blipFill>
          <a:blip r:embed="rId1"/>
          <a:srcRect b="50719"/>
          <a:stretch>
            <a:fillRect/>
          </a:stretch>
        </p:blipFill>
        <p:spPr>
          <a:xfrm>
            <a:off x="2424113" y="1773238"/>
            <a:ext cx="7769225" cy="4851400"/>
          </a:xfrm>
          <a:prstGeom prst="rect">
            <a:avLst/>
          </a:prstGeom>
          <a:solidFill>
            <a:schemeClr val="bg1"/>
          </a:solidFill>
          <a:ln w="9525">
            <a:noFill/>
          </a:ln>
        </p:spPr>
      </p:pic>
      <p:sp>
        <p:nvSpPr>
          <p:cNvPr id="20486" name="Text Box 7"/>
          <p:cNvSpPr txBox="1"/>
          <p:nvPr/>
        </p:nvSpPr>
        <p:spPr>
          <a:xfrm>
            <a:off x="2135188" y="981075"/>
            <a:ext cx="6048375" cy="440690"/>
          </a:xfrm>
          <a:prstGeom prst="rect">
            <a:avLst/>
          </a:prstGeom>
          <a:noFill/>
          <a:ln w="9525">
            <a:noFill/>
          </a:ln>
        </p:spPr>
        <p:txBody>
          <a:bodyPr lIns="0" tIns="0" rIns="0" bIns="0">
            <a:spAutoFit/>
          </a:bodyPr>
          <a:lstStyle/>
          <a:p>
            <a:pPr marR="0" defTabSz="914400" eaLnBrk="0" hangingPunct="0">
              <a:lnSpc>
                <a:spcPts val="3440"/>
              </a:lnSpc>
              <a:buClrTx/>
              <a:buSzTx/>
              <a:buFontTx/>
              <a:buNone/>
              <a:defRPr/>
            </a:pP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建立</a:t>
            </a:r>
            <a:r>
              <a:rPr kumimoji="0" lang="en-US" altLang="zh-CN"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SWOT</a:t>
            </a: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表时考虑的问题：</a:t>
            </a:r>
            <a:endParaRPr kumimoji="0" lang="en-US" altLang="zh-CN" sz="2800" b="1" kern="1200" cap="none" spc="0" normalizeH="0" baseline="0" noProof="0" dirty="0">
              <a:solidFill>
                <a:schemeClr val="bg1"/>
              </a:solidFill>
              <a:latin typeface="Calibri" panose="020F0502020204030204" pitchFamily="34" charset="0"/>
              <a:ea typeface="宋体" panose="02010600030101010101" pitchFamily="2" charset="-122"/>
              <a:cs typeface="+mn-cs"/>
            </a:endParaRPr>
          </a:p>
        </p:txBody>
      </p:sp>
      <p:sp>
        <p:nvSpPr>
          <p:cNvPr id="74756" name="矩形 9"/>
          <p:cNvSpPr/>
          <p:nvPr/>
        </p:nvSpPr>
        <p:spPr>
          <a:xfrm>
            <a:off x="3287713" y="3213100"/>
            <a:ext cx="4967287" cy="2736850"/>
          </a:xfrm>
          <a:prstGeom prst="rect">
            <a:avLst/>
          </a:prstGeom>
          <a:noFill/>
          <a:ln w="9525">
            <a:noFill/>
          </a:ln>
        </p:spPr>
        <p:txBody>
          <a:bodyPr anchor="ctr" anchorCtr="0"/>
          <a:lstStyle/>
          <a:p>
            <a:pPr eaLnBrk="0" hangingPunct="0"/>
            <a:r>
              <a:rPr lang="zh-CN" altLang="en-US" b="1" dirty="0">
                <a:solidFill>
                  <a:srgbClr val="FFFF00"/>
                </a:solidFill>
                <a:latin typeface="Times New Roman" panose="02020603050405020304" pitchFamily="18" charset="0"/>
                <a:ea typeface="楷体_GB2312"/>
              </a:rPr>
              <a:t> </a:t>
            </a:r>
            <a:endParaRPr lang="zh-CN" altLang="en-US"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1  </a:t>
            </a:r>
            <a:r>
              <a:rPr lang="zh-CN" altLang="en-US" sz="2800" b="1" dirty="0">
                <a:solidFill>
                  <a:srgbClr val="FFFF00"/>
                </a:solidFill>
                <a:latin typeface="Times New Roman" panose="02020603050405020304" pitchFamily="18" charset="0"/>
                <a:ea typeface="楷体_GB2312"/>
              </a:rPr>
              <a:t>擅长什么？ </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2  </a:t>
            </a:r>
            <a:r>
              <a:rPr lang="zh-CN" altLang="en-US" sz="2800" b="1" dirty="0">
                <a:solidFill>
                  <a:srgbClr val="FFFF00"/>
                </a:solidFill>
                <a:latin typeface="Times New Roman" panose="02020603050405020304" pitchFamily="18" charset="0"/>
                <a:ea typeface="楷体_GB2312"/>
              </a:rPr>
              <a:t>组织有什么新技术？ </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3</a:t>
            </a:r>
            <a:r>
              <a:rPr lang="zh-CN" altLang="en-US" sz="2800" b="1" dirty="0">
                <a:solidFill>
                  <a:srgbClr val="FFFF00"/>
                </a:solidFill>
                <a:latin typeface="Times New Roman" panose="02020603050405020304" pitchFamily="18" charset="0"/>
                <a:ea typeface="楷体_GB2312"/>
              </a:rPr>
              <a:t>  能做什么别人做不到的？ </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4</a:t>
            </a:r>
            <a:r>
              <a:rPr lang="zh-CN" altLang="en-US" sz="2800" b="1" dirty="0">
                <a:solidFill>
                  <a:srgbClr val="FFFF00"/>
                </a:solidFill>
                <a:latin typeface="Times New Roman" panose="02020603050405020304" pitchFamily="18" charset="0"/>
                <a:ea typeface="楷体_GB2312"/>
              </a:rPr>
              <a:t>  和别人有什么不同的？ </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5</a:t>
            </a:r>
            <a:r>
              <a:rPr lang="zh-CN" altLang="en-US" sz="2800" b="1" dirty="0">
                <a:solidFill>
                  <a:srgbClr val="FFFF00"/>
                </a:solidFill>
                <a:latin typeface="Times New Roman" panose="02020603050405020304" pitchFamily="18" charset="0"/>
                <a:ea typeface="楷体_GB2312"/>
              </a:rPr>
              <a:t>  顾客为什么来？ </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6 </a:t>
            </a:r>
            <a:r>
              <a:rPr lang="zh-CN" altLang="en-US" sz="2800" b="1" dirty="0">
                <a:solidFill>
                  <a:srgbClr val="FFFF00"/>
                </a:solidFill>
                <a:latin typeface="Times New Roman" panose="02020603050405020304" pitchFamily="18" charset="0"/>
                <a:ea typeface="楷体_GB2312"/>
              </a:rPr>
              <a:t> 最近因何成功？</a:t>
            </a:r>
            <a:endParaRPr lang="zh-CN" altLang="en-US" sz="2800" b="1" dirty="0">
              <a:solidFill>
                <a:srgbClr val="FFFF00"/>
              </a:solidFill>
              <a:latin typeface="Times New Roman" panose="02020603050405020304" pitchFamily="18" charset="0"/>
              <a:ea typeface="楷体_GB2312"/>
            </a:endParaRPr>
          </a:p>
          <a:p>
            <a:pPr algn="ctr" eaLnBrk="0" hangingPunct="0"/>
            <a:endParaRPr lang="zh-CN" altLang="en-US" b="1" dirty="0">
              <a:solidFill>
                <a:srgbClr val="FFFF00"/>
              </a:solidFill>
              <a:latin typeface="Times New Roman" panose="02020603050405020304" pitchFamily="18" charset="0"/>
              <a:ea typeface="楷体_GB2312"/>
            </a:endParaRPr>
          </a:p>
        </p:txBody>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5" descr="ws_4A"/>
          <p:cNvPicPr>
            <a:picLocks noChangeAspect="1"/>
          </p:cNvPicPr>
          <p:nvPr/>
        </p:nvPicPr>
        <p:blipFill>
          <a:blip r:embed="rId1"/>
          <a:srcRect b="49690"/>
          <a:stretch>
            <a:fillRect/>
          </a:stretch>
        </p:blipFill>
        <p:spPr>
          <a:xfrm>
            <a:off x="2711450" y="1700213"/>
            <a:ext cx="7559675" cy="3509962"/>
          </a:xfrm>
          <a:prstGeom prst="rect">
            <a:avLst/>
          </a:prstGeom>
          <a:noFill/>
          <a:ln w="9525">
            <a:noFill/>
          </a:ln>
        </p:spPr>
      </p:pic>
      <p:sp>
        <p:nvSpPr>
          <p:cNvPr id="20486" name="Text Box 7"/>
          <p:cNvSpPr txBox="1"/>
          <p:nvPr/>
        </p:nvSpPr>
        <p:spPr>
          <a:xfrm>
            <a:off x="1992313" y="1166813"/>
            <a:ext cx="6048375" cy="440690"/>
          </a:xfrm>
          <a:prstGeom prst="rect">
            <a:avLst/>
          </a:prstGeom>
          <a:noFill/>
          <a:ln w="9525">
            <a:noFill/>
          </a:ln>
        </p:spPr>
        <p:txBody>
          <a:bodyPr lIns="0" tIns="0" rIns="0" bIns="0">
            <a:spAutoFit/>
          </a:bodyPr>
          <a:lstStyle/>
          <a:p>
            <a:pPr marR="0" defTabSz="914400" eaLnBrk="0" hangingPunct="0">
              <a:lnSpc>
                <a:spcPts val="3440"/>
              </a:lnSpc>
              <a:buClrTx/>
              <a:buSzTx/>
              <a:buFontTx/>
              <a:buNone/>
              <a:defRPr/>
            </a:pP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建立</a:t>
            </a:r>
            <a:r>
              <a:rPr kumimoji="0" lang="en-US" altLang="zh-CN"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SWOT</a:t>
            </a: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表时考虑的问题：</a:t>
            </a:r>
            <a:endParaRPr kumimoji="0" lang="en-US" altLang="zh-CN" sz="2800" b="1" kern="1200" cap="none" spc="0" normalizeH="0" baseline="0" noProof="0" dirty="0">
              <a:solidFill>
                <a:schemeClr val="bg1"/>
              </a:solidFill>
              <a:latin typeface="Calibri" panose="020F0502020204030204" pitchFamily="34" charset="0"/>
              <a:ea typeface="宋体" panose="02010600030101010101" pitchFamily="2" charset="-122"/>
              <a:cs typeface="+mn-cs"/>
            </a:endParaRPr>
          </a:p>
        </p:txBody>
      </p:sp>
      <p:sp>
        <p:nvSpPr>
          <p:cNvPr id="75779" name="矩形 11"/>
          <p:cNvSpPr/>
          <p:nvPr/>
        </p:nvSpPr>
        <p:spPr>
          <a:xfrm>
            <a:off x="3216275" y="2363788"/>
            <a:ext cx="5183188" cy="2846387"/>
          </a:xfrm>
          <a:prstGeom prst="rect">
            <a:avLst/>
          </a:prstGeom>
          <a:noFill/>
          <a:ln w="9525">
            <a:noFill/>
          </a:ln>
        </p:spPr>
        <p:txBody>
          <a:bodyPr anchor="ctr" anchorCtr="0"/>
          <a:lstStyle/>
          <a:p>
            <a:pPr eaLnBrk="0" hangingPunct="0"/>
            <a:endParaRPr lang="zh-CN" altLang="en-US" sz="2800" b="1" dirty="0">
              <a:solidFill>
                <a:srgbClr val="FF0000"/>
              </a:solidFill>
              <a:latin typeface="Times New Roman" panose="02020603050405020304" pitchFamily="18" charset="0"/>
              <a:ea typeface="楷体_GB2312"/>
            </a:endParaRPr>
          </a:p>
          <a:p>
            <a:pPr eaLnBrk="0" hangingPunct="0"/>
            <a:r>
              <a:rPr lang="en-US" altLang="zh-CN" sz="2800" b="1" dirty="0">
                <a:solidFill>
                  <a:srgbClr val="FF0000"/>
                </a:solidFill>
                <a:latin typeface="Times New Roman" panose="02020603050405020304" pitchFamily="18" charset="0"/>
                <a:ea typeface="楷体_GB2312"/>
              </a:rPr>
              <a:t>1</a:t>
            </a:r>
            <a:r>
              <a:rPr lang="zh-CN" altLang="en-US" sz="2800" b="1" dirty="0">
                <a:solidFill>
                  <a:srgbClr val="FF0000"/>
                </a:solidFill>
                <a:latin typeface="Times New Roman" panose="02020603050405020304" pitchFamily="18" charset="0"/>
                <a:ea typeface="楷体_GB2312"/>
              </a:rPr>
              <a:t>  什么做不来？ </a:t>
            </a:r>
            <a:endParaRPr lang="zh-CN" altLang="en-US" sz="2800" b="1" dirty="0">
              <a:solidFill>
                <a:srgbClr val="FF0000"/>
              </a:solidFill>
              <a:latin typeface="Times New Roman" panose="02020603050405020304" pitchFamily="18" charset="0"/>
              <a:ea typeface="楷体_GB2312"/>
            </a:endParaRPr>
          </a:p>
          <a:p>
            <a:pPr eaLnBrk="0" hangingPunct="0"/>
            <a:r>
              <a:rPr lang="en-US" altLang="zh-CN" sz="2800" b="1" dirty="0">
                <a:solidFill>
                  <a:srgbClr val="FF0000"/>
                </a:solidFill>
                <a:latin typeface="Times New Roman" panose="02020603050405020304" pitchFamily="18" charset="0"/>
                <a:ea typeface="楷体_GB2312"/>
              </a:rPr>
              <a:t>2</a:t>
            </a:r>
            <a:r>
              <a:rPr lang="zh-CN" altLang="en-US" sz="2800" b="1" dirty="0">
                <a:solidFill>
                  <a:srgbClr val="FF0000"/>
                </a:solidFill>
                <a:latin typeface="Times New Roman" panose="02020603050405020304" pitchFamily="18" charset="0"/>
                <a:ea typeface="楷体_GB2312"/>
              </a:rPr>
              <a:t> 缺乏什么技术？ </a:t>
            </a:r>
            <a:endParaRPr lang="zh-CN" altLang="en-US" sz="2800" b="1" dirty="0">
              <a:solidFill>
                <a:srgbClr val="FF0000"/>
              </a:solidFill>
              <a:latin typeface="Times New Roman" panose="02020603050405020304" pitchFamily="18" charset="0"/>
              <a:ea typeface="楷体_GB2312"/>
            </a:endParaRPr>
          </a:p>
          <a:p>
            <a:pPr eaLnBrk="0" hangingPunct="0"/>
            <a:r>
              <a:rPr lang="en-US" altLang="zh-CN" sz="2800" b="1" dirty="0">
                <a:solidFill>
                  <a:srgbClr val="FF0000"/>
                </a:solidFill>
                <a:latin typeface="Times New Roman" panose="02020603050405020304" pitchFamily="18" charset="0"/>
                <a:ea typeface="楷体_GB2312"/>
              </a:rPr>
              <a:t>3</a:t>
            </a:r>
            <a:r>
              <a:rPr lang="zh-CN" altLang="en-US" sz="2800" b="1" dirty="0">
                <a:solidFill>
                  <a:srgbClr val="FF0000"/>
                </a:solidFill>
                <a:latin typeface="Times New Roman" panose="02020603050405020304" pitchFamily="18" charset="0"/>
                <a:ea typeface="楷体_GB2312"/>
              </a:rPr>
              <a:t> 别人有什么比我们好？ </a:t>
            </a:r>
            <a:endParaRPr lang="zh-CN" altLang="en-US" sz="2800" b="1" dirty="0">
              <a:solidFill>
                <a:srgbClr val="FF0000"/>
              </a:solidFill>
              <a:latin typeface="Times New Roman" panose="02020603050405020304" pitchFamily="18" charset="0"/>
              <a:ea typeface="楷体_GB2312"/>
            </a:endParaRPr>
          </a:p>
          <a:p>
            <a:pPr eaLnBrk="0" hangingPunct="0"/>
            <a:r>
              <a:rPr lang="en-US" altLang="zh-CN" sz="2800" b="1" dirty="0">
                <a:solidFill>
                  <a:srgbClr val="FF0000"/>
                </a:solidFill>
                <a:latin typeface="Times New Roman" panose="02020603050405020304" pitchFamily="18" charset="0"/>
                <a:ea typeface="楷体_GB2312"/>
              </a:rPr>
              <a:t>4</a:t>
            </a:r>
            <a:r>
              <a:rPr lang="zh-CN" altLang="en-US" sz="2800" b="1" dirty="0">
                <a:solidFill>
                  <a:srgbClr val="FF0000"/>
                </a:solidFill>
                <a:latin typeface="Times New Roman" panose="02020603050405020304" pitchFamily="18" charset="0"/>
                <a:ea typeface="楷体_GB2312"/>
              </a:rPr>
              <a:t> 不能够满足何种顾客？ </a:t>
            </a:r>
            <a:endParaRPr lang="zh-CN" altLang="en-US" sz="2800" b="1" dirty="0">
              <a:solidFill>
                <a:srgbClr val="FF0000"/>
              </a:solidFill>
              <a:latin typeface="Times New Roman" panose="02020603050405020304" pitchFamily="18" charset="0"/>
              <a:ea typeface="楷体_GB2312"/>
            </a:endParaRPr>
          </a:p>
          <a:p>
            <a:pPr eaLnBrk="0" hangingPunct="0"/>
            <a:r>
              <a:rPr lang="en-US" altLang="zh-CN" sz="2800" b="1" dirty="0">
                <a:solidFill>
                  <a:srgbClr val="FF0000"/>
                </a:solidFill>
                <a:latin typeface="Times New Roman" panose="02020603050405020304" pitchFamily="18" charset="0"/>
                <a:ea typeface="楷体_GB2312"/>
              </a:rPr>
              <a:t>5</a:t>
            </a:r>
            <a:r>
              <a:rPr lang="zh-CN" altLang="en-US" sz="2800" b="1" dirty="0">
                <a:solidFill>
                  <a:srgbClr val="FF0000"/>
                </a:solidFill>
                <a:latin typeface="Times New Roman" panose="02020603050405020304" pitchFamily="18" charset="0"/>
                <a:ea typeface="楷体_GB2312"/>
              </a:rPr>
              <a:t>  最近因何失败？ </a:t>
            </a:r>
            <a:endParaRPr lang="zh-CN" altLang="en-US" sz="2800" b="1" dirty="0">
              <a:solidFill>
                <a:srgbClr val="FF0000"/>
              </a:solidFill>
              <a:latin typeface="Times New Roman" panose="02020603050405020304" pitchFamily="18" charset="0"/>
              <a:ea typeface="楷体_GB2312"/>
            </a:endParaRPr>
          </a:p>
          <a:p>
            <a:pPr algn="ctr" eaLnBrk="0" hangingPunct="0"/>
            <a:endParaRPr lang="zh-CN" altLang="en-US" sz="2800" dirty="0">
              <a:solidFill>
                <a:srgbClr val="FF0000"/>
              </a:solidFill>
              <a:latin typeface="Times New Roman" panose="02020603050405020304" pitchFamily="18" charset="0"/>
              <a:ea typeface="楷体_GB2312"/>
            </a:endParaRPr>
          </a:p>
        </p:txBody>
      </p:sp>
      <p:sp>
        <p:nvSpPr>
          <p:cNvPr id="75780"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descr="ws_49"/>
          <p:cNvPicPr>
            <a:picLocks noChangeAspect="1"/>
          </p:cNvPicPr>
          <p:nvPr/>
        </p:nvPicPr>
        <p:blipFill rotWithShape="1">
          <a:blip r:embed="rId1"/>
          <a:srcRect t="48877"/>
          <a:stretch>
            <a:fillRect/>
          </a:stretch>
        </p:blipFill>
        <p:spPr>
          <a:xfrm>
            <a:off x="2771775" y="1771015"/>
            <a:ext cx="6694805" cy="4525645"/>
          </a:xfrm>
          <a:prstGeom prst="rect">
            <a:avLst/>
          </a:prstGeom>
          <a:no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486" name="Text Box 7"/>
          <p:cNvSpPr txBox="1"/>
          <p:nvPr/>
        </p:nvSpPr>
        <p:spPr>
          <a:xfrm>
            <a:off x="2208213" y="1055688"/>
            <a:ext cx="6048375" cy="440690"/>
          </a:xfrm>
          <a:prstGeom prst="rect">
            <a:avLst/>
          </a:prstGeom>
          <a:noFill/>
          <a:ln w="9525">
            <a:noFill/>
          </a:ln>
        </p:spPr>
        <p:txBody>
          <a:bodyPr lIns="0" tIns="0" rIns="0" bIns="0">
            <a:spAutoFit/>
          </a:bodyPr>
          <a:lstStyle/>
          <a:p>
            <a:pPr marR="0" defTabSz="914400" eaLnBrk="0" hangingPunct="0">
              <a:lnSpc>
                <a:spcPts val="3440"/>
              </a:lnSpc>
              <a:buClrTx/>
              <a:buSzTx/>
              <a:buFontTx/>
              <a:buNone/>
              <a:defRPr/>
            </a:pP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建立</a:t>
            </a:r>
            <a:r>
              <a:rPr kumimoji="0" lang="en-US" altLang="zh-CN"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SWOT</a:t>
            </a: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表时考虑的问题：</a:t>
            </a:r>
            <a:endParaRPr kumimoji="0" lang="en-US" altLang="zh-CN" sz="2800" b="1" kern="1200" cap="none" spc="0" normalizeH="0" baseline="0" noProof="0" dirty="0">
              <a:solidFill>
                <a:schemeClr val="bg1"/>
              </a:solidFill>
              <a:latin typeface="Calibri" panose="020F0502020204030204" pitchFamily="34" charset="0"/>
              <a:ea typeface="宋体" panose="02010600030101010101" pitchFamily="2" charset="-122"/>
              <a:cs typeface="+mn-cs"/>
            </a:endParaRPr>
          </a:p>
        </p:txBody>
      </p:sp>
      <p:sp>
        <p:nvSpPr>
          <p:cNvPr id="76803" name="矩形 10"/>
          <p:cNvSpPr/>
          <p:nvPr/>
        </p:nvSpPr>
        <p:spPr>
          <a:xfrm>
            <a:off x="3000375" y="2779713"/>
            <a:ext cx="5988050" cy="3268662"/>
          </a:xfrm>
          <a:prstGeom prst="rect">
            <a:avLst/>
          </a:prstGeom>
          <a:noFill/>
          <a:ln w="9525">
            <a:noFill/>
          </a:ln>
        </p:spPr>
        <p:txBody>
          <a:bodyPr anchor="ctr" anchorCtr="0"/>
          <a:lstStyle/>
          <a:p>
            <a:pPr eaLnBrk="0" hangingPunct="0"/>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1</a:t>
            </a:r>
            <a:r>
              <a:rPr lang="zh-CN" altLang="en-US" sz="2800" b="1" dirty="0">
                <a:latin typeface="Times New Roman" panose="02020603050405020304" pitchFamily="18" charset="0"/>
                <a:ea typeface="楷体_GB2312"/>
              </a:rPr>
              <a:t> 市场中有什么适合我们的机会？</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2</a:t>
            </a:r>
            <a:r>
              <a:rPr lang="zh-CN" altLang="en-US" sz="2800" b="1" dirty="0">
                <a:latin typeface="Times New Roman" panose="02020603050405020304" pitchFamily="18" charset="0"/>
                <a:ea typeface="楷体_GB2312"/>
              </a:rPr>
              <a:t> 可以学什么技术？</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3</a:t>
            </a:r>
            <a:r>
              <a:rPr lang="zh-CN" altLang="en-US" sz="2800" b="1" dirty="0">
                <a:latin typeface="Times New Roman" panose="02020603050405020304" pitchFamily="18" charset="0"/>
                <a:ea typeface="楷体_GB2312"/>
              </a:rPr>
              <a:t> 可以提供什么新的技术</a:t>
            </a:r>
            <a:r>
              <a:rPr lang="en-US" altLang="zh-CN" sz="2800" b="1" dirty="0">
                <a:latin typeface="Times New Roman" panose="02020603050405020304" pitchFamily="18" charset="0"/>
                <a:ea typeface="楷体_GB2312"/>
              </a:rPr>
              <a:t>/</a:t>
            </a:r>
            <a:r>
              <a:rPr lang="zh-CN" altLang="en-US" sz="2800" b="1" dirty="0">
                <a:latin typeface="Times New Roman" panose="02020603050405020304" pitchFamily="18" charset="0"/>
                <a:ea typeface="楷体_GB2312"/>
              </a:rPr>
              <a:t>服务？</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4</a:t>
            </a:r>
            <a:r>
              <a:rPr lang="zh-CN" altLang="en-US" sz="2800" b="1" dirty="0">
                <a:latin typeface="Times New Roman" panose="02020603050405020304" pitchFamily="18" charset="0"/>
                <a:ea typeface="楷体_GB2312"/>
              </a:rPr>
              <a:t> 可以吸引什么新的顾客？</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5</a:t>
            </a:r>
            <a:r>
              <a:rPr lang="zh-CN" altLang="en-US" sz="2800" b="1" dirty="0">
                <a:latin typeface="Times New Roman" panose="02020603050405020304" pitchFamily="18" charset="0"/>
                <a:ea typeface="楷体_GB2312"/>
              </a:rPr>
              <a:t> 怎样可以与众不同？</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6</a:t>
            </a:r>
            <a:r>
              <a:rPr lang="zh-CN" altLang="en-US" sz="2800" b="1" dirty="0">
                <a:latin typeface="Times New Roman" panose="02020603050405020304" pitchFamily="18" charset="0"/>
                <a:ea typeface="楷体_GB2312"/>
              </a:rPr>
              <a:t> 组织在</a:t>
            </a:r>
            <a:r>
              <a:rPr lang="en-US" altLang="zh-CN" sz="2800" b="1" dirty="0">
                <a:latin typeface="Times New Roman" panose="02020603050405020304" pitchFamily="18" charset="0"/>
                <a:ea typeface="楷体_GB2312"/>
              </a:rPr>
              <a:t>5-10</a:t>
            </a:r>
            <a:r>
              <a:rPr lang="zh-CN" altLang="en-US" sz="2800" b="1" dirty="0">
                <a:latin typeface="Times New Roman" panose="02020603050405020304" pitchFamily="18" charset="0"/>
                <a:ea typeface="楷体_GB2312"/>
              </a:rPr>
              <a:t>年内的发展？</a:t>
            </a:r>
            <a:endParaRPr lang="en-US" altLang="zh-CN" sz="2800" b="1" dirty="0">
              <a:latin typeface="Times New Roman" panose="02020603050405020304" pitchFamily="18" charset="0"/>
              <a:ea typeface="楷体_GB2312"/>
            </a:endParaRPr>
          </a:p>
          <a:p>
            <a:pPr algn="ctr" eaLnBrk="0" hangingPunct="0"/>
            <a:endParaRPr lang="zh-CN" altLang="en-US" sz="2800" dirty="0">
              <a:solidFill>
                <a:srgbClr val="FFFFEE"/>
              </a:solidFill>
              <a:latin typeface="Times New Roman" panose="02020603050405020304" pitchFamily="18" charset="0"/>
              <a:ea typeface="楷体_GB2312"/>
            </a:endParaRPr>
          </a:p>
        </p:txBody>
      </p:sp>
      <p:sp>
        <p:nvSpPr>
          <p:cNvPr id="76804"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5" name="Picture 5" descr="ws_4A"/>
          <p:cNvPicPr>
            <a:picLocks noChangeAspect="1"/>
          </p:cNvPicPr>
          <p:nvPr/>
        </p:nvPicPr>
        <p:blipFill>
          <a:blip r:embed="rId1"/>
          <a:srcRect t="48877"/>
          <a:stretch>
            <a:fillRect/>
          </a:stretch>
        </p:blipFill>
        <p:spPr>
          <a:xfrm>
            <a:off x="2711450" y="1862138"/>
            <a:ext cx="7056438" cy="4310062"/>
          </a:xfrm>
          <a:prstGeom prst="rect">
            <a:avLst/>
          </a:prstGeom>
          <a:noFill/>
          <a:ln w="9525">
            <a:noFill/>
          </a:ln>
        </p:spPr>
      </p:pic>
      <p:sp>
        <p:nvSpPr>
          <p:cNvPr id="20486" name="Text Box 7"/>
          <p:cNvSpPr txBox="1"/>
          <p:nvPr/>
        </p:nvSpPr>
        <p:spPr>
          <a:xfrm>
            <a:off x="2095500" y="1196975"/>
            <a:ext cx="6048375" cy="440690"/>
          </a:xfrm>
          <a:prstGeom prst="rect">
            <a:avLst/>
          </a:prstGeom>
          <a:noFill/>
          <a:ln w="9525">
            <a:noFill/>
          </a:ln>
        </p:spPr>
        <p:txBody>
          <a:bodyPr lIns="0" tIns="0" rIns="0" bIns="0">
            <a:spAutoFit/>
          </a:bodyPr>
          <a:lstStyle/>
          <a:p>
            <a:pPr marR="0" defTabSz="914400" eaLnBrk="0" hangingPunct="0">
              <a:lnSpc>
                <a:spcPts val="3440"/>
              </a:lnSpc>
              <a:buClrTx/>
              <a:buSzTx/>
              <a:buFontTx/>
              <a:buNone/>
              <a:defRPr/>
            </a:pP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建立</a:t>
            </a:r>
            <a:r>
              <a:rPr kumimoji="0" lang="en-US" altLang="zh-CN"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SWOT</a:t>
            </a:r>
            <a:r>
              <a:rPr kumimoji="0" lang="zh-CN" altLang="en-US" sz="2800" kern="1200" cap="none" spc="0" normalizeH="0" baseline="0" noProof="0" dirty="0">
                <a:solidFill>
                  <a:srgbClr val="A50021"/>
                </a:solidFill>
                <a:effectLst>
                  <a:outerShdw blurRad="38100" dist="38100" dir="2700000">
                    <a:srgbClr val="000000"/>
                  </a:outerShdw>
                </a:effectLst>
                <a:latin typeface="Arial" panose="020B0604020202020204" pitchFamily="34" charset="0"/>
                <a:ea typeface="宋体" panose="02010600030101010101" pitchFamily="2" charset="-122"/>
                <a:cs typeface="+mn-cs"/>
              </a:rPr>
              <a:t>表时考虑的问题：</a:t>
            </a:r>
            <a:endParaRPr kumimoji="0" lang="en-US" altLang="zh-CN" sz="2800" b="1" kern="1200" cap="none" spc="0" normalizeH="0" baseline="0" noProof="0" dirty="0">
              <a:solidFill>
                <a:schemeClr val="bg1"/>
              </a:solidFill>
              <a:latin typeface="Calibri" panose="020F0502020204030204" pitchFamily="34" charset="0"/>
              <a:ea typeface="宋体" panose="02010600030101010101" pitchFamily="2" charset="-122"/>
              <a:cs typeface="+mn-cs"/>
            </a:endParaRPr>
          </a:p>
        </p:txBody>
      </p:sp>
      <p:sp>
        <p:nvSpPr>
          <p:cNvPr id="77827" name="矩形 12"/>
          <p:cNvSpPr/>
          <p:nvPr/>
        </p:nvSpPr>
        <p:spPr>
          <a:xfrm>
            <a:off x="3287713" y="2865438"/>
            <a:ext cx="6084887" cy="3284537"/>
          </a:xfrm>
          <a:prstGeom prst="rect">
            <a:avLst/>
          </a:prstGeom>
          <a:noFill/>
          <a:ln w="9525">
            <a:noFill/>
          </a:ln>
        </p:spPr>
        <p:txBody>
          <a:bodyPr anchor="ctr" anchorCtr="0"/>
          <a:lstStyle/>
          <a:p>
            <a:pPr eaLnBrk="0" hangingPunct="0"/>
            <a:endParaRPr lang="en-US" altLang="zh-CN" sz="2800" b="1" dirty="0">
              <a:solidFill>
                <a:srgbClr val="FFFFEE"/>
              </a:solidFill>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1</a:t>
            </a:r>
            <a:r>
              <a:rPr lang="zh-CN" altLang="en-US" sz="2800" b="1" dirty="0">
                <a:latin typeface="Times New Roman" panose="02020603050405020304" pitchFamily="18" charset="0"/>
                <a:ea typeface="楷体_GB2312"/>
              </a:rPr>
              <a:t> 市场最近有什么改变？</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2</a:t>
            </a:r>
            <a:r>
              <a:rPr lang="zh-CN" altLang="en-US" sz="2800" b="1" dirty="0">
                <a:latin typeface="Times New Roman" panose="02020603050405020304" pitchFamily="18" charset="0"/>
                <a:ea typeface="楷体_GB2312"/>
              </a:rPr>
              <a:t> 竞争者最近在做什么？</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3</a:t>
            </a:r>
            <a:r>
              <a:rPr lang="zh-CN" altLang="en-US" sz="2800" b="1" dirty="0">
                <a:latin typeface="Times New Roman" panose="02020603050405020304" pitchFamily="18" charset="0"/>
                <a:ea typeface="楷体_GB2312"/>
              </a:rPr>
              <a:t> 是否赶不上顾客需求的改变？</a:t>
            </a:r>
            <a:br>
              <a:rPr lang="en-US" altLang="zh-CN" sz="2800" b="1" dirty="0">
                <a:latin typeface="Times New Roman" panose="02020603050405020304" pitchFamily="18" charset="0"/>
                <a:ea typeface="楷体_GB2312"/>
              </a:rPr>
            </a:br>
            <a:r>
              <a:rPr lang="en-US" altLang="zh-CN" sz="2800" b="1" dirty="0">
                <a:latin typeface="Times New Roman" panose="02020603050405020304" pitchFamily="18" charset="0"/>
                <a:ea typeface="楷体_GB2312"/>
              </a:rPr>
              <a:t>4</a:t>
            </a:r>
            <a:r>
              <a:rPr lang="zh-CN" altLang="en-US" sz="2800" b="1" dirty="0">
                <a:latin typeface="Times New Roman" panose="02020603050405020304" pitchFamily="18" charset="0"/>
                <a:ea typeface="楷体_GB2312"/>
              </a:rPr>
              <a:t> 政治环境的改变是否会伤害组织？</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5</a:t>
            </a:r>
            <a:r>
              <a:rPr lang="zh-CN" altLang="en-US" sz="2800" b="1" dirty="0">
                <a:latin typeface="Times New Roman" panose="02020603050405020304" pitchFamily="18" charset="0"/>
                <a:ea typeface="楷体_GB2312"/>
              </a:rPr>
              <a:t> 是否有什么事可能会威胁到组织的生存？</a:t>
            </a:r>
            <a:endParaRPr lang="en-US" altLang="zh-CN" sz="2800" b="1" dirty="0">
              <a:latin typeface="Times New Roman" panose="02020603050405020304" pitchFamily="18" charset="0"/>
              <a:ea typeface="楷体_GB2312"/>
            </a:endParaRPr>
          </a:p>
          <a:p>
            <a:pPr algn="ctr" eaLnBrk="0" hangingPunct="0"/>
            <a:endParaRPr lang="zh-CN" altLang="en-US" sz="2800" dirty="0">
              <a:solidFill>
                <a:srgbClr val="FFFFEE"/>
              </a:solidFill>
              <a:latin typeface="Times New Roman" panose="02020603050405020304" pitchFamily="18" charset="0"/>
              <a:ea typeface="楷体_GB2312"/>
            </a:endParaRPr>
          </a:p>
        </p:txBody>
      </p:sp>
      <p:sp>
        <p:nvSpPr>
          <p:cNvPr id="77828"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矩形 6"/>
          <p:cNvSpPr/>
          <p:nvPr/>
        </p:nvSpPr>
        <p:spPr>
          <a:xfrm>
            <a:off x="1919288" y="879475"/>
            <a:ext cx="3836988" cy="532130"/>
          </a:xfrm>
          <a:prstGeom prst="rect">
            <a:avLst/>
          </a:prstGeom>
          <a:noFill/>
          <a:ln w="9525">
            <a:noFill/>
          </a:ln>
        </p:spPr>
        <p:txBody>
          <a:bodyPr>
            <a:spAutoFit/>
          </a:bodyPr>
          <a:lstStyle/>
          <a:p>
            <a:pPr marL="0" marR="0" lvl="0" indent="0" algn="l" defTabSz="914400" rtl="0" eaLnBrk="0" fontAlgn="base" latinLnBrk="0" hangingPunct="0">
              <a:lnSpc>
                <a:spcPts val="344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SWOT</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案例分析：</a:t>
            </a:r>
            <a:endParaRPr kumimoji="0" lang="en-US" altLang="zh-CN" sz="2800" b="1"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78850" name="TextBox 7"/>
          <p:cNvSpPr txBox="1"/>
          <p:nvPr/>
        </p:nvSpPr>
        <p:spPr>
          <a:xfrm>
            <a:off x="1990725" y="1412875"/>
            <a:ext cx="9584055" cy="953135"/>
          </a:xfrm>
          <a:prstGeom prst="rect">
            <a:avLst/>
          </a:prstGeom>
          <a:noFill/>
          <a:ln w="9525">
            <a:noFill/>
          </a:ln>
        </p:spPr>
        <p:txBody>
          <a:bodyPr wrap="square" anchor="t" anchorCtr="0">
            <a:spAutoFit/>
          </a:bodyPr>
          <a:lstStyle/>
          <a:p>
            <a:pPr eaLnBrk="0" hangingPunct="0"/>
            <a:r>
              <a:rPr lang="zh-CN" altLang="en-US" sz="2800" b="1" dirty="0">
                <a:latin typeface="Arial" panose="020B0604020202020204" pitchFamily="34" charset="0"/>
                <a:ea typeface="宋体" panose="02010600030101010101" pitchFamily="2" charset="-122"/>
              </a:rPr>
              <a:t>一个由</a:t>
            </a:r>
            <a:r>
              <a:rPr lang="en-US" altLang="zh-CN" sz="2800" b="1" dirty="0">
                <a:latin typeface="Arial" panose="020B0604020202020204" pitchFamily="34" charset="0"/>
              </a:rPr>
              <a:t>4</a:t>
            </a:r>
            <a:r>
              <a:rPr lang="zh-CN" altLang="en-US" sz="2800" b="1" dirty="0">
                <a:latin typeface="Arial" panose="020B0604020202020204" pitchFamily="34" charset="0"/>
                <a:ea typeface="宋体" panose="02010600030101010101" pitchFamily="2" charset="-122"/>
              </a:rPr>
              <a:t>人组成的团队，准备在电影业开始一项新的业务，他们采用</a:t>
            </a:r>
            <a:r>
              <a:rPr lang="en-US" altLang="zh-CN" sz="2800" b="1" dirty="0">
                <a:latin typeface="Arial" panose="020B0604020202020204" pitchFamily="34" charset="0"/>
              </a:rPr>
              <a:t>SWOT</a:t>
            </a:r>
            <a:r>
              <a:rPr lang="zh-CN" altLang="en-US" sz="2800" b="1" dirty="0">
                <a:latin typeface="Arial" panose="020B0604020202020204" pitchFamily="34" charset="0"/>
                <a:ea typeface="宋体" panose="02010600030101010101" pitchFamily="2" charset="-122"/>
              </a:rPr>
              <a:t>分析识别有潜力的项目分析结果如下：</a:t>
            </a:r>
            <a:endParaRPr lang="zh-CN" altLang="en-US" sz="2800" b="1" dirty="0">
              <a:latin typeface="Arial" panose="020B0604020202020204" pitchFamily="34" charset="0"/>
              <a:ea typeface="宋体" panose="02010600030101010101" pitchFamily="2" charset="-122"/>
            </a:endParaRPr>
          </a:p>
        </p:txBody>
      </p:sp>
      <p:pic>
        <p:nvPicPr>
          <p:cNvPr id="78851" name="Picture 4" descr="ws_49"/>
          <p:cNvPicPr>
            <a:picLocks noChangeAspect="1"/>
          </p:cNvPicPr>
          <p:nvPr/>
        </p:nvPicPr>
        <p:blipFill>
          <a:blip r:embed="rId1"/>
          <a:srcRect b="49690"/>
          <a:stretch>
            <a:fillRect/>
          </a:stretch>
        </p:blipFill>
        <p:spPr>
          <a:xfrm>
            <a:off x="2711450" y="2565400"/>
            <a:ext cx="7196138" cy="3781425"/>
          </a:xfrm>
          <a:prstGeom prst="rect">
            <a:avLst/>
          </a:prstGeom>
          <a:noFill/>
          <a:ln w="9525">
            <a:noFill/>
          </a:ln>
        </p:spPr>
      </p:pic>
      <p:sp>
        <p:nvSpPr>
          <p:cNvPr id="21511" name="矩形 13"/>
          <p:cNvSpPr/>
          <p:nvPr/>
        </p:nvSpPr>
        <p:spPr>
          <a:xfrm>
            <a:off x="3071813" y="3211513"/>
            <a:ext cx="6565900" cy="2911475"/>
          </a:xfrm>
          <a:prstGeom prst="rect">
            <a:avLst/>
          </a:prstGeom>
          <a:noFill/>
          <a:ln w="9525">
            <a:noFill/>
          </a:ln>
        </p:spPr>
        <p:txBody>
          <a:bodyPr anchor="ctr" anchorCtr="0"/>
          <a:lstStyle/>
          <a:p>
            <a:pPr eaLnBrk="0" hangingPunct="0"/>
            <a:r>
              <a:rPr lang="zh-CN" altLang="en-US" sz="2800" b="1" dirty="0">
                <a:solidFill>
                  <a:srgbClr val="FFFF00"/>
                </a:solidFill>
                <a:latin typeface="Times New Roman" panose="02020603050405020304" pitchFamily="18" charset="0"/>
                <a:ea typeface="楷体_GB2312"/>
              </a:rPr>
              <a:t> </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1</a:t>
            </a:r>
            <a:r>
              <a:rPr lang="zh-CN" altLang="en-US" sz="2800" b="1" dirty="0">
                <a:solidFill>
                  <a:srgbClr val="FFFF00"/>
                </a:solidFill>
                <a:latin typeface="Times New Roman" panose="02020603050405020304" pitchFamily="18" charset="0"/>
                <a:ea typeface="楷体_GB2312"/>
              </a:rPr>
              <a:t>、有经验、有人 脉</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2</a:t>
            </a:r>
            <a:r>
              <a:rPr lang="zh-CN" altLang="en-US" sz="2800" b="1" dirty="0">
                <a:solidFill>
                  <a:srgbClr val="FFFF00"/>
                </a:solidFill>
                <a:latin typeface="Times New Roman" panose="02020603050405020304" pitchFamily="18" charset="0"/>
                <a:ea typeface="楷体_GB2312"/>
              </a:rPr>
              <a:t>、团队中有人擅长电影制作的新技术</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3</a:t>
            </a:r>
            <a:r>
              <a:rPr lang="zh-CN" altLang="en-US" sz="2800" b="1" dirty="0">
                <a:solidFill>
                  <a:srgbClr val="FFFF00"/>
                </a:solidFill>
                <a:latin typeface="Times New Roman" panose="02020603050405020304" pitchFamily="18" charset="0"/>
                <a:ea typeface="楷体_GB2312"/>
              </a:rPr>
              <a:t>、团队中有人擅长人际交往</a:t>
            </a:r>
            <a:endParaRPr lang="zh-CN" altLang="en-US" sz="2800" b="1" dirty="0">
              <a:solidFill>
                <a:srgbClr val="FFFF00"/>
              </a:solidFill>
              <a:latin typeface="Times New Roman" panose="02020603050405020304" pitchFamily="18" charset="0"/>
              <a:ea typeface="楷体_GB2312"/>
            </a:endParaRPr>
          </a:p>
          <a:p>
            <a:pPr eaLnBrk="0" hangingPunct="0"/>
            <a:r>
              <a:rPr lang="en-US" altLang="zh-CN" sz="2800" b="1" dirty="0">
                <a:solidFill>
                  <a:srgbClr val="FFFF00"/>
                </a:solidFill>
                <a:latin typeface="Times New Roman" panose="02020603050405020304" pitchFamily="18" charset="0"/>
                <a:ea typeface="楷体_GB2312"/>
              </a:rPr>
              <a:t>4</a:t>
            </a:r>
            <a:r>
              <a:rPr lang="zh-CN" altLang="en-US" sz="2800" b="1" dirty="0">
                <a:solidFill>
                  <a:srgbClr val="FFFF00"/>
                </a:solidFill>
                <a:latin typeface="Times New Roman" panose="02020603050405020304" pitchFamily="18" charset="0"/>
                <a:ea typeface="楷体_GB2312"/>
              </a:rPr>
              <a:t>、最近完成了一些令人深刻的项目</a:t>
            </a:r>
            <a:endParaRPr lang="zh-CN" altLang="en-US" sz="2800" dirty="0">
              <a:solidFill>
                <a:srgbClr val="FFFF00"/>
              </a:solidFill>
              <a:latin typeface="Times New Roman" panose="02020603050405020304" pitchFamily="18" charset="0"/>
              <a:ea typeface="楷体_GB2312"/>
            </a:endParaRPr>
          </a:p>
        </p:txBody>
      </p:sp>
      <p:sp>
        <p:nvSpPr>
          <p:cNvPr id="78853"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矩形 6"/>
          <p:cNvSpPr/>
          <p:nvPr/>
        </p:nvSpPr>
        <p:spPr>
          <a:xfrm>
            <a:off x="1990725" y="939800"/>
            <a:ext cx="3836988" cy="532130"/>
          </a:xfrm>
          <a:prstGeom prst="rect">
            <a:avLst/>
          </a:prstGeom>
          <a:noFill/>
          <a:ln w="9525">
            <a:noFill/>
          </a:ln>
        </p:spPr>
        <p:txBody>
          <a:bodyPr>
            <a:spAutoFit/>
          </a:bodyPr>
          <a:lstStyle/>
          <a:p>
            <a:pPr marL="0" marR="0" lvl="0" indent="0" algn="l" defTabSz="914400" rtl="0" eaLnBrk="0" fontAlgn="base" latinLnBrk="0" hangingPunct="0">
              <a:lnSpc>
                <a:spcPts val="344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SWOT</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案例分析：</a:t>
            </a:r>
            <a:endParaRPr kumimoji="0" lang="en-US" altLang="zh-CN" sz="2800" b="1"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79874" name="TextBox 7"/>
          <p:cNvSpPr txBox="1"/>
          <p:nvPr/>
        </p:nvSpPr>
        <p:spPr>
          <a:xfrm>
            <a:off x="2206625" y="1484630"/>
            <a:ext cx="9636125" cy="953135"/>
          </a:xfrm>
          <a:prstGeom prst="rect">
            <a:avLst/>
          </a:prstGeom>
          <a:noFill/>
          <a:ln w="9525">
            <a:noFill/>
          </a:ln>
        </p:spPr>
        <p:txBody>
          <a:bodyPr wrap="square" anchor="t" anchorCtr="0">
            <a:spAutoFit/>
          </a:bodyPr>
          <a:lstStyle/>
          <a:p>
            <a:pPr eaLnBrk="0" hangingPunct="0"/>
            <a:r>
              <a:rPr lang="zh-CN" altLang="en-US" sz="2800" b="1" dirty="0">
                <a:latin typeface="Arial" panose="020B0604020202020204" pitchFamily="34" charset="0"/>
                <a:ea typeface="宋体" panose="02010600030101010101" pitchFamily="2" charset="-122"/>
              </a:rPr>
              <a:t>一个由</a:t>
            </a:r>
            <a:r>
              <a:rPr lang="en-US" altLang="zh-CN" sz="2800" b="1" dirty="0">
                <a:latin typeface="Arial" panose="020B0604020202020204" pitchFamily="34" charset="0"/>
              </a:rPr>
              <a:t>4</a:t>
            </a:r>
            <a:r>
              <a:rPr lang="zh-CN" altLang="en-US" sz="2800" b="1" dirty="0">
                <a:latin typeface="Arial" panose="020B0604020202020204" pitchFamily="34" charset="0"/>
                <a:ea typeface="宋体" panose="02010600030101010101" pitchFamily="2" charset="-122"/>
              </a:rPr>
              <a:t>人组成的团队，准备在电影业开始一项新的业务，他们采用</a:t>
            </a:r>
            <a:r>
              <a:rPr lang="en-US" altLang="zh-CN" sz="2800" b="1" dirty="0">
                <a:latin typeface="Arial" panose="020B0604020202020204" pitchFamily="34" charset="0"/>
              </a:rPr>
              <a:t>SWOT</a:t>
            </a:r>
            <a:r>
              <a:rPr lang="zh-CN" altLang="en-US" sz="2800" b="1" dirty="0">
                <a:latin typeface="Arial" panose="020B0604020202020204" pitchFamily="34" charset="0"/>
                <a:ea typeface="宋体" panose="02010600030101010101" pitchFamily="2" charset="-122"/>
              </a:rPr>
              <a:t>分析识别有潜力的项目分析结果如下：</a:t>
            </a:r>
            <a:endParaRPr lang="zh-CN" altLang="en-US" sz="2800" b="1" dirty="0">
              <a:latin typeface="Arial" panose="020B0604020202020204" pitchFamily="34" charset="0"/>
              <a:ea typeface="宋体" panose="02010600030101010101" pitchFamily="2" charset="-122"/>
            </a:endParaRPr>
          </a:p>
        </p:txBody>
      </p:sp>
      <p:pic>
        <p:nvPicPr>
          <p:cNvPr id="79875" name="Picture 5" descr="ws_4A"/>
          <p:cNvPicPr>
            <a:picLocks noChangeAspect="1"/>
          </p:cNvPicPr>
          <p:nvPr/>
        </p:nvPicPr>
        <p:blipFill>
          <a:blip r:embed="rId1"/>
          <a:srcRect b="51160"/>
          <a:stretch>
            <a:fillRect/>
          </a:stretch>
        </p:blipFill>
        <p:spPr>
          <a:xfrm>
            <a:off x="2784475" y="2417763"/>
            <a:ext cx="6902450" cy="3611562"/>
          </a:xfrm>
          <a:prstGeom prst="rect">
            <a:avLst/>
          </a:prstGeom>
          <a:noFill/>
          <a:ln w="9525">
            <a:noFill/>
          </a:ln>
        </p:spPr>
      </p:pic>
      <p:sp>
        <p:nvSpPr>
          <p:cNvPr id="21513" name="矩形 15"/>
          <p:cNvSpPr/>
          <p:nvPr/>
        </p:nvSpPr>
        <p:spPr>
          <a:xfrm>
            <a:off x="3143250" y="2708275"/>
            <a:ext cx="6249988" cy="3541713"/>
          </a:xfrm>
          <a:prstGeom prst="rect">
            <a:avLst/>
          </a:prstGeom>
          <a:noFill/>
          <a:ln w="9525">
            <a:noFill/>
          </a:ln>
        </p:spPr>
        <p:txBody>
          <a:bodyPr anchor="ctr" anchorCtr="0"/>
          <a:lstStyle/>
          <a:p>
            <a:pPr eaLnBrk="0" hangingPunct="0"/>
            <a:endParaRPr lang="zh-CN" altLang="en-US" sz="2800" b="1" dirty="0">
              <a:solidFill>
                <a:srgbClr val="FFFFEE"/>
              </a:solidFill>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1</a:t>
            </a:r>
            <a:r>
              <a:rPr lang="zh-CN" altLang="en-US" sz="2800" b="1" dirty="0">
                <a:latin typeface="Times New Roman" panose="02020603050405020304" pitchFamily="18" charset="0"/>
                <a:ea typeface="楷体_GB2312"/>
              </a:rPr>
              <a:t>、没有财务、会计经验</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2</a:t>
            </a:r>
            <a:r>
              <a:rPr lang="zh-CN" altLang="en-US" sz="2800" b="1" dirty="0">
                <a:latin typeface="Times New Roman" panose="02020603050405020304" pitchFamily="18" charset="0"/>
                <a:ea typeface="楷体_GB2312"/>
              </a:rPr>
              <a:t>、对产品和服务没有清晰的市场战略</a:t>
            </a:r>
            <a:endParaRPr lang="zh-CN" altLang="en-US"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3</a:t>
            </a:r>
            <a:r>
              <a:rPr lang="zh-CN" altLang="en-US" sz="2800" b="1" dirty="0">
                <a:latin typeface="Times New Roman" panose="02020603050405020304" pitchFamily="18" charset="0"/>
                <a:ea typeface="楷体_GB2312"/>
              </a:rPr>
              <a:t>、资金不足</a:t>
            </a:r>
            <a:endParaRPr lang="zh-CN" altLang="en-US"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4</a:t>
            </a:r>
            <a:r>
              <a:rPr lang="zh-CN" altLang="en-US" sz="2800" b="1" dirty="0">
                <a:latin typeface="Times New Roman" panose="02020603050405020304" pitchFamily="18" charset="0"/>
                <a:ea typeface="楷体_GB2312"/>
              </a:rPr>
              <a:t>、没有公司网站，并缺少运营方面的技术应用</a:t>
            </a:r>
            <a:endParaRPr lang="zh-CN" altLang="en-US" sz="2800" dirty="0">
              <a:solidFill>
                <a:srgbClr val="FFFFEE"/>
              </a:solidFill>
              <a:latin typeface="Times New Roman" panose="02020603050405020304" pitchFamily="18" charset="0"/>
              <a:ea typeface="楷体_GB2312"/>
            </a:endParaRPr>
          </a:p>
        </p:txBody>
      </p:sp>
      <p:sp>
        <p:nvSpPr>
          <p:cNvPr id="79877"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513"/>
                                        </p:tgtEl>
                                        <p:attrNameLst>
                                          <p:attrName>style.visibility</p:attrName>
                                        </p:attrNameLst>
                                      </p:cBhvr>
                                      <p:to>
                                        <p:strVal val="visible"/>
                                      </p:to>
                                    </p:set>
                                    <p:animEffect transition="in" filter="barn(inVertical)">
                                      <p:cBhvr>
                                        <p:cTn id="7" dur="500"/>
                                        <p:tgtEl>
                                          <p:spTgt spid="21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矩形 6"/>
          <p:cNvSpPr/>
          <p:nvPr/>
        </p:nvSpPr>
        <p:spPr>
          <a:xfrm>
            <a:off x="1919288" y="836613"/>
            <a:ext cx="3836988" cy="532130"/>
          </a:xfrm>
          <a:prstGeom prst="rect">
            <a:avLst/>
          </a:prstGeom>
          <a:noFill/>
          <a:ln w="9525">
            <a:noFill/>
          </a:ln>
        </p:spPr>
        <p:txBody>
          <a:bodyPr>
            <a:spAutoFit/>
          </a:bodyPr>
          <a:lstStyle/>
          <a:p>
            <a:pPr marL="0" marR="0" lvl="0" indent="0" algn="l" defTabSz="914400" rtl="0" eaLnBrk="0" fontAlgn="base" latinLnBrk="0" hangingPunct="0">
              <a:lnSpc>
                <a:spcPts val="344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SWOT</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案例分析：</a:t>
            </a:r>
            <a:endParaRPr kumimoji="0" lang="en-US" altLang="zh-CN" sz="2800" b="1"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80898" name="TextBox 7"/>
          <p:cNvSpPr txBox="1"/>
          <p:nvPr/>
        </p:nvSpPr>
        <p:spPr>
          <a:xfrm>
            <a:off x="2063750" y="1339850"/>
            <a:ext cx="9740900" cy="953135"/>
          </a:xfrm>
          <a:prstGeom prst="rect">
            <a:avLst/>
          </a:prstGeom>
          <a:noFill/>
          <a:ln w="9525">
            <a:noFill/>
          </a:ln>
        </p:spPr>
        <p:txBody>
          <a:bodyPr wrap="square" anchor="t" anchorCtr="0">
            <a:spAutoFit/>
          </a:bodyPr>
          <a:lstStyle/>
          <a:p>
            <a:pPr lvl="0" algn="l" eaLnBrk="0" hangingPunct="0">
              <a:buClrTx/>
              <a:buSzTx/>
              <a:buFontTx/>
            </a:pPr>
            <a:r>
              <a:rPr lang="zh-CN" altLang="en-US" sz="2800" b="1" dirty="0">
                <a:latin typeface="Arial" panose="020B0604020202020204" pitchFamily="34" charset="0"/>
                <a:sym typeface="+mn-ea"/>
              </a:rPr>
              <a:t>一个由</a:t>
            </a:r>
            <a:r>
              <a:rPr lang="zh-CN" altLang="en-US" sz="2800" b="1" dirty="0">
                <a:latin typeface="Arial" panose="020B0604020202020204" pitchFamily="34" charset="0"/>
                <a:sym typeface="+mn-ea"/>
              </a:rPr>
              <a:t>4</a:t>
            </a:r>
            <a:r>
              <a:rPr lang="zh-CN" altLang="en-US" sz="2800" b="1" dirty="0">
                <a:latin typeface="Arial" panose="020B0604020202020204" pitchFamily="34" charset="0"/>
                <a:sym typeface="+mn-ea"/>
              </a:rPr>
              <a:t>人组成的团队，准备在电影业开始一项新的业务，他们采用</a:t>
            </a:r>
            <a:r>
              <a:rPr lang="zh-CN" altLang="en-US" sz="2800" b="1" dirty="0">
                <a:latin typeface="Arial" panose="020B0604020202020204" pitchFamily="34" charset="0"/>
                <a:sym typeface="+mn-ea"/>
              </a:rPr>
              <a:t>SWOT</a:t>
            </a:r>
            <a:r>
              <a:rPr lang="zh-CN" altLang="en-US" sz="2800" b="1" dirty="0">
                <a:latin typeface="Arial" panose="020B0604020202020204" pitchFamily="34" charset="0"/>
                <a:sym typeface="+mn-ea"/>
              </a:rPr>
              <a:t>分析</a:t>
            </a:r>
            <a:r>
              <a:rPr lang="zh-CN" altLang="en-US" sz="2800" b="1" dirty="0">
                <a:latin typeface="Arial" panose="020B0604020202020204" pitchFamily="34" charset="0"/>
                <a:sym typeface="华文中宋" panose="02010600040101010101" pitchFamily="2" charset="-122"/>
              </a:rPr>
              <a:t>识</a:t>
            </a:r>
            <a:r>
              <a:rPr lang="zh-CN" altLang="en-US" sz="2800" b="1" dirty="0">
                <a:latin typeface="Arial" panose="020B0604020202020204" pitchFamily="34" charset="0"/>
                <a:sym typeface="+mn-ea"/>
              </a:rPr>
              <a:t>别有潜力的项目分析结果如下：</a:t>
            </a:r>
            <a:endParaRPr lang="zh-CN" altLang="en-US" sz="2800" b="1" dirty="0">
              <a:latin typeface="Arial" panose="020B0604020202020204" pitchFamily="34" charset="0"/>
              <a:sym typeface="+mn-ea"/>
            </a:endParaRPr>
          </a:p>
        </p:txBody>
      </p:sp>
      <p:pic>
        <p:nvPicPr>
          <p:cNvPr id="80899" name="Picture 4" descr="ws_49"/>
          <p:cNvPicPr>
            <a:picLocks noChangeAspect="1"/>
          </p:cNvPicPr>
          <p:nvPr/>
        </p:nvPicPr>
        <p:blipFill>
          <a:blip r:embed="rId1"/>
          <a:srcRect t="48840"/>
          <a:stretch>
            <a:fillRect/>
          </a:stretch>
        </p:blipFill>
        <p:spPr>
          <a:xfrm>
            <a:off x="2711450" y="2492375"/>
            <a:ext cx="7032625" cy="3959225"/>
          </a:xfrm>
          <a:prstGeom prst="rect">
            <a:avLst/>
          </a:prstGeom>
          <a:noFill/>
          <a:ln w="9525">
            <a:noFill/>
          </a:ln>
        </p:spPr>
      </p:pic>
      <p:sp>
        <p:nvSpPr>
          <p:cNvPr id="21512" name="矩形 14"/>
          <p:cNvSpPr/>
          <p:nvPr/>
        </p:nvSpPr>
        <p:spPr>
          <a:xfrm>
            <a:off x="3100388" y="3644900"/>
            <a:ext cx="6335712" cy="2532063"/>
          </a:xfrm>
          <a:prstGeom prst="rect">
            <a:avLst/>
          </a:prstGeom>
          <a:noFill/>
          <a:ln w="9525">
            <a:noFill/>
          </a:ln>
        </p:spPr>
        <p:txBody>
          <a:bodyPr anchor="ctr" anchorCtr="0"/>
          <a:lstStyle/>
          <a:p>
            <a:pPr eaLnBrk="0" hangingPunct="0"/>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1</a:t>
            </a:r>
            <a:r>
              <a:rPr lang="zh-CN" altLang="en-US" sz="2800" b="1" dirty="0">
                <a:latin typeface="Times New Roman" panose="02020603050405020304" pitchFamily="18" charset="0"/>
                <a:ea typeface="楷体_GB2312"/>
              </a:rPr>
              <a:t>、有一个客户提到一个大项目，希望我们竞标</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2</a:t>
            </a:r>
            <a:r>
              <a:rPr lang="zh-CN" altLang="en-US" sz="2800" b="1" dirty="0">
                <a:latin typeface="Times New Roman" panose="02020603050405020304" pitchFamily="18" charset="0"/>
                <a:ea typeface="楷体_GB2312"/>
              </a:rPr>
              <a:t>、电影业持续 发展</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3</a:t>
            </a:r>
            <a:r>
              <a:rPr lang="zh-CN" altLang="en-US" sz="2800" b="1" dirty="0">
                <a:latin typeface="Times New Roman" panose="02020603050405020304" pitchFamily="18" charset="0"/>
                <a:ea typeface="楷体_GB2312"/>
              </a:rPr>
              <a:t>、今年有两个重大的会议，可以推动公司发展</a:t>
            </a:r>
            <a:endParaRPr lang="en-US" altLang="zh-CN" sz="2800" b="1" dirty="0">
              <a:latin typeface="Times New Roman" panose="02020603050405020304" pitchFamily="18" charset="0"/>
              <a:ea typeface="楷体_GB2312"/>
            </a:endParaRPr>
          </a:p>
          <a:p>
            <a:pPr algn="ctr" eaLnBrk="0" hangingPunct="0"/>
            <a:endParaRPr lang="zh-CN" altLang="en-US" sz="2800" dirty="0">
              <a:latin typeface="Times New Roman" panose="02020603050405020304" pitchFamily="18" charset="0"/>
              <a:ea typeface="楷体_GB2312"/>
            </a:endParaRPr>
          </a:p>
        </p:txBody>
      </p:sp>
      <p:sp>
        <p:nvSpPr>
          <p:cNvPr id="80901"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1512"/>
                                        </p:tgtEl>
                                        <p:attrNameLst>
                                          <p:attrName>style.visibility</p:attrName>
                                        </p:attrNameLst>
                                      </p:cBhvr>
                                      <p:to>
                                        <p:strVal val="visible"/>
                                      </p:to>
                                    </p:set>
                                    <p:animEffect transition="in" filter="circle(in)">
                                      <p:cBhvr>
                                        <p:cTn id="7" dur="2000"/>
                                        <p:tgtEl>
                                          <p:spTgt spid="21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矩形 6"/>
          <p:cNvSpPr/>
          <p:nvPr/>
        </p:nvSpPr>
        <p:spPr>
          <a:xfrm>
            <a:off x="1990725" y="893763"/>
            <a:ext cx="3836988" cy="532130"/>
          </a:xfrm>
          <a:prstGeom prst="rect">
            <a:avLst/>
          </a:prstGeom>
          <a:noFill/>
          <a:ln w="9525">
            <a:noFill/>
          </a:ln>
        </p:spPr>
        <p:txBody>
          <a:bodyPr>
            <a:spAutoFit/>
          </a:bodyPr>
          <a:lstStyle/>
          <a:p>
            <a:pPr marL="0" marR="0" lvl="0" indent="0" algn="l" defTabSz="914400" rtl="0" eaLnBrk="0" fontAlgn="base" latinLnBrk="0" hangingPunct="0">
              <a:lnSpc>
                <a:spcPts val="344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SWOT</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案例分析：</a:t>
            </a:r>
            <a:endParaRPr kumimoji="0" lang="en-US" altLang="zh-CN" sz="2800" b="1"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81922" name="TextBox 7"/>
          <p:cNvSpPr txBox="1"/>
          <p:nvPr/>
        </p:nvSpPr>
        <p:spPr>
          <a:xfrm>
            <a:off x="2279650" y="1557655"/>
            <a:ext cx="9424035" cy="953135"/>
          </a:xfrm>
          <a:prstGeom prst="rect">
            <a:avLst/>
          </a:prstGeom>
          <a:noFill/>
          <a:ln w="9525">
            <a:noFill/>
          </a:ln>
        </p:spPr>
        <p:txBody>
          <a:bodyPr wrap="square" anchor="t" anchorCtr="0">
            <a:spAutoFit/>
          </a:bodyPr>
          <a:lstStyle/>
          <a:p>
            <a:pPr lvl="0" algn="l" eaLnBrk="0" hangingPunct="0">
              <a:buClrTx/>
              <a:buSzTx/>
              <a:buFontTx/>
            </a:pPr>
            <a:r>
              <a:rPr lang="zh-CN" altLang="en-US" sz="2800" b="1" dirty="0">
                <a:latin typeface="Arial" panose="020B0604020202020204" pitchFamily="34" charset="0"/>
                <a:sym typeface="+mn-ea"/>
              </a:rPr>
              <a:t>一个由</a:t>
            </a:r>
            <a:r>
              <a:rPr lang="zh-CN" altLang="en-US" sz="2800" b="1" dirty="0">
                <a:latin typeface="Arial" panose="020B0604020202020204" pitchFamily="34" charset="0"/>
                <a:sym typeface="+mn-ea"/>
              </a:rPr>
              <a:t>4</a:t>
            </a:r>
            <a:r>
              <a:rPr lang="zh-CN" altLang="en-US" sz="2800" b="1" dirty="0">
                <a:latin typeface="Arial" panose="020B0604020202020204" pitchFamily="34" charset="0"/>
                <a:sym typeface="+mn-ea"/>
              </a:rPr>
              <a:t>人组成的团队，准备在电影业开始一项新的业务，他们采用</a:t>
            </a:r>
            <a:r>
              <a:rPr lang="zh-CN" altLang="en-US" sz="2800" b="1" dirty="0">
                <a:latin typeface="Arial" panose="020B0604020202020204" pitchFamily="34" charset="0"/>
                <a:sym typeface="+mn-ea"/>
              </a:rPr>
              <a:t>SWOT</a:t>
            </a:r>
            <a:r>
              <a:rPr lang="zh-CN" altLang="en-US" sz="2800" b="1" dirty="0">
                <a:latin typeface="Arial" panose="020B0604020202020204" pitchFamily="34" charset="0"/>
                <a:sym typeface="+mn-ea"/>
              </a:rPr>
              <a:t>分析</a:t>
            </a:r>
            <a:r>
              <a:rPr lang="zh-CN" altLang="en-US" sz="2800" b="1" dirty="0">
                <a:latin typeface="Arial" panose="020B0604020202020204" pitchFamily="34" charset="0"/>
                <a:sym typeface="华文中宋" panose="02010600040101010101" pitchFamily="2" charset="-122"/>
              </a:rPr>
              <a:t>识</a:t>
            </a:r>
            <a:r>
              <a:rPr lang="zh-CN" altLang="en-US" sz="2800" b="1" dirty="0">
                <a:latin typeface="Arial" panose="020B0604020202020204" pitchFamily="34" charset="0"/>
                <a:sym typeface="+mn-ea"/>
              </a:rPr>
              <a:t>别有潜力的项目分析结果如下：</a:t>
            </a:r>
            <a:endParaRPr lang="zh-CN" altLang="en-US" sz="2800" b="1" dirty="0">
              <a:latin typeface="Arial" panose="020B0604020202020204" pitchFamily="34" charset="0"/>
              <a:sym typeface="+mn-ea"/>
            </a:endParaRPr>
          </a:p>
        </p:txBody>
      </p:sp>
      <p:pic>
        <p:nvPicPr>
          <p:cNvPr id="81923" name="Picture 5" descr="ws_4A"/>
          <p:cNvPicPr>
            <a:picLocks noChangeAspect="1"/>
          </p:cNvPicPr>
          <p:nvPr/>
        </p:nvPicPr>
        <p:blipFill>
          <a:blip r:embed="rId1"/>
          <a:srcRect t="50319"/>
          <a:stretch>
            <a:fillRect/>
          </a:stretch>
        </p:blipFill>
        <p:spPr>
          <a:xfrm>
            <a:off x="2927350" y="2657475"/>
            <a:ext cx="7056438" cy="3486150"/>
          </a:xfrm>
          <a:prstGeom prst="rect">
            <a:avLst/>
          </a:prstGeom>
          <a:noFill/>
          <a:ln w="9525">
            <a:noFill/>
          </a:ln>
        </p:spPr>
      </p:pic>
      <p:sp>
        <p:nvSpPr>
          <p:cNvPr id="21514" name="矩形 16"/>
          <p:cNvSpPr/>
          <p:nvPr/>
        </p:nvSpPr>
        <p:spPr>
          <a:xfrm>
            <a:off x="3287713" y="3429000"/>
            <a:ext cx="6192837" cy="1943100"/>
          </a:xfrm>
          <a:prstGeom prst="rect">
            <a:avLst/>
          </a:prstGeom>
          <a:noFill/>
          <a:ln w="9525">
            <a:noFill/>
          </a:ln>
        </p:spPr>
        <p:txBody>
          <a:bodyPr anchor="ctr" anchorCtr="0"/>
          <a:lstStyle/>
          <a:p>
            <a:pPr eaLnBrk="0" hangingPunct="0"/>
            <a:r>
              <a:rPr lang="en-US" altLang="zh-CN" sz="2800" b="1" dirty="0">
                <a:latin typeface="Times New Roman" panose="02020603050405020304" pitchFamily="18" charset="0"/>
                <a:ea typeface="楷体_GB2312"/>
              </a:rPr>
              <a:t>1</a:t>
            </a:r>
            <a:r>
              <a:rPr lang="zh-CN" altLang="en-US" sz="2800" b="1" dirty="0">
                <a:latin typeface="Times New Roman" panose="02020603050405020304" pitchFamily="18" charset="0"/>
                <a:ea typeface="楷体_GB2312"/>
              </a:rPr>
              <a:t>、其它公司提供类似的服务</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2</a:t>
            </a:r>
            <a:r>
              <a:rPr lang="zh-CN" altLang="en-US" sz="2800" b="1" dirty="0">
                <a:latin typeface="Times New Roman" panose="02020603050405020304" pitchFamily="18" charset="0"/>
                <a:ea typeface="楷体_GB2312"/>
              </a:rPr>
              <a:t>、客户可能倾向更大更有经验的团队</a:t>
            </a:r>
            <a:endParaRPr lang="en-US" altLang="zh-CN" sz="2800" b="1" dirty="0">
              <a:latin typeface="Times New Roman" panose="02020603050405020304" pitchFamily="18" charset="0"/>
              <a:ea typeface="楷体_GB2312"/>
            </a:endParaRPr>
          </a:p>
          <a:p>
            <a:pPr eaLnBrk="0" hangingPunct="0"/>
            <a:r>
              <a:rPr lang="en-US" altLang="zh-CN" sz="2800" b="1" dirty="0">
                <a:latin typeface="Times New Roman" panose="02020603050405020304" pitchFamily="18" charset="0"/>
                <a:ea typeface="楷体_GB2312"/>
              </a:rPr>
              <a:t>3</a:t>
            </a:r>
            <a:r>
              <a:rPr lang="zh-CN" altLang="en-US" sz="2800" b="1" dirty="0">
                <a:latin typeface="Times New Roman" panose="02020603050405020304" pitchFamily="18" charset="0"/>
                <a:ea typeface="楷体_GB2312"/>
              </a:rPr>
              <a:t>、电影业存大较大的风险</a:t>
            </a:r>
            <a:endParaRPr lang="zh-CN" altLang="en-US" sz="2800" dirty="0">
              <a:solidFill>
                <a:srgbClr val="FFFFEE"/>
              </a:solidFill>
              <a:latin typeface="Times New Roman" panose="02020603050405020304" pitchFamily="18" charset="0"/>
              <a:ea typeface="楷体_GB2312"/>
            </a:endParaRPr>
          </a:p>
        </p:txBody>
      </p:sp>
      <p:sp>
        <p:nvSpPr>
          <p:cNvPr id="81925"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1514"/>
                                        </p:tgtEl>
                                        <p:attrNameLst>
                                          <p:attrName>style.visibility</p:attrName>
                                        </p:attrNameLst>
                                      </p:cBhvr>
                                      <p:to>
                                        <p:strVal val="visible"/>
                                      </p:to>
                                    </p:set>
                                    <p:animEffect transition="in" filter="wheel(1)">
                                      <p:cBhvr>
                                        <p:cTn id="7" dur="2000"/>
                                        <p:tgtEl>
                                          <p:spTgt spid="21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ext Box 7"/>
          <p:cNvSpPr txBox="1"/>
          <p:nvPr/>
        </p:nvSpPr>
        <p:spPr>
          <a:xfrm>
            <a:off x="1992313" y="1339850"/>
            <a:ext cx="7127875" cy="440690"/>
          </a:xfrm>
          <a:prstGeom prst="rect">
            <a:avLst/>
          </a:prstGeom>
          <a:noFill/>
          <a:ln w="9525">
            <a:noFill/>
          </a:ln>
        </p:spPr>
        <p:txBody>
          <a:bodyPr lIns="0" tIns="0" rIns="0" bIns="0" anchor="t" anchorCtr="0">
            <a:spAutoFit/>
          </a:bodyPr>
          <a:lstStyle/>
          <a:p>
            <a:pPr eaLnBrk="0" hangingPunct="0">
              <a:lnSpc>
                <a:spcPts val="3440"/>
              </a:lnSpc>
            </a:pPr>
            <a:r>
              <a:rPr lang="zh-CN" altLang="en-US" sz="2800" dirty="0">
                <a:solidFill>
                  <a:srgbClr val="A50021"/>
                </a:solidFill>
                <a:latin typeface="Arial" panose="020B0604020202020204" pitchFamily="34" charset="0"/>
                <a:ea typeface="宋体" panose="02010600030101010101" pitchFamily="2" charset="-122"/>
              </a:rPr>
              <a:t>通过</a:t>
            </a:r>
            <a:r>
              <a:rPr lang="en-US" altLang="zh-CN" sz="2800" dirty="0">
                <a:solidFill>
                  <a:srgbClr val="A50021"/>
                </a:solidFill>
                <a:latin typeface="Arial" panose="020B0604020202020204" pitchFamily="34" charset="0"/>
              </a:rPr>
              <a:t>SWOT</a:t>
            </a:r>
            <a:r>
              <a:rPr lang="zh-CN" altLang="en-US" sz="2800" dirty="0">
                <a:solidFill>
                  <a:srgbClr val="A50021"/>
                </a:solidFill>
                <a:latin typeface="Arial" panose="020B0604020202020204" pitchFamily="34" charset="0"/>
                <a:ea typeface="宋体" panose="02010600030101010101" pitchFamily="2" charset="-122"/>
              </a:rPr>
              <a:t>分析，列出的有潜力的项目如下：</a:t>
            </a:r>
            <a:endParaRPr lang="en-US" altLang="zh-CN" sz="2800" b="1" dirty="0">
              <a:solidFill>
                <a:schemeClr val="bg1"/>
              </a:solidFill>
              <a:latin typeface="Calibri" panose="020F0502020204030204" pitchFamily="34" charset="0"/>
            </a:endParaRPr>
          </a:p>
        </p:txBody>
      </p:sp>
      <p:sp>
        <p:nvSpPr>
          <p:cNvPr id="22533" name="矩形 12"/>
          <p:cNvSpPr/>
          <p:nvPr/>
        </p:nvSpPr>
        <p:spPr>
          <a:xfrm>
            <a:off x="1722120" y="1989455"/>
            <a:ext cx="9690735" cy="4289425"/>
          </a:xfrm>
          <a:prstGeom prst="rect">
            <a:avLst/>
          </a:prstGeom>
          <a:noFill/>
          <a:ln w="9525">
            <a:noFill/>
          </a:ln>
        </p:spPr>
        <p:txBody>
          <a:bodyPr anchor="ctr" anchorCtr="0"/>
          <a:lstStyle/>
          <a:p>
            <a:pPr eaLnBrk="0" hangingPunct="0">
              <a:buFont typeface="Wingdings" panose="05000000000000000000" pitchFamily="2" charset="2"/>
              <a:buChar char="ü"/>
            </a:pPr>
            <a:r>
              <a:rPr lang="zh-CN" altLang="en-US" sz="2600" b="1" dirty="0">
                <a:latin typeface="Times New Roman" panose="02020603050405020304" pitchFamily="18" charset="0"/>
                <a:ea typeface="楷体_GB2312"/>
              </a:rPr>
              <a:t>请一位外部会计师或公司协助业务运转</a:t>
            </a: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r>
              <a:rPr lang="zh-CN" altLang="en-US" sz="2600" b="1" dirty="0">
                <a:latin typeface="Times New Roman" panose="02020603050405020304" pitchFamily="18" charset="0"/>
                <a:ea typeface="楷体_GB2312"/>
              </a:rPr>
              <a:t>雇佣人员开发公司网站，集中展示我们的经验及做过的项目</a:t>
            </a: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r>
              <a:rPr lang="zh-CN" altLang="en-US" sz="2600" b="1" dirty="0">
                <a:latin typeface="Times New Roman" panose="02020603050405020304" pitchFamily="18" charset="0"/>
                <a:ea typeface="楷体_GB2312"/>
              </a:rPr>
              <a:t>制定营销计划</a:t>
            </a: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r>
              <a:rPr lang="zh-CN" altLang="en-US" sz="2600" b="1" dirty="0">
                <a:latin typeface="Times New Roman" panose="02020603050405020304" pitchFamily="18" charset="0"/>
                <a:ea typeface="楷体_GB2312"/>
              </a:rPr>
              <a:t>制定一个有力的方案，从而获得前面提到的大项目</a:t>
            </a: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endParaRPr lang="en-US" altLang="zh-CN" sz="2600" b="1" dirty="0">
              <a:latin typeface="Times New Roman" panose="02020603050405020304" pitchFamily="18" charset="0"/>
              <a:ea typeface="楷体_GB2312"/>
            </a:endParaRPr>
          </a:p>
          <a:p>
            <a:pPr eaLnBrk="0" hangingPunct="0">
              <a:buFont typeface="Wingdings" panose="05000000000000000000" pitchFamily="2" charset="2"/>
              <a:buChar char="ü"/>
            </a:pPr>
            <a:r>
              <a:rPr lang="zh-CN" altLang="en-US" sz="2600" b="1" dirty="0">
                <a:latin typeface="Times New Roman" panose="02020603050405020304" pitchFamily="18" charset="0"/>
                <a:ea typeface="楷体_GB2312"/>
              </a:rPr>
              <a:t>为今年的两个重大会议制定公司推广计划</a:t>
            </a:r>
            <a:endParaRPr lang="zh-CN" altLang="en-US" sz="2600" dirty="0">
              <a:solidFill>
                <a:srgbClr val="FFFFEE"/>
              </a:solidFill>
              <a:latin typeface="Times New Roman" panose="02020603050405020304" pitchFamily="18" charset="0"/>
              <a:ea typeface="楷体_GB2312"/>
            </a:endParaRPr>
          </a:p>
        </p:txBody>
      </p:sp>
      <p:sp>
        <p:nvSpPr>
          <p:cNvPr id="82947" name="Line 2"/>
          <p:cNvSpPr/>
          <p:nvPr/>
        </p:nvSpPr>
        <p:spPr>
          <a:xfrm>
            <a:off x="2095500" y="763588"/>
            <a:ext cx="8001000" cy="1587"/>
          </a:xfrm>
          <a:prstGeom prst="line">
            <a:avLst/>
          </a:prstGeom>
          <a:ln w="0" cap="flat" cmpd="sng">
            <a:solidFill>
              <a:srgbClr val="000000"/>
            </a:solidFill>
            <a:prstDash val="solid"/>
            <a:round/>
            <a:headEnd type="none" w="med" len="med"/>
            <a:tailEnd type="none" w="med" len="med"/>
          </a:ln>
        </p:spPr>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53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4" name="Rectangle 6"/>
          <p:cNvSpPr>
            <a:spLocks noGrp="1"/>
          </p:cNvSpPr>
          <p:nvPr/>
        </p:nvSpPr>
        <p:spPr>
          <a:xfrm>
            <a:off x="1847850" y="1557020"/>
            <a:ext cx="9738995" cy="1512570"/>
          </a:xfrm>
          <a:prstGeom prst="rect">
            <a:avLst/>
          </a:prstGeom>
          <a:noFill/>
          <a:ln w="9525">
            <a:noFill/>
          </a:ln>
        </p:spPr>
        <p:txBody>
          <a:bodyPr vert="horz" wrap="square" lIns="0" tIns="0" rIns="0" bIns="0" anchor="t" anchorCtr="0"/>
          <a:lst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项目管理的第一步是决定要做什么项目。因此首先要确定潜在项目，然后使用可行的方法选择项目，最后通过发布项目章程正式启动项目。</a:t>
            </a:r>
            <a:endPar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sp>
        <p:nvSpPr>
          <p:cNvPr id="23558" name="Rectangle 5"/>
          <p:cNvSpPr>
            <a:spLocks noGrp="1"/>
          </p:cNvSpPr>
          <p:nvPr/>
        </p:nvSpPr>
        <p:spPr>
          <a:xfrm>
            <a:off x="1919605" y="1000125"/>
            <a:ext cx="3507105" cy="523875"/>
          </a:xfrm>
          <a:prstGeom prst="rect">
            <a:avLst/>
          </a:prstGeom>
        </p:spPr>
        <p:txBody>
          <a:bodyPr vert="horz" wrap="square" lIns="92075" tIns="46038" rIns="92075" bIns="46038"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A50021"/>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n-cs"/>
              </a:rPr>
              <a:t>识别有潜力的项目</a:t>
            </a:r>
            <a:endParaRPr kumimoji="0" lang="zh-CN" altLang="en-US" sz="2800" b="1" i="0" u="none" strike="noStrike" kern="1200" cap="none" spc="0" normalizeH="0" baseline="0" noProof="0" dirty="0">
              <a:ln>
                <a:noFill/>
              </a:ln>
              <a:solidFill>
                <a:srgbClr val="A50021"/>
              </a:solidFill>
              <a:effectLst>
                <a:outerShdw blurRad="50000" dist="30000" dir="5400000" algn="tl" rotWithShape="0">
                  <a:srgbClr val="000000">
                    <a:alpha val="30000"/>
                  </a:srgbClr>
                </a:outerShdw>
              </a:effectLst>
              <a:uLnTx/>
              <a:uFillTx/>
              <a:latin typeface="Times New Roman" panose="02020603050405020304" pitchFamily="18" charset="0"/>
              <a:ea typeface="楷体_GB2312" pitchFamily="49" charset="-122"/>
              <a:cs typeface="+mn-cs"/>
            </a:endParaRPr>
          </a:p>
        </p:txBody>
      </p:sp>
      <p:sp>
        <p:nvSpPr>
          <p:cNvPr id="2" name="Rectangle 6"/>
          <p:cNvSpPr>
            <a:spLocks noGrp="1"/>
          </p:cNvSpPr>
          <p:nvPr/>
        </p:nvSpPr>
        <p:spPr>
          <a:xfrm>
            <a:off x="1991360" y="3284855"/>
            <a:ext cx="9738995" cy="588645"/>
          </a:xfrm>
          <a:prstGeom prst="rect">
            <a:avLst/>
          </a:prstGeom>
          <a:noFill/>
          <a:ln w="9525">
            <a:noFill/>
          </a:ln>
        </p:spPr>
        <p:txBody>
          <a:bodyPr vert="horz" wrap="square" lIns="0" tIns="0" rIns="0" bIns="0" anchor="t" anchorCtr="0"/>
          <a:lst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公司愿景</a:t>
            </a:r>
            <a:r>
              <a:rPr kumimoji="0" lang="en-US"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战略计划</a:t>
            </a:r>
            <a:r>
              <a:rPr kumimoji="0" lang="en-US"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项目筛选</a:t>
            </a:r>
            <a:r>
              <a:rPr kumimoji="0" lang="en-US"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项目组合</a:t>
            </a:r>
            <a:r>
              <a:rPr kumimoji="0" lang="en-US"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执行</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spTree>
  </p:cSld>
  <p:clrMapOvr>
    <a:masterClrMapping/>
  </p:clrMapOvr>
  <p:transition spd="slow">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3" name="Object 15"/>
          <p:cNvGraphicFramePr>
            <a:graphicFrameLocks noGrp="1" noChangeAspect="1"/>
          </p:cNvGraphicFramePr>
          <p:nvPr>
            <p:ph idx="4294967295"/>
          </p:nvPr>
        </p:nvGraphicFramePr>
        <p:xfrm>
          <a:off x="2205355" y="1052830"/>
          <a:ext cx="9110345" cy="5074920"/>
        </p:xfrm>
        <a:graphic>
          <a:graphicData uri="http://schemas.openxmlformats.org/presentationml/2006/ole">
            <mc:AlternateContent xmlns:mc="http://schemas.openxmlformats.org/markup-compatibility/2006">
              <mc:Choice xmlns:v="urn:schemas-microsoft-com:vml" Requires="v">
                <p:oleObj spid="_x0000_s3091" name="" r:id="rId1" imgW="7505700" imgH="4191000" progId="Visio.Drawing.11">
                  <p:embed/>
                </p:oleObj>
              </mc:Choice>
              <mc:Fallback>
                <p:oleObj name="" r:id="rId1" imgW="7505700" imgH="4191000" progId="Visio.Drawing.11">
                  <p:embed/>
                  <p:pic>
                    <p:nvPicPr>
                      <p:cNvPr id="0" name="图片 3075"/>
                      <p:cNvPicPr/>
                      <p:nvPr/>
                    </p:nvPicPr>
                    <p:blipFill>
                      <a:blip r:embed="rId2"/>
                      <a:stretch>
                        <a:fillRect/>
                      </a:stretch>
                    </p:blipFill>
                    <p:spPr>
                      <a:xfrm>
                        <a:off x="2205355" y="1052830"/>
                        <a:ext cx="9110345" cy="5074920"/>
                      </a:xfrm>
                      <a:prstGeom prst="rect">
                        <a:avLst/>
                      </a:prstGeom>
                      <a:noFill/>
                      <a:ln w="38100">
                        <a:miter/>
                      </a:ln>
                    </p:spPr>
                  </p:pic>
                </p:oleObj>
              </mc:Fallback>
            </mc:AlternateContent>
          </a:graphicData>
        </a:graphic>
      </p:graphicFrame>
      <p:sp>
        <p:nvSpPr>
          <p:cNvPr id="84994" name="Text Box 17"/>
          <p:cNvSpPr txBox="1"/>
          <p:nvPr/>
        </p:nvSpPr>
        <p:spPr>
          <a:xfrm>
            <a:off x="1488440" y="44133"/>
            <a:ext cx="4264025" cy="430530"/>
          </a:xfrm>
          <a:prstGeom prst="rect">
            <a:avLst/>
          </a:prstGeom>
          <a:noFill/>
          <a:ln w="9525">
            <a:noFill/>
          </a:ln>
        </p:spPr>
        <p:txBody>
          <a:bodyPr lIns="0" tIns="0" rIns="0" bIns="0" anchor="t" anchorCtr="0">
            <a:spAutoFit/>
          </a:bodyPr>
          <a:lstStyle/>
          <a:p>
            <a:pPr algn="just" eaLnBrk="0" hangingPunct="0">
              <a:spcBef>
                <a:spcPct val="10000"/>
              </a:spcBef>
            </a:pPr>
            <a:r>
              <a:rPr lang="zh-CN" altLang="en-US" sz="2800" b="1" dirty="0">
                <a:solidFill>
                  <a:srgbClr val="FF0000"/>
                </a:solidFill>
                <a:latin typeface="Times New Roman" panose="02020603050405020304" pitchFamily="18" charset="0"/>
                <a:ea typeface="楷体_GB2312"/>
              </a:rPr>
              <a:t>选择</a:t>
            </a:r>
            <a:r>
              <a:rPr lang="en-US" altLang="zh-CN" sz="2800" b="1" dirty="0">
                <a:solidFill>
                  <a:srgbClr val="FF0000"/>
                </a:solidFill>
                <a:latin typeface="Times New Roman" panose="02020603050405020304" pitchFamily="18" charset="0"/>
                <a:ea typeface="楷体_GB2312"/>
              </a:rPr>
              <a:t>IT</a:t>
            </a:r>
            <a:r>
              <a:rPr lang="zh-CN" altLang="en-US" sz="2800" b="1" dirty="0">
                <a:solidFill>
                  <a:srgbClr val="FF0000"/>
                </a:solidFill>
                <a:latin typeface="Times New Roman" panose="02020603050405020304" pitchFamily="18" charset="0"/>
                <a:ea typeface="楷体_GB2312"/>
              </a:rPr>
              <a:t>项目计划过程：</a:t>
            </a:r>
            <a:endParaRPr lang="zh-CN" altLang="en-US" sz="2800" b="1" dirty="0">
              <a:solidFill>
                <a:srgbClr val="FF0000"/>
              </a:solidFill>
              <a:latin typeface="Times New Roman" panose="02020603050405020304" pitchFamily="18" charset="0"/>
              <a:ea typeface="楷体_GB2312"/>
              <a:sym typeface="Symbol" panose="05050102010706020507" pitchFamily="18" charset="2"/>
            </a:endParaRPr>
          </a:p>
        </p:txBody>
      </p:sp>
      <p:sp>
        <p:nvSpPr>
          <p:cNvPr id="24581" name="Arc 18"/>
          <p:cNvSpPr/>
          <p:nvPr/>
        </p:nvSpPr>
        <p:spPr>
          <a:xfrm>
            <a:off x="2855913" y="884238"/>
            <a:ext cx="1439862" cy="744537"/>
          </a:xfrm>
          <a:custGeom>
            <a:avLst/>
            <a:gdLst/>
            <a:ahLst/>
            <a:cxnLst>
              <a:cxn ang="0">
                <a:pos x="58175491" y="0"/>
              </a:cxn>
              <a:cxn ang="0">
                <a:pos x="95981601" y="32266318"/>
              </a:cxn>
              <a:cxn ang="0">
                <a:pos x="0" y="32266318"/>
              </a:cxn>
            </a:cxnLst>
            <a:rect l="0" t="0" r="0" b="0"/>
            <a:pathLst>
              <a:path w="21600" h="17180" fill="none">
                <a:moveTo>
                  <a:pt x="13092" y="-1"/>
                </a:moveTo>
                <a:cubicBezTo>
                  <a:pt x="18453" y="4085"/>
                  <a:pt x="21600" y="10439"/>
                  <a:pt x="21600" y="17180"/>
                </a:cubicBezTo>
              </a:path>
              <a:path w="21600" h="17180" stroke="0">
                <a:moveTo>
                  <a:pt x="13092" y="-1"/>
                </a:moveTo>
                <a:cubicBezTo>
                  <a:pt x="18453" y="4085"/>
                  <a:pt x="21600" y="10439"/>
                  <a:pt x="21600" y="17180"/>
                </a:cubicBezTo>
                <a:lnTo>
                  <a:pt x="0" y="17180"/>
                </a:lnTo>
                <a:lnTo>
                  <a:pt x="13092" y="-1"/>
                </a:lnTo>
                <a:close/>
              </a:path>
            </a:pathLst>
          </a:custGeom>
          <a:noFill/>
          <a:ln w="38100" cap="flat" cmpd="sng">
            <a:solidFill>
              <a:srgbClr val="FF6600"/>
            </a:solidFill>
            <a:prstDash val="solid"/>
            <a:bevel/>
            <a:headEnd type="none" w="med" len="med"/>
            <a:tailEnd type="stealth" w="med" len="lg"/>
          </a:ln>
        </p:spPr>
        <p:txBody>
          <a:bodyPr/>
          <a:lstStyle/>
          <a:p>
            <a:endParaRPr lang="zh-CN" altLang="en-US"/>
          </a:p>
        </p:txBody>
      </p:sp>
      <p:sp>
        <p:nvSpPr>
          <p:cNvPr id="24582" name="Text Box 20"/>
          <p:cNvSpPr txBox="1"/>
          <p:nvPr/>
        </p:nvSpPr>
        <p:spPr>
          <a:xfrm>
            <a:off x="2205038" y="603250"/>
            <a:ext cx="2738437" cy="338455"/>
          </a:xfrm>
          <a:prstGeom prst="rect">
            <a:avLst/>
          </a:prstGeom>
          <a:noFill/>
          <a:ln w="9525">
            <a:noFill/>
          </a:ln>
        </p:spPr>
        <p:txBody>
          <a:bodyPr lIns="0" tIns="0" rIns="0" bIns="0" anchor="t" anchorCtr="0">
            <a:spAutoFit/>
          </a:bodyPr>
          <a:lstStyle/>
          <a:p>
            <a:pPr algn="just" eaLnBrk="0" hangingPunct="0">
              <a:spcBef>
                <a:spcPct val="50000"/>
              </a:spcBef>
            </a:pPr>
            <a:r>
              <a:rPr lang="zh-CN" altLang="en-US" sz="2200" b="1" dirty="0">
                <a:latin typeface="Arial" panose="020B0604020202020204" pitchFamily="34" charset="0"/>
                <a:ea typeface="华文行楷" panose="02010800040101010101" pitchFamily="2" charset="-122"/>
              </a:rPr>
              <a:t>组织的整体战略计划</a:t>
            </a:r>
            <a:endParaRPr lang="zh-CN" altLang="en-US" sz="2200" b="1" dirty="0">
              <a:latin typeface="Arial" panose="020B0604020202020204" pitchFamily="34" charset="0"/>
              <a:ea typeface="华文行楷" panose="02010800040101010101" pitchFamily="2" charset="-122"/>
            </a:endParaRPr>
          </a:p>
        </p:txBody>
      </p:sp>
      <p:sp>
        <p:nvSpPr>
          <p:cNvPr id="24583" name="Arc 22"/>
          <p:cNvSpPr/>
          <p:nvPr/>
        </p:nvSpPr>
        <p:spPr>
          <a:xfrm>
            <a:off x="3792855" y="2073275"/>
            <a:ext cx="1666875" cy="892175"/>
          </a:xfrm>
          <a:custGeom>
            <a:avLst/>
            <a:gdLst/>
            <a:ahLst/>
            <a:cxnLst>
              <a:cxn ang="0">
                <a:pos x="21830878" y="0"/>
              </a:cxn>
              <a:cxn ang="0">
                <a:pos x="14838057" y="98892"/>
              </a:cxn>
              <a:cxn ang="0">
                <a:pos x="19422004" y="4784288"/>
              </a:cxn>
            </a:cxnLst>
            <a:rect l="0" t="0" r="0" b="0"/>
            <a:pathLst>
              <a:path w="43200" h="43033" fill="none">
                <a:moveTo>
                  <a:pt x="24279" y="-1"/>
                </a:moveTo>
                <a:cubicBezTo>
                  <a:pt x="35088" y="1350"/>
                  <a:pt x="43200" y="10539"/>
                  <a:pt x="43200" y="21433"/>
                </a:cubicBezTo>
                <a:cubicBezTo>
                  <a:pt x="43200" y="33362"/>
                  <a:pt x="33529" y="43033"/>
                  <a:pt x="21600" y="43033"/>
                </a:cubicBezTo>
                <a:cubicBezTo>
                  <a:pt x="9670" y="43033"/>
                  <a:pt x="0" y="33362"/>
                  <a:pt x="0" y="21433"/>
                </a:cubicBezTo>
                <a:cubicBezTo>
                  <a:pt x="-1" y="11467"/>
                  <a:pt x="6817" y="2795"/>
                  <a:pt x="16502" y="443"/>
                </a:cubicBezTo>
              </a:path>
              <a:path w="43200" h="43033" stroke="0">
                <a:moveTo>
                  <a:pt x="24279" y="-1"/>
                </a:moveTo>
                <a:cubicBezTo>
                  <a:pt x="35088" y="1350"/>
                  <a:pt x="43200" y="10539"/>
                  <a:pt x="43200" y="21433"/>
                </a:cubicBezTo>
                <a:cubicBezTo>
                  <a:pt x="43200" y="33362"/>
                  <a:pt x="33529" y="43033"/>
                  <a:pt x="21600" y="43033"/>
                </a:cubicBezTo>
                <a:cubicBezTo>
                  <a:pt x="9670" y="43033"/>
                  <a:pt x="0" y="33362"/>
                  <a:pt x="0" y="21433"/>
                </a:cubicBezTo>
                <a:cubicBezTo>
                  <a:pt x="-1" y="11467"/>
                  <a:pt x="6817" y="2795"/>
                  <a:pt x="16502" y="443"/>
                </a:cubicBezTo>
                <a:lnTo>
                  <a:pt x="21600" y="21433"/>
                </a:lnTo>
                <a:lnTo>
                  <a:pt x="24279" y="-1"/>
                </a:lnTo>
                <a:close/>
              </a:path>
            </a:pathLst>
          </a:custGeom>
          <a:noFill/>
          <a:ln w="38100" cap="flat" cmpd="sng">
            <a:solidFill>
              <a:srgbClr val="FF6600"/>
            </a:solidFill>
            <a:prstDash val="solid"/>
            <a:bevel/>
            <a:headEnd type="none" w="med" len="med"/>
            <a:tailEnd type="none" w="med" len="med"/>
          </a:ln>
        </p:spPr>
        <p:txBody>
          <a:bodyPr/>
          <a:lstStyle/>
          <a:p>
            <a:endParaRPr lang="zh-CN" altLang="en-US"/>
          </a:p>
        </p:txBody>
      </p:sp>
      <p:sp>
        <p:nvSpPr>
          <p:cNvPr id="24584" name="AutoShape 24"/>
          <p:cNvSpPr/>
          <p:nvPr/>
        </p:nvSpPr>
        <p:spPr>
          <a:xfrm>
            <a:off x="6435725" y="115888"/>
            <a:ext cx="3692525" cy="738821"/>
          </a:xfrm>
          <a:prstGeom prst="horizontalScroll">
            <a:avLst>
              <a:gd name="adj" fmla="val 25000"/>
            </a:avLst>
          </a:prstGeom>
          <a:gradFill rotWithShape="1">
            <a:gsLst>
              <a:gs pos="0">
                <a:schemeClr val="bg1"/>
              </a:gs>
              <a:gs pos="50000">
                <a:schemeClr val="folHlink"/>
              </a:gs>
              <a:gs pos="100000">
                <a:schemeClr val="bg1"/>
              </a:gs>
            </a:gsLst>
            <a:lin ang="0" scaled="1"/>
            <a:tileRect/>
          </a:gradFill>
          <a:ln w="9525" cap="flat" cmpd="sng">
            <a:solidFill>
              <a:srgbClr val="5F5F5F"/>
            </a:solidFill>
            <a:prstDash val="solid"/>
            <a:headEnd type="none" w="med" len="med"/>
            <a:tailEnd type="none" w="med" len="med"/>
          </a:ln>
        </p:spPr>
        <p:txBody>
          <a:bodyPr lIns="0" tIns="0" rIns="0" bIns="0">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rgbClr val="333333"/>
                </a:solidFill>
                <a:effectLst/>
                <a:uLnTx/>
                <a:uFillTx/>
                <a:latin typeface="Arial" panose="020B0604020202020204" pitchFamily="34" charset="0"/>
                <a:ea typeface="华文行楷" panose="02010800040101010101" pitchFamily="2" charset="-122"/>
                <a:cs typeface="+mn-cs"/>
              </a:rPr>
              <a:t>注意：非</a:t>
            </a:r>
            <a:r>
              <a:rPr kumimoji="0" lang="en-US" altLang="zh-CN" sz="2400" b="1" i="0" u="none" strike="noStrike" kern="1200" cap="none" spc="0" normalizeH="0" baseline="0" noProof="0" dirty="0">
                <a:ln>
                  <a:noFill/>
                </a:ln>
                <a:solidFill>
                  <a:srgbClr val="333333"/>
                </a:solidFill>
                <a:effectLst/>
                <a:uLnTx/>
                <a:uFillTx/>
                <a:latin typeface="Arial" panose="020B0604020202020204" pitchFamily="34" charset="0"/>
                <a:ea typeface="华文行楷" panose="02010800040101010101" pitchFamily="2" charset="-122"/>
                <a:cs typeface="+mn-cs"/>
              </a:rPr>
              <a:t>IT</a:t>
            </a:r>
            <a:r>
              <a:rPr kumimoji="0" lang="zh-CN" altLang="en-US" sz="2400" b="1" i="0" u="none" strike="noStrike" kern="1200" cap="none" spc="0" normalizeH="0" baseline="0" noProof="0" dirty="0">
                <a:ln>
                  <a:noFill/>
                </a:ln>
                <a:solidFill>
                  <a:srgbClr val="333333"/>
                </a:solidFill>
                <a:effectLst/>
                <a:uLnTx/>
                <a:uFillTx/>
                <a:latin typeface="Arial" panose="020B0604020202020204" pitchFamily="34" charset="0"/>
                <a:ea typeface="华文行楷" panose="02010800040101010101" pitchFamily="2" charset="-122"/>
                <a:cs typeface="+mn-cs"/>
              </a:rPr>
              <a:t>部门经理参与</a:t>
            </a:r>
            <a:endParaRPr kumimoji="0" lang="zh-CN" altLang="en-US" sz="2400" b="1" i="0" u="none" strike="noStrike" kern="1200" cap="none" spc="0" normalizeH="0" baseline="0" noProof="0" dirty="0">
              <a:ln>
                <a:noFill/>
              </a:ln>
              <a:solidFill>
                <a:srgbClr val="333333"/>
              </a:solidFill>
              <a:effectLst/>
              <a:uLnTx/>
              <a:uFillTx/>
              <a:latin typeface="Arial" panose="020B0604020202020204" pitchFamily="34" charset="0"/>
              <a:ea typeface="华文行楷" panose="02010800040101010101" pitchFamily="2" charset="-122"/>
              <a:cs typeface="+mn-cs"/>
            </a:endParaRPr>
          </a:p>
        </p:txBody>
      </p:sp>
      <p:sp>
        <p:nvSpPr>
          <p:cNvPr id="24585" name="Arc 27"/>
          <p:cNvSpPr/>
          <p:nvPr/>
        </p:nvSpPr>
        <p:spPr>
          <a:xfrm flipH="1">
            <a:off x="3359150" y="2347913"/>
            <a:ext cx="433388" cy="866775"/>
          </a:xfrm>
          <a:custGeom>
            <a:avLst/>
            <a:gdLst/>
            <a:ahLst/>
            <a:cxnLst>
              <a:cxn ang="0">
                <a:pos x="0" y="903773"/>
              </a:cxn>
              <a:cxn ang="0">
                <a:pos x="1342532" y="17326371"/>
              </a:cxn>
              <a:cxn ang="0">
                <a:pos x="1851497" y="8695599"/>
              </a:cxn>
            </a:cxnLst>
            <a:rect l="0" t="0" r="0" b="0"/>
            <a:pathLst>
              <a:path w="31189" h="43200" fill="none">
                <a:moveTo>
                  <a:pt x="0" y="2245"/>
                </a:moveTo>
                <a:cubicBezTo>
                  <a:pt x="2980" y="768"/>
                  <a:pt x="6262" y="-1"/>
                  <a:pt x="9589" y="0"/>
                </a:cubicBezTo>
                <a:cubicBezTo>
                  <a:pt x="21518" y="0"/>
                  <a:pt x="31189" y="9670"/>
                  <a:pt x="31189" y="21600"/>
                </a:cubicBezTo>
                <a:cubicBezTo>
                  <a:pt x="31189" y="33529"/>
                  <a:pt x="21518" y="43200"/>
                  <a:pt x="9589" y="43200"/>
                </a:cubicBezTo>
                <a:cubicBezTo>
                  <a:pt x="8707" y="43200"/>
                  <a:pt x="7827" y="43146"/>
                  <a:pt x="6953" y="43038"/>
                </a:cubicBezTo>
              </a:path>
              <a:path w="31189" h="43200" stroke="0">
                <a:moveTo>
                  <a:pt x="0" y="2245"/>
                </a:moveTo>
                <a:cubicBezTo>
                  <a:pt x="2980" y="768"/>
                  <a:pt x="6262" y="-1"/>
                  <a:pt x="9589" y="0"/>
                </a:cubicBezTo>
                <a:cubicBezTo>
                  <a:pt x="21518" y="0"/>
                  <a:pt x="31189" y="9670"/>
                  <a:pt x="31189" y="21600"/>
                </a:cubicBezTo>
                <a:cubicBezTo>
                  <a:pt x="31189" y="33529"/>
                  <a:pt x="21518" y="43200"/>
                  <a:pt x="9589" y="43200"/>
                </a:cubicBezTo>
                <a:cubicBezTo>
                  <a:pt x="8707" y="43200"/>
                  <a:pt x="7827" y="43146"/>
                  <a:pt x="6953" y="43038"/>
                </a:cubicBezTo>
                <a:lnTo>
                  <a:pt x="9589" y="21600"/>
                </a:lnTo>
                <a:lnTo>
                  <a:pt x="0" y="2245"/>
                </a:lnTo>
                <a:close/>
              </a:path>
            </a:pathLst>
          </a:custGeom>
          <a:noFill/>
          <a:ln w="38100" cap="flat" cmpd="sng">
            <a:solidFill>
              <a:srgbClr val="FF6600"/>
            </a:solidFill>
            <a:prstDash val="solid"/>
            <a:bevel/>
            <a:headEnd type="none" w="med" len="med"/>
            <a:tailEnd type="stealth" w="med" len="lg"/>
          </a:ln>
        </p:spPr>
        <p:txBody>
          <a:bodyPr/>
          <a:lstStyle/>
          <a:p>
            <a:endParaRPr lang="zh-CN" altLang="en-US"/>
          </a:p>
        </p:txBody>
      </p:sp>
      <p:sp>
        <p:nvSpPr>
          <p:cNvPr id="24586" name="Text Box 28"/>
          <p:cNvSpPr txBox="1"/>
          <p:nvPr/>
        </p:nvSpPr>
        <p:spPr>
          <a:xfrm>
            <a:off x="1774825" y="2492375"/>
            <a:ext cx="1439863" cy="1353820"/>
          </a:xfrm>
          <a:prstGeom prst="rect">
            <a:avLst/>
          </a:prstGeom>
          <a:noFill/>
          <a:ln w="9525">
            <a:noFill/>
          </a:ln>
        </p:spPr>
        <p:txBody>
          <a:bodyPr lIns="0" tIns="0" rIns="0" bIns="0" anchor="t" anchorCtr="0">
            <a:spAutoFit/>
          </a:bodyPr>
          <a:lstStyle/>
          <a:p>
            <a:pPr algn="just" eaLnBrk="0" hangingPunct="0">
              <a:spcBef>
                <a:spcPct val="50000"/>
              </a:spcBef>
            </a:pPr>
            <a:r>
              <a:rPr lang="zh-CN" altLang="en-US" sz="2200" b="1" dirty="0">
                <a:latin typeface="Arial" panose="020B0604020202020204" pitchFamily="34" charset="0"/>
                <a:ea typeface="华文行楷" panose="02010800040101010101" pitchFamily="2" charset="-122"/>
              </a:rPr>
              <a:t>对实现战略目标起到重要作用的业务过程</a:t>
            </a:r>
            <a:endParaRPr lang="zh-CN" altLang="en-US" sz="2200" b="1" dirty="0">
              <a:latin typeface="Arial" panose="020B0604020202020204" pitchFamily="34" charset="0"/>
              <a:ea typeface="华文行楷" panose="02010800040101010101" pitchFamily="2" charset="-122"/>
            </a:endParaRPr>
          </a:p>
        </p:txBody>
      </p:sp>
      <p:sp>
        <p:nvSpPr>
          <p:cNvPr id="24587" name="Line 30"/>
          <p:cNvSpPr/>
          <p:nvPr/>
        </p:nvSpPr>
        <p:spPr>
          <a:xfrm>
            <a:off x="4799648" y="3845878"/>
            <a:ext cx="0" cy="503237"/>
          </a:xfrm>
          <a:prstGeom prst="line">
            <a:avLst/>
          </a:prstGeom>
          <a:ln w="38100" cap="flat" cmpd="sng">
            <a:solidFill>
              <a:srgbClr val="FF6600"/>
            </a:solidFill>
            <a:prstDash val="solid"/>
            <a:round/>
            <a:headEnd type="none" w="med" len="med"/>
            <a:tailEnd type="stealth" w="med" len="lg"/>
          </a:ln>
        </p:spPr>
      </p:sp>
      <p:sp>
        <p:nvSpPr>
          <p:cNvPr id="85003" name="Line 35"/>
          <p:cNvSpPr/>
          <p:nvPr/>
        </p:nvSpPr>
        <p:spPr>
          <a:xfrm>
            <a:off x="1524000" y="450850"/>
            <a:ext cx="2879725" cy="0"/>
          </a:xfrm>
          <a:prstGeom prst="line">
            <a:avLst/>
          </a:prstGeom>
          <a:ln w="12700" cap="flat" cmpd="sng">
            <a:solidFill>
              <a:schemeClr val="bg2"/>
            </a:solidFill>
            <a:prstDash val="solid"/>
            <a:round/>
            <a:headEnd type="none" w="med" len="med"/>
            <a:tailEnd type="none" w="med" len="med"/>
          </a:ln>
        </p:spPr>
      </p:sp>
      <p:sp>
        <p:nvSpPr>
          <p:cNvPr id="85004" name="Line 37"/>
          <p:cNvSpPr/>
          <p:nvPr/>
        </p:nvSpPr>
        <p:spPr>
          <a:xfrm>
            <a:off x="1524000" y="476250"/>
            <a:ext cx="2879725" cy="0"/>
          </a:xfrm>
          <a:prstGeom prst="line">
            <a:avLst/>
          </a:prstGeom>
          <a:ln w="12700" cap="flat" cmpd="sng">
            <a:solidFill>
              <a:schemeClr val="tx1"/>
            </a:solidFill>
            <a:prstDash val="solid"/>
            <a:round/>
            <a:headEnd type="none" w="med" len="med"/>
            <a:tailEnd type="none" w="med" len="med"/>
          </a:ln>
        </p:spPr>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wipe(up)">
                                      <p:cBhvr>
                                        <p:cTn id="7" dur="1000"/>
                                        <p:tgtEl>
                                          <p:spTgt spid="2458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4581"/>
                                        </p:tgtEl>
                                        <p:attrNameLst>
                                          <p:attrName>style.visibility</p:attrName>
                                        </p:attrNameLst>
                                      </p:cBhvr>
                                      <p:to>
                                        <p:strVal val="visible"/>
                                      </p:to>
                                    </p:set>
                                    <p:animEffect transition="in" filter="wipe(up)">
                                      <p:cBhvr>
                                        <p:cTn id="11" dur="1000"/>
                                        <p:tgtEl>
                                          <p:spTgt spid="24581"/>
                                        </p:tgtEl>
                                      </p:cBhvr>
                                    </p:animEffect>
                                  </p:childTnLst>
                                </p:cTn>
                              </p:par>
                            </p:childTnLst>
                          </p:cTn>
                        </p:par>
                        <p:par>
                          <p:cTn id="12" fill="hold">
                            <p:stCondLst>
                              <p:cond delay="2000"/>
                            </p:stCondLst>
                            <p:childTnLst>
                              <p:par>
                                <p:cTn id="13" presetID="21" presetClass="entr" presetSubtype="1" fill="hold" nodeType="afterEffect">
                                  <p:stCondLst>
                                    <p:cond delay="0"/>
                                  </p:stCondLst>
                                  <p:childTnLst>
                                    <p:set>
                                      <p:cBhvr>
                                        <p:cTn id="14" dur="1" fill="hold">
                                          <p:stCondLst>
                                            <p:cond delay="0"/>
                                          </p:stCondLst>
                                        </p:cTn>
                                        <p:tgtEl>
                                          <p:spTgt spid="24583"/>
                                        </p:tgtEl>
                                        <p:attrNameLst>
                                          <p:attrName>style.visibility</p:attrName>
                                        </p:attrNameLst>
                                      </p:cBhvr>
                                      <p:to>
                                        <p:strVal val="visible"/>
                                      </p:to>
                                    </p:set>
                                    <p:animEffect transition="in" filter="wheel(1)">
                                      <p:cBhvr>
                                        <p:cTn id="15" dur="1000"/>
                                        <p:tgtEl>
                                          <p:spTgt spid="2458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4585"/>
                                        </p:tgtEl>
                                        <p:attrNameLst>
                                          <p:attrName>style.visibility</p:attrName>
                                        </p:attrNameLst>
                                      </p:cBhvr>
                                      <p:to>
                                        <p:strVal val="visible"/>
                                      </p:to>
                                    </p:set>
                                    <p:animEffect transition="in" filter="wipe(up)">
                                      <p:cBhvr>
                                        <p:cTn id="20" dur="1000"/>
                                        <p:tgtEl>
                                          <p:spTgt spid="24585"/>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24586"/>
                                        </p:tgtEl>
                                        <p:attrNameLst>
                                          <p:attrName>style.visibility</p:attrName>
                                        </p:attrNameLst>
                                      </p:cBhvr>
                                      <p:to>
                                        <p:strVal val="visible"/>
                                      </p:to>
                                    </p:set>
                                    <p:animEffect transition="in" filter="wipe(up)">
                                      <p:cBhvr>
                                        <p:cTn id="24" dur="1000"/>
                                        <p:tgtEl>
                                          <p:spTgt spid="2458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4587"/>
                                        </p:tgtEl>
                                        <p:attrNameLst>
                                          <p:attrName>style.visibility</p:attrName>
                                        </p:attrNameLst>
                                      </p:cBhvr>
                                      <p:to>
                                        <p:strVal val="visible"/>
                                      </p:to>
                                    </p:set>
                                    <p:animEffect transition="in" filter="wipe(up)">
                                      <p:cBhvr>
                                        <p:cTn id="29" dur="1000"/>
                                        <p:tgtEl>
                                          <p:spTgt spid="2458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584"/>
                                        </p:tgtEl>
                                        <p:attrNameLst>
                                          <p:attrName>style.visibility</p:attrName>
                                        </p:attrNameLst>
                                      </p:cBhvr>
                                      <p:to>
                                        <p:strVal val="visible"/>
                                      </p:to>
                                    </p:set>
                                    <p:animEffect transition="in" filter="wipe(left)">
                                      <p:cBhvr>
                                        <p:cTn id="34" dur="1000"/>
                                        <p:tgtEl>
                                          <p:spTgt spid="24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P spid="24584" grpId="0" bldLvl="0" animBg="1"/>
      <p:bldP spid="2458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7" name="Group 2"/>
          <p:cNvGrpSpPr/>
          <p:nvPr/>
        </p:nvGrpSpPr>
        <p:grpSpPr>
          <a:xfrm>
            <a:off x="1571625" y="1008063"/>
            <a:ext cx="9148763" cy="114300"/>
            <a:chOff x="0" y="0"/>
            <a:chExt cx="5763" cy="72"/>
          </a:xfrm>
        </p:grpSpPr>
        <p:sp>
          <p:nvSpPr>
            <p:cNvPr id="86018"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86019"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25606" name="Rectangle 5"/>
          <p:cNvSpPr>
            <a:spLocks noGrp="1"/>
          </p:cNvSpPr>
          <p:nvPr>
            <p:ph type="title" idx="4294967295"/>
          </p:nvPr>
        </p:nvSpPr>
        <p:spPr>
          <a:xfrm>
            <a:off x="2351088" y="1096645"/>
            <a:ext cx="6910388" cy="803275"/>
          </a:xfrm>
        </p:spPr>
        <p:txBody>
          <a:bodyPr wrap="square" lIns="92075" tIns="46038" rIns="92075" bIns="46038" numCol="1" anchor="ctr" anchorCtr="0" compatLnSpc="1"/>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charset="0"/>
              <a:buChar char="Ø"/>
              <a:defRPr/>
            </a:pPr>
            <a:r>
              <a:rPr kumimoji="0" lang="zh-CN" sz="2800" b="0" i="0" u="none" strike="noStrike" kern="1200" cap="none" spc="0" normalizeH="0" baseline="0" noProof="0" dirty="0">
                <a:ln>
                  <a:noFill/>
                </a:ln>
                <a:solidFill>
                  <a:srgbClr val="A50021"/>
                </a:solidFill>
                <a:effectLst/>
                <a:uLnTx/>
                <a:uFillTx/>
                <a:latin typeface="+mj-lt"/>
                <a:ea typeface="+mj-ea"/>
                <a:cs typeface="+mj-cs"/>
              </a:rPr>
              <a:t>选择项目的方法</a:t>
            </a:r>
            <a:endParaRPr kumimoji="0" lang="zh-CN" sz="2800" b="0" i="0" u="none" strike="noStrike" kern="1200" cap="none" spc="0" normalizeH="0" baseline="0" noProof="0" dirty="0">
              <a:ln>
                <a:noFill/>
              </a:ln>
              <a:solidFill>
                <a:srgbClr val="A50021"/>
              </a:solidFill>
              <a:effectLst/>
              <a:uLnTx/>
              <a:uFillTx/>
              <a:latin typeface="+mj-lt"/>
              <a:ea typeface="+mj-ea"/>
              <a:cs typeface="+mj-cs"/>
            </a:endParaRPr>
          </a:p>
        </p:txBody>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4588" name="Text Box 32"/>
          <p:cNvSpPr txBox="1"/>
          <p:nvPr/>
        </p:nvSpPr>
        <p:spPr>
          <a:xfrm>
            <a:off x="2855595" y="1917065"/>
            <a:ext cx="7557135" cy="3674745"/>
          </a:xfrm>
          <a:prstGeom prst="rect">
            <a:avLst/>
          </a:prstGeom>
          <a:noFill/>
          <a:ln w="9525">
            <a:noFill/>
          </a:ln>
        </p:spPr>
        <p:txBody>
          <a:bodyPr wrap="square" lIns="0" tIns="0" rIns="0" bIns="0" anchor="t" anchorCtr="0">
            <a:noAutofit/>
          </a:bodyPr>
          <a:p>
            <a:pPr marL="457200" indent="-457200" algn="just" eaLnBrk="0" hangingPunct="0">
              <a:lnSpc>
                <a:spcPct val="110000"/>
              </a:lnSpc>
              <a:spcBef>
                <a:spcPct val="50000"/>
              </a:spcBef>
              <a:buFont typeface="+mj-ea"/>
              <a:buAutoNum type="circleNumDbPlain"/>
            </a:pPr>
            <a:r>
              <a:rPr lang="zh-CN" altLang="en-US" sz="2800" b="1" dirty="0">
                <a:latin typeface="Arial" panose="020B0604020202020204" pitchFamily="34" charset="0"/>
                <a:ea typeface="华文行楷" panose="02010800040101010101" pitchFamily="2" charset="-122"/>
                <a:sym typeface="Wingdings 2" panose="05020102010507070707" pitchFamily="18" charset="2"/>
              </a:rPr>
              <a:t>注重整个组织的需求；</a:t>
            </a:r>
            <a:endParaRPr lang="zh-CN" altLang="en-US" sz="2800" b="1" dirty="0">
              <a:latin typeface="Arial" panose="020B0604020202020204" pitchFamily="34" charset="0"/>
              <a:ea typeface="华文行楷" panose="02010800040101010101" pitchFamily="2" charset="-122"/>
              <a:sym typeface="Wingdings 2" panose="05020102010507070707" pitchFamily="18" charset="2"/>
            </a:endParaRPr>
          </a:p>
          <a:p>
            <a:pPr marL="457200" indent="-457200" algn="just" eaLnBrk="0" hangingPunct="0">
              <a:lnSpc>
                <a:spcPct val="110000"/>
              </a:lnSpc>
              <a:spcBef>
                <a:spcPct val="50000"/>
              </a:spcBef>
              <a:buFont typeface="+mj-ea"/>
              <a:buAutoNum type="circleNumDbPlain"/>
            </a:pPr>
            <a:r>
              <a:rPr lang="zh-CN" altLang="en-US" sz="2800" b="1" dirty="0">
                <a:latin typeface="Arial" panose="020B0604020202020204" pitchFamily="34" charset="0"/>
                <a:ea typeface="华文行楷" panose="02010800040101010101" pitchFamily="2" charset="-122"/>
                <a:sym typeface="Wingdings 2" panose="05020102010507070707" pitchFamily="18" charset="2"/>
              </a:rPr>
              <a:t>将</a:t>
            </a:r>
            <a:r>
              <a:rPr lang="en-US" altLang="zh-CN" sz="2800" b="1" dirty="0">
                <a:latin typeface="Arial" panose="020B0604020202020204" pitchFamily="34" charset="0"/>
                <a:ea typeface="华文行楷" panose="02010800040101010101" pitchFamily="2" charset="-122"/>
                <a:sym typeface="Wingdings 2" panose="05020102010507070707" pitchFamily="18" charset="2"/>
              </a:rPr>
              <a:t>IT</a:t>
            </a:r>
            <a:r>
              <a:rPr lang="zh-CN" altLang="en-US" sz="2800" b="1" dirty="0">
                <a:latin typeface="Arial" panose="020B0604020202020204" pitchFamily="34" charset="0"/>
                <a:ea typeface="华文行楷" panose="02010800040101010101" pitchFamily="2" charset="-122"/>
                <a:sym typeface="Wingdings 2" panose="05020102010507070707" pitchFamily="18" charset="2"/>
              </a:rPr>
              <a:t>项目进行分类；</a:t>
            </a:r>
            <a:endParaRPr lang="zh-CN" altLang="en-US" sz="2800" b="1" dirty="0">
              <a:latin typeface="Arial" panose="020B0604020202020204" pitchFamily="34" charset="0"/>
              <a:ea typeface="华文行楷" panose="02010800040101010101" pitchFamily="2" charset="-122"/>
              <a:sym typeface="Wingdings 2" panose="05020102010507070707" pitchFamily="18" charset="2"/>
            </a:endParaRPr>
          </a:p>
          <a:p>
            <a:pPr marL="457200" indent="-457200" algn="just" eaLnBrk="0" hangingPunct="0">
              <a:lnSpc>
                <a:spcPct val="110000"/>
              </a:lnSpc>
              <a:spcBef>
                <a:spcPct val="50000"/>
              </a:spcBef>
              <a:buFont typeface="+mj-ea"/>
              <a:buAutoNum type="circleNumDbPlain"/>
            </a:pPr>
            <a:r>
              <a:rPr lang="zh-CN" altLang="en-US" sz="2800" b="1" dirty="0">
                <a:latin typeface="Arial" panose="020B0604020202020204" pitchFamily="34" charset="0"/>
                <a:ea typeface="华文行楷" panose="02010800040101010101" pitchFamily="2" charset="-122"/>
                <a:sym typeface="Wingdings 2" panose="05020102010507070707" pitchFamily="18" charset="2"/>
              </a:rPr>
              <a:t>进行净现值等财务分析；</a:t>
            </a:r>
            <a:endParaRPr lang="zh-CN" altLang="en-US" sz="2800" b="1" dirty="0">
              <a:latin typeface="Arial" panose="020B0604020202020204" pitchFamily="34" charset="0"/>
              <a:ea typeface="华文行楷" panose="02010800040101010101" pitchFamily="2" charset="-122"/>
              <a:sym typeface="Wingdings 2" panose="05020102010507070707" pitchFamily="18" charset="2"/>
            </a:endParaRPr>
          </a:p>
          <a:p>
            <a:pPr marL="457200" indent="-457200" algn="just" eaLnBrk="0" hangingPunct="0">
              <a:lnSpc>
                <a:spcPct val="110000"/>
              </a:lnSpc>
              <a:spcBef>
                <a:spcPct val="50000"/>
              </a:spcBef>
              <a:buFont typeface="+mj-ea"/>
              <a:buAutoNum type="circleNumDbPlain"/>
            </a:pPr>
            <a:r>
              <a:rPr lang="zh-CN" altLang="en-US" sz="2800" b="1" dirty="0">
                <a:latin typeface="Arial" panose="020B0604020202020204" pitchFamily="34" charset="0"/>
                <a:ea typeface="华文行楷" panose="02010800040101010101" pitchFamily="2" charset="-122"/>
                <a:sym typeface="Wingdings 2" panose="05020102010507070707" pitchFamily="18" charset="2"/>
              </a:rPr>
              <a:t>运用加权评分模型。</a:t>
            </a:r>
            <a:endParaRPr lang="zh-CN" altLang="en-US" sz="2800" b="1" dirty="0">
              <a:latin typeface="Arial" panose="020B0604020202020204" pitchFamily="34" charset="0"/>
              <a:ea typeface="华文行楷" panose="02010800040101010101" pitchFamily="2" charset="-122"/>
              <a:sym typeface="Wingdings 2" panose="05020102010507070707" pitchFamily="18" charset="2"/>
            </a:endParaRPr>
          </a:p>
          <a:p>
            <a:pPr marL="457200" indent="-457200" algn="just" eaLnBrk="0" hangingPunct="0">
              <a:lnSpc>
                <a:spcPct val="110000"/>
              </a:lnSpc>
              <a:spcBef>
                <a:spcPct val="50000"/>
              </a:spcBef>
              <a:buFont typeface="+mj-ea"/>
              <a:buAutoNum type="circleNumDbPlain"/>
            </a:pPr>
            <a:r>
              <a:rPr lang="zh-CN" altLang="en-US" sz="2800" b="1" dirty="0">
                <a:latin typeface="Arial" panose="020B0604020202020204" pitchFamily="34" charset="0"/>
                <a:ea typeface="华文行楷" panose="02010800040101010101" pitchFamily="2" charset="-122"/>
                <a:sym typeface="Wingdings 2" panose="05020102010507070707" pitchFamily="18" charset="2"/>
              </a:rPr>
              <a:t>实施平衡记分卡</a:t>
            </a:r>
            <a:endParaRPr lang="zh-CN" altLang="en-US" sz="2800" b="1" dirty="0">
              <a:latin typeface="Arial" panose="020B0604020202020204" pitchFamily="34" charset="0"/>
              <a:ea typeface="华文行楷" panose="02010800040101010101" pitchFamily="2" charset="-122"/>
              <a:sym typeface="Wingdings 2" panose="05020102010507070707" pitchFamily="18" charset="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4588"/>
                                        </p:tgtEl>
                                        <p:attrNameLst>
                                          <p:attrName>style.visibility</p:attrName>
                                        </p:attrNameLst>
                                      </p:cBhvr>
                                      <p:to>
                                        <p:strVal val="visible"/>
                                      </p:to>
                                    </p:set>
                                    <p:animEffect transition="in" filter="wipe(up)">
                                      <p:cBhvr>
                                        <p:cTn id="7" dur="1000"/>
                                        <p:tgtEl>
                                          <p:spTgt spid="24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7" name="Group 2"/>
          <p:cNvGrpSpPr/>
          <p:nvPr/>
        </p:nvGrpSpPr>
        <p:grpSpPr>
          <a:xfrm>
            <a:off x="1571625" y="1008063"/>
            <a:ext cx="9148763" cy="114300"/>
            <a:chOff x="0" y="0"/>
            <a:chExt cx="5763" cy="72"/>
          </a:xfrm>
        </p:grpSpPr>
        <p:sp>
          <p:nvSpPr>
            <p:cNvPr id="86018"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86019"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25606" name="Rectangle 5"/>
          <p:cNvSpPr>
            <a:spLocks noGrp="1"/>
          </p:cNvSpPr>
          <p:nvPr>
            <p:ph type="title" idx="4294967295"/>
          </p:nvPr>
        </p:nvSpPr>
        <p:spPr>
          <a:xfrm>
            <a:off x="2424113" y="1133475"/>
            <a:ext cx="6910388" cy="803275"/>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uLnTx/>
                <a:uFillTx/>
                <a:latin typeface="Times New Roman" panose="02020603050405020304" pitchFamily="18" charset="0"/>
                <a:ea typeface="仿宋" panose="02010609060101010101" charset="-122"/>
                <a:cs typeface="Times New Roman" panose="02020603050405020304" pitchFamily="18" charset="0"/>
              </a:rPr>
              <a:t>1. </a:t>
            </a:r>
            <a:r>
              <a:rPr kumimoji="0" lang="zh-CN" altLang="en-US" sz="2800" b="0" i="0" u="none" strike="noStrike" kern="1200" cap="none" spc="0" normalizeH="0" baseline="0" noProof="0" dirty="0">
                <a:ln>
                  <a:noFill/>
                </a:ln>
                <a:solidFill>
                  <a:srgbClr val="A50021"/>
                </a:solidFill>
                <a:effectLst/>
                <a:uLnTx/>
                <a:uFillTx/>
                <a:latin typeface="+mj-lt"/>
                <a:ea typeface="+mj-ea"/>
                <a:cs typeface="+mj-cs"/>
              </a:rPr>
              <a:t>关注整个组织的需求</a:t>
            </a:r>
            <a:endParaRPr kumimoji="0" lang="zh-CN" altLang="en-US" sz="2800" b="0" i="0" u="none" strike="noStrike" kern="1200" cap="none" spc="0" normalizeH="0" baseline="0" noProof="0" dirty="0">
              <a:ln>
                <a:noFill/>
              </a:ln>
              <a:solidFill>
                <a:srgbClr val="A50021"/>
              </a:solidFill>
              <a:effectLst/>
              <a:uLnTx/>
              <a:uFillTx/>
              <a:latin typeface="+mj-lt"/>
              <a:ea typeface="+mj-ea"/>
              <a:cs typeface="+mj-cs"/>
            </a:endParaRPr>
          </a:p>
        </p:txBody>
      </p:sp>
      <p:sp>
        <p:nvSpPr>
          <p:cNvPr id="25607" name="Rectangle 6"/>
          <p:cNvSpPr>
            <a:spLocks noGrp="1"/>
          </p:cNvSpPr>
          <p:nvPr>
            <p:ph type="body" idx="4294967295"/>
          </p:nvPr>
        </p:nvSpPr>
        <p:spPr>
          <a:xfrm>
            <a:off x="2152650" y="1989455"/>
            <a:ext cx="9103360" cy="1743710"/>
          </a:xfrm>
        </p:spPr>
        <p:txBody>
          <a:bodyPr vert="horz" wrap="square" lIns="0" tIns="0" rIns="0" bIns="0" anchor="t" anchorCtr="0"/>
          <a:lstStyle/>
          <a:p>
            <a:pPr marL="342900" marR="0" lvl="0" indent="-342900" algn="l" defTabSz="914400" rtl="0" eaLnBrk="0" fontAlgn="base" latinLnBrk="0" hangingPunct="0">
              <a:lnSpc>
                <a:spcPct val="110000"/>
              </a:lnSpc>
              <a:spcBef>
                <a:spcPts val="600"/>
              </a:spcBef>
              <a:spcAft>
                <a:spcPct val="0"/>
              </a:spcAft>
              <a:buClr>
                <a:schemeClr val="accent1"/>
              </a:buClr>
              <a:buSzPct val="80000"/>
              <a:buFont typeface="Wingdings" panose="05000000000000000000" pitchFamily="2" charset="2"/>
              <a:buChar char="ü"/>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项目越能符合整个组织的需求，其成功的概率就越大。</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342900" marR="0" lvl="0" indent="-342900" algn="l" defTabSz="914400" rtl="0" eaLnBrk="0" fontAlgn="base" latinLnBrk="0" hangingPunct="0">
              <a:lnSpc>
                <a:spcPct val="11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 基于整个组织的需求选择项目的方法之一是：判断它们是否符合三个重要的标准：</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Arial" panose="020B0604020202020204" pitchFamily="34" charset="0"/>
                <a:ea typeface="+mn-ea"/>
                <a:cs typeface="+mn-cs"/>
              </a:rPr>
              <a:t>“</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需求、资金和意愿</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Arial" panose="020B0604020202020204" pitchFamily="34" charset="0"/>
                <a:ea typeface="+mn-ea"/>
                <a:cs typeface="+mn-cs"/>
              </a:rPr>
              <a:t>”</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rPr>
              <a:t>。</a:t>
            </a:r>
            <a:endPar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endParaRPr>
          </a:p>
        </p:txBody>
      </p:sp>
      <p:sp>
        <p:nvSpPr>
          <p:cNvPr id="25608" name="Rectangle 7"/>
          <p:cNvSpPr/>
          <p:nvPr/>
        </p:nvSpPr>
        <p:spPr>
          <a:xfrm>
            <a:off x="2197735" y="4004945"/>
            <a:ext cx="9060180" cy="1584325"/>
          </a:xfrm>
          <a:prstGeom prst="rect">
            <a:avLst/>
          </a:prstGeom>
          <a:noFill/>
          <a:ln w="9525">
            <a:noFill/>
          </a:ln>
        </p:spPr>
        <p:txBody>
          <a:bodyPr lIns="0" tIns="0" rIns="0" bIns="0" anchor="t" anchorCtr="0"/>
          <a:lstStyle/>
          <a:p>
            <a:pPr algn="just" eaLnBrk="0" hangingPunct="0">
              <a:lnSpc>
                <a:spcPct val="110000"/>
              </a:lnSpc>
              <a:spcBef>
                <a:spcPct val="20000"/>
              </a:spcBef>
            </a:pPr>
            <a:r>
              <a:rPr lang="en-US" altLang="zh-CN" sz="2800" b="1" dirty="0">
                <a:solidFill>
                  <a:srgbClr val="FF0000"/>
                </a:solidFill>
                <a:latin typeface="Times New Roman" panose="02020603050405020304" pitchFamily="18" charset="0"/>
                <a:ea typeface="黑体" panose="02010609060101010101" pitchFamily="49" charset="-122"/>
                <a:sym typeface="Wingdings" panose="05000000000000000000" pitchFamily="2" charset="2"/>
              </a:rPr>
              <a:t></a:t>
            </a:r>
            <a:r>
              <a:rPr lang="en-US" altLang="zh-CN" sz="2800" b="1" dirty="0">
                <a:solidFill>
                  <a:srgbClr val="FF0000"/>
                </a:solidFill>
                <a:latin typeface="Times New Roman" panose="02020603050405020304" pitchFamily="18" charset="0"/>
                <a:ea typeface="黑体" panose="02010609060101010101" pitchFamily="49" charset="-122"/>
                <a:sym typeface="Wingdings 2" panose="05020102010507070707" pitchFamily="18" charset="2"/>
              </a:rPr>
              <a:t> </a:t>
            </a:r>
            <a:r>
              <a:rPr lang="zh-CN" altLang="en-US" sz="2800" b="1" dirty="0">
                <a:solidFill>
                  <a:srgbClr val="FF0000"/>
                </a:solidFill>
                <a:latin typeface="Times New Roman" panose="02020603050405020304" pitchFamily="18" charset="0"/>
                <a:ea typeface="黑体" panose="02010609060101010101" pitchFamily="49" charset="-122"/>
              </a:rPr>
              <a:t>注意：随着项目的推进，组织必须重新评估每个项目的这三个标准以决定项目是否继续或重新定义或是终止。</a:t>
            </a:r>
            <a:endParaRPr lang="zh-CN" altLang="en-US" sz="2800" b="1" dirty="0">
              <a:solidFill>
                <a:srgbClr val="FF0000"/>
              </a:solidFill>
              <a:latin typeface="Times New Roman" panose="02020603050405020304" pitchFamily="18" charset="0"/>
              <a:ea typeface="黑体" panose="02010609060101010101" pitchFamily="49" charset="-122"/>
            </a:endParaRPr>
          </a:p>
        </p:txBody>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07">
                                            <p:txEl>
                                              <p:pRg st="0" end="0"/>
                                            </p:txEl>
                                          </p:spTgt>
                                        </p:tgtEl>
                                        <p:attrNameLst>
                                          <p:attrName>style.visibility</p:attrName>
                                        </p:attrNameLst>
                                      </p:cBhvr>
                                      <p:to>
                                        <p:strVal val="visible"/>
                                      </p:to>
                                    </p:set>
                                    <p:animEffect transition="in" filter="wipe(left)">
                                      <p:cBhvr>
                                        <p:cTn id="7" dur="1000"/>
                                        <p:tgtEl>
                                          <p:spTgt spid="25607">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5607">
                                            <p:txEl>
                                              <p:pRg st="1" end="1"/>
                                            </p:txEl>
                                          </p:spTgt>
                                        </p:tgtEl>
                                        <p:attrNameLst>
                                          <p:attrName>style.visibility</p:attrName>
                                        </p:attrNameLst>
                                      </p:cBhvr>
                                      <p:to>
                                        <p:strVal val="visible"/>
                                      </p:to>
                                    </p:set>
                                    <p:animEffect transition="in" filter="wipe(left)">
                                      <p:cBhvr>
                                        <p:cTn id="11" dur="1000"/>
                                        <p:tgtEl>
                                          <p:spTgt spid="2560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608">
                                            <p:txEl>
                                              <p:pRg st="0" end="0"/>
                                            </p:txEl>
                                          </p:spTgt>
                                        </p:tgtEl>
                                        <p:attrNameLst>
                                          <p:attrName>style.visibility</p:attrName>
                                        </p:attrNameLst>
                                      </p:cBhvr>
                                      <p:to>
                                        <p:strVal val="visible"/>
                                      </p:to>
                                    </p:set>
                                    <p:animEffect transition="in" filter="wipe(left)">
                                      <p:cBhvr>
                                        <p:cTn id="16" dur="1000"/>
                                        <p:tgtEl>
                                          <p:spTgt spid="256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build="p"/>
      <p:bldP spid="25608"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1" name="Group 2"/>
          <p:cNvGrpSpPr/>
          <p:nvPr/>
        </p:nvGrpSpPr>
        <p:grpSpPr>
          <a:xfrm>
            <a:off x="1481138" y="887413"/>
            <a:ext cx="9148762" cy="114300"/>
            <a:chOff x="0" y="0"/>
            <a:chExt cx="5763" cy="72"/>
          </a:xfrm>
        </p:grpSpPr>
        <p:sp>
          <p:nvSpPr>
            <p:cNvPr id="87042"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87043"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26630" name="Rectangle 5"/>
          <p:cNvSpPr>
            <a:spLocks noGrp="1"/>
          </p:cNvSpPr>
          <p:nvPr>
            <p:ph type="title" idx="4294967295"/>
          </p:nvPr>
        </p:nvSpPr>
        <p:spPr>
          <a:xfrm>
            <a:off x="2597150" y="1116013"/>
            <a:ext cx="6910388" cy="803275"/>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uLnTx/>
                <a:uFillTx/>
                <a:latin typeface="+mj-lt"/>
                <a:ea typeface="+mj-ea"/>
                <a:cs typeface="+mj-cs"/>
              </a:rPr>
              <a:t>2. </a:t>
            </a:r>
            <a:r>
              <a:rPr kumimoji="0" lang="zh-CN" altLang="en-US" sz="2800" b="0" i="0" u="none" strike="noStrike" kern="1200" cap="none" spc="0" normalizeH="0" baseline="0" noProof="0" dirty="0">
                <a:ln>
                  <a:noFill/>
                </a:ln>
                <a:solidFill>
                  <a:srgbClr val="A50021"/>
                </a:solidFill>
                <a:effectLst/>
                <a:uLnTx/>
                <a:uFillTx/>
                <a:latin typeface="+mj-lt"/>
                <a:ea typeface="+mj-ea"/>
                <a:cs typeface="+mj-cs"/>
              </a:rPr>
              <a:t>对</a:t>
            </a:r>
            <a:r>
              <a:rPr kumimoji="0" lang="en-US" altLang="zh-CN" sz="2800" b="0" i="0" u="none" strike="noStrike" kern="1200" cap="none" spc="0" normalizeH="0" baseline="0" noProof="0" dirty="0">
                <a:ln>
                  <a:noFill/>
                </a:ln>
                <a:solidFill>
                  <a:srgbClr val="A50021"/>
                </a:solidFill>
                <a:effectLst/>
                <a:uLnTx/>
                <a:uFillTx/>
                <a:latin typeface="+mj-lt"/>
                <a:ea typeface="+mj-ea"/>
                <a:cs typeface="+mj-cs"/>
              </a:rPr>
              <a:t>IT</a:t>
            </a:r>
            <a:r>
              <a:rPr kumimoji="0" lang="zh-CN" altLang="en-US" sz="2800" b="0" i="0" u="none" strike="noStrike" kern="1200" cap="none" spc="0" normalizeH="0" baseline="0" noProof="0" dirty="0">
                <a:ln>
                  <a:noFill/>
                </a:ln>
                <a:solidFill>
                  <a:srgbClr val="A50021"/>
                </a:solidFill>
                <a:effectLst/>
                <a:uLnTx/>
                <a:uFillTx/>
                <a:latin typeface="+mj-lt"/>
                <a:ea typeface="+mj-ea"/>
                <a:cs typeface="+mj-cs"/>
              </a:rPr>
              <a:t>项目进行分类</a:t>
            </a:r>
            <a:endParaRPr kumimoji="0" lang="zh-CN" altLang="en-US" sz="2800" b="0" i="0" u="none" strike="noStrike" kern="1200" cap="none" spc="0" normalizeH="0" baseline="0" noProof="0" dirty="0">
              <a:ln>
                <a:noFill/>
              </a:ln>
              <a:solidFill>
                <a:srgbClr val="A50021"/>
              </a:solidFill>
              <a:effectLst/>
              <a:uLnTx/>
              <a:uFillTx/>
              <a:latin typeface="+mj-lt"/>
              <a:ea typeface="+mj-ea"/>
              <a:cs typeface="+mj-cs"/>
            </a:endParaRPr>
          </a:p>
        </p:txBody>
      </p:sp>
      <p:sp>
        <p:nvSpPr>
          <p:cNvPr id="26631" name="Rectangle 6"/>
          <p:cNvSpPr>
            <a:spLocks noGrp="1"/>
          </p:cNvSpPr>
          <p:nvPr>
            <p:ph type="body" idx="4294967295"/>
          </p:nvPr>
        </p:nvSpPr>
        <p:spPr>
          <a:xfrm>
            <a:off x="1844675" y="2033905"/>
            <a:ext cx="9853295" cy="4084955"/>
          </a:xfrm>
        </p:spPr>
        <p:txBody>
          <a:bodyPr vert="horz" wrap="square" lIns="0" tIns="0" rIns="0" bIns="0" anchor="t" anchorCtr="0"/>
          <a:lstStyle/>
          <a:p>
            <a:pPr marL="457200" marR="0" lvl="0" indent="-457200" algn="l" defTabSz="914400" rtl="0" eaLnBrk="0" fontAlgn="base" latinLnBrk="0" hangingPunct="0">
              <a:lnSpc>
                <a:spcPct val="110000"/>
              </a:lnSpc>
              <a:spcBef>
                <a:spcPts val="600"/>
              </a:spcBef>
              <a:spcAft>
                <a:spcPct val="0"/>
              </a:spcAft>
              <a:buClr>
                <a:schemeClr val="accent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rPr>
              <a:t>以各种分类方法为基础进行项目选择</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endParaRPr>
          </a:p>
          <a:p>
            <a:pPr marL="457200" marR="0" lvl="0" indent="-457200" algn="l" defTabSz="914400" rtl="0" eaLnBrk="0" fontAlgn="base" latinLnBrk="0" hangingPunct="0">
              <a:lnSpc>
                <a:spcPct val="110000"/>
              </a:lnSpc>
              <a:spcBef>
                <a:spcPts val="600"/>
              </a:spcBef>
              <a:spcAft>
                <a:spcPct val="0"/>
              </a:spcAft>
              <a:buClr>
                <a:schemeClr val="accent1"/>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项目</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动机</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：评价项目是否可以解决某个</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问题</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，或是抓住某种</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机会</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，或迎合某个</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指令</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要求；</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457200" marR="0" lvl="0" indent="-457200" algn="l" defTabSz="914400" rtl="0" eaLnBrk="0" fontAlgn="base" latinLnBrk="0" hangingPunct="0">
              <a:lnSpc>
                <a:spcPct val="110000"/>
              </a:lnSpc>
              <a:spcBef>
                <a:spcPts val="600"/>
              </a:spcBef>
              <a:spcAft>
                <a:spcPct val="0"/>
              </a:spcAft>
              <a:buClr>
                <a:schemeClr val="accent1"/>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基于时间</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的考虑筛选项目，可能是完成项目所需的工期时间，也可能是项目必须满足的截止日期；</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457200" marR="0" lvl="0" indent="-457200" algn="l" defTabSz="914400" rtl="0" eaLnBrk="0" fontAlgn="base" latinLnBrk="0" hangingPunct="0">
              <a:lnSpc>
                <a:spcPct val="110000"/>
              </a:lnSpc>
              <a:spcBef>
                <a:spcPts val="600"/>
              </a:spcBef>
              <a:spcAft>
                <a:spcPct val="0"/>
              </a:spcAft>
              <a:buClr>
                <a:schemeClr val="accent1"/>
              </a:buClr>
              <a:buSzPct val="80000"/>
              <a:buFont typeface="Wingdings" panose="05000000000000000000" pitchFamily="2" charset="2"/>
              <a:buChar char="Ø"/>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 优先权</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：将待选</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项目按高、中、低</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三个次序进行整体综合排序，首先进行最重要的项目。</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p:txBody>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31">
                                            <p:txEl>
                                              <p:pRg st="0" end="0"/>
                                            </p:txEl>
                                          </p:spTgt>
                                        </p:tgtEl>
                                        <p:attrNameLst>
                                          <p:attrName>style.visibility</p:attrName>
                                        </p:attrNameLst>
                                      </p:cBhvr>
                                      <p:to>
                                        <p:strVal val="visible"/>
                                      </p:to>
                                    </p:set>
                                    <p:animEffect transition="in" filter="wipe(left)">
                                      <p:cBhvr>
                                        <p:cTn id="7" dur="1000"/>
                                        <p:tgtEl>
                                          <p:spTgt spid="26631">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6631">
                                            <p:txEl>
                                              <p:pRg st="1" end="1"/>
                                            </p:txEl>
                                          </p:spTgt>
                                        </p:tgtEl>
                                        <p:attrNameLst>
                                          <p:attrName>style.visibility</p:attrName>
                                        </p:attrNameLst>
                                      </p:cBhvr>
                                      <p:to>
                                        <p:strVal val="visible"/>
                                      </p:to>
                                    </p:set>
                                    <p:animEffect transition="in" filter="wipe(left)">
                                      <p:cBhvr>
                                        <p:cTn id="11" dur="1000"/>
                                        <p:tgtEl>
                                          <p:spTgt spid="26631">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26631">
                                            <p:txEl>
                                              <p:pRg st="2" end="2"/>
                                            </p:txEl>
                                          </p:spTgt>
                                        </p:tgtEl>
                                        <p:attrNameLst>
                                          <p:attrName>style.visibility</p:attrName>
                                        </p:attrNameLst>
                                      </p:cBhvr>
                                      <p:to>
                                        <p:strVal val="visible"/>
                                      </p:to>
                                    </p:set>
                                    <p:animEffect transition="in" filter="wipe(left)">
                                      <p:cBhvr>
                                        <p:cTn id="15" dur="1000"/>
                                        <p:tgtEl>
                                          <p:spTgt spid="26631">
                                            <p:txEl>
                                              <p:pRg st="2" end="2"/>
                                            </p:txEl>
                                          </p:spTgt>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26631">
                                            <p:txEl>
                                              <p:pRg st="3" end="3"/>
                                            </p:txEl>
                                          </p:spTgt>
                                        </p:tgtEl>
                                        <p:attrNameLst>
                                          <p:attrName>style.visibility</p:attrName>
                                        </p:attrNameLst>
                                      </p:cBhvr>
                                      <p:to>
                                        <p:strVal val="visible"/>
                                      </p:to>
                                    </p:set>
                                    <p:animEffect transition="in" filter="wipe(left)">
                                      <p:cBhvr>
                                        <p:cTn id="19" dur="1000"/>
                                        <p:tgtEl>
                                          <p:spTgt spid="266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65" name="Group 2"/>
          <p:cNvGrpSpPr/>
          <p:nvPr/>
        </p:nvGrpSpPr>
        <p:grpSpPr>
          <a:xfrm>
            <a:off x="1547813" y="863600"/>
            <a:ext cx="9148762" cy="114300"/>
            <a:chOff x="0" y="0"/>
            <a:chExt cx="5763" cy="72"/>
          </a:xfrm>
        </p:grpSpPr>
        <p:sp>
          <p:nvSpPr>
            <p:cNvPr id="88066"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88067"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27654" name="Rectangle 5"/>
          <p:cNvSpPr>
            <a:spLocks noGrp="1"/>
          </p:cNvSpPr>
          <p:nvPr>
            <p:ph type="title" idx="4294967295"/>
          </p:nvPr>
        </p:nvSpPr>
        <p:spPr>
          <a:xfrm>
            <a:off x="1919288" y="890588"/>
            <a:ext cx="7772400" cy="1143000"/>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uLnTx/>
                <a:uFillTx/>
                <a:latin typeface="+mj-lt"/>
                <a:ea typeface="+mj-ea"/>
                <a:cs typeface="+mj-cs"/>
              </a:rPr>
              <a:t>3. </a:t>
            </a:r>
            <a:r>
              <a:rPr kumimoji="0" lang="zh-CN" altLang="en-US" sz="2800" b="0" i="0" u="none" strike="noStrike" kern="1200" cap="none" spc="0" normalizeH="0" baseline="0" noProof="0" dirty="0">
                <a:ln>
                  <a:noFill/>
                </a:ln>
                <a:solidFill>
                  <a:srgbClr val="A50021"/>
                </a:solidFill>
                <a:effectLst/>
                <a:uLnTx/>
                <a:uFillTx/>
                <a:latin typeface="+mj-lt"/>
                <a:ea typeface="+mj-ea"/>
                <a:cs typeface="+mj-cs"/>
              </a:rPr>
              <a:t>进行财务分析</a:t>
            </a:r>
            <a:endParaRPr kumimoji="0" lang="zh-CN" altLang="en-US" sz="2800" b="0" i="0" u="none" strike="noStrike" kern="1200" cap="none" spc="0" normalizeH="0" baseline="0" noProof="0" dirty="0">
              <a:ln>
                <a:noFill/>
              </a:ln>
              <a:solidFill>
                <a:srgbClr val="A50021"/>
              </a:solidFill>
              <a:effectLst/>
              <a:uLnTx/>
              <a:uFillTx/>
              <a:latin typeface="+mj-lt"/>
              <a:ea typeface="+mj-ea"/>
              <a:cs typeface="+mj-cs"/>
            </a:endParaRPr>
          </a:p>
        </p:txBody>
      </p:sp>
      <p:sp>
        <p:nvSpPr>
          <p:cNvPr id="27655" name="Rectangle 6"/>
          <p:cNvSpPr>
            <a:spLocks noGrp="1"/>
          </p:cNvSpPr>
          <p:nvPr>
            <p:ph type="body" sz="half" idx="4294967295"/>
          </p:nvPr>
        </p:nvSpPr>
        <p:spPr>
          <a:xfrm>
            <a:off x="1981200" y="2060575"/>
            <a:ext cx="9698990" cy="2034540"/>
          </a:xfrm>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L="457200" marR="0" lvl="0" indent="-457200" algn="l" defTabSz="914400" rtl="0" eaLnBrk="0" fontAlgn="base" latinLnBrk="0" hangingPunct="0">
              <a:lnSpc>
                <a:spcPts val="3800"/>
              </a:lnSpc>
              <a:spcBef>
                <a:spcPts val="600"/>
              </a:spcBef>
              <a:spcAft>
                <a:spcPct val="0"/>
              </a:spcAft>
              <a:buClrTx/>
              <a:buSzTx/>
              <a:buFont typeface="Wingdings" panose="05000000000000000000" pitchFamily="2" charset="2"/>
              <a:buChar char="ü"/>
              <a:defRPr/>
            </a:pPr>
            <a:r>
              <a:rPr kumimoji="0" lang="zh-CN" altLang="en-US" sz="26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考虑财务</a:t>
            </a: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经常是项目选择过程中的一个重要方面，尤其是在经济困难的时期。正如学者</a:t>
            </a:r>
            <a:r>
              <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DennisCohen </a:t>
            </a: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和</a:t>
            </a:r>
            <a:r>
              <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Robert Graham </a:t>
            </a: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所说的项目从来都不会自己结束。从财务的角度来讲，它们永远是达到一种目的的手段，那个目的就是</a:t>
            </a:r>
            <a:r>
              <a:rPr kumimoji="0" lang="zh-CN" altLang="en-US" sz="26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获取现金</a:t>
            </a: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endParaRPr kumimoji="0" lang="en-US" altLang="zh-CN" sz="26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endParaRPr>
          </a:p>
        </p:txBody>
      </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2495550" y="4121785"/>
            <a:ext cx="5227955" cy="1706880"/>
          </a:xfrm>
          <a:prstGeom prst="rect">
            <a:avLst/>
          </a:prstGeom>
          <a:noFill/>
        </p:spPr>
        <p:txBody>
          <a:bodyPr wrap="square" rtlCol="0" anchor="t">
            <a:spAutoFit/>
          </a:bodyPr>
          <a:p>
            <a:pPr marL="457200" marR="0" lvl="0" indent="-457200" algn="l" defTabSz="914400" rtl="0" eaLnBrk="0" fontAlgn="base" latinLnBrk="0" hangingPunct="0">
              <a:lnSpc>
                <a:spcPts val="3800"/>
              </a:lnSpc>
              <a:spcBef>
                <a:spcPts val="600"/>
              </a:spcBef>
              <a:spcAft>
                <a:spcPct val="0"/>
              </a:spcAft>
              <a:buClrTx/>
              <a:buSzTx/>
              <a:buFont typeface="Wingdings" panose="05000000000000000000" charset="0"/>
              <a:buChar char="l"/>
              <a:defRPr/>
            </a:pPr>
            <a:r>
              <a:rPr lang="zh-CN" altLang="en-US" sz="2800" b="1" noProof="0" dirty="0">
                <a:ln>
                  <a:noFill/>
                </a:ln>
                <a:solidFill>
                  <a:srgbClr val="FF0000"/>
                </a:solidFill>
                <a:effectLst>
                  <a:outerShdw blurRad="38100" dist="38100" dir="2700000">
                    <a:srgbClr val="FFFFFF"/>
                  </a:outerShdw>
                </a:effectLst>
                <a:uLnTx/>
                <a:uFillTx/>
                <a:sym typeface="Wingdings 2" panose="05020102010507070707" pitchFamily="18" charset="2"/>
              </a:rPr>
              <a:t>净现值（</a:t>
            </a:r>
            <a:r>
              <a:rPr lang="en-US" altLang="zh-CN" sz="2800" b="1" noProof="0" dirty="0">
                <a:ln>
                  <a:noFill/>
                </a:ln>
                <a:solidFill>
                  <a:srgbClr val="FF0000"/>
                </a:solidFill>
                <a:effectLst>
                  <a:outerShdw blurRad="38100" dist="38100" dir="2700000">
                    <a:srgbClr val="FFFFFF"/>
                  </a:outerShdw>
                </a:effectLst>
                <a:uLnTx/>
                <a:uFillTx/>
                <a:sym typeface="Wingdings 2" panose="05020102010507070707" pitchFamily="18" charset="2"/>
              </a:rPr>
              <a:t>NPV</a:t>
            </a:r>
            <a:r>
              <a:rPr lang="zh-CN" altLang="en-US" sz="2800" b="1" noProof="0" dirty="0">
                <a:ln>
                  <a:noFill/>
                </a:ln>
                <a:solidFill>
                  <a:srgbClr val="FF0000"/>
                </a:solidFill>
                <a:effectLst>
                  <a:outerShdw blurRad="38100" dist="38100" dir="2700000">
                    <a:srgbClr val="FFFFFF"/>
                  </a:outerShdw>
                </a:effectLst>
                <a:uLnTx/>
                <a:uFillTx/>
                <a:sym typeface="Wingdings 2" panose="05020102010507070707" pitchFamily="18" charset="2"/>
              </a:rPr>
              <a:t>）</a:t>
            </a:r>
            <a:endParaRPr kumimoji="0" lang="en-US" altLang="zh-CN" sz="2800" b="1"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457200" marR="0" lvl="0" indent="-457200" algn="l" defTabSz="914400" rtl="0" eaLnBrk="0" fontAlgn="base" latinLnBrk="0" hangingPunct="0">
              <a:lnSpc>
                <a:spcPts val="3800"/>
              </a:lnSpc>
              <a:spcBef>
                <a:spcPts val="600"/>
              </a:spcBef>
              <a:spcAft>
                <a:spcPct val="0"/>
              </a:spcAft>
              <a:buClrTx/>
              <a:buSzTx/>
              <a:buFont typeface="Wingdings" panose="05000000000000000000" charset="0"/>
              <a:buChar char="l"/>
              <a:defRPr/>
            </a:pPr>
            <a:r>
              <a:rPr lang="zh-CN" altLang="en-US" sz="2800" b="1" noProof="0" dirty="0">
                <a:ln>
                  <a:noFill/>
                </a:ln>
                <a:solidFill>
                  <a:srgbClr val="FF0000"/>
                </a:solidFill>
                <a:effectLst>
                  <a:outerShdw blurRad="38100" dist="38100" dir="2700000">
                    <a:srgbClr val="FFFFFF"/>
                  </a:outerShdw>
                </a:effectLst>
                <a:uLnTx/>
                <a:uFillTx/>
                <a:sym typeface="Wingdings 2" panose="05020102010507070707" pitchFamily="18" charset="2"/>
              </a:rPr>
              <a:t>投资收益率</a:t>
            </a:r>
            <a:r>
              <a:rPr lang="zh-CN" altLang="en-US" sz="2800" b="1" noProof="0" dirty="0">
                <a:ln>
                  <a:noFill/>
                </a:ln>
                <a:solidFill>
                  <a:srgbClr val="FF0000"/>
                </a:solidFill>
                <a:effectLst>
                  <a:outerShdw blurRad="38100" dist="38100" dir="2700000">
                    <a:srgbClr val="FFFFFF"/>
                  </a:outerShdw>
                </a:effectLst>
                <a:uLnTx/>
                <a:uFillTx/>
                <a:sym typeface="Wingdings" panose="05000000000000000000" pitchFamily="2" charset="2"/>
              </a:rPr>
              <a:t>（</a:t>
            </a:r>
            <a:r>
              <a:rPr lang="en-US" altLang="zh-CN" sz="2800" b="1" noProof="0" dirty="0">
                <a:ln>
                  <a:noFill/>
                </a:ln>
                <a:solidFill>
                  <a:srgbClr val="FF0000"/>
                </a:solidFill>
                <a:effectLst>
                  <a:outerShdw blurRad="38100" dist="38100" dir="2700000">
                    <a:srgbClr val="FFFFFF"/>
                  </a:outerShdw>
                </a:effectLst>
                <a:uLnTx/>
                <a:uFillTx/>
                <a:sym typeface="Wingdings" panose="05000000000000000000" pitchFamily="2" charset="2"/>
              </a:rPr>
              <a:t>ROI</a:t>
            </a:r>
            <a:r>
              <a:rPr lang="zh-CN" altLang="en-US" sz="2800" b="1" noProof="0" dirty="0">
                <a:ln>
                  <a:noFill/>
                </a:ln>
                <a:solidFill>
                  <a:srgbClr val="FF0000"/>
                </a:solidFill>
                <a:effectLst>
                  <a:outerShdw blurRad="38100" dist="38100" dir="2700000">
                    <a:srgbClr val="FFFFFF"/>
                  </a:outerShdw>
                </a:effectLst>
                <a:uLnTx/>
                <a:uFillTx/>
                <a:sym typeface="Wingdings" panose="05000000000000000000" pitchFamily="2" charset="2"/>
              </a:rPr>
              <a:t>）</a:t>
            </a:r>
            <a:endParaRPr kumimoji="0" lang="en-US" altLang="zh-CN" sz="2800" b="1"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panose="05000000000000000000" pitchFamily="2" charset="2"/>
            </a:endParaRPr>
          </a:p>
          <a:p>
            <a:pPr marL="457200" marR="0" lvl="0" indent="-457200" algn="l" defTabSz="914400" rtl="0" eaLnBrk="0" fontAlgn="base" latinLnBrk="0" hangingPunct="0">
              <a:lnSpc>
                <a:spcPts val="3800"/>
              </a:lnSpc>
              <a:spcBef>
                <a:spcPts val="600"/>
              </a:spcBef>
              <a:spcAft>
                <a:spcPct val="0"/>
              </a:spcAft>
              <a:buClrTx/>
              <a:buSzTx/>
              <a:buFont typeface="Wingdings" panose="05000000000000000000" charset="0"/>
              <a:buChar char="l"/>
              <a:defRPr/>
            </a:pPr>
            <a:r>
              <a:rPr lang="zh-CN" altLang="en-US" sz="2800" b="1" noProof="0" dirty="0">
                <a:ln>
                  <a:noFill/>
                </a:ln>
                <a:solidFill>
                  <a:srgbClr val="FF0000"/>
                </a:solidFill>
                <a:effectLst>
                  <a:outerShdw blurRad="38100" dist="38100" dir="2700000">
                    <a:srgbClr val="FFFFFF"/>
                  </a:outerShdw>
                </a:effectLst>
                <a:uLnTx/>
                <a:uFillTx/>
                <a:sym typeface="Wingdings 2" panose="05020102010507070707" pitchFamily="18" charset="2"/>
              </a:rPr>
              <a:t>投资回收期</a:t>
            </a:r>
            <a:endParaRPr lang="zh-CN" altLang="en-US" sz="2800" b="1" noProof="0" dirty="0">
              <a:ln>
                <a:noFill/>
              </a:ln>
              <a:solidFill>
                <a:srgbClr val="FF0000"/>
              </a:solidFill>
              <a:effectLst>
                <a:outerShdw blurRad="38100" dist="38100" dir="2700000">
                  <a:srgbClr val="FFFFFF"/>
                </a:outerShdw>
              </a:effectLst>
              <a:uLnTx/>
              <a:uFillTx/>
              <a:sym typeface="Wingdings 2" panose="05020102010507070707" pitchFamily="18" charset="2"/>
            </a:endParaRPr>
          </a:p>
        </p:txBody>
      </p:sp>
    </p:spTree>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5"/>
          <p:cNvSpPr>
            <a:spLocks noGrp="1"/>
          </p:cNvSpPr>
          <p:nvPr>
            <p:ph type="title"/>
          </p:nvPr>
        </p:nvSpPr>
        <p:spPr>
          <a:xfrm>
            <a:off x="1629410" y="863600"/>
            <a:ext cx="9807575" cy="1143000"/>
          </a:xfrm>
          <a:noFill/>
          <a:ln>
            <a:noFill/>
          </a:ln>
        </p:spPr>
        <p:txBody>
          <a:bodyPr wrap="square" lIns="92075" tIns="46038" rIns="92075" bIns="46038" anchor="ctr" anchorCtr="0"/>
          <a:lstStyle/>
          <a:p>
            <a:pPr marL="457200" indent="-457200" algn="just">
              <a:buFont typeface="Wingdings" panose="05000000000000000000" charset="0"/>
              <a:buChar char="Ø"/>
            </a:pPr>
            <a:r>
              <a:rPr lang="zh-CN" altLang="en-US" sz="2800" dirty="0">
                <a:solidFill>
                  <a:srgbClr val="A50021"/>
                </a:solidFill>
                <a:effectLst/>
                <a:ea typeface="华文中宋" panose="02010600040101010101" pitchFamily="2" charset="-122"/>
              </a:rPr>
              <a:t>净现值分析（对未来收入或支出的一笔资金的当前价值的估算）</a:t>
            </a:r>
            <a:endParaRPr lang="zh-CN" altLang="en-US" sz="2800" dirty="0">
              <a:solidFill>
                <a:srgbClr val="A50021"/>
              </a:solidFill>
              <a:effectLst/>
              <a:ea typeface="华文中宋" panose="02010600040101010101" pitchFamily="2" charset="-122"/>
            </a:endParaRPr>
          </a:p>
        </p:txBody>
      </p:sp>
      <p:sp>
        <p:nvSpPr>
          <p:cNvPr id="28679" name="Rectangle 6"/>
          <p:cNvSpPr>
            <a:spLocks noGrp="1"/>
          </p:cNvSpPr>
          <p:nvPr>
            <p:ph type="body" sz="half" idx="4294967295"/>
          </p:nvPr>
        </p:nvSpPr>
        <p:spPr>
          <a:xfrm>
            <a:off x="1711325" y="1989455"/>
            <a:ext cx="9794240" cy="3667125"/>
          </a:xfrm>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L="0" marR="0" lvl="0" indent="0" algn="l" defTabSz="914400" rtl="0" eaLnBrk="0" fontAlgn="base" latinLnBrk="0" hangingPunct="0">
              <a:lnSpc>
                <a:spcPct val="110000"/>
              </a:lnSpc>
              <a:spcBef>
                <a:spcPts val="600"/>
              </a:spcBef>
              <a:spcAft>
                <a:spcPct val="0"/>
              </a:spcAft>
              <a:buClrTx/>
              <a:buSzTx/>
              <a:buFontTx/>
              <a:buChar char=""/>
              <a:defRPr/>
            </a:pP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净现值分析</a:t>
            </a:r>
            <a:r>
              <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Net Present Value analysis)</a:t>
            </a: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是计算项目预期净货币收益和损失的方法，将当前时间点之后的所有未来预期现金流入和流出都做折现计算。</a:t>
            </a:r>
            <a:endPar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Char char=""/>
              <a:defRPr/>
            </a:pPr>
            <a:r>
              <a:rPr kumimoji="0" lang="zh-CN" altLang="en-US" sz="2600" b="0" i="0" u="none" strike="noStrike" kern="1200" cap="none" spc="0" normalizeH="0" baseline="0" noProof="0" dirty="0">
                <a:ln>
                  <a:noFill/>
                </a:ln>
                <a:solidFill>
                  <a:srgbClr val="FF0000"/>
                </a:solidFill>
                <a:effectLst/>
                <a:uLnTx/>
                <a:uFillTx/>
                <a:latin typeface="+mn-lt"/>
                <a:ea typeface="+mn-ea"/>
                <a:cs typeface="+mn-cs"/>
              </a:rPr>
              <a:t>只考虑那些能产生正净现值的项目</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（项目回报超过了资金成本）</a:t>
            </a:r>
            <a:endParaRPr kumimoji="0" lang="zh-CN" altLang="en-US" sz="2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10000"/>
              </a:lnSpc>
              <a:spcBef>
                <a:spcPts val="600"/>
              </a:spcBef>
              <a:spcAft>
                <a:spcPct val="0"/>
              </a:spcAft>
              <a:buClrTx/>
              <a:buSzTx/>
              <a:buFontTx/>
              <a:buChar char=""/>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cs"/>
              </a:rPr>
              <a:t>计算净现值时候必须假设一个特定的</a:t>
            </a:r>
            <a:r>
              <a:rPr kumimoji="0" lang="zh-CN" altLang="en-US" sz="2600" b="0" i="0" u="none" strike="noStrike" kern="1200" cap="none" spc="0" normalizeH="0" baseline="0" noProof="0" dirty="0">
                <a:ln>
                  <a:noFill/>
                </a:ln>
                <a:solidFill>
                  <a:srgbClr val="FF0000"/>
                </a:solidFill>
                <a:effectLst/>
                <a:uLnTx/>
                <a:uFillTx/>
                <a:latin typeface="+mn-lt"/>
                <a:ea typeface="+mn-ea"/>
                <a:cs typeface="+mn-cs"/>
              </a:rPr>
              <a:t>折现率</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（用于折现现金流的比率，同时考虑金钱的</a:t>
            </a:r>
            <a:r>
              <a:rPr kumimoji="0" lang="zh-CN" altLang="en-US" sz="2600" b="0" i="0" u="none" strike="noStrike" kern="1200" cap="none" spc="0" normalizeH="0" baseline="0" noProof="0" dirty="0">
                <a:ln>
                  <a:noFill/>
                </a:ln>
                <a:solidFill>
                  <a:srgbClr val="FF0000"/>
                </a:solidFill>
                <a:effectLst/>
                <a:uLnTx/>
                <a:uFillTx/>
                <a:latin typeface="+mn-lt"/>
                <a:ea typeface="+mn-ea"/>
                <a:cs typeface="+mn-cs"/>
              </a:rPr>
              <a:t>时间价值</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、未来现金流的风险和不确定性，也称为</a:t>
            </a:r>
            <a:r>
              <a:rPr kumimoji="0" lang="zh-CN" altLang="en-US" sz="2600" b="0" i="0" u="none" strike="noStrike" kern="1200" cap="none" spc="0" normalizeH="0" baseline="0" noProof="0" dirty="0">
                <a:ln>
                  <a:noFill/>
                </a:ln>
                <a:solidFill>
                  <a:srgbClr val="FF0000"/>
                </a:solidFill>
                <a:effectLst/>
                <a:uLnTx/>
                <a:uFillTx/>
                <a:latin typeface="+mn-lt"/>
                <a:ea typeface="+mn-ea"/>
                <a:cs typeface="+mn-cs"/>
              </a:rPr>
              <a:t>资本化率或者资本机会成本</a:t>
            </a:r>
            <a:r>
              <a:rPr kumimoji="0" lang="zh-CN" altLang="en-US" sz="26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600" b="0" i="0" u="none" strike="noStrike" kern="1200" cap="none" spc="0" normalizeH="0" baseline="0" noProof="0" dirty="0">
              <a:ln>
                <a:noFill/>
              </a:ln>
              <a:solidFill>
                <a:schemeClr val="tx1"/>
              </a:solidFill>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None/>
              <a:defRPr/>
            </a:pPr>
            <a:endParaRPr kumimoji="0" lang="en-US" altLang="zh-CN" sz="2600" b="0" i="0" u="none" strike="noStrike" kern="1200" cap="none" spc="0" normalizeH="0" baseline="0" noProof="0" dirty="0">
              <a:ln>
                <a:noFill/>
              </a:ln>
              <a:solidFill>
                <a:schemeClr val="tx1"/>
              </a:solidFill>
              <a:effectLst/>
              <a:uLnTx/>
              <a:uFillTx/>
              <a:latin typeface="+mn-lt"/>
              <a:ea typeface="+mn-ea"/>
              <a:cs typeface="+mn-cs"/>
              <a:sym typeface="Wingdings 2" panose="05020102010507070707" pitchFamily="18" charset="2"/>
            </a:endParaRPr>
          </a:p>
        </p:txBody>
      </p:sp>
      <p:grpSp>
        <p:nvGrpSpPr>
          <p:cNvPr id="89091" name="Group 2"/>
          <p:cNvGrpSpPr/>
          <p:nvPr/>
        </p:nvGrpSpPr>
        <p:grpSpPr>
          <a:xfrm>
            <a:off x="1547813" y="863600"/>
            <a:ext cx="9148762" cy="114300"/>
            <a:chOff x="0" y="0"/>
            <a:chExt cx="5763" cy="72"/>
          </a:xfrm>
        </p:grpSpPr>
        <p:sp>
          <p:nvSpPr>
            <p:cNvPr id="89092"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89093"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4" name="Rectangle 6"/>
          <p:cNvSpPr>
            <a:spLocks noGrp="1"/>
          </p:cNvSpPr>
          <p:nvPr/>
        </p:nvSpPr>
        <p:spPr>
          <a:xfrm>
            <a:off x="3198495" y="5274945"/>
            <a:ext cx="3208655" cy="1174115"/>
          </a:xfrm>
          <a:prstGeom prst="rect">
            <a:avLst/>
          </a:prstGeom>
          <a:noFill/>
          <a:ln w="9525">
            <a:noFill/>
          </a:ln>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L="0" marR="0" lvl="0" indent="0" algn="l" defTabSz="914400" rtl="0" eaLnBrk="0" fontAlgn="base" latinLnBrk="0" hangingPunct="0">
              <a:lnSpc>
                <a:spcPct val="110000"/>
              </a:lnSpc>
              <a:spcBef>
                <a:spcPts val="6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Char char=""/>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净现值（</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NPV</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Char char=""/>
              <a:defRPr/>
            </a:pPr>
            <a:endParaRPr kumimoji="0" lang="en-US" altLang="zh-CN"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Char char=""/>
              <a:defRPr/>
            </a:pPr>
            <a:endParaRPr kumimoji="0" lang="en-US" altLang="zh-CN" sz="20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p:txBody>
      </p:sp>
      <p:graphicFrame>
        <p:nvGraphicFramePr>
          <p:cNvPr id="89096" name="对象 28679"/>
          <p:cNvGraphicFramePr>
            <a:graphicFrameLocks noChangeAspect="1"/>
          </p:cNvGraphicFramePr>
          <p:nvPr/>
        </p:nvGraphicFramePr>
        <p:xfrm>
          <a:off x="6407150" y="5516245"/>
          <a:ext cx="2598420" cy="1016635"/>
        </p:xfrm>
        <a:graphic>
          <a:graphicData uri="http://schemas.openxmlformats.org/presentationml/2006/ole">
            <mc:AlternateContent xmlns:mc="http://schemas.openxmlformats.org/markup-compatibility/2006">
              <mc:Choice xmlns:v="urn:schemas-microsoft-com:vml" Requires="v">
                <p:oleObj spid="_x0000_s4110" name="" r:id="rId1" imgW="876300" imgH="342900" progId="Equation.3">
                  <p:embed/>
                </p:oleObj>
              </mc:Choice>
              <mc:Fallback>
                <p:oleObj name="" r:id="rId1" imgW="876300" imgH="342900" progId="Equation.3">
                  <p:embed/>
                  <p:pic>
                    <p:nvPicPr>
                      <p:cNvPr id="0" name="图片 3076"/>
                      <p:cNvPicPr/>
                      <p:nvPr/>
                    </p:nvPicPr>
                    <p:blipFill>
                      <a:blip r:embed="rId2"/>
                      <a:stretch>
                        <a:fillRect/>
                      </a:stretch>
                    </p:blipFill>
                    <p:spPr>
                      <a:xfrm>
                        <a:off x="6407150" y="5516245"/>
                        <a:ext cx="2598420" cy="1016635"/>
                      </a:xfrm>
                      <a:prstGeom prst="rect">
                        <a:avLst/>
                      </a:prstGeom>
                      <a:noFill/>
                      <a:ln w="38100">
                        <a:noFill/>
                        <a:miter/>
                      </a:ln>
                    </p:spPr>
                  </p:pic>
                </p:oleObj>
              </mc:Fallback>
            </mc:AlternateContent>
          </a:graphicData>
        </a:graphic>
      </p:graphicFrame>
    </p:spTree>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5"/>
          <p:cNvSpPr txBox="1">
            <a:spLocks noGrp="1"/>
          </p:cNvSpPr>
          <p:nvPr/>
        </p:nvSpPr>
        <p:spPr>
          <a:xfrm>
            <a:off x="8688388" y="7292975"/>
            <a:ext cx="1905000" cy="457200"/>
          </a:xfrm>
          <a:prstGeom prst="rect">
            <a:avLst/>
          </a:prstGeom>
          <a:noFill/>
          <a:ln w="9525">
            <a:noFill/>
          </a:ln>
        </p:spPr>
        <p:txBody>
          <a:bodyPr anchor="t" anchorCtr="0"/>
          <a:lstStyle/>
          <a:p>
            <a:pPr algn="r" eaLnBrk="0" hangingPunct="0">
              <a:spcBef>
                <a:spcPct val="50000"/>
              </a:spcBef>
            </a:pPr>
            <a:fld id="{9A0DB2DC-4C9A-4742-B13C-FB6460FD3503}" type="slidenum">
              <a:rPr lang="en-US" altLang="zh-CN" sz="1400" dirty="0">
                <a:latin typeface="Arial Black" panose="020B0A04020102020204" pitchFamily="34" charset="0"/>
              </a:rPr>
            </a:fld>
            <a:endParaRPr lang="en-US" altLang="zh-CN" sz="1400" dirty="0">
              <a:latin typeface="Arial Black" panose="020B0A04020102020204" pitchFamily="34" charset="0"/>
            </a:endParaRPr>
          </a:p>
        </p:txBody>
      </p:sp>
      <p:graphicFrame>
        <p:nvGraphicFramePr>
          <p:cNvPr id="69635" name="表格 69634"/>
          <p:cNvGraphicFramePr/>
          <p:nvPr/>
        </p:nvGraphicFramePr>
        <p:xfrm>
          <a:off x="1560513" y="4146550"/>
          <a:ext cx="9144000" cy="2134870"/>
        </p:xfrm>
        <a:graphic>
          <a:graphicData uri="http://schemas.openxmlformats.org/drawingml/2006/table">
            <a:tbl>
              <a:tblPr/>
              <a:tblGrid>
                <a:gridCol w="1376680"/>
                <a:gridCol w="1301750"/>
                <a:gridCol w="1301750"/>
                <a:gridCol w="1258570"/>
                <a:gridCol w="1257300"/>
                <a:gridCol w="1257300"/>
                <a:gridCol w="1390650"/>
              </a:tblGrid>
              <a:tr h="54165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项目</a:t>
                      </a:r>
                      <a:r>
                        <a:rPr lang="en-US" altLang="zh-CN" sz="1800" dirty="0">
                          <a:latin typeface="楷体_GB2312"/>
                          <a:ea typeface="楷体_GB2312"/>
                        </a:rPr>
                        <a:t>2</a:t>
                      </a:r>
                      <a:endParaRPr lang="en-US" altLang="zh-CN"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Y1</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Y2</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Y3</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Y4</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Y5</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TOTAL</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11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收益</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15,000.00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4038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成本</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4165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现金流</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69677" name="表格 69676"/>
          <p:cNvGraphicFramePr/>
          <p:nvPr/>
        </p:nvGraphicFramePr>
        <p:xfrm>
          <a:off x="1560513" y="1987550"/>
          <a:ext cx="9144000" cy="2127250"/>
        </p:xfrm>
        <a:graphic>
          <a:graphicData uri="http://schemas.openxmlformats.org/drawingml/2006/table">
            <a:tbl>
              <a:tblPr/>
              <a:tblGrid>
                <a:gridCol w="1367155"/>
                <a:gridCol w="1296670"/>
                <a:gridCol w="1295400"/>
                <a:gridCol w="1260475"/>
                <a:gridCol w="1306830"/>
                <a:gridCol w="1309370"/>
                <a:gridCol w="1308100"/>
              </a:tblGrid>
              <a:tr h="4905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折现率</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10%</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49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项目</a:t>
                      </a:r>
                      <a:r>
                        <a:rPr lang="en-US" altLang="zh-CN" sz="1800" dirty="0">
                          <a:latin typeface="楷体_GB2312"/>
                          <a:ea typeface="楷体_GB2312"/>
                        </a:rPr>
                        <a:t>1</a:t>
                      </a:r>
                      <a:endParaRPr lang="en-US" altLang="zh-CN"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Y1</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Y2</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Y3</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Y4</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Y5</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TOTAL</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5762">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收益</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14,000.00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成本</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06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现金流</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0206" name="矩形 8"/>
          <p:cNvSpPr/>
          <p:nvPr/>
        </p:nvSpPr>
        <p:spPr>
          <a:xfrm>
            <a:off x="1919605" y="1125855"/>
            <a:ext cx="8999220" cy="521970"/>
          </a:xfrm>
          <a:prstGeom prst="rect">
            <a:avLst/>
          </a:prstGeom>
          <a:noFill/>
          <a:ln w="9525">
            <a:noFill/>
          </a:ln>
        </p:spPr>
        <p:txBody>
          <a:bodyPr wrap="square" anchor="t" anchorCtr="0">
            <a:spAutoFit/>
          </a:bodyPr>
          <a:lstStyle/>
          <a:p>
            <a:pPr eaLnBrk="0" hangingPunct="0"/>
            <a:r>
              <a:rPr lang="zh-CN" altLang="en-US" sz="2800" b="1" dirty="0">
                <a:solidFill>
                  <a:srgbClr val="FF0000"/>
                </a:solidFill>
                <a:latin typeface="Arial" panose="020B0604020202020204" pitchFamily="34" charset="0"/>
                <a:ea typeface="宋体" panose="02010600030101010101" pitchFamily="2" charset="-122"/>
              </a:rPr>
              <a:t>折现率</a:t>
            </a:r>
            <a:r>
              <a:rPr lang="en-US" altLang="zh-CN" sz="2800" b="1" dirty="0">
                <a:latin typeface="Arial" panose="020B0604020202020204" pitchFamily="34" charset="0"/>
              </a:rPr>
              <a:t>( discount rate) </a:t>
            </a:r>
            <a:r>
              <a:rPr lang="zh-CN" altLang="en-US" sz="2800" b="1" dirty="0">
                <a:latin typeface="Arial" panose="020B0604020202020204" pitchFamily="34" charset="0"/>
                <a:ea typeface="宋体" panose="02010600030101010101" pitchFamily="2" charset="-122"/>
              </a:rPr>
              <a:t>是用来将未来现金流折现的利率</a:t>
            </a:r>
            <a:endParaRPr lang="zh-CN" altLang="en-US" sz="2800" b="1" dirty="0">
              <a:latin typeface="Arial" panose="020B0604020202020204" pitchFamily="34" charset="0"/>
              <a:ea typeface="宋体" panose="02010600030101010101" pitchFamily="2" charset="-122"/>
            </a:endParaRPr>
          </a:p>
        </p:txBody>
      </p:sp>
      <p:grpSp>
        <p:nvGrpSpPr>
          <p:cNvPr id="90207" name="Group 2"/>
          <p:cNvGrpSpPr/>
          <p:nvPr/>
        </p:nvGrpSpPr>
        <p:grpSpPr>
          <a:xfrm>
            <a:off x="1547813" y="863600"/>
            <a:ext cx="9148762" cy="114300"/>
            <a:chOff x="0" y="0"/>
            <a:chExt cx="5763" cy="72"/>
          </a:xfrm>
        </p:grpSpPr>
        <p:sp>
          <p:nvSpPr>
            <p:cNvPr id="90208"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0209"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8" name="内容占位符 70657"/>
          <p:cNvGraphicFramePr>
            <a:graphicFrameLocks noGrp="1"/>
          </p:cNvGraphicFramePr>
          <p:nvPr>
            <p:ph idx="4294967295"/>
            <p:custDataLst>
              <p:tags r:id="rId1"/>
            </p:custDataLst>
          </p:nvPr>
        </p:nvGraphicFramePr>
        <p:xfrm>
          <a:off x="1558925" y="1355725"/>
          <a:ext cx="9144000" cy="5301615"/>
        </p:xfrm>
        <a:graphic>
          <a:graphicData uri="http://schemas.openxmlformats.org/drawingml/2006/table">
            <a:tbl>
              <a:tblPr/>
              <a:tblGrid>
                <a:gridCol w="1292225"/>
                <a:gridCol w="1310005"/>
                <a:gridCol w="1308100"/>
                <a:gridCol w="1309370"/>
                <a:gridCol w="1306830"/>
                <a:gridCol w="1309370"/>
                <a:gridCol w="1308100"/>
              </a:tblGrid>
              <a:tr h="4905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折现率</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10%</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49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项目</a:t>
                      </a:r>
                      <a:r>
                        <a:rPr lang="en-US" altLang="zh-CN" sz="1800" dirty="0">
                          <a:latin typeface="楷体_GB2312"/>
                          <a:ea typeface="楷体_GB2312"/>
                        </a:rPr>
                        <a:t>1</a:t>
                      </a:r>
                      <a:endParaRPr lang="en-US" altLang="zh-CN"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Y1</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Y2</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Y3</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Y4</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Y5</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TOTAL</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5762">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收益</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14,000.00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成本</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037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现金流</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037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折现成本</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-4,545.00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-826.00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-751.00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-683.00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-621.00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-7,427.00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折现收益</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1,653.00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2,254.00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2,732.00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3,105.00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9,743.00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76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折现收益</a:t>
                      </a:r>
                      <a:endParaRPr lang="zh-CN" altLang="en-US" sz="1800" dirty="0">
                        <a:latin typeface="楷体_GB2312"/>
                        <a:ea typeface="楷体_GB2312"/>
                      </a:endParaRPr>
                    </a:p>
                    <a:p>
                      <a:pPr lvl="0" algn="ctr" eaLnBrk="1" fontAlgn="ctr" hangingPunct="1">
                        <a:buNone/>
                      </a:pPr>
                      <a:r>
                        <a:rPr lang="en-US" altLang="zh-CN" sz="1800" dirty="0">
                          <a:latin typeface="楷体_GB2312"/>
                          <a:ea typeface="楷体_GB2312"/>
                        </a:rPr>
                        <a:t>+</a:t>
                      </a:r>
                      <a:r>
                        <a:rPr lang="zh-CN" altLang="en-US" sz="1800" dirty="0">
                          <a:latin typeface="楷体_GB2312"/>
                          <a:ea typeface="楷体_GB2312"/>
                        </a:rPr>
                        <a:t>成本</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-4,545.00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826.00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1,503.00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2,049.00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2,484.00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2,316.00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76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总</a:t>
                      </a:r>
                      <a:r>
                        <a:rPr lang="zh-CN" altLang="en-US" sz="1800" dirty="0">
                          <a:latin typeface="楷体_GB2312"/>
                          <a:ea typeface="楷体_GB2312"/>
                          <a:sym typeface="+mn-ea"/>
                        </a:rPr>
                        <a:t>折现收益</a:t>
                      </a:r>
                      <a:r>
                        <a:rPr lang="en-US" altLang="zh-CN" sz="1800" dirty="0">
                          <a:latin typeface="楷体_GB2312"/>
                          <a:ea typeface="楷体_GB2312"/>
                        </a:rPr>
                        <a:t>+</a:t>
                      </a:r>
                      <a:r>
                        <a:rPr lang="zh-CN" altLang="en-US" sz="1800" dirty="0">
                          <a:latin typeface="楷体_GB2312"/>
                          <a:ea typeface="楷体_GB2312"/>
                        </a:rPr>
                        <a:t>成本</a:t>
                      </a:r>
                      <a:endParaRPr lang="zh-CN" altLang="en-US" sz="1800" dirty="0">
                        <a:latin typeface="楷体_GB2312"/>
                        <a:ea typeface="楷体_GB231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-4,545.00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-3,719.00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-2,216.00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-167.00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solidFill>
                            <a:srgbClr val="FF0000"/>
                          </a:solidFill>
                          <a:latin typeface="Times New Roman" panose="02020603050405020304" pitchFamily="18" charset="0"/>
                          <a:ea typeface="楷体_GB2312"/>
                        </a:rPr>
                        <a:t> </a:t>
                      </a:r>
                      <a:r>
                        <a:rPr lang="zh-CN" altLang="en-US" sz="1400" dirty="0">
                          <a:solidFill>
                            <a:srgbClr val="FF0000"/>
                          </a:solidFill>
                          <a:latin typeface="Times New Roman" panose="02020603050405020304" pitchFamily="18" charset="0"/>
                          <a:ea typeface="楷体_GB2312"/>
                        </a:rPr>
                        <a:t>￥   </a:t>
                      </a:r>
                      <a:r>
                        <a:rPr lang="en-US" altLang="zh-CN" sz="1400" dirty="0">
                          <a:solidFill>
                            <a:srgbClr val="FF0000"/>
                          </a:solidFill>
                          <a:latin typeface="Times New Roman" panose="02020603050405020304" pitchFamily="18" charset="0"/>
                          <a:ea typeface="楷体_GB2312"/>
                        </a:rPr>
                        <a:t>2,316.00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053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800" dirty="0">
                          <a:latin typeface="Times New Roman" panose="02020603050405020304" pitchFamily="18" charset="0"/>
                          <a:ea typeface="楷体_GB2312"/>
                        </a:rPr>
                        <a:t>NPV</a:t>
                      </a:r>
                      <a:endParaRPr lang="en-US" altLang="zh-CN" sz="1800" dirty="0">
                        <a:latin typeface="Times New Roman" panose="02020603050405020304" pitchFamily="18" charset="0"/>
                        <a:ea typeface="Times New Roman" panose="02020603050405020304" pitchFamily="18" charset="0"/>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2,316.00 </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8895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800" dirty="0">
                          <a:latin typeface="Times New Roman" panose="02020603050405020304" pitchFamily="18" charset="0"/>
                          <a:ea typeface="楷体_GB2312"/>
                        </a:rPr>
                        <a:t>ROI</a:t>
                      </a:r>
                      <a:endParaRPr lang="en-US" altLang="zh-CN" sz="1800" dirty="0">
                        <a:latin typeface="Times New Roman" panose="02020603050405020304" pitchFamily="18" charset="0"/>
                        <a:ea typeface="Times New Roman" panose="02020603050405020304" pitchFamily="18" charset="0"/>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31%</a:t>
                      </a:r>
                      <a:endParaRPr lang="en-US" altLang="zh-CN" sz="1400" dirty="0">
                        <a:latin typeface="Times New Roman" panose="02020603050405020304" pitchFamily="18" charset="0"/>
                        <a:ea typeface="Times New Roman" panose="02020603050405020304" pitchFamily="18" charset="0"/>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0821" name="Rectangle 520"/>
          <p:cNvSpPr/>
          <p:nvPr/>
        </p:nvSpPr>
        <p:spPr>
          <a:xfrm>
            <a:off x="1919288" y="981075"/>
            <a:ext cx="7772400" cy="371475"/>
          </a:xfrm>
          <a:prstGeom prst="rect">
            <a:avLst/>
          </a:prstGeom>
          <a:noFill/>
          <a:ln w="9525">
            <a:noFill/>
          </a:ln>
        </p:spPr>
        <p:txBody>
          <a:bodyPr lIns="92075" tIns="46038" rIns="92075" bIns="46038" anchor="ctr" anchorCtr="0"/>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2"/>
                </a:solidFill>
                <a:effectLst>
                  <a:outerShdw blurRad="38100" dist="38100" dir="2700000">
                    <a:srgbClr val="FFFFFF"/>
                  </a:outerShdw>
                </a:effectLst>
                <a:uLnTx/>
                <a:uFillTx/>
                <a:latin typeface="Times New Roman" panose="02020603050405020304" pitchFamily="18" charset="0"/>
                <a:ea typeface="楷体_GB2312" pitchFamily="49" charset="-122"/>
                <a:cs typeface="+mn-cs"/>
              </a:rPr>
              <a:t>财务分析示例</a:t>
            </a:r>
            <a:endParaRPr kumimoji="0" lang="zh-CN" altLang="en-US" sz="2400" b="1" i="0" u="none" strike="noStrike" kern="1200" cap="none" spc="0" normalizeH="0" baseline="0" noProof="0" dirty="0">
              <a:ln>
                <a:noFill/>
              </a:ln>
              <a:solidFill>
                <a:schemeClr val="tx2"/>
              </a:solidFill>
              <a:effectLst>
                <a:outerShdw blurRad="38100" dist="38100" dir="2700000">
                  <a:srgbClr val="FFFFFF"/>
                </a:outerShdw>
              </a:effectLst>
              <a:uLnTx/>
              <a:uFillTx/>
              <a:latin typeface="Times New Roman" panose="02020603050405020304" pitchFamily="18" charset="0"/>
              <a:ea typeface="楷体_GB2312" pitchFamily="49" charset="-122"/>
              <a:cs typeface="+mn-cs"/>
            </a:endParaRPr>
          </a:p>
        </p:txBody>
      </p:sp>
      <p:grpSp>
        <p:nvGrpSpPr>
          <p:cNvPr id="91236" name="Group 2"/>
          <p:cNvGrpSpPr/>
          <p:nvPr/>
        </p:nvGrpSpPr>
        <p:grpSpPr>
          <a:xfrm>
            <a:off x="1547813" y="863600"/>
            <a:ext cx="9148762" cy="114300"/>
            <a:chOff x="0" y="0"/>
            <a:chExt cx="5763" cy="72"/>
          </a:xfrm>
        </p:grpSpPr>
        <p:sp>
          <p:nvSpPr>
            <p:cNvPr id="91237"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1238"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4"/>
          <p:cNvSpPr txBox="1">
            <a:spLocks noGrp="1"/>
          </p:cNvSpPr>
          <p:nvPr/>
        </p:nvSpPr>
        <p:spPr>
          <a:xfrm>
            <a:off x="8688388" y="6500813"/>
            <a:ext cx="1905000" cy="457200"/>
          </a:xfrm>
          <a:prstGeom prst="rect">
            <a:avLst/>
          </a:prstGeom>
          <a:noFill/>
          <a:ln w="9525">
            <a:noFill/>
          </a:ln>
        </p:spPr>
        <p:txBody>
          <a:bodyPr anchor="t" anchorCtr="0"/>
          <a:lstStyle/>
          <a:p>
            <a:pPr algn="r" eaLnBrk="0" hangingPunct="0">
              <a:spcBef>
                <a:spcPct val="50000"/>
              </a:spcBef>
            </a:pPr>
            <a:endParaRPr lang="en-US" altLang="zh-CN" sz="1400" dirty="0">
              <a:latin typeface="Arial Black" panose="020B0A04020102020204" pitchFamily="34" charset="0"/>
            </a:endParaRPr>
          </a:p>
        </p:txBody>
      </p:sp>
      <p:graphicFrame>
        <p:nvGraphicFramePr>
          <p:cNvPr id="71683" name="内容占位符 71682"/>
          <p:cNvGraphicFramePr>
            <a:graphicFrameLocks noGrp="1"/>
          </p:cNvGraphicFramePr>
          <p:nvPr>
            <p:ph idx="4294967295"/>
            <p:custDataLst>
              <p:tags r:id="rId1"/>
            </p:custDataLst>
          </p:nvPr>
        </p:nvGraphicFramePr>
        <p:xfrm>
          <a:off x="1524635" y="994410"/>
          <a:ext cx="9712325" cy="5742305"/>
        </p:xfrm>
        <a:graphic>
          <a:graphicData uri="http://schemas.openxmlformats.org/drawingml/2006/table">
            <a:tbl>
              <a:tblPr/>
              <a:tblGrid>
                <a:gridCol w="1380490"/>
                <a:gridCol w="1320800"/>
                <a:gridCol w="1623695"/>
                <a:gridCol w="1249045"/>
                <a:gridCol w="1327150"/>
                <a:gridCol w="1515110"/>
                <a:gridCol w="1296035"/>
              </a:tblGrid>
              <a:tr h="4191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项目</a:t>
                      </a:r>
                      <a:r>
                        <a:rPr lang="en-US" altLang="zh-CN" sz="1800" dirty="0">
                          <a:latin typeface="楷体_GB2312"/>
                          <a:ea typeface="楷体_GB2312"/>
                        </a:rPr>
                        <a:t>2</a:t>
                      </a:r>
                      <a:endParaRPr lang="en-US" altLang="zh-CN"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Y1</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Y2</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Y3</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Y4</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Y5</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TOTAL</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1816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收益</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4,000.00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15,000.00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3848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成本</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3975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现金流</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5,000.00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3690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折现成本</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-1,818.00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-1,653.00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-1,503.00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-1,366.00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-1,242.00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-7,582.00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3690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折现收益</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909.00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1,653.00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3,005.00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2,732.00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2,484.00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10,783.00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008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折现收益</a:t>
                      </a:r>
                      <a:r>
                        <a:rPr lang="en-US" altLang="zh-CN" sz="1800" dirty="0">
                          <a:latin typeface="楷体_GB2312"/>
                          <a:ea typeface="楷体_GB2312"/>
                        </a:rPr>
                        <a:t>+</a:t>
                      </a:r>
                      <a:r>
                        <a:rPr lang="zh-CN" altLang="en-US" sz="1800" dirty="0">
                          <a:latin typeface="楷体_GB2312"/>
                          <a:ea typeface="楷体_GB2312"/>
                        </a:rPr>
                        <a:t>成本</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-909.00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1,503.00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1,366.00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1,242.00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3,201.00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1800" dirty="0">
                          <a:latin typeface="楷体_GB2312"/>
                          <a:ea typeface="楷体_GB2312"/>
                        </a:rPr>
                        <a:t>总</a:t>
                      </a:r>
                      <a:r>
                        <a:rPr lang="zh-CN" altLang="en-US" sz="1800" dirty="0">
                          <a:latin typeface="楷体_GB2312"/>
                          <a:ea typeface="楷体_GB2312"/>
                          <a:sym typeface="+mn-ea"/>
                        </a:rPr>
                        <a:t>折现</a:t>
                      </a:r>
                      <a:r>
                        <a:rPr lang="zh-CN" altLang="en-US" sz="1800" dirty="0">
                          <a:latin typeface="楷体_GB2312"/>
                          <a:ea typeface="楷体_GB2312"/>
                        </a:rPr>
                        <a:t>收益</a:t>
                      </a:r>
                      <a:endParaRPr lang="zh-CN" altLang="en-US" sz="1800" dirty="0">
                        <a:latin typeface="楷体_GB2312"/>
                        <a:ea typeface="楷体_GB2312"/>
                      </a:endParaRPr>
                    </a:p>
                    <a:p>
                      <a:pPr lvl="0" algn="ctr" eaLnBrk="1" fontAlgn="ctr" hangingPunct="1">
                        <a:buNone/>
                      </a:pPr>
                      <a:r>
                        <a:rPr lang="en-US" altLang="zh-CN" sz="1800" dirty="0">
                          <a:latin typeface="楷体_GB2312"/>
                          <a:ea typeface="楷体_GB2312"/>
                        </a:rPr>
                        <a:t>+</a:t>
                      </a:r>
                      <a:r>
                        <a:rPr lang="zh-CN" altLang="en-US" sz="1800" dirty="0">
                          <a:latin typeface="楷体_GB2312"/>
                          <a:ea typeface="楷体_GB2312"/>
                        </a:rPr>
                        <a:t>成本</a:t>
                      </a:r>
                      <a:endParaRPr lang="zh-CN" altLang="en-US" sz="1800" dirty="0">
                        <a:latin typeface="楷体_GB2312"/>
                        <a:ea typeface="楷体_GB2312"/>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-909.00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-909.00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solidFill>
                            <a:srgbClr val="FF0000"/>
                          </a:solidFill>
                          <a:latin typeface="Times New Roman" panose="02020603050405020304" pitchFamily="18" charset="0"/>
                          <a:ea typeface="楷体_GB2312"/>
                        </a:rPr>
                        <a:t> </a:t>
                      </a:r>
                      <a:r>
                        <a:rPr lang="zh-CN" altLang="en-US" sz="1400" dirty="0">
                          <a:solidFill>
                            <a:srgbClr val="FF0000"/>
                          </a:solidFill>
                          <a:latin typeface="Times New Roman" panose="02020603050405020304" pitchFamily="18" charset="0"/>
                          <a:ea typeface="楷体_GB2312"/>
                        </a:rPr>
                        <a:t>￥      </a:t>
                      </a:r>
                      <a:r>
                        <a:rPr lang="en-US" altLang="zh-CN" sz="1400" dirty="0">
                          <a:solidFill>
                            <a:srgbClr val="FF0000"/>
                          </a:solidFill>
                          <a:latin typeface="Times New Roman" panose="02020603050405020304" pitchFamily="18" charset="0"/>
                          <a:ea typeface="楷体_GB2312"/>
                        </a:rPr>
                        <a:t>594.00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1,960.00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solidFill>
                            <a:srgbClr val="FF0000"/>
                          </a:solidFill>
                          <a:latin typeface="Times New Roman" panose="02020603050405020304" pitchFamily="18" charset="0"/>
                          <a:ea typeface="楷体_GB2312"/>
                        </a:rPr>
                        <a:t> </a:t>
                      </a:r>
                      <a:r>
                        <a:rPr lang="zh-CN" altLang="en-US" sz="1400" dirty="0">
                          <a:solidFill>
                            <a:srgbClr val="FF0000"/>
                          </a:solidFill>
                          <a:latin typeface="Times New Roman" panose="02020603050405020304" pitchFamily="18" charset="0"/>
                          <a:ea typeface="楷体_GB2312"/>
                        </a:rPr>
                        <a:t>￥   </a:t>
                      </a:r>
                      <a:r>
                        <a:rPr lang="en-US" altLang="zh-CN" sz="1400" dirty="0">
                          <a:solidFill>
                            <a:srgbClr val="FF0000"/>
                          </a:solidFill>
                          <a:latin typeface="Times New Roman" panose="02020603050405020304" pitchFamily="18" charset="0"/>
                          <a:ea typeface="楷体_GB2312"/>
                        </a:rPr>
                        <a:t>3,201.00 </a:t>
                      </a:r>
                      <a:endParaRPr lang="en-US" altLang="zh-CN" sz="1400" dirty="0">
                        <a:solidFill>
                          <a:srgbClr val="FF0000"/>
                        </a:solidFill>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solidFill>
                            <a:srgbClr val="FF0000"/>
                          </a:solidFill>
                          <a:latin typeface="Times New Roman" panose="02020603050405020304" pitchFamily="18" charset="0"/>
                          <a:ea typeface="楷体_GB2312"/>
                        </a:rPr>
                        <a:t> </a:t>
                      </a:r>
                      <a:endParaRPr lang="en-US" altLang="zh-CN" sz="1400" dirty="0">
                        <a:solidFill>
                          <a:srgbClr val="FF0000"/>
                        </a:solidFill>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053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800" dirty="0">
                          <a:latin typeface="Times New Roman" panose="02020603050405020304" pitchFamily="18" charset="0"/>
                          <a:ea typeface="楷体_GB2312"/>
                        </a:rPr>
                        <a:t>NPV</a:t>
                      </a:r>
                      <a:endParaRPr lang="en-US" altLang="zh-CN" sz="1800" dirty="0">
                        <a:latin typeface="Times New Roman" panose="02020603050405020304" pitchFamily="18" charset="0"/>
                        <a:ea typeface="Times New Roman" panose="02020603050405020304" pitchFamily="18" charset="0"/>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 </a:t>
                      </a:r>
                      <a:r>
                        <a:rPr lang="zh-CN" altLang="en-US" sz="1400" dirty="0">
                          <a:latin typeface="Times New Roman" panose="02020603050405020304" pitchFamily="18" charset="0"/>
                          <a:ea typeface="楷体_GB2312"/>
                        </a:rPr>
                        <a:t>￥    </a:t>
                      </a:r>
                      <a:r>
                        <a:rPr lang="en-US" altLang="zh-CN" sz="1400" dirty="0">
                          <a:latin typeface="Times New Roman" panose="02020603050405020304" pitchFamily="18" charset="0"/>
                          <a:ea typeface="楷体_GB2312"/>
                        </a:rPr>
                        <a:t>3,201.00 </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799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800" dirty="0">
                          <a:latin typeface="Times New Roman" panose="02020603050405020304" pitchFamily="18" charset="0"/>
                          <a:ea typeface="楷体_GB2312"/>
                        </a:rPr>
                        <a:t>ROI</a:t>
                      </a:r>
                      <a:endParaRPr lang="en-US" altLang="zh-CN" sz="1800" dirty="0">
                        <a:latin typeface="Times New Roman" panose="02020603050405020304" pitchFamily="18" charset="0"/>
                        <a:ea typeface="Times New Roman" panose="02020603050405020304" pitchFamily="18" charset="0"/>
                      </a:endParaRPr>
                    </a:p>
                  </a:txBody>
                  <a:tcPr marT="45715" marB="4571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1400" dirty="0">
                          <a:latin typeface="Times New Roman" panose="02020603050405020304" pitchFamily="18" charset="0"/>
                          <a:ea typeface="楷体_GB2312"/>
                        </a:rPr>
                        <a:t>42%</a:t>
                      </a:r>
                      <a:endParaRPr lang="en-US" altLang="zh-CN" sz="1400" dirty="0">
                        <a:latin typeface="Times New Roman" panose="02020603050405020304" pitchFamily="18" charset="0"/>
                        <a:ea typeface="Times New Roman" panose="02020603050405020304" pitchFamily="18" charset="0"/>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just" eaLnBrk="1" hangingPunct="1">
                        <a:spcBef>
                          <a:spcPct val="20000"/>
                        </a:spcBef>
                        <a:buNone/>
                      </a:pPr>
                      <a:endParaRPr lang="zh-CN" altLang="en-US" sz="1400" dirty="0">
                        <a:effectLst>
                          <a:outerShdw blurRad="38100" dist="38100" dir="2700000">
                            <a:srgbClr val="FFFFFF"/>
                          </a:outerShdw>
                        </a:effectLst>
                        <a:latin typeface="Times New Roman" panose="02020603050405020304" pitchFamily="18" charset="0"/>
                        <a:ea typeface="楷体_GB2312"/>
                      </a:endParaRPr>
                    </a:p>
                  </a:txBody>
                  <a:tcPr marT="45715" marB="4571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92252" name="Group 2"/>
          <p:cNvGrpSpPr/>
          <p:nvPr/>
        </p:nvGrpSpPr>
        <p:grpSpPr>
          <a:xfrm>
            <a:off x="1547813" y="863600"/>
            <a:ext cx="9148762" cy="114300"/>
            <a:chOff x="0" y="0"/>
            <a:chExt cx="5763" cy="72"/>
          </a:xfrm>
        </p:grpSpPr>
        <p:sp>
          <p:nvSpPr>
            <p:cNvPr id="92253"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2254"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185" name="Group 2"/>
          <p:cNvGrpSpPr/>
          <p:nvPr/>
        </p:nvGrpSpPr>
        <p:grpSpPr>
          <a:xfrm>
            <a:off x="1524000" y="882650"/>
            <a:ext cx="9148763" cy="114300"/>
            <a:chOff x="0" y="0"/>
            <a:chExt cx="5763" cy="72"/>
          </a:xfrm>
        </p:grpSpPr>
        <p:sp>
          <p:nvSpPr>
            <p:cNvPr id="93186"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3187"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34822" name="Rectangle 5"/>
          <p:cNvSpPr>
            <a:spLocks noGrp="1"/>
          </p:cNvSpPr>
          <p:nvPr>
            <p:ph type="title" idx="4294967295"/>
          </p:nvPr>
        </p:nvSpPr>
        <p:spPr>
          <a:xfrm>
            <a:off x="2352675" y="996950"/>
            <a:ext cx="7772400" cy="705485"/>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投资回报率</a:t>
            </a: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投资回报</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34823" name="Rectangle 6"/>
          <p:cNvSpPr>
            <a:spLocks noGrp="1"/>
          </p:cNvSpPr>
          <p:nvPr>
            <p:ph type="body" sz="half" idx="4294967295"/>
          </p:nvPr>
        </p:nvSpPr>
        <p:spPr>
          <a:xfrm>
            <a:off x="1684020" y="1816735"/>
            <a:ext cx="9884410" cy="1507490"/>
          </a:xfrm>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选择项目时候另外一个重要的财务考虑因素便是投资回报。</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投资回报率</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投资回报</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(retum on investment , ROI)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是项目的收益减去成本后，再除以成本的结果。</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Char char=""/>
              <a:defRPr/>
            </a:pP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algn="l" defTabSz="914400" rtl="0" eaLnBrk="0" fontAlgn="base" latinLnBrk="0" hangingPunct="0">
              <a:lnSpc>
                <a:spcPct val="110000"/>
              </a:lnSpc>
              <a:spcBef>
                <a:spcPts val="600"/>
              </a:spcBef>
              <a:spcAft>
                <a:spcPct val="0"/>
              </a:spcAft>
              <a:buClrTx/>
              <a:buSzTx/>
              <a:buFontTx/>
              <a:buNone/>
              <a:defRPr/>
            </a:pP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p:txBody>
      </p:sp>
      <p:sp>
        <p:nvSpPr>
          <p:cNvPr id="93190" name="矩形 1"/>
          <p:cNvSpPr/>
          <p:nvPr/>
        </p:nvSpPr>
        <p:spPr>
          <a:xfrm>
            <a:off x="2207895" y="4076700"/>
            <a:ext cx="3162300" cy="1053465"/>
          </a:xfrm>
          <a:prstGeom prst="rect">
            <a:avLst/>
          </a:prstGeom>
          <a:noFill/>
          <a:ln w="9525">
            <a:noFill/>
          </a:ln>
        </p:spPr>
        <p:txBody>
          <a:bodyPr wrap="none" anchor="t" anchorCtr="0">
            <a:noAutofit/>
          </a:bodyPr>
          <a:lstStyle/>
          <a:p>
            <a:pPr eaLnBrk="0" hangingPunct="0">
              <a:lnSpc>
                <a:spcPct val="170000"/>
              </a:lnSpc>
            </a:pPr>
            <a:r>
              <a:rPr lang="en-US" altLang="zh-CN" sz="2800" b="1" dirty="0">
                <a:solidFill>
                  <a:srgbClr val="FF0000"/>
                </a:solidFill>
                <a:latin typeface="Arial" panose="020B0604020202020204" pitchFamily="34" charset="0"/>
                <a:sym typeface="Wingdings 2" panose="05020102010507070707" pitchFamily="18" charset="2"/>
              </a:rPr>
              <a:t> </a:t>
            </a:r>
            <a:r>
              <a:rPr lang="zh-CN" altLang="en-US" sz="2800" b="1" dirty="0">
                <a:solidFill>
                  <a:srgbClr val="FF0000"/>
                </a:solidFill>
                <a:latin typeface="Arial" panose="020B0604020202020204" pitchFamily="34" charset="0"/>
                <a:ea typeface="宋体" panose="02010600030101010101" pitchFamily="2" charset="-122"/>
                <a:sym typeface="Wingdings 2" panose="05020102010507070707" pitchFamily="18" charset="2"/>
              </a:rPr>
              <a:t>投资回报率</a:t>
            </a:r>
            <a:r>
              <a:rPr lang="zh-CN" altLang="en-US" sz="2800" b="1" dirty="0">
                <a:solidFill>
                  <a:srgbClr val="FF0000"/>
                </a:solidFill>
                <a:latin typeface="Arial" panose="020B0604020202020204" pitchFamily="34" charset="0"/>
                <a:ea typeface="宋体" panose="02010600030101010101" pitchFamily="2" charset="-122"/>
                <a:sym typeface="Wingdings" panose="05000000000000000000" pitchFamily="2" charset="2"/>
              </a:rPr>
              <a:t>（</a:t>
            </a:r>
            <a:r>
              <a:rPr lang="en-US" altLang="zh-CN" sz="2800" b="1" dirty="0">
                <a:solidFill>
                  <a:srgbClr val="FF0000"/>
                </a:solidFill>
                <a:latin typeface="Arial" panose="020B0604020202020204" pitchFamily="34" charset="0"/>
                <a:sym typeface="Wingdings" panose="05000000000000000000" pitchFamily="2" charset="2"/>
              </a:rPr>
              <a:t>ROI</a:t>
            </a:r>
            <a:r>
              <a:rPr lang="zh-CN" altLang="en-US" sz="2800" b="1" dirty="0">
                <a:solidFill>
                  <a:srgbClr val="FF0000"/>
                </a:solidFill>
                <a:latin typeface="Arial" panose="020B0604020202020204" pitchFamily="34" charset="0"/>
                <a:ea typeface="宋体" panose="02010600030101010101" pitchFamily="2" charset="-122"/>
                <a:sym typeface="Wingdings" panose="05000000000000000000" pitchFamily="2" charset="2"/>
              </a:rPr>
              <a:t>）</a:t>
            </a:r>
            <a:r>
              <a:rPr lang="zh-CN" altLang="en-US" sz="2800" b="1" dirty="0">
                <a:latin typeface="Arial" panose="020B0604020202020204" pitchFamily="34" charset="0"/>
                <a:ea typeface="宋体" panose="02010600030101010101" pitchFamily="2" charset="-122"/>
                <a:sym typeface="Wingdings" panose="05000000000000000000" pitchFamily="2" charset="2"/>
              </a:rPr>
              <a:t> </a:t>
            </a:r>
            <a:r>
              <a:rPr lang="en-US" altLang="zh-CN" sz="2800" b="1" dirty="0">
                <a:latin typeface="Arial" panose="020B0604020202020204" pitchFamily="34" charset="0"/>
                <a:sym typeface="Wingdings" panose="05000000000000000000" pitchFamily="2" charset="2"/>
              </a:rPr>
              <a:t>=</a:t>
            </a:r>
            <a:endParaRPr lang="en-US" altLang="zh-CN" sz="2800" b="1" dirty="0">
              <a:latin typeface="Arial" panose="020B0604020202020204" pitchFamily="34" charset="0"/>
              <a:sym typeface="Wingdings" panose="05000000000000000000" pitchFamily="2" charset="2"/>
            </a:endParaRPr>
          </a:p>
        </p:txBody>
      </p:sp>
      <p:graphicFrame>
        <p:nvGraphicFramePr>
          <p:cNvPr id="93191" name="对象 34824"/>
          <p:cNvGraphicFramePr>
            <a:graphicFrameLocks noChangeAspect="1"/>
          </p:cNvGraphicFramePr>
          <p:nvPr/>
        </p:nvGraphicFramePr>
        <p:xfrm>
          <a:off x="5951855" y="4032250"/>
          <a:ext cx="5113655" cy="986155"/>
        </p:xfrm>
        <a:graphic>
          <a:graphicData uri="http://schemas.openxmlformats.org/presentationml/2006/ole">
            <mc:AlternateContent xmlns:mc="http://schemas.openxmlformats.org/markup-compatibility/2006">
              <mc:Choice xmlns:v="urn:schemas-microsoft-com:vml" Requires="v">
                <p:oleObj spid="_x0000_s5134" name="" r:id="rId1" imgW="2171700" imgH="419100" progId="Equation.3">
                  <p:embed/>
                </p:oleObj>
              </mc:Choice>
              <mc:Fallback>
                <p:oleObj name="" r:id="rId1" imgW="2171700" imgH="419100" progId="Equation.3">
                  <p:embed/>
                  <p:pic>
                    <p:nvPicPr>
                      <p:cNvPr id="0" name="图片 3077"/>
                      <p:cNvPicPr/>
                      <p:nvPr/>
                    </p:nvPicPr>
                    <p:blipFill>
                      <a:blip r:embed="rId2"/>
                      <a:stretch>
                        <a:fillRect/>
                      </a:stretch>
                    </p:blipFill>
                    <p:spPr>
                      <a:xfrm>
                        <a:off x="5951855" y="4032250"/>
                        <a:ext cx="5113655" cy="986155"/>
                      </a:xfrm>
                      <a:prstGeom prst="rect">
                        <a:avLst/>
                      </a:prstGeom>
                      <a:noFill/>
                      <a:ln w="38100">
                        <a:noFill/>
                        <a:miter/>
                      </a:ln>
                    </p:spPr>
                  </p:pic>
                </p:oleObj>
              </mc:Fallback>
            </mc:AlternateContent>
          </a:graphicData>
        </a:graphic>
      </p:graphicFrame>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2240915" y="5445125"/>
            <a:ext cx="8427085" cy="565150"/>
          </a:xfrm>
          <a:prstGeom prst="rect">
            <a:avLst/>
          </a:prstGeom>
          <a:noFill/>
        </p:spPr>
        <p:txBody>
          <a:bodyPr wrap="square" rtlCol="0" anchor="t">
            <a:spAutoFit/>
          </a:bodyPr>
          <a:p>
            <a:pPr marL="0" lvl="0" indent="0" algn="ctr" eaLnBrk="1" hangingPunct="1">
              <a:lnSpc>
                <a:spcPct val="110000"/>
              </a:lnSpc>
              <a:buClr>
                <a:schemeClr val="tx1"/>
              </a:buClr>
              <a:buFont typeface="Wingdings 2" panose="05020102010507070707" pitchFamily="18" charset="2"/>
              <a:buNone/>
            </a:pPr>
            <a:r>
              <a:rPr lang="zh-CN" altLang="en-US" sz="2800" b="1" dirty="0">
                <a:solidFill>
                  <a:srgbClr val="FF0000"/>
                </a:solidFill>
                <a:effectLst>
                  <a:outerShdw blurRad="38100" dist="38100" dir="2700000">
                    <a:srgbClr val="FFFFFF"/>
                  </a:outerShdw>
                </a:effectLst>
                <a:sym typeface="+mn-ea"/>
              </a:rPr>
              <a:t>内部收益率（</a:t>
            </a:r>
            <a:r>
              <a:rPr lang="en-US" altLang="zh-CN" sz="2800" b="1" dirty="0">
                <a:solidFill>
                  <a:srgbClr val="FF0000"/>
                </a:solidFill>
                <a:effectLst>
                  <a:outerShdw blurRad="38100" dist="38100" dir="2700000">
                    <a:srgbClr val="FFFFFF"/>
                  </a:outerShdw>
                </a:effectLst>
                <a:sym typeface="+mn-ea"/>
              </a:rPr>
              <a:t>IRR</a:t>
            </a:r>
            <a:r>
              <a:rPr lang="zh-CN" altLang="en-US" sz="2800" b="1" dirty="0">
                <a:solidFill>
                  <a:srgbClr val="FF0000"/>
                </a:solidFill>
                <a:effectLst>
                  <a:outerShdw blurRad="38100" dist="38100" dir="2700000">
                    <a:srgbClr val="FFFFFF"/>
                  </a:outerShdw>
                </a:effectLst>
                <a:sym typeface="+mn-ea"/>
              </a:rPr>
              <a:t>）：</a:t>
            </a:r>
            <a:r>
              <a:rPr lang="zh-CN" altLang="en-US" sz="2800" b="1" dirty="0">
                <a:effectLst>
                  <a:outerShdw blurRad="38100" dist="38100" dir="2700000">
                    <a:srgbClr val="FFFFFF"/>
                  </a:outerShdw>
                </a:effectLst>
                <a:sym typeface="+mn-ea"/>
              </a:rPr>
              <a:t>项目净现值为零时的折现率。</a:t>
            </a:r>
            <a:endParaRPr lang="zh-CN" altLang="en-US" sz="2800" b="1" dirty="0">
              <a:effectLst>
                <a:outerShdw blurRad="38100" dist="38100" dir="2700000">
                  <a:srgbClr val="FFFFFF"/>
                </a:outerShdw>
              </a:effectLst>
              <a:sym typeface="+mn-ea"/>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23">
                                            <p:txEl>
                                              <p:pRg st="0" end="0"/>
                                            </p:txEl>
                                          </p:spTgt>
                                        </p:tgtEl>
                                        <p:attrNameLst>
                                          <p:attrName>style.visibility</p:attrName>
                                        </p:attrNameLst>
                                      </p:cBhvr>
                                      <p:to>
                                        <p:strVal val="visible"/>
                                      </p:to>
                                    </p:set>
                                    <p:animEffect transition="in" filter="wipe(left)">
                                      <p:cBhvr>
                                        <p:cTn id="7" dur="1000"/>
                                        <p:tgtEl>
                                          <p:spTgt spid="3482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4823">
                                            <p:txEl>
                                              <p:pRg st="1" end="1"/>
                                            </p:txEl>
                                          </p:spTgt>
                                        </p:tgtEl>
                                        <p:attrNameLst>
                                          <p:attrName>style.visibility</p:attrName>
                                        </p:attrNameLst>
                                      </p:cBhvr>
                                      <p:to>
                                        <p:strVal val="visible"/>
                                      </p:to>
                                    </p:set>
                                    <p:animEffect transition="in" filter="wipe(left)">
                                      <p:cBhvr>
                                        <p:cTn id="11" dur="1000"/>
                                        <p:tgtEl>
                                          <p:spTgt spid="3482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build="p"/>
      <p:bldP spid="2" grpId="0"/>
      <p:bldP spid="2"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209" name="Group 2"/>
          <p:cNvGrpSpPr/>
          <p:nvPr/>
        </p:nvGrpSpPr>
        <p:grpSpPr>
          <a:xfrm>
            <a:off x="1631950" y="857250"/>
            <a:ext cx="9148763" cy="114300"/>
            <a:chOff x="0" y="0"/>
            <a:chExt cx="5763" cy="72"/>
          </a:xfrm>
        </p:grpSpPr>
        <p:sp>
          <p:nvSpPr>
            <p:cNvPr id="94210"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4211"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32774" name="Rectangle 5"/>
          <p:cNvSpPr>
            <a:spLocks noGrp="1"/>
          </p:cNvSpPr>
          <p:nvPr>
            <p:ph type="title" idx="4294967295"/>
          </p:nvPr>
        </p:nvSpPr>
        <p:spPr>
          <a:xfrm>
            <a:off x="1559560" y="857250"/>
            <a:ext cx="7772400" cy="715963"/>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回收期分析</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32775" name="Rectangle 6"/>
          <p:cNvSpPr>
            <a:spLocks noGrp="1"/>
          </p:cNvSpPr>
          <p:nvPr>
            <p:ph type="body" sz="half" idx="4294967295"/>
          </p:nvPr>
        </p:nvSpPr>
        <p:spPr>
          <a:xfrm>
            <a:off x="1343660" y="1484630"/>
            <a:ext cx="10259060" cy="1422400"/>
          </a:xfrm>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L="457200" marR="0" lvl="0" indent="-4572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回收期分析是选择项目时的另外一种重要的财务工具。</a:t>
            </a:r>
            <a:endPar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457200" marR="0" lvl="0" indent="-4572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回收期</a:t>
            </a:r>
            <a:r>
              <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(payback period) </a:t>
            </a:r>
            <a:r>
              <a:rPr kumimoji="0" lang="zh-CN" altLang="en-US"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是以现金流的方式，将在项目中的总投资全部收回的时间。</a:t>
            </a:r>
            <a:endParaRPr kumimoji="0" lang="en-US" altLang="zh-CN" sz="26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p:txBody>
      </p:sp>
      <p:pic>
        <p:nvPicPr>
          <p:cNvPr id="94214" name="Picture 2"/>
          <p:cNvPicPr>
            <a:picLocks noChangeAspect="1"/>
          </p:cNvPicPr>
          <p:nvPr/>
        </p:nvPicPr>
        <p:blipFill>
          <a:blip r:embed="rId1"/>
          <a:stretch>
            <a:fillRect/>
          </a:stretch>
        </p:blipFill>
        <p:spPr>
          <a:xfrm>
            <a:off x="4439920" y="2420620"/>
            <a:ext cx="6137910" cy="4203700"/>
          </a:xfrm>
          <a:prstGeom prst="rect">
            <a:avLst/>
          </a:prstGeom>
          <a:noFill/>
          <a:ln w="9525">
            <a:noFill/>
          </a:ln>
        </p:spPr>
      </p:pic>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33" name="Group 2"/>
          <p:cNvGrpSpPr/>
          <p:nvPr/>
        </p:nvGrpSpPr>
        <p:grpSpPr>
          <a:xfrm>
            <a:off x="1444625" y="939800"/>
            <a:ext cx="9523413" cy="114300"/>
            <a:chOff x="0" y="0"/>
            <a:chExt cx="5763" cy="72"/>
          </a:xfrm>
        </p:grpSpPr>
        <p:sp>
          <p:nvSpPr>
            <p:cNvPr id="95234"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5235"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35846" name="Rectangle 5"/>
          <p:cNvSpPr>
            <a:spLocks noGrp="1"/>
          </p:cNvSpPr>
          <p:nvPr>
            <p:ph type="title" idx="4294967295"/>
          </p:nvPr>
        </p:nvSpPr>
        <p:spPr>
          <a:xfrm>
            <a:off x="2424113" y="1092200"/>
            <a:ext cx="8091488" cy="642938"/>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加权评分模型</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35847" name="Rectangle 6"/>
          <p:cNvSpPr>
            <a:spLocks noGrp="1"/>
          </p:cNvSpPr>
          <p:nvPr>
            <p:ph type="body" sz="half" idx="4294967295"/>
          </p:nvPr>
        </p:nvSpPr>
        <p:spPr>
          <a:xfrm>
            <a:off x="2495550" y="1773555"/>
            <a:ext cx="8579485" cy="4420870"/>
          </a:xfrm>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R="0" lvl="0" algn="l" defTabSz="914400" rtl="0" eaLnBrk="0" fontAlgn="base" latinLnBrk="0" hangingPunct="0">
              <a:lnSpc>
                <a:spcPct val="110000"/>
              </a:lnSpc>
              <a:spcBef>
                <a:spcPts val="600"/>
              </a:spcBef>
              <a:spcAft>
                <a:spcPct val="0"/>
              </a:spcAft>
              <a:buClrTx/>
              <a:buSzTx/>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一种基于</a:t>
            </a:r>
            <a:r>
              <a:rPr kumimoji="0" lang="zh-CN" altLang="en-US" sz="24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Wingdings 2" panose="05020102010507070707" pitchFamily="18" charset="2"/>
              </a:rPr>
              <a:t>多种标准</a:t>
            </a: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进行项目选择的</a:t>
            </a:r>
            <a:r>
              <a:rPr kumimoji="0" lang="zh-CN" altLang="en-US" sz="24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系统方法</a:t>
            </a: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典型的标准：</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符合主要的商业目标；</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有极具实力的内部项目发起人；</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有较强的客户支持；</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运用符合实际的技术；</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rPr>
              <a:t> 可以在</a:t>
            </a:r>
            <a:r>
              <a:rPr kumimoji="0" lang="en-US" altLang="zh-CN"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rPr>
              <a:t>1</a:t>
            </a: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rPr>
              <a:t>年或更短的时间内得以实施；</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rPr>
              <a:t> 有正的净现值；</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endParaRPr>
          </a:p>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rPr>
              <a:t> 能在较低的风险水平下实现范围、时间和成本等目标。</a:t>
            </a:r>
            <a:endParaRPr kumimoji="0" lang="zh-CN" altLang="en-US"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endParaRPr>
          </a:p>
        </p:txBody>
      </p:sp>
      <p:sp>
        <p:nvSpPr>
          <p:cNvPr id="19466" name="Rectangle 5"/>
          <p:cNvSpPr txBox="1"/>
          <p:nvPr/>
        </p:nvSpPr>
        <p:spPr>
          <a:xfrm>
            <a:off x="1524000" y="0"/>
            <a:ext cx="6186488"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7">
                                            <p:txEl>
                                              <p:pRg st="0" end="0"/>
                                            </p:txEl>
                                          </p:spTgt>
                                        </p:tgtEl>
                                        <p:attrNameLst>
                                          <p:attrName>style.visibility</p:attrName>
                                        </p:attrNameLst>
                                      </p:cBhvr>
                                      <p:to>
                                        <p:strVal val="visible"/>
                                      </p:to>
                                    </p:set>
                                    <p:animEffect transition="in" filter="wipe(left)">
                                      <p:cBhvr>
                                        <p:cTn id="7" dur="1000"/>
                                        <p:tgtEl>
                                          <p:spTgt spid="35847">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5847">
                                            <p:txEl>
                                              <p:pRg st="1" end="1"/>
                                            </p:txEl>
                                          </p:spTgt>
                                        </p:tgtEl>
                                        <p:attrNameLst>
                                          <p:attrName>style.visibility</p:attrName>
                                        </p:attrNameLst>
                                      </p:cBhvr>
                                      <p:to>
                                        <p:strVal val="visible"/>
                                      </p:to>
                                    </p:set>
                                    <p:animEffect transition="in" filter="wipe(left)">
                                      <p:cBhvr>
                                        <p:cTn id="11" dur="1000"/>
                                        <p:tgtEl>
                                          <p:spTgt spid="35847">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35847">
                                            <p:txEl>
                                              <p:pRg st="2" end="2"/>
                                            </p:txEl>
                                          </p:spTgt>
                                        </p:tgtEl>
                                        <p:attrNameLst>
                                          <p:attrName>style.visibility</p:attrName>
                                        </p:attrNameLst>
                                      </p:cBhvr>
                                      <p:to>
                                        <p:strVal val="visible"/>
                                      </p:to>
                                    </p:set>
                                    <p:animEffect transition="in" filter="wipe(left)">
                                      <p:cBhvr>
                                        <p:cTn id="15" dur="1000"/>
                                        <p:tgtEl>
                                          <p:spTgt spid="35847">
                                            <p:txEl>
                                              <p:pRg st="2" end="2"/>
                                            </p:txEl>
                                          </p:spTgt>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35847">
                                            <p:txEl>
                                              <p:pRg st="3" end="3"/>
                                            </p:txEl>
                                          </p:spTgt>
                                        </p:tgtEl>
                                        <p:attrNameLst>
                                          <p:attrName>style.visibility</p:attrName>
                                        </p:attrNameLst>
                                      </p:cBhvr>
                                      <p:to>
                                        <p:strVal val="visible"/>
                                      </p:to>
                                    </p:set>
                                    <p:animEffect transition="in" filter="wipe(left)">
                                      <p:cBhvr>
                                        <p:cTn id="19" dur="1000"/>
                                        <p:tgtEl>
                                          <p:spTgt spid="35847">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5847">
                                            <p:txEl>
                                              <p:pRg st="4" end="4"/>
                                            </p:txEl>
                                          </p:spTgt>
                                        </p:tgtEl>
                                        <p:attrNameLst>
                                          <p:attrName>style.visibility</p:attrName>
                                        </p:attrNameLst>
                                      </p:cBhvr>
                                      <p:to>
                                        <p:strVal val="visible"/>
                                      </p:to>
                                    </p:set>
                                    <p:animEffect transition="in" filter="wipe(left)">
                                      <p:cBhvr>
                                        <p:cTn id="23" dur="1000"/>
                                        <p:tgtEl>
                                          <p:spTgt spid="35847">
                                            <p:txEl>
                                              <p:pRg st="4" end="4"/>
                                            </p:txEl>
                                          </p:spTgt>
                                        </p:tgtEl>
                                      </p:cBhvr>
                                    </p:animEffect>
                                  </p:childTnLst>
                                </p:cTn>
                              </p:par>
                            </p:childTnLst>
                          </p:cTn>
                        </p:par>
                        <p:par>
                          <p:cTn id="24" fill="hold">
                            <p:stCondLst>
                              <p:cond delay="5000"/>
                            </p:stCondLst>
                            <p:childTnLst>
                              <p:par>
                                <p:cTn id="25" presetID="22" presetClass="entr" presetSubtype="8" fill="hold" grpId="0" nodeType="afterEffect">
                                  <p:stCondLst>
                                    <p:cond delay="0"/>
                                  </p:stCondLst>
                                  <p:childTnLst>
                                    <p:set>
                                      <p:cBhvr>
                                        <p:cTn id="26" dur="1" fill="hold">
                                          <p:stCondLst>
                                            <p:cond delay="0"/>
                                          </p:stCondLst>
                                        </p:cTn>
                                        <p:tgtEl>
                                          <p:spTgt spid="35847">
                                            <p:txEl>
                                              <p:pRg st="5" end="5"/>
                                            </p:txEl>
                                          </p:spTgt>
                                        </p:tgtEl>
                                        <p:attrNameLst>
                                          <p:attrName>style.visibility</p:attrName>
                                        </p:attrNameLst>
                                      </p:cBhvr>
                                      <p:to>
                                        <p:strVal val="visible"/>
                                      </p:to>
                                    </p:set>
                                    <p:animEffect transition="in" filter="wipe(left)">
                                      <p:cBhvr>
                                        <p:cTn id="27" dur="1000"/>
                                        <p:tgtEl>
                                          <p:spTgt spid="35847">
                                            <p:txEl>
                                              <p:pRg st="5" end="5"/>
                                            </p:txEl>
                                          </p:spTgt>
                                        </p:tgtEl>
                                      </p:cBhvr>
                                    </p:animEffect>
                                  </p:childTnLst>
                                </p:cTn>
                              </p:par>
                            </p:childTnLst>
                          </p:cTn>
                        </p:par>
                        <p:par>
                          <p:cTn id="28" fill="hold">
                            <p:stCondLst>
                              <p:cond delay="6000"/>
                            </p:stCondLst>
                            <p:childTnLst>
                              <p:par>
                                <p:cTn id="29" presetID="22" presetClass="entr" presetSubtype="8" fill="hold" grpId="0" nodeType="afterEffect">
                                  <p:stCondLst>
                                    <p:cond delay="0"/>
                                  </p:stCondLst>
                                  <p:childTnLst>
                                    <p:set>
                                      <p:cBhvr>
                                        <p:cTn id="30" dur="1" fill="hold">
                                          <p:stCondLst>
                                            <p:cond delay="0"/>
                                          </p:stCondLst>
                                        </p:cTn>
                                        <p:tgtEl>
                                          <p:spTgt spid="35847">
                                            <p:txEl>
                                              <p:pRg st="6" end="6"/>
                                            </p:txEl>
                                          </p:spTgt>
                                        </p:tgtEl>
                                        <p:attrNameLst>
                                          <p:attrName>style.visibility</p:attrName>
                                        </p:attrNameLst>
                                      </p:cBhvr>
                                      <p:to>
                                        <p:strVal val="visible"/>
                                      </p:to>
                                    </p:set>
                                    <p:animEffect transition="in" filter="wipe(left)">
                                      <p:cBhvr>
                                        <p:cTn id="31" dur="1000"/>
                                        <p:tgtEl>
                                          <p:spTgt spid="35847">
                                            <p:txEl>
                                              <p:pRg st="6" end="6"/>
                                            </p:txEl>
                                          </p:spTgt>
                                        </p:tgtEl>
                                      </p:cBhvr>
                                    </p:animEffect>
                                  </p:childTnLst>
                                </p:cTn>
                              </p:par>
                            </p:childTnLst>
                          </p:cTn>
                        </p:par>
                        <p:par>
                          <p:cTn id="32" fill="hold">
                            <p:stCondLst>
                              <p:cond delay="7000"/>
                            </p:stCondLst>
                            <p:childTnLst>
                              <p:par>
                                <p:cTn id="33" presetID="22" presetClass="entr" presetSubtype="8" fill="hold" grpId="0" nodeType="afterEffect">
                                  <p:stCondLst>
                                    <p:cond delay="0"/>
                                  </p:stCondLst>
                                  <p:childTnLst>
                                    <p:set>
                                      <p:cBhvr>
                                        <p:cTn id="34" dur="1" fill="hold">
                                          <p:stCondLst>
                                            <p:cond delay="0"/>
                                          </p:stCondLst>
                                        </p:cTn>
                                        <p:tgtEl>
                                          <p:spTgt spid="35847">
                                            <p:txEl>
                                              <p:pRg st="7" end="7"/>
                                            </p:txEl>
                                          </p:spTgt>
                                        </p:tgtEl>
                                        <p:attrNameLst>
                                          <p:attrName>style.visibility</p:attrName>
                                        </p:attrNameLst>
                                      </p:cBhvr>
                                      <p:to>
                                        <p:strVal val="visible"/>
                                      </p:to>
                                    </p:set>
                                    <p:animEffect transition="in" filter="wipe(left)">
                                      <p:cBhvr>
                                        <p:cTn id="35" dur="1000"/>
                                        <p:tgtEl>
                                          <p:spTgt spid="35847">
                                            <p:txEl>
                                              <p:pRg st="7" end="7"/>
                                            </p:txEl>
                                          </p:spTgt>
                                        </p:tgtEl>
                                      </p:cBhvr>
                                    </p:animEffect>
                                  </p:childTnLst>
                                </p:cTn>
                              </p:par>
                            </p:childTnLst>
                          </p:cTn>
                        </p:par>
                        <p:par>
                          <p:cTn id="36" fill="hold">
                            <p:stCondLst>
                              <p:cond delay="8000"/>
                            </p:stCondLst>
                            <p:childTnLst>
                              <p:par>
                                <p:cTn id="37" presetID="22" presetClass="entr" presetSubtype="8" fill="hold" grpId="0" nodeType="afterEffect">
                                  <p:stCondLst>
                                    <p:cond delay="0"/>
                                  </p:stCondLst>
                                  <p:childTnLst>
                                    <p:set>
                                      <p:cBhvr>
                                        <p:cTn id="38" dur="1" fill="hold">
                                          <p:stCondLst>
                                            <p:cond delay="0"/>
                                          </p:stCondLst>
                                        </p:cTn>
                                        <p:tgtEl>
                                          <p:spTgt spid="35847">
                                            <p:txEl>
                                              <p:pRg st="8" end="8"/>
                                            </p:txEl>
                                          </p:spTgt>
                                        </p:tgtEl>
                                        <p:attrNameLst>
                                          <p:attrName>style.visibility</p:attrName>
                                        </p:attrNameLst>
                                      </p:cBhvr>
                                      <p:to>
                                        <p:strVal val="visible"/>
                                      </p:to>
                                    </p:set>
                                    <p:animEffect transition="in" filter="wipe(left)">
                                      <p:cBhvr>
                                        <p:cTn id="39" dur="1000"/>
                                        <p:tgtEl>
                                          <p:spTgt spid="358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8" name="表格 75777"/>
          <p:cNvGraphicFramePr/>
          <p:nvPr/>
        </p:nvGraphicFramePr>
        <p:xfrm>
          <a:off x="1558925" y="1196975"/>
          <a:ext cx="9142095" cy="5092700"/>
        </p:xfrm>
        <a:graphic>
          <a:graphicData uri="http://schemas.openxmlformats.org/drawingml/2006/table">
            <a:tbl>
              <a:tblPr/>
              <a:tblGrid>
                <a:gridCol w="3276600"/>
                <a:gridCol w="1173480"/>
                <a:gridCol w="1172210"/>
                <a:gridCol w="1173480"/>
                <a:gridCol w="1172845"/>
                <a:gridCol w="1173480"/>
              </a:tblGrid>
              <a:tr h="4746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effectLst>
                            <a:outerShdw blurRad="38100" dist="38100" dir="2700000">
                              <a:srgbClr val="FFFFFF"/>
                            </a:outerShdw>
                          </a:effectLst>
                          <a:latin typeface="宋体" panose="02010600030101010101" pitchFamily="2" charset="-122"/>
                          <a:ea typeface="楷体_GB2312"/>
                        </a:rPr>
                        <a:t>标准</a:t>
                      </a:r>
                      <a:endParaRPr lang="zh-CN" altLang="en-US" sz="2000" dirty="0">
                        <a:effectLst>
                          <a:outerShdw blurRad="38100" dist="38100" dir="2700000">
                            <a:srgbClr val="FFFFFF"/>
                          </a:outerShdw>
                        </a:effectLst>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latin typeface="Times New Roman" panose="02020603050405020304" pitchFamily="18" charset="0"/>
                          <a:ea typeface="楷体_GB2312"/>
                        </a:rPr>
                        <a:t>权重</a:t>
                      </a:r>
                      <a:endParaRPr lang="zh-CN" altLang="en-US" sz="2000" dirty="0">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latin typeface="Times New Roman" panose="02020603050405020304" pitchFamily="18" charset="0"/>
                          <a:ea typeface="楷体_GB2312"/>
                        </a:rPr>
                        <a:t>项目</a:t>
                      </a:r>
                      <a:r>
                        <a:rPr lang="en-US" altLang="zh-CN" sz="2000" dirty="0">
                          <a:latin typeface="Times New Roman" panose="02020603050405020304" pitchFamily="18" charset="0"/>
                          <a:ea typeface="楷体_GB2312"/>
                        </a:rPr>
                        <a:t>1</a:t>
                      </a:r>
                      <a:endParaRPr lang="en-US" altLang="zh-CN" sz="2000" dirty="0">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latin typeface="Times New Roman" panose="02020603050405020304" pitchFamily="18" charset="0"/>
                          <a:ea typeface="楷体_GB2312"/>
                        </a:rPr>
                        <a:t>项目</a:t>
                      </a:r>
                      <a:r>
                        <a:rPr lang="en-US" altLang="zh-CN" sz="2000" dirty="0">
                          <a:latin typeface="Times New Roman" panose="02020603050405020304" pitchFamily="18" charset="0"/>
                          <a:ea typeface="楷体_GB2312"/>
                        </a:rPr>
                        <a:t>2</a:t>
                      </a:r>
                      <a:endParaRPr lang="en-US" altLang="zh-CN" sz="2000" dirty="0">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latin typeface="Times New Roman" panose="02020603050405020304" pitchFamily="18" charset="0"/>
                          <a:ea typeface="楷体_GB2312"/>
                        </a:rPr>
                        <a:t>项目</a:t>
                      </a:r>
                      <a:r>
                        <a:rPr lang="en-US" altLang="zh-CN" sz="2000" dirty="0">
                          <a:latin typeface="Times New Roman" panose="02020603050405020304" pitchFamily="18" charset="0"/>
                          <a:ea typeface="楷体_GB2312"/>
                        </a:rPr>
                        <a:t>3</a:t>
                      </a:r>
                      <a:endParaRPr lang="en-US" altLang="zh-CN" sz="2000" dirty="0">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latin typeface="Times New Roman" panose="02020603050405020304" pitchFamily="18" charset="0"/>
                          <a:ea typeface="楷体_GB2312"/>
                        </a:rPr>
                        <a:t>项目</a:t>
                      </a:r>
                      <a:r>
                        <a:rPr lang="en-US" altLang="zh-CN" sz="2000" dirty="0">
                          <a:latin typeface="Times New Roman" panose="02020603050405020304" pitchFamily="18" charset="0"/>
                          <a:ea typeface="楷体_GB2312"/>
                        </a:rPr>
                        <a:t>4</a:t>
                      </a:r>
                      <a:endParaRPr lang="en-US" altLang="zh-CN" sz="2000" dirty="0">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5588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符合主要的商业目标</a:t>
                      </a:r>
                      <a:endParaRPr lang="zh-CN" altLang="en-US" sz="2000" b="1" dirty="0">
                        <a:latin typeface="Times New Roman" panose="02020603050405020304" pitchFamily="18" charset="0"/>
                        <a:ea typeface="楷体_GB2312"/>
                      </a:endParaRPr>
                    </a:p>
                  </a:txBody>
                  <a:tcPr marL="90000" marR="90000" marT="0" marB="0" anchor="ctr">
                    <a:lnL>
                      <a:noFill/>
                    </a:lnL>
                    <a:lnR>
                      <a:noFill/>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w="28575" cap="flat" cmpd="sng">
                      <a:solidFill>
                        <a:schemeClr val="tx1"/>
                      </a:solidFill>
                      <a:prstDash val="solid"/>
                      <a:headEnd type="none" w="med" len="med"/>
                      <a:tailEnd type="none" w="med" len="med"/>
                    </a:lnT>
                    <a:lnB>
                      <a:noFill/>
                    </a:lnB>
                    <a:lnTlToBr>
                      <a:noFill/>
                    </a:lnTlToBr>
                    <a:lnBlToTr>
                      <a:noFill/>
                    </a:lnBlToTr>
                    <a:noFill/>
                  </a:tcPr>
                </a:tc>
              </a:tr>
              <a:tr h="6096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有极具实力的内部项目</a:t>
                      </a:r>
                      <a:endParaRPr lang="zh-CN" altLang="en-US" sz="2000" dirty="0">
                        <a:solidFill>
                          <a:srgbClr val="000000"/>
                        </a:solidFill>
                        <a:effectLst>
                          <a:outerShdw blurRad="38100" dist="38100" dir="2700000">
                            <a:srgbClr val="FFFFFF"/>
                          </a:outerShdw>
                        </a:effectLst>
                        <a:latin typeface="宋体" panose="02010600030101010101" pitchFamily="2" charset="-122"/>
                        <a:ea typeface="楷体_GB2312"/>
                      </a:endParaRPr>
                    </a:p>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发起人</a:t>
                      </a:r>
                      <a:endParaRPr lang="zh-CN" altLang="en-US" sz="2000" b="1" dirty="0">
                        <a:latin typeface="Times New Roman" panose="02020603050405020304" pitchFamily="18" charset="0"/>
                        <a:ea typeface="楷体_GB2312"/>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15%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70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r>
              <a:tr h="55562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较强的客户支持</a:t>
                      </a:r>
                      <a:endParaRPr lang="zh-CN" altLang="en-US" sz="2000" b="1" dirty="0">
                        <a:latin typeface="Times New Roman" panose="02020603050405020304" pitchFamily="18" charset="0"/>
                        <a:ea typeface="楷体_GB2312"/>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15%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r>
              <a:tr h="5588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运用符合实际的技术</a:t>
                      </a:r>
                      <a:endParaRPr lang="zh-CN" altLang="en-US" sz="2000" b="1" dirty="0">
                        <a:latin typeface="Times New Roman" panose="02020603050405020304" pitchFamily="18" charset="0"/>
                        <a:ea typeface="楷体_GB2312"/>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10%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70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r>
              <a:tr h="6096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可以在</a:t>
                      </a:r>
                      <a:r>
                        <a:rPr lang="en-US" altLang="zh-CN" sz="2000" dirty="0">
                          <a:solidFill>
                            <a:srgbClr val="000000"/>
                          </a:solidFill>
                          <a:effectLst>
                            <a:outerShdw blurRad="38100" dist="38100" dir="2700000">
                              <a:srgbClr val="FFFFFF"/>
                            </a:outerShdw>
                          </a:effectLst>
                          <a:latin typeface="Times New Roman" panose="02020603050405020304" pitchFamily="18" charset="0"/>
                          <a:ea typeface="楷体_GB2312"/>
                        </a:rPr>
                        <a:t>1</a:t>
                      </a: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年或更短的时间</a:t>
                      </a:r>
                      <a:endParaRPr lang="zh-CN" altLang="en-US" sz="2000" dirty="0">
                        <a:solidFill>
                          <a:srgbClr val="000000"/>
                        </a:solidFill>
                        <a:effectLst>
                          <a:outerShdw blurRad="38100" dist="38100" dir="2700000">
                            <a:srgbClr val="FFFFFF"/>
                          </a:outerShdw>
                        </a:effectLst>
                        <a:latin typeface="宋体" panose="02010600030101010101" pitchFamily="2" charset="-122"/>
                        <a:ea typeface="楷体_GB2312"/>
                      </a:endParaRPr>
                    </a:p>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内得以实施</a:t>
                      </a:r>
                      <a:endParaRPr lang="zh-CN" altLang="en-US" sz="2000" b="1" dirty="0">
                        <a:latin typeface="Times New Roman" panose="02020603050405020304" pitchFamily="18" charset="0"/>
                        <a:ea typeface="楷体_GB2312"/>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r>
              <a:tr h="557212">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有正的净现值</a:t>
                      </a:r>
                      <a:endParaRPr lang="zh-CN" altLang="en-US" sz="2000" b="1" dirty="0">
                        <a:latin typeface="Times New Roman" panose="02020603050405020304" pitchFamily="18" charset="0"/>
                        <a:ea typeface="楷体_GB2312"/>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70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r>
              <a:tr h="6096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solidFill>
                            <a:srgbClr val="000000"/>
                          </a:solidFill>
                          <a:effectLst>
                            <a:outerShdw blurRad="38100" dist="38100" dir="2700000">
                              <a:srgbClr val="FFFFFF"/>
                            </a:outerShdw>
                          </a:effectLst>
                          <a:latin typeface="宋体" panose="02010600030101010101" pitchFamily="2" charset="-122"/>
                          <a:ea typeface="楷体_GB2312"/>
                        </a:rPr>
                        <a:t>能在较低的风险水平下实现范围、时间和成本等目标</a:t>
                      </a:r>
                      <a:endParaRPr lang="zh-CN" altLang="en-US" sz="2000" b="1" dirty="0">
                        <a:latin typeface="Times New Roman" panose="02020603050405020304" pitchFamily="18" charset="0"/>
                        <a:ea typeface="楷体_GB2312"/>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10%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20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90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a:noFill/>
                    </a:lnB>
                    <a:lnTlToBr>
                      <a:noFill/>
                    </a:lnTlToBr>
                    <a:lnBlToTr>
                      <a:noFill/>
                    </a:lnBlToTr>
                    <a:noFill/>
                  </a:tcPr>
                </a:tc>
              </a:tr>
              <a:tr h="5588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zh-CN" altLang="en-US" sz="2000" dirty="0">
                          <a:latin typeface="楷体_GB2312"/>
                          <a:ea typeface="楷体_GB2312"/>
                        </a:rPr>
                        <a:t>总分</a:t>
                      </a:r>
                      <a:endParaRPr lang="zh-CN" altLang="en-US" sz="2000" dirty="0">
                        <a:latin typeface="楷体_GB2312"/>
                        <a:ea typeface="楷体_GB2312"/>
                      </a:endParaRPr>
                    </a:p>
                  </a:txBody>
                  <a:tcPr marL="90000" marR="90000" marT="0" marB="0" anchor="ctr">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100%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56</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78.5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sz="2000" dirty="0">
                          <a:latin typeface="Times New Roman" panose="02020603050405020304" pitchFamily="18" charset="0"/>
                          <a:ea typeface="楷体_GB2312"/>
                        </a:rPr>
                        <a:t>50</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fontAlgn="ctr" hangingPunct="1">
                        <a:buNone/>
                      </a:pPr>
                      <a:r>
                        <a:rPr lang="en-US" altLang="zh-CN" sz="2000" dirty="0">
                          <a:latin typeface="Times New Roman" panose="02020603050405020304" pitchFamily="18" charset="0"/>
                          <a:ea typeface="楷体_GB2312"/>
                        </a:rPr>
                        <a:t>41.5</a:t>
                      </a:r>
                      <a:endParaRPr lang="en-US" altLang="zh-CN" sz="2000" dirty="0">
                        <a:latin typeface="Times New Roman" panose="02020603050405020304" pitchFamily="18" charset="0"/>
                        <a:ea typeface="Times New Roman" panose="02020603050405020304" pitchFamily="18" charset="0"/>
                      </a:endParaRPr>
                    </a:p>
                  </a:txBody>
                  <a:tcPr marL="90000" marR="90000" marT="0" marB="0" anchor="ctr">
                    <a:lnL>
                      <a:noFill/>
                    </a:lnL>
                    <a:lnR>
                      <a:noFill/>
                    </a:lnR>
                    <a:lnT>
                      <a:noFill/>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6925" name="Rectangle 496"/>
          <p:cNvSpPr/>
          <p:nvPr/>
        </p:nvSpPr>
        <p:spPr>
          <a:xfrm>
            <a:off x="2209800" y="6381750"/>
            <a:ext cx="7772400" cy="371475"/>
          </a:xfrm>
          <a:prstGeom prst="rect">
            <a:avLst/>
          </a:prstGeom>
          <a:noFill/>
          <a:ln w="9525">
            <a:noFill/>
          </a:ln>
        </p:spPr>
        <p:txBody>
          <a:bodyPr lIns="92075" tIns="46038" rIns="92075" bIns="46038" anchor="ctr" anchorCtr="0"/>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2"/>
                </a:solidFill>
                <a:effectLst>
                  <a:outerShdw blurRad="38100" dist="38100" dir="2700000">
                    <a:srgbClr val="FFFFFF"/>
                  </a:outerShdw>
                </a:effectLst>
                <a:uLnTx/>
                <a:uFillTx/>
                <a:latin typeface="Times New Roman" panose="02020603050405020304" pitchFamily="18" charset="0"/>
                <a:ea typeface="楷体_GB2312" pitchFamily="49" charset="-122"/>
                <a:cs typeface="+mn-cs"/>
              </a:rPr>
              <a:t>加权评分模型举例</a:t>
            </a:r>
            <a:endParaRPr kumimoji="0" lang="zh-CN" altLang="en-US" sz="2000" b="1" i="0" u="none" strike="noStrike" kern="1200" cap="none" spc="0" normalizeH="0" baseline="0" noProof="0" dirty="0">
              <a:ln>
                <a:noFill/>
              </a:ln>
              <a:solidFill>
                <a:schemeClr val="tx2"/>
              </a:solidFill>
              <a:effectLst>
                <a:outerShdw blurRad="38100" dist="38100" dir="2700000">
                  <a:srgbClr val="FFFFFF"/>
                </a:outerShdw>
              </a:effectLst>
              <a:uLnTx/>
              <a:uFillTx/>
              <a:latin typeface="Times New Roman" panose="02020603050405020304" pitchFamily="18" charset="0"/>
              <a:ea typeface="楷体_GB2312" pitchFamily="49" charset="-122"/>
              <a:cs typeface="+mn-cs"/>
            </a:endParaRPr>
          </a:p>
        </p:txBody>
      </p:sp>
      <p:grpSp>
        <p:nvGrpSpPr>
          <p:cNvPr id="96330" name="Group 2"/>
          <p:cNvGrpSpPr/>
          <p:nvPr/>
        </p:nvGrpSpPr>
        <p:grpSpPr>
          <a:xfrm>
            <a:off x="1444625" y="939800"/>
            <a:ext cx="9523413" cy="114300"/>
            <a:chOff x="0" y="0"/>
            <a:chExt cx="5763" cy="72"/>
          </a:xfrm>
        </p:grpSpPr>
        <p:sp>
          <p:nvSpPr>
            <p:cNvPr id="96331"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6332"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19466" name="Rectangle 5"/>
          <p:cNvSpPr txBox="1"/>
          <p:nvPr/>
        </p:nvSpPr>
        <p:spPr>
          <a:xfrm>
            <a:off x="1524000" y="0"/>
            <a:ext cx="6186488"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9"/>
          <p:cNvSpPr>
            <a:spLocks noGrp="1"/>
          </p:cNvSpPr>
          <p:nvPr>
            <p:ph type="title" idx="4294967295"/>
          </p:nvPr>
        </p:nvSpPr>
        <p:spPr>
          <a:xfrm>
            <a:off x="2209800" y="188913"/>
            <a:ext cx="7772400" cy="371475"/>
          </a:xfrm>
        </p:spPr>
        <p:txBody>
          <a:bodyPr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572314"/>
                </a:solidFill>
                <a:effectLst>
                  <a:outerShdw blurRad="38100" dist="38100" dir="2700000">
                    <a:srgbClr val="FFFFFF"/>
                  </a:outerShdw>
                </a:effectLst>
                <a:uLnTx/>
                <a:uFillTx/>
                <a:latin typeface="+mj-lt"/>
                <a:ea typeface="+mj-ea"/>
                <a:cs typeface="+mj-cs"/>
              </a:rPr>
              <a:t>公司投资</a:t>
            </a:r>
            <a:r>
              <a:rPr kumimoji="0" lang="en-US" altLang="zh-CN" sz="1800" b="0" i="0" u="none" strike="noStrike" kern="1200" cap="none" spc="0" normalizeH="0" baseline="0" noProof="0" dirty="0">
                <a:ln>
                  <a:noFill/>
                </a:ln>
                <a:solidFill>
                  <a:srgbClr val="572314"/>
                </a:solidFill>
                <a:effectLst>
                  <a:outerShdw blurRad="38100" dist="38100" dir="2700000">
                    <a:srgbClr val="FFFFFF"/>
                  </a:outerShdw>
                </a:effectLst>
                <a:uLnTx/>
                <a:uFillTx/>
                <a:latin typeface="+mj-lt"/>
                <a:ea typeface="+mj-ea"/>
                <a:cs typeface="+mj-cs"/>
              </a:rPr>
              <a:t>IT</a:t>
            </a:r>
            <a:r>
              <a:rPr kumimoji="0" lang="zh-CN" altLang="en-US" sz="1800" b="0" i="0" u="none" strike="noStrike" kern="1200" cap="none" spc="0" normalizeH="0" baseline="0" noProof="0" dirty="0">
                <a:ln>
                  <a:noFill/>
                </a:ln>
                <a:solidFill>
                  <a:srgbClr val="572314"/>
                </a:solidFill>
                <a:effectLst>
                  <a:outerShdw blurRad="38100" dist="38100" dir="2700000">
                    <a:srgbClr val="FFFFFF"/>
                  </a:outerShdw>
                </a:effectLst>
                <a:uLnTx/>
                <a:uFillTx/>
                <a:latin typeface="+mj-lt"/>
                <a:ea typeface="+mj-ea"/>
                <a:cs typeface="+mj-cs"/>
              </a:rPr>
              <a:t>项目的原因</a:t>
            </a:r>
            <a:endParaRPr kumimoji="0" lang="zh-CN" altLang="en-US" sz="1800" b="0" i="0" u="none" strike="noStrike" kern="1200" cap="none" spc="0" normalizeH="0" baseline="0" noProof="0" dirty="0">
              <a:ln>
                <a:noFill/>
              </a:ln>
              <a:solidFill>
                <a:srgbClr val="572314"/>
              </a:solidFill>
              <a:effectLst>
                <a:outerShdw blurRad="38100" dist="38100" dir="2700000">
                  <a:srgbClr val="FFFFFF"/>
                </a:outerShdw>
              </a:effectLst>
              <a:uLnTx/>
              <a:uFillTx/>
              <a:latin typeface="+mj-lt"/>
              <a:ea typeface="+mj-ea"/>
              <a:cs typeface="+mj-cs"/>
            </a:endParaRPr>
          </a:p>
        </p:txBody>
      </p:sp>
      <p:graphicFrame>
        <p:nvGraphicFramePr>
          <p:cNvPr id="37892" name="内容占位符 37891"/>
          <p:cNvGraphicFramePr>
            <a:graphicFrameLocks noGrp="1"/>
          </p:cNvGraphicFramePr>
          <p:nvPr>
            <p:ph sz="half" idx="4294967295"/>
          </p:nvPr>
        </p:nvGraphicFramePr>
        <p:xfrm>
          <a:off x="2122488" y="638175"/>
          <a:ext cx="7560945" cy="6067425"/>
        </p:xfrm>
        <a:graphic>
          <a:graphicData uri="http://schemas.openxmlformats.org/drawingml/2006/table">
            <a:tbl>
              <a:tblPr/>
              <a:tblGrid>
                <a:gridCol w="3960495"/>
                <a:gridCol w="3600450"/>
              </a:tblGrid>
              <a:tr h="39687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投资</a:t>
                      </a:r>
                      <a:r>
                        <a:rPr lang="en-US" altLang="zh-CN" b="0" dirty="0">
                          <a:effectLst>
                            <a:outerShdw blurRad="38100" dist="38100" dir="2700000">
                              <a:srgbClr val="FFFFFF"/>
                            </a:outerShdw>
                          </a:effectLst>
                        </a:rPr>
                        <a:t>IT</a:t>
                      </a:r>
                      <a:r>
                        <a:rPr lang="zh-CN" altLang="en-US" b="0" dirty="0">
                          <a:effectLst>
                            <a:outerShdw blurRad="38100" dist="38100" dir="2700000">
                              <a:srgbClr val="FFFFFF"/>
                            </a:outerShdw>
                          </a:effectLst>
                        </a:rPr>
                        <a:t>项目的原因</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从项目整体价值角度考虑的排列</a:t>
                      </a:r>
                      <a:endParaRPr lang="zh-CN" altLang="en-US" b="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支持明确的商业目标</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1</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w="28575" cap="flat" cmpd="sng">
                      <a:solidFill>
                        <a:schemeClr val="tx1"/>
                      </a:solidFill>
                      <a:prstDash val="solid"/>
                      <a:headEnd type="none" w="med" len="med"/>
                      <a:tailEnd type="none" w="med" len="med"/>
                    </a:lnT>
                    <a:lnB>
                      <a:noFill/>
                    </a:lnB>
                    <a:lnTlToBr>
                      <a:noFill/>
                    </a:lnTlToBr>
                    <a:lnBlToTr>
                      <a:noFill/>
                    </a:lnBlToTr>
                    <a:noFill/>
                  </a:tcPr>
                </a:tc>
              </a:tr>
              <a:tr h="42354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较好的内部收益率（</a:t>
                      </a:r>
                      <a:r>
                        <a:rPr lang="en-US" altLang="zh-CN" b="0" dirty="0">
                          <a:effectLst>
                            <a:outerShdw blurRad="38100" dist="38100" dir="2700000">
                              <a:srgbClr val="FFFFFF"/>
                            </a:outerShdw>
                          </a:effectLst>
                        </a:rPr>
                        <a:t>IRR</a:t>
                      </a:r>
                      <a:r>
                        <a:rPr lang="zh-CN" altLang="en-US" b="0" dirty="0">
                          <a:effectLst>
                            <a:outerShdw blurRad="38100" dist="38100" dir="2700000">
                              <a:srgbClr val="FFFFFF"/>
                            </a:outerShdw>
                          </a:effectLst>
                        </a:rPr>
                        <a:t>）</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2</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支持潜在的商业目标</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3</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较好的净现值（</a:t>
                      </a:r>
                      <a:r>
                        <a:rPr lang="en-US" altLang="zh-CN" b="0" dirty="0">
                          <a:effectLst>
                            <a:outerShdw blurRad="38100" dist="38100" dir="2700000">
                              <a:srgbClr val="FFFFFF"/>
                            </a:outerShdw>
                          </a:effectLst>
                        </a:rPr>
                        <a:t>NPV</a:t>
                      </a:r>
                      <a:r>
                        <a:rPr lang="zh-CN" altLang="en-US" b="0" dirty="0">
                          <a:effectLst>
                            <a:outerShdw blurRad="38100" dist="38100" dir="2700000">
                              <a:srgbClr val="FFFFFF"/>
                            </a:outerShdw>
                          </a:effectLst>
                        </a:rPr>
                        <a:t>）</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4</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合理的回收期</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5</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作为抗衡竞争对手类似系统的手段</a:t>
                      </a:r>
                      <a:endParaRPr lang="zh-CN" altLang="en-US" b="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6</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支持管理决策</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7</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存在很大的获益可能性</a:t>
                      </a:r>
                      <a:endParaRPr lang="zh-CN" altLang="en-US" b="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8</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较好的投资回收期</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9</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项目成功的可能性很大</a:t>
                      </a:r>
                      <a:endParaRPr lang="zh-CN" altLang="en-US" b="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10</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49974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dirty="0">
                          <a:effectLst>
                            <a:outerShdw blurRad="38100" dist="38100" dir="2700000">
                              <a:srgbClr val="FFFFFF"/>
                            </a:outerShdw>
                          </a:effectLst>
                        </a:rPr>
                        <a:t>满足技术和系统的要求</a:t>
                      </a:r>
                      <a:endParaRPr lang="zh-CN" altLang="en-US" b="0" dirty="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11</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支持法律和政府要求</a:t>
                      </a:r>
                      <a:endParaRPr lang="zh-CN" altLang="en-US" b="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12</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较好的利润指标</a:t>
                      </a:r>
                      <a:endParaRPr lang="zh-CN" altLang="en-US" b="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13</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r h="395605">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zh-CN" altLang="en-US" b="0">
                          <a:effectLst>
                            <a:outerShdw blurRad="38100" dist="38100" dir="2700000">
                              <a:srgbClr val="FFFFFF"/>
                            </a:outerShdw>
                          </a:effectLst>
                        </a:rPr>
                        <a:t>引入新技术</a:t>
                      </a:r>
                      <a:endParaRPr lang="zh-CN" altLang="en-US" b="0">
                        <a:effectLst>
                          <a:outerShdw blurRad="38100" dist="38100" dir="2700000">
                            <a:srgbClr val="FFFFFF"/>
                          </a:outerShdw>
                        </a:effectLst>
                      </a:endParaRPr>
                    </a:p>
                  </a:txBody>
                  <a:tcPr marL="90000" marR="90000" marT="46798" marB="46798" anchor="ctr">
                    <a:lnL>
                      <a:noFill/>
                    </a:lnL>
                    <a:lnR w="28575"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just" defTabSz="914400" rtl="0" eaLnBrk="0" fontAlgn="base" latinLnBrk="0" hangingPunct="0">
                        <a:lnSpc>
                          <a:spcPct val="100000"/>
                        </a:lnSpc>
                        <a:spcBef>
                          <a:spcPct val="20000"/>
                        </a:spcBef>
                        <a:spcAft>
                          <a:spcPct val="0"/>
                        </a:spcAft>
                        <a:buClrTx/>
                        <a:buSzTx/>
                        <a:buFontTx/>
                        <a:buNone/>
                        <a:defRPr sz="1800" b="1"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2pPr>
                      <a:lvl3pPr marL="914400" lvl="2"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3pPr>
                      <a:lvl4pPr marL="1371600" lvl="3"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4pPr>
                      <a:lvl5pPr marL="1828800" lvl="4" indent="0" algn="l" defTabSz="914400" rtl="0" eaLnBrk="0" fontAlgn="base" latinLnBrk="0" hangingPunct="0">
                        <a:lnSpc>
                          <a:spcPct val="100000"/>
                        </a:lnSpc>
                        <a:spcBef>
                          <a:spcPct val="20000"/>
                        </a:spcBef>
                        <a:spcAft>
                          <a:spcPct val="0"/>
                        </a:spcAft>
                        <a:buClrTx/>
                        <a:buSzTx/>
                        <a:buFontTx/>
                        <a:buNone/>
                        <a:defRPr sz="1800" b="1" i="0" u="none" kern="1200" baseline="0">
                          <a:solidFill>
                            <a:schemeClr val="tx1"/>
                          </a:solidFill>
                          <a:latin typeface="Times New Roman" panose="02020603050405020304" pitchFamily="18" charset="0"/>
                          <a:ea typeface="楷体_GB2312" pitchFamily="49" charset="-122"/>
                        </a:defRPr>
                      </a:lvl5pPr>
                    </a:lstStyle>
                    <a:p>
                      <a:pPr marL="0" lvl="0" indent="0" algn="ctr" eaLnBrk="1" hangingPunct="1">
                        <a:lnSpc>
                          <a:spcPct val="110000"/>
                        </a:lnSpc>
                        <a:buClr>
                          <a:schemeClr val="tx1"/>
                        </a:buClr>
                        <a:buFont typeface="Wingdings 2" panose="05020102010507070707" pitchFamily="18" charset="2"/>
                        <a:buNone/>
                      </a:pPr>
                      <a:r>
                        <a:rPr lang="en-US" altLang="zh-CN" b="0" dirty="0">
                          <a:effectLst>
                            <a:outerShdw blurRad="38100" dist="38100" dir="2700000">
                              <a:srgbClr val="FFFFFF"/>
                            </a:outerShdw>
                          </a:effectLst>
                        </a:rPr>
                        <a:t>14</a:t>
                      </a:r>
                      <a:endParaRPr lang="en-US" altLang="zh-CN" b="0" dirty="0">
                        <a:effectLst>
                          <a:outerShdw blurRad="38100" dist="38100" dir="2700000">
                            <a:srgbClr val="FFFFFF"/>
                          </a:outerShdw>
                        </a:effectLst>
                      </a:endParaRPr>
                    </a:p>
                  </a:txBody>
                  <a:tcPr marL="90000" marR="90000" marT="46798" marB="46798" anchor="ctr">
                    <a:lnL w="28575" cap="flat" cmpd="sng">
                      <a:solidFill>
                        <a:schemeClr val="tx1"/>
                      </a:solidFill>
                      <a:prstDash val="solid"/>
                      <a:headEnd type="none" w="med" len="med"/>
                      <a:tailEnd type="none" w="med" len="med"/>
                    </a:lnL>
                    <a:lnR>
                      <a:noFill/>
                    </a:lnR>
                    <a:lnT>
                      <a:noFill/>
                    </a:lnT>
                    <a:lnB>
                      <a:noFill/>
                    </a:lnB>
                    <a:lnTlToBr>
                      <a:noFill/>
                    </a:lnTlToBr>
                    <a:lnBlToTr>
                      <a:noFill/>
                    </a:lnBlToTr>
                    <a:noFill/>
                  </a:tcPr>
                </a:tc>
              </a:tr>
            </a:tbl>
          </a:graphicData>
        </a:graphic>
      </p:graphicFrame>
    </p:spTree>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5" name="Group 2"/>
          <p:cNvGrpSpPr/>
          <p:nvPr/>
        </p:nvGrpSpPr>
        <p:grpSpPr>
          <a:xfrm>
            <a:off x="1444625" y="939800"/>
            <a:ext cx="9148763" cy="114300"/>
            <a:chOff x="0" y="0"/>
            <a:chExt cx="5763" cy="72"/>
          </a:xfrm>
        </p:grpSpPr>
        <p:sp>
          <p:nvSpPr>
            <p:cNvPr id="98306"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8307"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35846" name="Rectangle 5"/>
          <p:cNvSpPr>
            <a:spLocks noGrp="1"/>
          </p:cNvSpPr>
          <p:nvPr>
            <p:ph type="title" idx="4294967295"/>
          </p:nvPr>
        </p:nvSpPr>
        <p:spPr>
          <a:xfrm>
            <a:off x="2063433" y="1124268"/>
            <a:ext cx="7772400" cy="633413"/>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5</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、平衡计分卡方法</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35847" name="Rectangle 6"/>
          <p:cNvSpPr>
            <a:spLocks noGrp="1"/>
          </p:cNvSpPr>
          <p:nvPr>
            <p:ph type="body" sz="half" idx="4294967295"/>
          </p:nvPr>
        </p:nvSpPr>
        <p:spPr>
          <a:xfrm>
            <a:off x="1919605" y="1774190"/>
            <a:ext cx="9706610" cy="2116455"/>
          </a:xfrm>
        </p:spPr>
        <p:txBody>
          <a:bodyPr vert="horz" wrap="square" lIns="0" tIns="0" rIns="0" bIns="0" anchor="t" anchorCtr="0"/>
          <a:lstStyle>
            <a:lvl1pPr marL="0" lvl="0" indent="0">
              <a:buClrTx/>
              <a:buSzTx/>
              <a:buFontTx/>
              <a:defRPr sz="1800"/>
            </a:lvl1pPr>
            <a:lvl2pPr marL="457200" lvl="1" indent="0">
              <a:buClrTx/>
              <a:buSzTx/>
              <a:buFontTx/>
              <a:defRPr sz="1800"/>
            </a:lvl2pPr>
            <a:lvl3pPr marL="914400" lvl="2" indent="0">
              <a:buClrTx/>
              <a:buSzTx/>
              <a:buFontTx/>
              <a:defRPr sz="1800"/>
            </a:lvl3pPr>
            <a:lvl4pPr marL="1371600" lvl="3" indent="0">
              <a:buClrTx/>
              <a:buSzTx/>
              <a:buFontTx/>
              <a:defRPr sz="1800"/>
            </a:lvl4pPr>
            <a:lvl5pPr marL="1828800" lvl="4" indent="0">
              <a:buClrTx/>
              <a:buSzTx/>
              <a:buFontTx/>
              <a:defRPr sz="1800"/>
            </a:lvl5pPr>
          </a:lstStyle>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是一种</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方法论</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，将组织的</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价值驱动因素</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，如客户服务、创新、运营效率及财务绩效等，转换成一些定好的</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衡量维度</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，组织并记录这些</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Wingdings 2" panose="05020102010507070707" pitchFamily="18" charset="2"/>
              </a:rPr>
              <a:t>衡量标准</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，以确定项目是否能</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Wingdings 2" panose="05020102010507070707" pitchFamily="18" charset="2"/>
              </a:rPr>
              <a:t>更好地帮助实现战略目标</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panose="05000000000000000000" pitchFamily="2" charset="2"/>
            </a:endParaRPr>
          </a:p>
        </p:txBody>
      </p:sp>
      <p:sp>
        <p:nvSpPr>
          <p:cNvPr id="7" name="Rectangle 6"/>
          <p:cNvSpPr txBox="1"/>
          <p:nvPr/>
        </p:nvSpPr>
        <p:spPr>
          <a:xfrm>
            <a:off x="1991043" y="3933190"/>
            <a:ext cx="8235950" cy="1130300"/>
          </a:xfrm>
          <a:prstGeom prst="rect">
            <a:avLst/>
          </a:prstGeom>
          <a:noFill/>
          <a:ln w="9525">
            <a:noFill/>
          </a:ln>
        </p:spPr>
        <p:txBody>
          <a:bodyPr vert="horz" wrap="square" lIns="0" tIns="0" rIns="0" bIns="0" anchor="t" anchorCtr="0"/>
          <a:lstStyle>
            <a:lvl1pPr marL="0" lvl="0" indent="0" algn="l" rtl="0" eaLnBrk="0" fontAlgn="base" hangingPunct="0">
              <a:spcBef>
                <a:spcPts val="600"/>
              </a:spcBef>
              <a:spcAft>
                <a:spcPct val="0"/>
              </a:spcAft>
              <a:buClrTx/>
              <a:buSzTx/>
              <a:buFontTx/>
              <a:buChar char=""/>
              <a:defRPr sz="1800" kern="1200">
                <a:solidFill>
                  <a:schemeClr val="tx1"/>
                </a:solidFill>
                <a:latin typeface="+mn-lt"/>
                <a:ea typeface="+mn-ea"/>
                <a:cs typeface="+mn-cs"/>
              </a:defRPr>
            </a:lvl1pPr>
            <a:lvl2pPr marL="457200" lvl="1" indent="0" algn="l" rtl="0" eaLnBrk="0" fontAlgn="base" hangingPunct="0">
              <a:spcBef>
                <a:spcPts val="550"/>
              </a:spcBef>
              <a:spcAft>
                <a:spcPct val="0"/>
              </a:spcAft>
              <a:buClrTx/>
              <a:buSzTx/>
              <a:buFontTx/>
              <a:buChar char="◦"/>
              <a:defRPr sz="1800" kern="1200">
                <a:solidFill>
                  <a:schemeClr val="tx1"/>
                </a:solidFill>
                <a:latin typeface="+mn-lt"/>
                <a:ea typeface="+mn-ea"/>
                <a:cs typeface="+mn-cs"/>
              </a:defRPr>
            </a:lvl2pPr>
            <a:lvl3pPr marL="914400" lvl="2" indent="0" algn="l" rtl="0" eaLnBrk="0" fontAlgn="base" hangingPunct="0">
              <a:spcBef>
                <a:spcPct val="20000"/>
              </a:spcBef>
              <a:spcAft>
                <a:spcPct val="0"/>
              </a:spcAft>
              <a:buClrTx/>
              <a:buSzTx/>
              <a:buFontTx/>
              <a:buChar char=""/>
              <a:defRPr sz="1800" kern="1200">
                <a:solidFill>
                  <a:schemeClr val="tx1"/>
                </a:solidFill>
                <a:latin typeface="+mn-lt"/>
                <a:ea typeface="+mn-ea"/>
                <a:cs typeface="+mn-cs"/>
              </a:defRPr>
            </a:lvl3pPr>
            <a:lvl4pPr marL="1371600" lvl="3" indent="0" algn="l" rtl="0" eaLnBrk="0" fontAlgn="base" hangingPunct="0">
              <a:spcBef>
                <a:spcPct val="20000"/>
              </a:spcBef>
              <a:spcAft>
                <a:spcPct val="0"/>
              </a:spcAft>
              <a:buClrTx/>
              <a:buSzTx/>
              <a:buFontTx/>
              <a:buChar char=""/>
              <a:defRPr sz="1800" kern="1200">
                <a:solidFill>
                  <a:schemeClr val="tx1"/>
                </a:solidFill>
                <a:latin typeface="+mn-lt"/>
                <a:ea typeface="+mn-ea"/>
                <a:cs typeface="+mn-cs"/>
              </a:defRPr>
            </a:lvl4pPr>
            <a:lvl5pPr marL="1828800" lvl="4" indent="0" algn="l" rtl="0" eaLnBrk="0" fontAlgn="base" hangingPunct="0">
              <a:spcBef>
                <a:spcPct val="20000"/>
              </a:spcBef>
              <a:spcAft>
                <a:spcPct val="0"/>
              </a:spcAft>
              <a:buClrTx/>
              <a:buSzTx/>
              <a:buFontTx/>
              <a:buChar char=""/>
              <a:defRPr sz="18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342900" marR="0" lvl="0" indent="-342900" algn="l" defTabSz="914400" rtl="0" eaLnBrk="0" fontAlgn="base" latinLnBrk="0" hangingPunct="0">
              <a:lnSpc>
                <a:spcPct val="110000"/>
              </a:lnSpc>
              <a:spcBef>
                <a:spcPts val="600"/>
              </a:spcBef>
              <a:spcAft>
                <a:spcPct val="0"/>
              </a:spcAft>
              <a:buClrTx/>
              <a:buSzTx/>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例：美国国防部的财务和会计服务部门</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endParaRPr>
          </a:p>
          <a:p>
            <a:pPr marL="0" marR="0" lvl="0" indent="0" algn="l" defTabSz="914400" rtl="0" eaLnBrk="0" fontAlgn="base" latinLnBrk="0" hangingPunct="0">
              <a:lnSpc>
                <a:spcPct val="110000"/>
              </a:lnSpc>
              <a:spcBef>
                <a:spcPts val="60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Wingdings 2" panose="05020102010507070707" pitchFamily="18" charset="2"/>
              </a:rPr>
              <a:t>战略集中在：</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Wingdings 2" panose="05020102010507070707" pitchFamily="18" charset="2"/>
              </a:rPr>
              <a:t>客户 财务 内部以及成长和学习</a:t>
            </a:r>
            <a:endPar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Wingdings" panose="05000000000000000000" pitchFamily="2" charset="2"/>
            </a:endParaRPr>
          </a:p>
        </p:txBody>
      </p:sp>
      <p:grpSp>
        <p:nvGrpSpPr>
          <p:cNvPr id="98311" name="Group 2"/>
          <p:cNvGrpSpPr/>
          <p:nvPr/>
        </p:nvGrpSpPr>
        <p:grpSpPr>
          <a:xfrm>
            <a:off x="1444625" y="939800"/>
            <a:ext cx="9523413" cy="114300"/>
            <a:chOff x="0" y="0"/>
            <a:chExt cx="5763" cy="72"/>
          </a:xfrm>
        </p:grpSpPr>
        <p:sp>
          <p:nvSpPr>
            <p:cNvPr id="98312"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8313"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19466" name="Rectangle 5"/>
          <p:cNvSpPr txBox="1"/>
          <p:nvPr/>
        </p:nvSpPr>
        <p:spPr>
          <a:xfrm>
            <a:off x="1524000" y="0"/>
            <a:ext cx="6186488"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7">
                                            <p:txEl>
                                              <p:pRg st="0" end="0"/>
                                            </p:txEl>
                                          </p:spTgt>
                                        </p:tgtEl>
                                        <p:attrNameLst>
                                          <p:attrName>style.visibility</p:attrName>
                                        </p:attrNameLst>
                                      </p:cBhvr>
                                      <p:to>
                                        <p:strVal val="visible"/>
                                      </p:to>
                                    </p:set>
                                    <p:animEffect transition="in" filter="wipe(left)">
                                      <p:cBhvr>
                                        <p:cTn id="7" dur="1000"/>
                                        <p:tgtEl>
                                          <p:spTgt spid="35847">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1000"/>
                                        <p:tgtEl>
                                          <p:spTgt spid="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xEl>
                                              <p:pRg st="1" end="1"/>
                                            </p:txEl>
                                          </p:spTgt>
                                        </p:tgtEl>
                                        <p:attrNameLst>
                                          <p:attrName>style.visibility</p:attrName>
                                        </p:attrNameLst>
                                      </p:cBhvr>
                                      <p:to>
                                        <p:strVal val="visible"/>
                                      </p:to>
                                    </p:set>
                                    <p:animEffect transition="in" filter="wipe(left)">
                                      <p:cBhvr>
                                        <p:cTn id="16" dur="1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7" grpId="0" build="p"/>
      <p:bldP spid="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29" name="Group 2"/>
          <p:cNvGrpSpPr/>
          <p:nvPr/>
        </p:nvGrpSpPr>
        <p:grpSpPr>
          <a:xfrm>
            <a:off x="1444625" y="939800"/>
            <a:ext cx="9148763" cy="114300"/>
            <a:chOff x="0" y="0"/>
            <a:chExt cx="5763" cy="72"/>
          </a:xfrm>
        </p:grpSpPr>
        <p:sp>
          <p:nvSpPr>
            <p:cNvPr id="99330" name="Line 3"/>
            <p:cNvSpPr/>
            <p:nvPr/>
          </p:nvSpPr>
          <p:spPr>
            <a:xfrm>
              <a:off x="0" y="0"/>
              <a:ext cx="5760" cy="0"/>
            </a:xfrm>
            <a:prstGeom prst="line">
              <a:avLst/>
            </a:prstGeom>
            <a:ln w="12700" cap="flat" cmpd="sng">
              <a:solidFill>
                <a:schemeClr val="tx1"/>
              </a:solidFill>
              <a:prstDash val="solid"/>
              <a:round/>
              <a:headEnd type="none" w="med" len="med"/>
              <a:tailEnd type="none" w="med" len="med"/>
            </a:ln>
          </p:spPr>
        </p:sp>
        <p:sp>
          <p:nvSpPr>
            <p:cNvPr id="99331" name="Line 4"/>
            <p:cNvSpPr/>
            <p:nvPr/>
          </p:nvSpPr>
          <p:spPr>
            <a:xfrm>
              <a:off x="0" y="72"/>
              <a:ext cx="5763" cy="0"/>
            </a:xfrm>
            <a:prstGeom prst="line">
              <a:avLst/>
            </a:prstGeom>
            <a:ln w="12700" cap="flat" cmpd="sng">
              <a:solidFill>
                <a:schemeClr val="folHlink"/>
              </a:solidFill>
              <a:prstDash val="solid"/>
              <a:round/>
              <a:headEnd type="none" w="med" len="med"/>
              <a:tailEnd type="none" w="med" len="med"/>
            </a:ln>
          </p:spPr>
        </p:sp>
      </p:grpSp>
      <p:sp>
        <p:nvSpPr>
          <p:cNvPr id="35846" name="Rectangle 5"/>
          <p:cNvSpPr>
            <a:spLocks noGrp="1"/>
          </p:cNvSpPr>
          <p:nvPr>
            <p:ph type="title" idx="4294967295"/>
          </p:nvPr>
        </p:nvSpPr>
        <p:spPr>
          <a:xfrm>
            <a:off x="1487805" y="1052830"/>
            <a:ext cx="7772400" cy="651510"/>
          </a:xfrm>
        </p:spPr>
        <p:txBody>
          <a:bodyPr wrap="square" lIns="92075" tIns="46038" rIns="92075" bIns="46038" numCol="1" anchor="ctr" anchorCtr="0" compatLnSpc="1"/>
          <a:lstStyle/>
          <a:p>
            <a:pPr marL="0" marR="0" lvl="0" indent="0" algn="just"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5</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、平衡计分卡方法</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pic>
        <p:nvPicPr>
          <p:cNvPr id="99333" name="图片 99"/>
          <p:cNvPicPr/>
          <p:nvPr/>
        </p:nvPicPr>
        <p:blipFill>
          <a:blip r:embed="rId1"/>
          <a:stretch>
            <a:fillRect/>
          </a:stretch>
        </p:blipFill>
        <p:spPr>
          <a:xfrm>
            <a:off x="3143250" y="1624965"/>
            <a:ext cx="7352030" cy="4998720"/>
          </a:xfrm>
          <a:prstGeom prst="rect">
            <a:avLst/>
          </a:prstGeom>
          <a:noFill/>
          <a:ln w="9525">
            <a:noFill/>
          </a:ln>
        </p:spPr>
      </p:pic>
      <p:sp>
        <p:nvSpPr>
          <p:cNvPr id="19466" name="Rectangle 5"/>
          <p:cNvSpPr txBox="1"/>
          <p:nvPr/>
        </p:nvSpPr>
        <p:spPr>
          <a:xfrm>
            <a:off x="1524000" y="0"/>
            <a:ext cx="6186488"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Tree>
  </p:cSld>
  <p:clrMapOvr>
    <a:masterClrMapping/>
  </p:clrMapOvr>
  <p:transition spd="slow">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p:cNvSpPr>
          <p:nvPr>
            <p:ph type="body" idx="4294967295"/>
          </p:nvPr>
        </p:nvSpPr>
        <p:spPr>
          <a:xfrm>
            <a:off x="1776095" y="1917065"/>
            <a:ext cx="9738995" cy="2145665"/>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如果你的公司只有</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200</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万预算，公司战略是</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成为行业服务体验标杆</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，你会选：</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修复所有现有系统的技术缺陷</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B.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开发一个用户呼声很高的新功能</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1847850" y="980440"/>
            <a:ext cx="3162300" cy="583565"/>
          </a:xfrm>
          <a:prstGeom prst="rect">
            <a:avLst/>
          </a:prstGeom>
        </p:spPr>
        <p:txBody>
          <a:bodyPr wrap="square">
            <a:spAutoFit/>
          </a:bodyPr>
          <a:p>
            <a:pPr marL="0" indent="0"/>
            <a:r>
              <a:rPr lang="zh-CN" altLang="en-US" sz="3200" b="1" i="0">
                <a:solidFill>
                  <a:srgbClr val="0F1115"/>
                </a:solidFill>
                <a:latin typeface="宋体" panose="02010600030101010101" pitchFamily="2" charset="-122"/>
                <a:cs typeface="宋体" panose="02010600030101010101" pitchFamily="2" charset="-122"/>
              </a:rPr>
              <a:t>案例：快达物流</a:t>
            </a:r>
            <a:endParaRPr lang="zh-CN" altLang="en-US" sz="3200" b="1" i="0">
              <a:solidFill>
                <a:srgbClr val="0F1115"/>
              </a:solidFill>
              <a:latin typeface="宋体" panose="02010600030101010101" pitchFamily="2" charset="-122"/>
              <a:cs typeface="宋体" panose="02010600030101010101" pitchFamily="2" charset="-122"/>
            </a:endParaRPr>
          </a:p>
        </p:txBody>
      </p:sp>
      <p:sp>
        <p:nvSpPr>
          <p:cNvPr id="3" name="文本框 2"/>
          <p:cNvSpPr txBox="1"/>
          <p:nvPr/>
        </p:nvSpPr>
        <p:spPr>
          <a:xfrm>
            <a:off x="2135505" y="4220845"/>
            <a:ext cx="9434195" cy="1814830"/>
          </a:xfrm>
          <a:prstGeom prst="rect">
            <a:avLst/>
          </a:prstGeom>
          <a:noFill/>
        </p:spPr>
        <p:txBody>
          <a:bodyPr wrap="square" rtlCol="0" anchor="t">
            <a:spAutoFit/>
          </a:bodyPr>
          <a:p>
            <a:r>
              <a:rPr lang="zh-CN" altLang="en-US" sz="2800" b="1"/>
              <a:t>问题：技术缺陷不修，系统会越来越慢，体验也会下降；</a:t>
            </a:r>
            <a:endParaRPr lang="zh-CN" altLang="en-US" sz="2800" b="1"/>
          </a:p>
          <a:p>
            <a:r>
              <a:rPr lang="zh-CN" altLang="en-US" sz="2800" b="1"/>
              <a:t> </a:t>
            </a:r>
            <a:r>
              <a:rPr lang="en-US" altLang="zh-CN" sz="2800" b="1"/>
              <a:t>           </a:t>
            </a:r>
            <a:r>
              <a:rPr lang="zh-CN" altLang="en-US" sz="2800" b="1"/>
              <a:t>新功能用户想要，但可能带来新的</a:t>
            </a:r>
            <a:r>
              <a:rPr lang="en-US" altLang="zh-CN" sz="2800" b="1"/>
              <a:t>Bug</a:t>
            </a:r>
            <a:r>
              <a:rPr lang="zh-CN" altLang="en-US" sz="2800" b="1"/>
              <a:t>。</a:t>
            </a:r>
            <a:endParaRPr lang="zh-CN" altLang="en-US" sz="2800" b="1"/>
          </a:p>
          <a:p>
            <a:r>
              <a:rPr lang="zh-CN" altLang="en-US" sz="2800" b="1"/>
              <a:t>怎么科学地决策呢？</a:t>
            </a:r>
            <a:endParaRPr lang="zh-CN" altLang="en-US" sz="2800" b="1"/>
          </a:p>
          <a:p>
            <a:r>
              <a:rPr lang="zh-CN" altLang="en-US" sz="2800" b="1"/>
              <a:t>要记住：不是</a:t>
            </a:r>
            <a:r>
              <a:rPr lang="en-US" altLang="zh-CN" sz="2800" b="1"/>
              <a:t>‘</a:t>
            </a:r>
            <a:r>
              <a:rPr lang="zh-CN" altLang="en-US" sz="2800" b="1"/>
              <a:t>我觉得</a:t>
            </a:r>
            <a:r>
              <a:rPr lang="en-US" altLang="zh-CN" sz="2800" b="1"/>
              <a:t>’</a:t>
            </a:r>
            <a:r>
              <a:rPr lang="zh-CN" altLang="en-US" sz="2800" b="1"/>
              <a:t>，而是</a:t>
            </a:r>
            <a:r>
              <a:rPr lang="en-US" altLang="zh-CN" sz="2800" b="1">
                <a:solidFill>
                  <a:srgbClr val="FF0000"/>
                </a:solidFill>
              </a:rPr>
              <a:t>‘</a:t>
            </a:r>
            <a:r>
              <a:rPr lang="zh-CN" altLang="en-US" sz="2800" b="1">
                <a:solidFill>
                  <a:srgbClr val="FF0000"/>
                </a:solidFill>
              </a:rPr>
              <a:t>战略说</a:t>
            </a:r>
            <a:r>
              <a:rPr lang="en-US" altLang="zh-CN" sz="2800" b="1">
                <a:solidFill>
                  <a:srgbClr val="FF0000"/>
                </a:solidFill>
              </a:rPr>
              <a:t>’</a:t>
            </a:r>
            <a:r>
              <a:rPr lang="zh-CN" altLang="en-US" sz="2800" b="1"/>
              <a:t>。</a:t>
            </a:r>
            <a:endParaRPr lang="zh-CN" altLang="en-US" sz="2800" b="1"/>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6"/>
          <p:cNvSpPr>
            <a:spLocks noGrp="1"/>
          </p:cNvSpPr>
          <p:nvPr>
            <p:ph type="body" idx="4294967295"/>
          </p:nvPr>
        </p:nvSpPr>
        <p:spPr>
          <a:xfrm>
            <a:off x="1433195" y="1558290"/>
            <a:ext cx="10226040" cy="3226435"/>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公司：中型物流公司（区域龙头）</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战略目标（未来三年）：成为</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区域最</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智能</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的同城</a:t>
            </a:r>
            <a:r>
              <a:rPr kumimoji="0" lang="zh-CN" altLang="en-US" sz="2800" b="0" i="0" u="none" strike="noStrike" kern="1200" cap="none" spc="0" normalizeH="0" baseline="0" noProof="0" dirty="0">
                <a:ln>
                  <a:noFill/>
                </a:ln>
                <a:solidFill>
                  <a:srgbClr val="00B050"/>
                </a:solidFill>
                <a:effectLst>
                  <a:outerShdw blurRad="38100" dist="38100" dir="2700000">
                    <a:srgbClr val="FFFFFF"/>
                  </a:outerShdw>
                </a:effectLst>
                <a:uLnTx/>
                <a:uFillTx/>
                <a:latin typeface="+mn-lt"/>
                <a:ea typeface="+mn-ea"/>
                <a:cs typeface="+mn-cs"/>
                <a:sym typeface="Symbol" panose="05050102010706020507" pitchFamily="18" charset="2"/>
              </a:rPr>
              <a:t>当日达</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服务商</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三条战略路径：</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charset="0"/>
              <a:buChar char="l"/>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智能匹配（效率）</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charset="0"/>
              <a:buChar char="l"/>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降低单均成本（成本）</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00B050"/>
              </a:buClr>
              <a:buSzPct val="80000"/>
              <a:buFont typeface="Wingdings" panose="05000000000000000000" charset="0"/>
              <a:buChar char="l"/>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全程可视化（体验）</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1847850" y="980440"/>
            <a:ext cx="3162300" cy="583565"/>
          </a:xfrm>
          <a:prstGeom prst="rect">
            <a:avLst/>
          </a:prstGeom>
        </p:spPr>
        <p:txBody>
          <a:bodyPr wrap="square">
            <a:spAutoFit/>
          </a:bodyPr>
          <a:p>
            <a:pPr marL="0" indent="0"/>
            <a:r>
              <a:rPr lang="zh-CN" altLang="en-US" sz="3200" b="1" i="0">
                <a:solidFill>
                  <a:srgbClr val="0F1115"/>
                </a:solidFill>
                <a:latin typeface="宋体" panose="02010600030101010101" pitchFamily="2" charset="-122"/>
                <a:cs typeface="宋体" panose="02010600030101010101" pitchFamily="2" charset="-122"/>
              </a:rPr>
              <a:t>案例：快达物流</a:t>
            </a:r>
            <a:endParaRPr lang="zh-CN" altLang="en-US" sz="3200" b="1" i="0">
              <a:solidFill>
                <a:srgbClr val="0F1115"/>
              </a:solidFill>
              <a:latin typeface="宋体" panose="02010600030101010101" pitchFamily="2" charset="-122"/>
              <a:cs typeface="宋体" panose="02010600030101010101" pitchFamily="2" charset="-122"/>
            </a:endParaRPr>
          </a:p>
        </p:txBody>
      </p:sp>
      <p:sp>
        <p:nvSpPr>
          <p:cNvPr id="4" name="文本框 3"/>
          <p:cNvSpPr txBox="1"/>
          <p:nvPr/>
        </p:nvSpPr>
        <p:spPr>
          <a:xfrm>
            <a:off x="5087620" y="984250"/>
            <a:ext cx="6028690" cy="521970"/>
          </a:xfrm>
          <a:prstGeom prst="rect">
            <a:avLst/>
          </a:prstGeom>
        </p:spPr>
        <p:txBody>
          <a:bodyPr wrap="square">
            <a:spAutoFit/>
          </a:bodyPr>
          <a:p>
            <a:pPr marL="0" indent="0" algn="l"/>
            <a:r>
              <a:rPr lang="zh-CN" altLang="en-US" sz="2800" b="0" i="0">
                <a:solidFill>
                  <a:srgbClr val="0F1115"/>
                </a:solidFill>
                <a:highlight>
                  <a:srgbClr val="FFFF00"/>
                </a:highlight>
                <a:latin typeface="楷体" panose="02010609060101010101" charset="-122"/>
                <a:ea typeface="楷体" panose="02010609060101010101" charset="-122"/>
                <a:cs typeface="楷体" panose="02010609060101010101" charset="-122"/>
              </a:rPr>
              <a:t>在有限资源下，如何正确的选择项目</a:t>
            </a:r>
            <a:endParaRPr lang="zh-CN" altLang="en-US" sz="2800" b="0" i="0">
              <a:solidFill>
                <a:srgbClr val="0F1115"/>
              </a:solidFill>
              <a:highlight>
                <a:srgbClr val="FFFF00"/>
              </a:highlight>
              <a:latin typeface="楷体" panose="02010609060101010101" charset="-122"/>
              <a:ea typeface="楷体" panose="02010609060101010101" charset="-122"/>
              <a:cs typeface="楷体" panose="02010609060101010101" charset="-122"/>
            </a:endParaRPr>
          </a:p>
        </p:txBody>
      </p:sp>
    </p:spTree>
  </p:cSld>
  <p:clrMapOvr>
    <a:masterClrMapping/>
  </p:clrMapOvr>
  <p:transition spd="slow">
    <p:wipe dir="r"/>
  </p:transition>
  <p:timing>
    <p:tnLst>
      <p:par>
        <p:cTn id="1" dur="indefinite" restart="never" nodeType="tmRoot"/>
      </p:par>
    </p:tnLst>
    <p:bldLst>
      <p:bldP spid="1946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1559560" y="836930"/>
            <a:ext cx="10048240" cy="583565"/>
          </a:xfrm>
          <a:prstGeom prst="rect">
            <a:avLst/>
          </a:prstGeom>
        </p:spPr>
        <p:txBody>
          <a:bodyPr wrap="square">
            <a:spAutoFit/>
          </a:bodyPr>
          <a:p>
            <a:pPr marL="0" indent="0"/>
            <a:r>
              <a:rPr lang="zh-CN" altLang="en-US" sz="3200" b="1" i="0">
                <a:solidFill>
                  <a:srgbClr val="0F1115"/>
                </a:solidFill>
                <a:latin typeface="宋体" panose="02010600030101010101" pitchFamily="2" charset="-122"/>
                <a:cs typeface="宋体" panose="02010600030101010101" pitchFamily="2" charset="-122"/>
              </a:rPr>
              <a:t>案例：快达物流</a:t>
            </a:r>
            <a:r>
              <a:rPr lang="en-US" altLang="zh-CN" sz="3200" b="1" i="0">
                <a:solidFill>
                  <a:srgbClr val="0F1115"/>
                </a:solidFill>
                <a:latin typeface="宋体" panose="02010600030101010101" pitchFamily="2" charset="-122"/>
                <a:cs typeface="宋体" panose="02010600030101010101" pitchFamily="2" charset="-122"/>
              </a:rPr>
              <a:t> </a:t>
            </a:r>
            <a:r>
              <a:rPr lang="en-US" altLang="zh-CN" sz="2600" b="1" i="0">
                <a:solidFill>
                  <a:srgbClr val="FF0000"/>
                </a:solidFill>
                <a:latin typeface="宋体" panose="02010600030101010101" pitchFamily="2" charset="-122"/>
                <a:cs typeface="宋体" panose="02010600030101010101" pitchFamily="2" charset="-122"/>
              </a:rPr>
              <a:t>  </a:t>
            </a:r>
            <a:r>
              <a:rPr lang="zh-CN" altLang="en-US" sz="2600" b="1" i="0">
                <a:solidFill>
                  <a:srgbClr val="FF0000"/>
                </a:solidFill>
                <a:latin typeface="宋体" panose="02010600030101010101" pitchFamily="2" charset="-122"/>
                <a:cs typeface="宋体" panose="02010600030101010101" pitchFamily="2" charset="-122"/>
              </a:rPr>
              <a:t>资源限制：最多选</a:t>
            </a:r>
            <a:r>
              <a:rPr lang="en-US" altLang="zh-CN" sz="2600" b="1" i="0">
                <a:solidFill>
                  <a:srgbClr val="FF0000"/>
                </a:solidFill>
                <a:latin typeface="宋体" panose="02010600030101010101" pitchFamily="2" charset="-122"/>
                <a:cs typeface="宋体" panose="02010600030101010101" pitchFamily="2" charset="-122"/>
              </a:rPr>
              <a:t>2</a:t>
            </a:r>
            <a:r>
              <a:rPr lang="zh-CN" altLang="en-US" sz="2600" b="1" i="0">
                <a:solidFill>
                  <a:srgbClr val="FF0000"/>
                </a:solidFill>
                <a:latin typeface="宋体" panose="02010600030101010101" pitchFamily="2" charset="-122"/>
                <a:cs typeface="宋体" panose="02010600030101010101" pitchFamily="2" charset="-122"/>
              </a:rPr>
              <a:t>个，总预算</a:t>
            </a:r>
            <a:r>
              <a:rPr lang="en-US" altLang="zh-CN" sz="2600" b="1" i="0">
                <a:solidFill>
                  <a:srgbClr val="FF0000"/>
                </a:solidFill>
                <a:latin typeface="宋体" panose="02010600030101010101" pitchFamily="2" charset="-122"/>
                <a:cs typeface="宋体" panose="02010600030101010101" pitchFamily="2" charset="-122"/>
              </a:rPr>
              <a:t>≤280</a:t>
            </a:r>
            <a:r>
              <a:rPr lang="zh-CN" altLang="en-US" sz="2600" b="1" i="0">
                <a:solidFill>
                  <a:srgbClr val="FF0000"/>
                </a:solidFill>
                <a:latin typeface="宋体" panose="02010600030101010101" pitchFamily="2" charset="-122"/>
                <a:cs typeface="宋体" panose="02010600030101010101" pitchFamily="2" charset="-122"/>
              </a:rPr>
              <a:t>万</a:t>
            </a:r>
            <a:endParaRPr lang="zh-CN" altLang="en-US" sz="2600" b="1" i="0">
              <a:solidFill>
                <a:srgbClr val="FF0000"/>
              </a:solidFill>
              <a:latin typeface="宋体" panose="02010600030101010101" pitchFamily="2" charset="-122"/>
              <a:cs typeface="宋体" panose="02010600030101010101" pitchFamily="2" charset="-122"/>
            </a:endParaRPr>
          </a:p>
        </p:txBody>
      </p:sp>
      <p:graphicFrame>
        <p:nvGraphicFramePr>
          <p:cNvPr id="3" name="表格 2"/>
          <p:cNvGraphicFramePr/>
          <p:nvPr>
            <p:custDataLst>
              <p:tags r:id="rId1"/>
            </p:custDataLst>
          </p:nvPr>
        </p:nvGraphicFramePr>
        <p:xfrm>
          <a:off x="1775460" y="1351280"/>
          <a:ext cx="9680575" cy="4711065"/>
        </p:xfrm>
        <a:graphic>
          <a:graphicData uri="http://schemas.openxmlformats.org/drawingml/2006/table">
            <a:tbl>
              <a:tblPr firstRow="1" bandRow="1">
                <a:tableStyleId>{5C22544A-7EE6-4342-B048-85BDC9FD1C3A}</a:tableStyleId>
              </a:tblPr>
              <a:tblGrid>
                <a:gridCol w="2700655"/>
                <a:gridCol w="2249170"/>
                <a:gridCol w="1541145"/>
                <a:gridCol w="1091565"/>
                <a:gridCol w="2098040"/>
              </a:tblGrid>
              <a:tr h="634365">
                <a:tc>
                  <a:txBody>
                    <a:bodyPr/>
                    <a:p>
                      <a:pPr algn="l"/>
                      <a:r>
                        <a:rPr lang="zh-CN" altLang="en-US" sz="2800" b="0" i="0">
                          <a:solidFill>
                            <a:srgbClr val="0F1115"/>
                          </a:solidFill>
                          <a:latin typeface="var(--dsw-font-markdown-table-head)"/>
                          <a:ea typeface="var(--dsw-font-markdown-table-head)"/>
                        </a:rPr>
                        <a:t>项目</a:t>
                      </a:r>
                      <a:endParaRPr lang="zh-CN" altLang="en-US" sz="2800" b="0" i="0">
                        <a:solidFill>
                          <a:srgbClr val="0F1115"/>
                        </a:solidFill>
                        <a:latin typeface="var(--dsw-font-markdown-table-head)"/>
                        <a:ea typeface="var(--dsw-font-markdown-table-head)"/>
                      </a:endParaRPr>
                    </a:p>
                  </a:txBody>
                  <a:tcPr marL="0" marR="152717" marT="95567" marB="95567" anchor="ctr" anchorCtr="0"/>
                </a:tc>
                <a:tc>
                  <a:txBody>
                    <a:bodyPr/>
                    <a:p>
                      <a:pPr algn="l"/>
                      <a:r>
                        <a:rPr lang="zh-CN" altLang="en-US" sz="2800" b="0" i="0">
                          <a:solidFill>
                            <a:srgbClr val="0F1115"/>
                          </a:solidFill>
                          <a:latin typeface="var(--dsw-font-markdown-table-head)"/>
                          <a:ea typeface="var(--dsw-font-markdown-table-head)"/>
                        </a:rPr>
                        <a:t>描述</a:t>
                      </a:r>
                      <a:endParaRPr lang="zh-CN" altLang="en-US" sz="2800" b="0" i="0">
                        <a:solidFill>
                          <a:srgbClr val="0F1115"/>
                        </a:solidFill>
                        <a:latin typeface="var(--dsw-font-markdown-table-head)"/>
                        <a:ea typeface="var(--dsw-font-markdown-table-head)"/>
                      </a:endParaRPr>
                    </a:p>
                  </a:txBody>
                  <a:tcPr marL="152717" marR="152717" marT="95567" marB="95567" anchor="ctr" anchorCtr="0"/>
                </a:tc>
                <a:tc>
                  <a:txBody>
                    <a:bodyPr/>
                    <a:p>
                      <a:pPr algn="l"/>
                      <a:r>
                        <a:rPr lang="zh-CN" altLang="en-US" sz="2800" b="0" i="0">
                          <a:solidFill>
                            <a:srgbClr val="0F1115"/>
                          </a:solidFill>
                          <a:latin typeface="var(--dsw-font-markdown-table-head)"/>
                          <a:ea typeface="var(--dsw-font-markdown-table-head)"/>
                        </a:rPr>
                        <a:t>成本</a:t>
                      </a:r>
                      <a:endParaRPr lang="zh-CN" altLang="en-US" sz="2800" b="0" i="0">
                        <a:solidFill>
                          <a:srgbClr val="0F1115"/>
                        </a:solidFill>
                        <a:latin typeface="var(--dsw-font-markdown-table-head)"/>
                        <a:ea typeface="var(--dsw-font-markdown-table-head)"/>
                      </a:endParaRPr>
                    </a:p>
                  </a:txBody>
                  <a:tcPr marL="152717" marR="152717" marT="95567" marB="95567" anchor="ctr" anchorCtr="0"/>
                </a:tc>
                <a:tc>
                  <a:txBody>
                    <a:bodyPr/>
                    <a:p>
                      <a:pPr algn="l"/>
                      <a:r>
                        <a:rPr lang="zh-CN" altLang="en-US" sz="2800" b="0" i="0">
                          <a:solidFill>
                            <a:srgbClr val="0F1115"/>
                          </a:solidFill>
                          <a:latin typeface="var(--dsw-font-markdown-table-head)"/>
                          <a:ea typeface="var(--dsw-font-markdown-table-head)"/>
                        </a:rPr>
                        <a:t>周期</a:t>
                      </a:r>
                      <a:endParaRPr lang="zh-CN" altLang="en-US" sz="2800" b="0" i="0">
                        <a:solidFill>
                          <a:srgbClr val="0F1115"/>
                        </a:solidFill>
                        <a:latin typeface="var(--dsw-font-markdown-table-head)"/>
                        <a:ea typeface="var(--dsw-font-markdown-table-head)"/>
                      </a:endParaRPr>
                    </a:p>
                  </a:txBody>
                  <a:tcPr marL="152717" marR="152717" marT="95567" marB="95567" anchor="ctr" anchorCtr="0"/>
                </a:tc>
                <a:tc>
                  <a:txBody>
                    <a:bodyPr/>
                    <a:p>
                      <a:pPr algn="l"/>
                      <a:r>
                        <a:rPr lang="zh-CN" altLang="en-US" sz="2800" b="0" i="0">
                          <a:solidFill>
                            <a:srgbClr val="0F1115"/>
                          </a:solidFill>
                          <a:latin typeface="var(--dsw-font-markdown-table-head)"/>
                          <a:ea typeface="var(--dsw-font-markdown-table-head)"/>
                        </a:rPr>
                        <a:t>战略关联度</a:t>
                      </a:r>
                      <a:endParaRPr lang="zh-CN" altLang="en-US" sz="2800" b="0" i="0">
                        <a:solidFill>
                          <a:srgbClr val="0F1115"/>
                        </a:solidFill>
                        <a:latin typeface="var(--dsw-font-markdown-table-head)"/>
                        <a:ea typeface="var(--dsw-font-markdown-table-head)"/>
                      </a:endParaRPr>
                    </a:p>
                  </a:txBody>
                  <a:tcPr marL="152717" marR="152717" marT="95567" marB="95567" anchor="ctr" anchorCtr="0"/>
                </a:tc>
              </a:tr>
              <a:tr h="815340">
                <a:tc>
                  <a:txBody>
                    <a:bodyPr/>
                    <a:p>
                      <a:r>
                        <a:rPr lang="en-US" altLang="zh-CN" sz="2800" b="0" i="0">
                          <a:solidFill>
                            <a:srgbClr val="0F1115"/>
                          </a:solidFill>
                          <a:latin typeface="var(--dsw-font-markdown-table)"/>
                          <a:ea typeface="var(--dsw-font-markdown-table)"/>
                        </a:rPr>
                        <a:t>A </a:t>
                      </a:r>
                      <a:r>
                        <a:rPr lang="zh-CN" altLang="en-US" sz="2800" b="0" i="0">
                          <a:solidFill>
                            <a:srgbClr val="0F1115"/>
                          </a:solidFill>
                          <a:latin typeface="var(--dsw-font-markdown-table)"/>
                          <a:ea typeface="var(--dsw-font-markdown-table)"/>
                        </a:rPr>
                        <a:t>路径优化引擎</a:t>
                      </a:r>
                      <a:endParaRPr lang="zh-CN" altLang="en-US" sz="2800" b="0" i="0">
                        <a:solidFill>
                          <a:srgbClr val="0F1115"/>
                        </a:solidFill>
                        <a:latin typeface="var(--dsw-font-markdown-table)"/>
                        <a:ea typeface="var(--dsw-font-markdown-table)"/>
                      </a:endParaRPr>
                    </a:p>
                  </a:txBody>
                  <a:tcPr marL="0" marR="152717" marT="95567" marB="95567" anchor="ctr" anchorCtr="0"/>
                </a:tc>
                <a:tc>
                  <a:txBody>
                    <a:bodyPr/>
                    <a:p>
                      <a:r>
                        <a:rPr lang="en-US" altLang="zh-CN" sz="2800" b="0" i="0">
                          <a:solidFill>
                            <a:srgbClr val="0F1115"/>
                          </a:solidFill>
                          <a:latin typeface="var(--dsw-font-markdown-table)"/>
                          <a:ea typeface="var(--dsw-font-markdown-table)"/>
                        </a:rPr>
                        <a:t>AI</a:t>
                      </a:r>
                      <a:r>
                        <a:rPr lang="zh-CN" altLang="en-US" sz="2800" b="0" i="0">
                          <a:solidFill>
                            <a:srgbClr val="0F1115"/>
                          </a:solidFill>
                          <a:latin typeface="var(--dsw-font-markdown-table)"/>
                          <a:ea typeface="var(--dsw-font-markdown-table)"/>
                        </a:rPr>
                        <a:t>路线规划</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200</a:t>
                      </a:r>
                      <a:r>
                        <a:rPr lang="zh-CN" altLang="en-US" sz="2800" b="0" i="0">
                          <a:solidFill>
                            <a:srgbClr val="0F1115"/>
                          </a:solidFill>
                          <a:latin typeface="var(--dsw-font-markdown-table)"/>
                          <a:ea typeface="var(--dsw-font-markdown-table)"/>
                        </a:rPr>
                        <a:t>万</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6</a:t>
                      </a:r>
                      <a:r>
                        <a:rPr lang="zh-CN" altLang="en-US" sz="2800" b="0" i="0">
                          <a:solidFill>
                            <a:srgbClr val="0F1115"/>
                          </a:solidFill>
                          <a:latin typeface="var(--dsw-font-markdown-table)"/>
                          <a:ea typeface="var(--dsw-font-markdown-table)"/>
                        </a:rPr>
                        <a:t>月</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zh-CN" altLang="en-US" sz="2800" b="0" i="0">
                          <a:solidFill>
                            <a:schemeClr val="accent4"/>
                          </a:solidFill>
                          <a:latin typeface="var(--dsw-font-markdown-table)"/>
                          <a:ea typeface="var(--dsw-font-markdown-table)"/>
                        </a:rPr>
                        <a:t>高</a:t>
                      </a:r>
                      <a:endParaRPr lang="zh-CN" altLang="en-US" sz="2800" b="0" i="0">
                        <a:solidFill>
                          <a:schemeClr val="accent4"/>
                        </a:solidFill>
                        <a:latin typeface="var(--dsw-font-markdown-table)"/>
                        <a:ea typeface="var(--dsw-font-markdown-table)"/>
                      </a:endParaRPr>
                    </a:p>
                  </a:txBody>
                  <a:tcPr marL="152717" marR="0" marT="95567" marB="95567" anchor="ctr" anchorCtr="0"/>
                </a:tc>
              </a:tr>
              <a:tr h="815340">
                <a:tc>
                  <a:txBody>
                    <a:bodyPr/>
                    <a:p>
                      <a:r>
                        <a:rPr lang="en-US" altLang="zh-CN" sz="2800" b="0" i="0">
                          <a:solidFill>
                            <a:srgbClr val="0F1115"/>
                          </a:solidFill>
                          <a:latin typeface="var(--dsw-font-markdown-table)"/>
                          <a:ea typeface="var(--dsw-font-markdown-table)"/>
                        </a:rPr>
                        <a:t>B </a:t>
                      </a:r>
                      <a:r>
                        <a:rPr lang="zh-CN" altLang="en-US" sz="2800" b="0" i="0">
                          <a:solidFill>
                            <a:srgbClr val="0F1115"/>
                          </a:solidFill>
                          <a:latin typeface="var(--dsw-font-markdown-table)"/>
                          <a:ea typeface="var(--dsw-font-markdown-table)"/>
                        </a:rPr>
                        <a:t>车队管理系统</a:t>
                      </a:r>
                      <a:endParaRPr lang="zh-CN" altLang="en-US" sz="2800" b="0" i="0">
                        <a:solidFill>
                          <a:srgbClr val="0F1115"/>
                        </a:solidFill>
                        <a:latin typeface="var(--dsw-font-markdown-table)"/>
                        <a:ea typeface="var(--dsw-font-markdown-table)"/>
                      </a:endParaRPr>
                    </a:p>
                  </a:txBody>
                  <a:tcPr marL="0" marR="152717" marT="95567" marB="95567" anchor="ctr" anchorCtr="0"/>
                </a:tc>
                <a:tc>
                  <a:txBody>
                    <a:bodyPr/>
                    <a:p>
                      <a:r>
                        <a:rPr lang="zh-CN" altLang="en-US" sz="2800" b="0" i="0">
                          <a:solidFill>
                            <a:srgbClr val="0F1115"/>
                          </a:solidFill>
                          <a:latin typeface="var(--dsw-font-markdown-table)"/>
                          <a:ea typeface="var(--dsw-font-markdown-table)"/>
                        </a:rPr>
                        <a:t>数字化调度</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80</a:t>
                      </a:r>
                      <a:r>
                        <a:rPr lang="zh-CN" altLang="en-US" sz="2800" b="0" i="0">
                          <a:solidFill>
                            <a:srgbClr val="0F1115"/>
                          </a:solidFill>
                          <a:latin typeface="var(--dsw-font-markdown-table)"/>
                          <a:ea typeface="var(--dsw-font-markdown-table)"/>
                        </a:rPr>
                        <a:t>万</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4</a:t>
                      </a:r>
                      <a:r>
                        <a:rPr lang="zh-CN" altLang="en-US" sz="2800" b="0" i="0">
                          <a:solidFill>
                            <a:srgbClr val="0F1115"/>
                          </a:solidFill>
                          <a:latin typeface="var(--dsw-font-markdown-table)"/>
                          <a:ea typeface="var(--dsw-font-markdown-table)"/>
                        </a:rPr>
                        <a:t>月</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zh-CN" altLang="en-US" sz="2800" b="0" i="0">
                          <a:solidFill>
                            <a:srgbClr val="0000FF"/>
                          </a:solidFill>
                          <a:latin typeface="var(--dsw-font-markdown-table)"/>
                          <a:ea typeface="var(--dsw-font-markdown-table)"/>
                        </a:rPr>
                        <a:t>中</a:t>
                      </a:r>
                      <a:endParaRPr lang="zh-CN" altLang="en-US" sz="2800" b="0" i="0">
                        <a:solidFill>
                          <a:srgbClr val="0000FF"/>
                        </a:solidFill>
                        <a:latin typeface="var(--dsw-font-markdown-table)"/>
                        <a:ea typeface="var(--dsw-font-markdown-table)"/>
                      </a:endParaRPr>
                    </a:p>
                  </a:txBody>
                  <a:tcPr marL="152717" marR="0" marT="95567" marB="95567" anchor="ctr" anchorCtr="0"/>
                </a:tc>
              </a:tr>
              <a:tr h="815340">
                <a:tc>
                  <a:txBody>
                    <a:bodyPr/>
                    <a:p>
                      <a:r>
                        <a:rPr lang="en-US" altLang="zh-CN" sz="2800" b="0" i="0">
                          <a:solidFill>
                            <a:srgbClr val="0F1115"/>
                          </a:solidFill>
                          <a:latin typeface="var(--dsw-font-markdown-table)"/>
                          <a:ea typeface="var(--dsw-font-markdown-table)"/>
                        </a:rPr>
                        <a:t>C </a:t>
                      </a:r>
                      <a:r>
                        <a:rPr lang="zh-CN" altLang="en-US" sz="2800" b="0" i="0">
                          <a:solidFill>
                            <a:srgbClr val="0F1115"/>
                          </a:solidFill>
                          <a:latin typeface="var(--dsw-font-markdown-table)"/>
                          <a:ea typeface="var(--dsw-font-markdown-table)"/>
                        </a:rPr>
                        <a:t>客户实时地图</a:t>
                      </a:r>
                      <a:endParaRPr lang="zh-CN" altLang="en-US" sz="2800" b="0" i="0">
                        <a:solidFill>
                          <a:srgbClr val="0F1115"/>
                        </a:solidFill>
                        <a:latin typeface="var(--dsw-font-markdown-table)"/>
                        <a:ea typeface="var(--dsw-font-markdown-table)"/>
                      </a:endParaRPr>
                    </a:p>
                  </a:txBody>
                  <a:tcPr marL="0" marR="152717" marT="95567" marB="95567" anchor="ctr" anchorCtr="0"/>
                </a:tc>
                <a:tc>
                  <a:txBody>
                    <a:bodyPr/>
                    <a:p>
                      <a:r>
                        <a:rPr lang="zh-CN" altLang="en-US" sz="2800" b="0" i="0">
                          <a:solidFill>
                            <a:srgbClr val="0F1115"/>
                          </a:solidFill>
                          <a:latin typeface="var(--dsw-font-markdown-table)"/>
                          <a:ea typeface="var(--dsw-font-markdown-table)"/>
                        </a:rPr>
                        <a:t>可视化跟踪</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150</a:t>
                      </a:r>
                      <a:r>
                        <a:rPr lang="zh-CN" altLang="en-US" sz="2800" b="0" i="0">
                          <a:solidFill>
                            <a:srgbClr val="0F1115"/>
                          </a:solidFill>
                          <a:latin typeface="var(--dsw-font-markdown-table)"/>
                          <a:ea typeface="var(--dsw-font-markdown-table)"/>
                        </a:rPr>
                        <a:t>万</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5</a:t>
                      </a:r>
                      <a:r>
                        <a:rPr lang="zh-CN" altLang="en-US" sz="2800" b="0" i="0">
                          <a:solidFill>
                            <a:srgbClr val="0F1115"/>
                          </a:solidFill>
                          <a:latin typeface="var(--dsw-font-markdown-table)"/>
                          <a:ea typeface="var(--dsw-font-markdown-table)"/>
                        </a:rPr>
                        <a:t>月</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zh-CN" altLang="en-US" sz="2800" b="0" i="0">
                          <a:gradFill>
                            <a:gsLst>
                              <a:gs pos="50000">
                                <a:schemeClr val="accent4"/>
                              </a:gs>
                              <a:gs pos="0">
                                <a:schemeClr val="accent4">
                                  <a:lumMod val="25000"/>
                                  <a:lumOff val="75000"/>
                                </a:schemeClr>
                              </a:gs>
                              <a:gs pos="100000">
                                <a:schemeClr val="accent4">
                                  <a:lumMod val="85000"/>
                                </a:schemeClr>
                              </a:gs>
                            </a:gsLst>
                            <a:lin ang="5400000" scaled="1"/>
                          </a:gradFill>
                          <a:latin typeface="var(--dsw-font-markdown-table)"/>
                          <a:ea typeface="var(--dsw-font-markdown-table)"/>
                        </a:rPr>
                        <a:t>高</a:t>
                      </a:r>
                      <a:endParaRPr lang="zh-CN" altLang="en-US" sz="2800" b="0" i="0">
                        <a:gradFill>
                          <a:gsLst>
                            <a:gs pos="50000">
                              <a:schemeClr val="accent4"/>
                            </a:gs>
                            <a:gs pos="0">
                              <a:schemeClr val="accent4">
                                <a:lumMod val="25000"/>
                                <a:lumOff val="75000"/>
                              </a:schemeClr>
                            </a:gs>
                            <a:gs pos="100000">
                              <a:schemeClr val="accent4">
                                <a:lumMod val="85000"/>
                              </a:schemeClr>
                            </a:gs>
                          </a:gsLst>
                          <a:lin ang="5400000" scaled="1"/>
                        </a:gradFill>
                        <a:latin typeface="var(--dsw-font-markdown-table)"/>
                        <a:ea typeface="var(--dsw-font-markdown-table)"/>
                      </a:endParaRPr>
                    </a:p>
                  </a:txBody>
                  <a:tcPr marL="152717" marR="0" marT="95567" marB="95567" anchor="ctr" anchorCtr="0"/>
                </a:tc>
              </a:tr>
              <a:tr h="815340">
                <a:tc>
                  <a:txBody>
                    <a:bodyPr/>
                    <a:p>
                      <a:r>
                        <a:rPr lang="en-US" altLang="zh-CN" sz="2800" b="0" i="0">
                          <a:solidFill>
                            <a:srgbClr val="0F1115"/>
                          </a:solidFill>
                          <a:latin typeface="var(--dsw-font-markdown-table)"/>
                          <a:ea typeface="var(--dsw-font-markdown-table)"/>
                        </a:rPr>
                        <a:t>D </a:t>
                      </a:r>
                      <a:r>
                        <a:rPr lang="zh-CN" altLang="en-US" sz="2800" b="0" i="0">
                          <a:solidFill>
                            <a:srgbClr val="0F1115"/>
                          </a:solidFill>
                          <a:latin typeface="var(--dsw-font-markdown-table)"/>
                          <a:ea typeface="var(--dsw-font-markdown-table)"/>
                        </a:rPr>
                        <a:t>区块链存证</a:t>
                      </a:r>
                      <a:endParaRPr lang="zh-CN" altLang="en-US" sz="2800" b="0" i="0">
                        <a:solidFill>
                          <a:srgbClr val="0F1115"/>
                        </a:solidFill>
                        <a:latin typeface="var(--dsw-font-markdown-table)"/>
                        <a:ea typeface="var(--dsw-font-markdown-table)"/>
                      </a:endParaRPr>
                    </a:p>
                  </a:txBody>
                  <a:tcPr marL="0" marR="152717" marT="95567" marB="95567" anchor="ctr" anchorCtr="0"/>
                </a:tc>
                <a:tc>
                  <a:txBody>
                    <a:bodyPr/>
                    <a:p>
                      <a:r>
                        <a:rPr lang="zh-CN" altLang="en-US" sz="2800" b="0" i="0">
                          <a:solidFill>
                            <a:srgbClr val="0F1115"/>
                          </a:solidFill>
                          <a:latin typeface="var(--dsw-font-markdown-table)"/>
                          <a:ea typeface="var(--dsw-font-markdown-table)"/>
                        </a:rPr>
                        <a:t>电子签收</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220</a:t>
                      </a:r>
                      <a:r>
                        <a:rPr lang="zh-CN" altLang="en-US" sz="2800" b="0" i="0">
                          <a:solidFill>
                            <a:srgbClr val="0F1115"/>
                          </a:solidFill>
                          <a:latin typeface="var(--dsw-font-markdown-table)"/>
                          <a:ea typeface="var(--dsw-font-markdown-table)"/>
                        </a:rPr>
                        <a:t>万</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8</a:t>
                      </a:r>
                      <a:r>
                        <a:rPr lang="zh-CN" altLang="en-US" sz="2800" b="0" i="0">
                          <a:solidFill>
                            <a:srgbClr val="0F1115"/>
                          </a:solidFill>
                          <a:latin typeface="var(--dsw-font-markdown-table)"/>
                          <a:ea typeface="var(--dsw-font-markdown-table)"/>
                        </a:rPr>
                        <a:t>月</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zh-CN" altLang="en-US" sz="2800" b="0" i="0">
                          <a:solidFill>
                            <a:srgbClr val="C00000"/>
                          </a:solidFill>
                          <a:latin typeface="var(--dsw-font-markdown-table)"/>
                          <a:ea typeface="var(--dsw-font-markdown-table)"/>
                        </a:rPr>
                        <a:t>中低</a:t>
                      </a:r>
                      <a:endParaRPr lang="zh-CN" altLang="en-US" sz="2800" b="0" i="0">
                        <a:solidFill>
                          <a:srgbClr val="C00000"/>
                        </a:solidFill>
                        <a:latin typeface="var(--dsw-font-markdown-table)"/>
                        <a:ea typeface="var(--dsw-font-markdown-table)"/>
                      </a:endParaRPr>
                    </a:p>
                  </a:txBody>
                  <a:tcPr marL="152717" marR="0" marT="95567" marB="95567" anchor="ctr" anchorCtr="0"/>
                </a:tc>
              </a:tr>
              <a:tr h="815340">
                <a:tc>
                  <a:txBody>
                    <a:bodyPr/>
                    <a:p>
                      <a:r>
                        <a:rPr lang="en-US" altLang="zh-CN" sz="2800" b="0" i="0">
                          <a:solidFill>
                            <a:srgbClr val="0F1115"/>
                          </a:solidFill>
                          <a:latin typeface="var(--dsw-font-markdown-table)"/>
                          <a:ea typeface="var(--dsw-font-markdown-table)"/>
                        </a:rPr>
                        <a:t>E </a:t>
                      </a:r>
                      <a:r>
                        <a:rPr lang="zh-CN" altLang="en-US" sz="2800" b="0" i="0">
                          <a:solidFill>
                            <a:srgbClr val="0F1115"/>
                          </a:solidFill>
                          <a:latin typeface="var(--dsw-font-markdown-table)"/>
                          <a:ea typeface="var(--dsw-font-markdown-table)"/>
                        </a:rPr>
                        <a:t>财务报销升级</a:t>
                      </a:r>
                      <a:endParaRPr lang="zh-CN" altLang="en-US" sz="2800" b="0" i="0">
                        <a:solidFill>
                          <a:srgbClr val="0F1115"/>
                        </a:solidFill>
                        <a:latin typeface="var(--dsw-font-markdown-table)"/>
                        <a:ea typeface="var(--dsw-font-markdown-table)"/>
                      </a:endParaRPr>
                    </a:p>
                  </a:txBody>
                  <a:tcPr marL="0" marR="152717" marT="95567" marB="95567" anchor="ctr" anchorCtr="0"/>
                </a:tc>
                <a:tc>
                  <a:txBody>
                    <a:bodyPr/>
                    <a:p>
                      <a:r>
                        <a:rPr lang="zh-CN" altLang="en-US" sz="2800" b="0" i="0">
                          <a:solidFill>
                            <a:srgbClr val="0F1115"/>
                          </a:solidFill>
                          <a:latin typeface="var(--dsw-font-markdown-table)"/>
                          <a:ea typeface="var(--dsw-font-markdown-table)"/>
                        </a:rPr>
                        <a:t>内部流程</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60</a:t>
                      </a:r>
                      <a:r>
                        <a:rPr lang="zh-CN" altLang="en-US" sz="2800" b="0" i="0">
                          <a:solidFill>
                            <a:srgbClr val="0F1115"/>
                          </a:solidFill>
                          <a:latin typeface="var(--dsw-font-markdown-table)"/>
                          <a:ea typeface="var(--dsw-font-markdown-table)"/>
                        </a:rPr>
                        <a:t>万</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en-US" altLang="zh-CN" sz="2800" b="0" i="0">
                          <a:solidFill>
                            <a:srgbClr val="0F1115"/>
                          </a:solidFill>
                          <a:latin typeface="var(--dsw-font-markdown-table)"/>
                          <a:ea typeface="var(--dsw-font-markdown-table)"/>
                        </a:rPr>
                        <a:t>3</a:t>
                      </a:r>
                      <a:r>
                        <a:rPr lang="zh-CN" altLang="en-US" sz="2800" b="0" i="0">
                          <a:solidFill>
                            <a:srgbClr val="0F1115"/>
                          </a:solidFill>
                          <a:latin typeface="var(--dsw-font-markdown-table)"/>
                          <a:ea typeface="var(--dsw-font-markdown-table)"/>
                        </a:rPr>
                        <a:t>月</a:t>
                      </a:r>
                      <a:endParaRPr lang="zh-CN" altLang="en-US" sz="2800" b="0" i="0">
                        <a:solidFill>
                          <a:srgbClr val="0F1115"/>
                        </a:solidFill>
                        <a:latin typeface="var(--dsw-font-markdown-table)"/>
                        <a:ea typeface="var(--dsw-font-markdown-table)"/>
                      </a:endParaRPr>
                    </a:p>
                  </a:txBody>
                  <a:tcPr marL="152717" marR="152717" marT="95567" marB="95567" anchor="ctr" anchorCtr="0"/>
                </a:tc>
                <a:tc>
                  <a:txBody>
                    <a:bodyPr/>
                    <a:p>
                      <a:r>
                        <a:rPr lang="zh-CN" altLang="en-US" sz="2800" b="0" i="0">
                          <a:solidFill>
                            <a:srgbClr val="FF0000"/>
                          </a:solidFill>
                          <a:latin typeface="var(--dsw-font-markdown-table)"/>
                          <a:ea typeface="var(--dsw-font-markdown-table)"/>
                        </a:rPr>
                        <a:t>低</a:t>
                      </a:r>
                      <a:endParaRPr lang="zh-CN" altLang="en-US" sz="2800" b="0" i="0">
                        <a:solidFill>
                          <a:srgbClr val="FF0000"/>
                        </a:solidFill>
                        <a:latin typeface="var(--dsw-font-markdown-table)"/>
                        <a:ea typeface="var(--dsw-font-markdown-table)"/>
                      </a:endParaRPr>
                    </a:p>
                  </a:txBody>
                  <a:tcPr marL="152717" marR="0" marT="95567" marB="95567" anchor="ctr" anchorCtr="0"/>
                </a:tc>
              </a:tr>
            </a:tbl>
          </a:graphicData>
        </a:graphic>
      </p:graphicFrame>
    </p:spTree>
  </p:cSld>
  <p:clrMapOvr>
    <a:masterClrMapping/>
  </p:clrMapOvr>
  <p:transition spd="slow">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1559560" y="836930"/>
            <a:ext cx="10048240" cy="583565"/>
          </a:xfrm>
          <a:prstGeom prst="rect">
            <a:avLst/>
          </a:prstGeom>
        </p:spPr>
        <p:txBody>
          <a:bodyPr wrap="square">
            <a:spAutoFit/>
          </a:bodyPr>
          <a:p>
            <a:pPr marL="0" indent="0"/>
            <a:r>
              <a:rPr lang="zh-CN" altLang="en-US" sz="3200" b="1" i="0">
                <a:solidFill>
                  <a:srgbClr val="0F1115"/>
                </a:solidFill>
                <a:latin typeface="宋体" panose="02010600030101010101" pitchFamily="2" charset="-122"/>
                <a:cs typeface="宋体" panose="02010600030101010101" pitchFamily="2" charset="-122"/>
              </a:rPr>
              <a:t>案例：快达物流</a:t>
            </a:r>
            <a:r>
              <a:rPr lang="en-US" altLang="zh-CN" sz="3200" b="1" i="0">
                <a:solidFill>
                  <a:srgbClr val="0F1115"/>
                </a:solidFill>
                <a:latin typeface="宋体" panose="02010600030101010101" pitchFamily="2" charset="-122"/>
                <a:cs typeface="宋体" panose="02010600030101010101" pitchFamily="2" charset="-122"/>
              </a:rPr>
              <a:t> </a:t>
            </a:r>
            <a:r>
              <a:rPr lang="en-US" altLang="zh-CN" sz="2600" b="1" i="0">
                <a:solidFill>
                  <a:srgbClr val="FF0000"/>
                </a:solidFill>
                <a:latin typeface="宋体" panose="02010600030101010101" pitchFamily="2" charset="-122"/>
                <a:cs typeface="宋体" panose="02010600030101010101" pitchFamily="2" charset="-122"/>
              </a:rPr>
              <a:t>  </a:t>
            </a:r>
            <a:r>
              <a:rPr lang="zh-CN" altLang="en-US" sz="2600" b="1" i="0">
                <a:solidFill>
                  <a:srgbClr val="FF0000"/>
                </a:solidFill>
                <a:latin typeface="宋体" panose="02010600030101010101" pitchFamily="2" charset="-122"/>
                <a:cs typeface="宋体" panose="02010600030101010101" pitchFamily="2" charset="-122"/>
              </a:rPr>
              <a:t>记分卡</a:t>
            </a:r>
            <a:endParaRPr lang="zh-CN" altLang="en-US" sz="2600" b="1" i="0">
              <a:solidFill>
                <a:srgbClr val="FF0000"/>
              </a:solidFill>
              <a:latin typeface="宋体" panose="02010600030101010101" pitchFamily="2" charset="-122"/>
              <a:cs typeface="宋体" panose="02010600030101010101" pitchFamily="2" charset="-122"/>
            </a:endParaRPr>
          </a:p>
        </p:txBody>
      </p:sp>
      <p:sp>
        <p:nvSpPr>
          <p:cNvPr id="7" name="文本框 6"/>
          <p:cNvSpPr txBox="1"/>
          <p:nvPr/>
        </p:nvSpPr>
        <p:spPr>
          <a:xfrm>
            <a:off x="1986915" y="1492250"/>
            <a:ext cx="9371965" cy="4264660"/>
          </a:xfrm>
          <a:prstGeom prst="rect">
            <a:avLst/>
          </a:prstGeom>
          <a:noFill/>
        </p:spPr>
        <p:txBody>
          <a:bodyPr wrap="square" rtlCol="0" anchor="t">
            <a:noAutofit/>
          </a:bodyPr>
          <a:p>
            <a:r>
              <a:rPr lang="zh-CN" altLang="en-US" sz="2800">
                <a:solidFill>
                  <a:schemeClr val="tx1"/>
                </a:solidFill>
              </a:rPr>
              <a:t>设定三个维度：</a:t>
            </a:r>
            <a:r>
              <a:rPr lang="zh-CN" altLang="en-US" sz="2800">
                <a:solidFill>
                  <a:srgbClr val="FF0000"/>
                </a:solidFill>
              </a:rPr>
              <a:t>战略对齐度（</a:t>
            </a:r>
            <a:r>
              <a:rPr lang="en-US" altLang="zh-CN" sz="2800">
                <a:solidFill>
                  <a:srgbClr val="FF0000"/>
                </a:solidFill>
              </a:rPr>
              <a:t>50%</a:t>
            </a:r>
            <a:r>
              <a:rPr lang="zh-CN" altLang="en-US" sz="2800">
                <a:solidFill>
                  <a:srgbClr val="FF0000"/>
                </a:solidFill>
              </a:rPr>
              <a:t>）、预期收益（</a:t>
            </a:r>
            <a:r>
              <a:rPr lang="en-US" altLang="zh-CN" sz="2800">
                <a:solidFill>
                  <a:srgbClr val="FF0000"/>
                </a:solidFill>
              </a:rPr>
              <a:t>30%</a:t>
            </a:r>
            <a:r>
              <a:rPr lang="zh-CN" altLang="en-US" sz="2800">
                <a:solidFill>
                  <a:srgbClr val="FF0000"/>
                </a:solidFill>
              </a:rPr>
              <a:t>）、成本风险（</a:t>
            </a:r>
            <a:r>
              <a:rPr lang="en-US" altLang="zh-CN" sz="2800">
                <a:solidFill>
                  <a:srgbClr val="FF0000"/>
                </a:solidFill>
              </a:rPr>
              <a:t>20%</a:t>
            </a:r>
            <a:r>
              <a:rPr lang="zh-CN" altLang="en-US" sz="2800">
                <a:solidFill>
                  <a:srgbClr val="FF0000"/>
                </a:solidFill>
              </a:rPr>
              <a:t>）</a:t>
            </a:r>
            <a:r>
              <a:rPr lang="zh-CN" altLang="en-US" sz="2800">
                <a:solidFill>
                  <a:schemeClr val="tx1"/>
                </a:solidFill>
              </a:rPr>
              <a:t>。</a:t>
            </a:r>
            <a:endParaRPr lang="zh-CN" altLang="en-US" sz="2800">
              <a:solidFill>
                <a:schemeClr val="tx1"/>
              </a:solidFill>
            </a:endParaRPr>
          </a:p>
          <a:p>
            <a:r>
              <a:rPr lang="zh-CN" altLang="en-US" sz="2800">
                <a:solidFill>
                  <a:schemeClr val="tx1"/>
                </a:solidFill>
              </a:rPr>
              <a:t>每个维度按</a:t>
            </a:r>
            <a:r>
              <a:rPr lang="en-US" altLang="zh-CN" sz="2800">
                <a:solidFill>
                  <a:schemeClr val="tx1"/>
                </a:solidFill>
              </a:rPr>
              <a:t>1-5</a:t>
            </a:r>
            <a:r>
              <a:rPr lang="zh-CN" altLang="en-US" sz="2800">
                <a:solidFill>
                  <a:schemeClr val="tx1"/>
                </a:solidFill>
              </a:rPr>
              <a:t>分打分。</a:t>
            </a:r>
            <a:endParaRPr lang="zh-CN" altLang="en-US" sz="2800">
              <a:solidFill>
                <a:schemeClr val="tx1"/>
              </a:solidFill>
            </a:endParaRPr>
          </a:p>
          <a:p>
            <a:r>
              <a:rPr lang="zh-CN" altLang="en-US" sz="2800">
                <a:solidFill>
                  <a:schemeClr val="tx1"/>
                </a:solidFill>
              </a:rPr>
              <a:t>项目</a:t>
            </a:r>
            <a:r>
              <a:rPr lang="en-US" altLang="zh-CN" sz="2800">
                <a:solidFill>
                  <a:schemeClr val="tx1"/>
                </a:solidFill>
              </a:rPr>
              <a:t>A</a:t>
            </a:r>
            <a:r>
              <a:rPr lang="zh-CN" altLang="en-US" sz="2800">
                <a:solidFill>
                  <a:schemeClr val="tx1"/>
                </a:solidFill>
              </a:rPr>
              <a:t>：战略对齐度</a:t>
            </a:r>
            <a:r>
              <a:rPr lang="en-US" altLang="zh-CN" sz="2800">
                <a:solidFill>
                  <a:schemeClr val="tx1"/>
                </a:solidFill>
              </a:rPr>
              <a:t>——5</a:t>
            </a:r>
            <a:r>
              <a:rPr lang="zh-CN" altLang="en-US" sz="2800">
                <a:solidFill>
                  <a:schemeClr val="tx1"/>
                </a:solidFill>
              </a:rPr>
              <a:t>分，因为同时支撑效率和成本。</a:t>
            </a:r>
            <a:endParaRPr lang="zh-CN" altLang="en-US" sz="2800">
              <a:solidFill>
                <a:schemeClr val="tx1"/>
              </a:solidFill>
            </a:endParaRPr>
          </a:p>
          <a:p>
            <a:r>
              <a:rPr lang="zh-CN" altLang="en-US" sz="2800">
                <a:solidFill>
                  <a:schemeClr val="tx1"/>
                </a:solidFill>
              </a:rPr>
              <a:t> </a:t>
            </a:r>
            <a:r>
              <a:rPr lang="en-US" altLang="zh-CN" sz="2800">
                <a:solidFill>
                  <a:schemeClr val="tx1"/>
                </a:solidFill>
              </a:rPr>
              <a:t>              </a:t>
            </a:r>
            <a:r>
              <a:rPr lang="zh-CN" altLang="en-US" sz="2800">
                <a:solidFill>
                  <a:schemeClr val="tx1"/>
                </a:solidFill>
              </a:rPr>
              <a:t>预期收益</a:t>
            </a:r>
            <a:r>
              <a:rPr lang="en-US" altLang="zh-CN" sz="2800">
                <a:solidFill>
                  <a:schemeClr val="tx1"/>
                </a:solidFill>
              </a:rPr>
              <a:t>——5</a:t>
            </a:r>
            <a:r>
              <a:rPr lang="zh-CN" altLang="en-US" sz="2800">
                <a:solidFill>
                  <a:schemeClr val="tx1"/>
                </a:solidFill>
              </a:rPr>
              <a:t>分，每年可节省</a:t>
            </a:r>
            <a:r>
              <a:rPr lang="en-US" altLang="zh-CN" sz="2800">
                <a:solidFill>
                  <a:schemeClr val="tx1"/>
                </a:solidFill>
              </a:rPr>
              <a:t>200</a:t>
            </a:r>
            <a:r>
              <a:rPr lang="zh-CN" altLang="en-US" sz="2800">
                <a:solidFill>
                  <a:schemeClr val="tx1"/>
                </a:solidFill>
              </a:rPr>
              <a:t>万。</a:t>
            </a:r>
            <a:endParaRPr lang="zh-CN" altLang="en-US" sz="2800">
              <a:solidFill>
                <a:schemeClr val="tx1"/>
              </a:solidFill>
            </a:endParaRPr>
          </a:p>
          <a:p>
            <a:r>
              <a:rPr lang="zh-CN" altLang="en-US" sz="2800">
                <a:solidFill>
                  <a:schemeClr val="tx1"/>
                </a:solidFill>
              </a:rPr>
              <a:t> </a:t>
            </a:r>
            <a:r>
              <a:rPr lang="en-US" altLang="zh-CN" sz="2800">
                <a:solidFill>
                  <a:schemeClr val="tx1"/>
                </a:solidFill>
              </a:rPr>
              <a:t>              </a:t>
            </a:r>
            <a:r>
              <a:rPr lang="zh-CN" altLang="en-US" sz="2800">
                <a:solidFill>
                  <a:schemeClr val="tx1"/>
                </a:solidFill>
              </a:rPr>
              <a:t>成本风险</a:t>
            </a:r>
            <a:r>
              <a:rPr lang="en-US" altLang="zh-CN" sz="2800">
                <a:solidFill>
                  <a:schemeClr val="tx1"/>
                </a:solidFill>
              </a:rPr>
              <a:t>——3</a:t>
            </a:r>
            <a:r>
              <a:rPr lang="zh-CN" altLang="en-US" sz="2800">
                <a:solidFill>
                  <a:schemeClr val="tx1"/>
                </a:solidFill>
              </a:rPr>
              <a:t>分，</a:t>
            </a:r>
            <a:r>
              <a:rPr lang="en-US" altLang="zh-CN" sz="2800">
                <a:solidFill>
                  <a:schemeClr val="tx1"/>
                </a:solidFill>
              </a:rPr>
              <a:t>200</a:t>
            </a:r>
            <a:r>
              <a:rPr lang="zh-CN" altLang="en-US" sz="2800">
                <a:solidFill>
                  <a:schemeClr val="tx1"/>
                </a:solidFill>
              </a:rPr>
              <a:t>万不便宜，技术有一定难度。</a:t>
            </a:r>
            <a:endParaRPr lang="zh-CN" altLang="en-US" sz="2800">
              <a:solidFill>
                <a:schemeClr val="tx1"/>
              </a:solidFill>
            </a:endParaRPr>
          </a:p>
          <a:p>
            <a:r>
              <a:rPr lang="zh-CN" altLang="en-US" sz="2800">
                <a:solidFill>
                  <a:schemeClr val="tx1"/>
                </a:solidFill>
              </a:rPr>
              <a:t>加权分</a:t>
            </a:r>
            <a:r>
              <a:rPr lang="en-US" altLang="zh-CN" sz="2800">
                <a:solidFill>
                  <a:schemeClr val="tx1"/>
                </a:solidFill>
              </a:rPr>
              <a:t> = 5</a:t>
            </a:r>
            <a:r>
              <a:rPr lang="en-US" altLang="en-US" sz="2800">
                <a:solidFill>
                  <a:schemeClr val="tx1"/>
                </a:solidFill>
              </a:rPr>
              <a:t>×</a:t>
            </a:r>
            <a:r>
              <a:rPr lang="en-US" altLang="zh-CN" sz="2800">
                <a:solidFill>
                  <a:schemeClr val="tx1"/>
                </a:solidFill>
              </a:rPr>
              <a:t>0.5 + 5</a:t>
            </a:r>
            <a:r>
              <a:rPr lang="en-US" altLang="en-US" sz="2800">
                <a:solidFill>
                  <a:schemeClr val="tx1"/>
                </a:solidFill>
              </a:rPr>
              <a:t>×</a:t>
            </a:r>
            <a:r>
              <a:rPr lang="en-US" altLang="zh-CN" sz="2800">
                <a:solidFill>
                  <a:schemeClr val="tx1"/>
                </a:solidFill>
              </a:rPr>
              <a:t>0.3 + 3</a:t>
            </a:r>
            <a:r>
              <a:rPr lang="en-US" altLang="en-US" sz="2800">
                <a:solidFill>
                  <a:schemeClr val="tx1"/>
                </a:solidFill>
              </a:rPr>
              <a:t>×</a:t>
            </a:r>
            <a:r>
              <a:rPr lang="en-US" altLang="zh-CN" sz="2800">
                <a:solidFill>
                  <a:schemeClr val="tx1"/>
                </a:solidFill>
              </a:rPr>
              <a:t>0.2 = 2.5 + 1.5 + 0.6 = 4.6</a:t>
            </a:r>
            <a:r>
              <a:rPr lang="zh-CN" altLang="en-US" sz="2800">
                <a:solidFill>
                  <a:schemeClr val="tx1"/>
                </a:solidFill>
              </a:rPr>
              <a:t>分。</a:t>
            </a:r>
            <a:endParaRPr lang="zh-CN" altLang="en-US" sz="2800">
              <a:solidFill>
                <a:schemeClr val="tx1"/>
              </a:solidFill>
            </a:endParaRPr>
          </a:p>
          <a:p>
            <a:r>
              <a:rPr lang="zh-CN" altLang="en-US" sz="2800">
                <a:solidFill>
                  <a:schemeClr val="tx1"/>
                </a:solidFill>
              </a:rPr>
              <a:t>同样方法算项目</a:t>
            </a:r>
            <a:r>
              <a:rPr lang="en-US" altLang="zh-CN" sz="2800">
                <a:solidFill>
                  <a:schemeClr val="tx1"/>
                </a:solidFill>
              </a:rPr>
              <a:t>C</a:t>
            </a:r>
            <a:r>
              <a:rPr lang="zh-CN" altLang="en-US" sz="2800">
                <a:solidFill>
                  <a:schemeClr val="tx1"/>
                </a:solidFill>
              </a:rPr>
              <a:t>：</a:t>
            </a:r>
            <a:r>
              <a:rPr lang="en-US" altLang="zh-CN" sz="2800">
                <a:solidFill>
                  <a:schemeClr val="tx1"/>
                </a:solidFill>
              </a:rPr>
              <a:t>4.7</a:t>
            </a:r>
            <a:r>
              <a:rPr lang="zh-CN" altLang="en-US" sz="2800">
                <a:solidFill>
                  <a:schemeClr val="tx1"/>
                </a:solidFill>
              </a:rPr>
              <a:t>分。</a:t>
            </a:r>
            <a:endParaRPr lang="zh-CN" altLang="en-US" sz="2800">
              <a:solidFill>
                <a:schemeClr val="tx1"/>
              </a:solidFill>
            </a:endParaRPr>
          </a:p>
          <a:p>
            <a:r>
              <a:rPr lang="zh-CN" altLang="en-US" sz="2800">
                <a:solidFill>
                  <a:schemeClr val="tx1"/>
                </a:solidFill>
              </a:rPr>
              <a:t>项目</a:t>
            </a:r>
            <a:r>
              <a:rPr lang="en-US" altLang="zh-CN" sz="2800">
                <a:solidFill>
                  <a:schemeClr val="tx1"/>
                </a:solidFill>
              </a:rPr>
              <a:t>E</a:t>
            </a:r>
            <a:r>
              <a:rPr lang="zh-CN" altLang="en-US" sz="2800">
                <a:solidFill>
                  <a:schemeClr val="tx1"/>
                </a:solidFill>
              </a:rPr>
              <a:t>只有</a:t>
            </a:r>
            <a:r>
              <a:rPr lang="en-US" altLang="zh-CN" sz="2800">
                <a:solidFill>
                  <a:schemeClr val="tx1"/>
                </a:solidFill>
              </a:rPr>
              <a:t>2.3</a:t>
            </a:r>
            <a:r>
              <a:rPr lang="zh-CN" altLang="en-US" sz="2800">
                <a:solidFill>
                  <a:schemeClr val="tx1"/>
                </a:solidFill>
              </a:rPr>
              <a:t>分。</a:t>
            </a:r>
            <a:endParaRPr lang="zh-CN" altLang="en-US" sz="2800">
              <a:solidFill>
                <a:schemeClr val="tx1"/>
              </a:solidFill>
            </a:endParaRPr>
          </a:p>
        </p:txBody>
      </p:sp>
      <p:sp>
        <p:nvSpPr>
          <p:cNvPr id="3" name="文本框 2"/>
          <p:cNvSpPr txBox="1"/>
          <p:nvPr/>
        </p:nvSpPr>
        <p:spPr>
          <a:xfrm>
            <a:off x="1919605" y="5589270"/>
            <a:ext cx="9782810" cy="953135"/>
          </a:xfrm>
          <a:prstGeom prst="rect">
            <a:avLst/>
          </a:prstGeom>
          <a:noFill/>
        </p:spPr>
        <p:txBody>
          <a:bodyPr wrap="square" rtlCol="0" anchor="t">
            <a:spAutoFit/>
          </a:bodyPr>
          <a:p>
            <a:r>
              <a:rPr lang="zh-CN" altLang="en-US" sz="2800"/>
              <a:t>注意：弱点也很明显</a:t>
            </a:r>
            <a:r>
              <a:rPr lang="en-US" altLang="zh-CN" sz="2800"/>
              <a:t>——</a:t>
            </a:r>
            <a:r>
              <a:rPr lang="zh-CN" altLang="en-US" sz="2800"/>
              <a:t>权重怎么定？谁来打分？这需要团队共识。</a:t>
            </a:r>
            <a:endParaRPr lang="zh-CN" altLang="en-US" sz="2800"/>
          </a:p>
        </p:txBody>
      </p:sp>
    </p:spTree>
  </p:cSld>
  <p:clrMapOvr>
    <a:masterClrMapping/>
  </p:clrMapOvr>
  <p:transition spd="slow">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8"/>
          <p:cNvGrpSpPr/>
          <p:nvPr/>
        </p:nvGrpSpPr>
        <p:grpSpPr>
          <a:xfrm>
            <a:off x="1511300" y="765175"/>
            <a:ext cx="9148763" cy="85725"/>
            <a:chOff x="0" y="0"/>
            <a:chExt cx="5763" cy="54"/>
          </a:xfrm>
        </p:grpSpPr>
        <p:sp>
          <p:nvSpPr>
            <p:cNvPr id="727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727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9466" name="Rectangle 5"/>
          <p:cNvSpPr txBox="1"/>
          <p:nvPr/>
        </p:nvSpPr>
        <p:spPr>
          <a:xfrm>
            <a:off x="1524000" y="0"/>
            <a:ext cx="5943600" cy="927100"/>
          </a:xfrm>
          <a:prstGeom prst="rect">
            <a:avLst/>
          </a:prstGeom>
          <a:noFill/>
          <a:ln w="9525">
            <a:noFill/>
          </a:ln>
        </p:spPr>
        <p:txBody>
          <a:bodyPr lIns="92075" tIns="46038" rIns="92075" bIns="46038" anchor="ctr" anchorCtr="0"/>
          <a:lstStyle/>
          <a:p>
            <a:pPr marR="0" algn="ctr" defTabSz="914400" eaLnBrk="0" hangingPunct="0">
              <a:buClrTx/>
              <a:buSzTx/>
              <a:buFontTx/>
              <a:buNone/>
              <a:defRPr/>
            </a:pPr>
            <a:r>
              <a:rPr kumimoji="0" lang="en-US" altLang="zh-CN"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4.2 </a:t>
            </a:r>
            <a:r>
              <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rPr>
              <a:t>战略计划和项目选择</a:t>
            </a:r>
            <a:endParaRPr kumimoji="0" lang="zh-CN" altLang="en-US" sz="3200" b="1" kern="1200" cap="none" spc="0" normalizeH="0" baseline="0" noProof="0" dirty="0">
              <a:solidFill>
                <a:srgbClr val="A50021"/>
              </a:solidFill>
              <a:effectLst>
                <a:outerShdw blurRad="38100" dist="38100" dir="2700000">
                  <a:srgbClr val="000000"/>
                </a:outerShdw>
              </a:effectLst>
              <a:latin typeface="Times New Roman" panose="02020603050405020304" pitchFamily="18" charset="0"/>
              <a:ea typeface="楷体_GB2312" pitchFamily="49" charset="-122"/>
              <a:cs typeface="+mn-cs"/>
            </a:endParaRPr>
          </a:p>
        </p:txBody>
      </p:sp>
      <p:sp>
        <p:nvSpPr>
          <p:cNvPr id="2" name="文本框 1"/>
          <p:cNvSpPr txBox="1"/>
          <p:nvPr/>
        </p:nvSpPr>
        <p:spPr>
          <a:xfrm>
            <a:off x="1559560" y="836930"/>
            <a:ext cx="10048240" cy="583565"/>
          </a:xfrm>
          <a:prstGeom prst="rect">
            <a:avLst/>
          </a:prstGeom>
        </p:spPr>
        <p:txBody>
          <a:bodyPr wrap="square">
            <a:spAutoFit/>
          </a:bodyPr>
          <a:p>
            <a:pPr marL="0" indent="0"/>
            <a:r>
              <a:rPr lang="zh-CN" altLang="en-US" sz="3200" b="1" i="0">
                <a:solidFill>
                  <a:srgbClr val="0F1115"/>
                </a:solidFill>
                <a:latin typeface="宋体" panose="02010600030101010101" pitchFamily="2" charset="-122"/>
                <a:cs typeface="宋体" panose="02010600030101010101" pitchFamily="2" charset="-122"/>
              </a:rPr>
              <a:t>案例：快达物流</a:t>
            </a:r>
            <a:r>
              <a:rPr lang="en-US" altLang="zh-CN" sz="3200" b="1" i="0">
                <a:solidFill>
                  <a:srgbClr val="0F1115"/>
                </a:solidFill>
                <a:latin typeface="宋体" panose="02010600030101010101" pitchFamily="2" charset="-122"/>
                <a:cs typeface="宋体" panose="02010600030101010101" pitchFamily="2" charset="-122"/>
              </a:rPr>
              <a:t> </a:t>
            </a:r>
            <a:r>
              <a:rPr lang="en-US" altLang="zh-CN" sz="2600" b="1" i="0">
                <a:solidFill>
                  <a:srgbClr val="FF0000"/>
                </a:solidFill>
                <a:latin typeface="宋体" panose="02010600030101010101" pitchFamily="2" charset="-122"/>
                <a:cs typeface="宋体" panose="02010600030101010101" pitchFamily="2" charset="-122"/>
              </a:rPr>
              <a:t>  </a:t>
            </a:r>
            <a:r>
              <a:rPr lang="zh-CN" sz="2600" b="1" i="0">
                <a:solidFill>
                  <a:srgbClr val="FF0000"/>
                </a:solidFill>
                <a:latin typeface="宋体" panose="02010600030101010101" pitchFamily="2" charset="-122"/>
                <a:cs typeface="宋体" panose="02010600030101010101" pitchFamily="2" charset="-122"/>
              </a:rPr>
              <a:t>推荐组合</a:t>
            </a:r>
            <a:endParaRPr lang="zh-CN" sz="2600" b="1" i="0">
              <a:solidFill>
                <a:srgbClr val="FF0000"/>
              </a:solidFill>
              <a:latin typeface="宋体" panose="02010600030101010101" pitchFamily="2" charset="-122"/>
              <a:cs typeface="宋体" panose="02010600030101010101" pitchFamily="2" charset="-122"/>
            </a:endParaRPr>
          </a:p>
        </p:txBody>
      </p:sp>
      <p:sp>
        <p:nvSpPr>
          <p:cNvPr id="6" name="文本框 5"/>
          <p:cNvSpPr txBox="1"/>
          <p:nvPr/>
        </p:nvSpPr>
        <p:spPr>
          <a:xfrm>
            <a:off x="2055495" y="3241675"/>
            <a:ext cx="9459595" cy="2731770"/>
          </a:xfrm>
          <a:prstGeom prst="rect">
            <a:avLst/>
          </a:prstGeom>
          <a:noFill/>
        </p:spPr>
        <p:txBody>
          <a:bodyPr wrap="square" rtlCol="0" anchor="t">
            <a:noAutofit/>
          </a:bodyPr>
          <a:p>
            <a:r>
              <a:rPr lang="zh-CN" altLang="en-US" sz="2800"/>
              <a:t>推荐组合：项目</a:t>
            </a:r>
            <a:r>
              <a:rPr lang="en-US" altLang="zh-CN" sz="2800"/>
              <a:t>A + </a:t>
            </a:r>
            <a:r>
              <a:rPr lang="zh-CN" altLang="en-US" sz="2800"/>
              <a:t>项目</a:t>
            </a:r>
            <a:r>
              <a:rPr lang="en-US" altLang="zh-CN" sz="2800"/>
              <a:t>C</a:t>
            </a:r>
            <a:endParaRPr lang="en-US" altLang="zh-CN" sz="2800"/>
          </a:p>
          <a:p>
            <a:r>
              <a:rPr lang="zh-CN" altLang="en-US" sz="2800"/>
              <a:t>理由：</a:t>
            </a:r>
            <a:endParaRPr lang="en-US" altLang="zh-CN" sz="2800"/>
          </a:p>
          <a:p>
            <a:r>
              <a:rPr lang="zh-CN" altLang="en-US" sz="2800"/>
              <a:t>完全覆盖三条战略路径（</a:t>
            </a:r>
            <a:r>
              <a:rPr lang="en-US" altLang="zh-CN" sz="2800"/>
              <a:t>A</a:t>
            </a:r>
            <a:r>
              <a:rPr lang="zh-CN" altLang="en-US" sz="2800"/>
              <a:t>覆盖</a:t>
            </a:r>
            <a:r>
              <a:rPr lang="en-US" altLang="zh-CN" sz="2800"/>
              <a:t>1</a:t>
            </a:r>
            <a:r>
              <a:rPr lang="zh-CN" altLang="en-US" sz="2800"/>
              <a:t>、</a:t>
            </a:r>
            <a:r>
              <a:rPr lang="en-US" altLang="zh-CN" sz="2800"/>
              <a:t>2</a:t>
            </a:r>
            <a:r>
              <a:rPr lang="zh-CN" altLang="en-US" sz="2800"/>
              <a:t>；</a:t>
            </a:r>
            <a:r>
              <a:rPr lang="en-US" altLang="zh-CN" sz="2800"/>
              <a:t>C</a:t>
            </a:r>
            <a:r>
              <a:rPr lang="zh-CN" altLang="en-US" sz="2800"/>
              <a:t>覆盖</a:t>
            </a:r>
            <a:r>
              <a:rPr lang="en-US" altLang="zh-CN" sz="2800"/>
              <a:t>3</a:t>
            </a:r>
            <a:r>
              <a:rPr lang="zh-CN" altLang="en-US" sz="2800"/>
              <a:t>）</a:t>
            </a:r>
            <a:endParaRPr lang="zh-CN" altLang="en-US" sz="2800"/>
          </a:p>
          <a:p>
            <a:r>
              <a:rPr lang="en-US" altLang="zh-CN" sz="2800"/>
              <a:t>ROI </a:t>
            </a:r>
            <a:r>
              <a:rPr lang="zh-CN" altLang="en-US" sz="2800"/>
              <a:t>同样优秀</a:t>
            </a:r>
            <a:endParaRPr lang="zh-CN" altLang="en-US" sz="2800"/>
          </a:p>
          <a:p>
            <a:r>
              <a:rPr lang="zh-CN" altLang="en-US" sz="2800"/>
              <a:t>风险可控（技术成熟，周期可重叠安排）</a:t>
            </a:r>
            <a:endParaRPr lang="zh-CN" altLang="en-US" sz="2800"/>
          </a:p>
          <a:p>
            <a:r>
              <a:rPr lang="zh-CN" altLang="en-US" sz="2800"/>
              <a:t>替代方案：若资源不足，先</a:t>
            </a:r>
            <a:r>
              <a:rPr lang="en-US" altLang="zh-CN" sz="2800"/>
              <a:t>A</a:t>
            </a:r>
            <a:r>
              <a:rPr lang="zh-CN" altLang="en-US" sz="2800"/>
              <a:t>后</a:t>
            </a:r>
            <a:r>
              <a:rPr lang="en-US" altLang="zh-CN" sz="2800"/>
              <a:t>C</a:t>
            </a:r>
            <a:r>
              <a:rPr lang="zh-CN" altLang="en-US" sz="2800"/>
              <a:t>（分期）</a:t>
            </a:r>
            <a:endParaRPr lang="zh-CN" altLang="en-US" sz="2800"/>
          </a:p>
        </p:txBody>
      </p:sp>
      <p:sp>
        <p:nvSpPr>
          <p:cNvPr id="7" name="文本框 6"/>
          <p:cNvSpPr txBox="1"/>
          <p:nvPr/>
        </p:nvSpPr>
        <p:spPr>
          <a:xfrm>
            <a:off x="1986915" y="1492250"/>
            <a:ext cx="9371965" cy="1623060"/>
          </a:xfrm>
          <a:prstGeom prst="rect">
            <a:avLst/>
          </a:prstGeom>
          <a:noFill/>
        </p:spPr>
        <p:txBody>
          <a:bodyPr wrap="square" rtlCol="0" anchor="t">
            <a:noAutofit/>
          </a:bodyPr>
          <a:p>
            <a:r>
              <a:rPr lang="zh-CN" altLang="en-US" sz="2600"/>
              <a:t>数据：</a:t>
            </a:r>
            <a:endParaRPr lang="zh-CN" altLang="en-US" sz="2600"/>
          </a:p>
          <a:p>
            <a:r>
              <a:rPr lang="zh-CN" altLang="en-US" sz="2600"/>
              <a:t>项目</a:t>
            </a:r>
            <a:r>
              <a:rPr lang="en-US" altLang="zh-CN" sz="2600"/>
              <a:t>A</a:t>
            </a:r>
            <a:r>
              <a:rPr lang="zh-CN" altLang="en-US" sz="2600"/>
              <a:t>：年节省</a:t>
            </a:r>
            <a:r>
              <a:rPr lang="en-US" altLang="zh-CN" sz="2600"/>
              <a:t>200</a:t>
            </a:r>
            <a:r>
              <a:rPr lang="zh-CN" altLang="en-US" sz="2600"/>
              <a:t>万，</a:t>
            </a:r>
            <a:r>
              <a:rPr lang="en-US" altLang="zh-CN" sz="2600"/>
              <a:t>3</a:t>
            </a:r>
            <a:r>
              <a:rPr lang="zh-CN" altLang="en-US" sz="2600"/>
              <a:t>年</a:t>
            </a:r>
            <a:r>
              <a:rPr lang="en-US" altLang="zh-CN" sz="2600"/>
              <a:t>ROI = (600-200)/200 = 200%</a:t>
            </a:r>
            <a:endParaRPr lang="en-US" altLang="zh-CN" sz="2600"/>
          </a:p>
          <a:p>
            <a:r>
              <a:rPr lang="zh-CN" altLang="en-US" sz="2600"/>
              <a:t>项目</a:t>
            </a:r>
            <a:r>
              <a:rPr lang="en-US" altLang="zh-CN" sz="2600"/>
              <a:t>C</a:t>
            </a:r>
            <a:r>
              <a:rPr lang="zh-CN" altLang="en-US" sz="2600"/>
              <a:t>：年增收</a:t>
            </a:r>
            <a:r>
              <a:rPr lang="en-US" altLang="zh-CN" sz="2600"/>
              <a:t>150</a:t>
            </a:r>
            <a:r>
              <a:rPr lang="zh-CN" altLang="en-US" sz="2600"/>
              <a:t>万，</a:t>
            </a:r>
            <a:r>
              <a:rPr lang="en-US" altLang="zh-CN" sz="2600"/>
              <a:t>3</a:t>
            </a:r>
            <a:r>
              <a:rPr lang="zh-CN" altLang="en-US" sz="2600"/>
              <a:t>年</a:t>
            </a:r>
            <a:r>
              <a:rPr lang="en-US" altLang="zh-CN" sz="2600"/>
              <a:t>ROI = (450-150)/150 = 200%</a:t>
            </a:r>
            <a:endParaRPr lang="en-US" altLang="zh-CN" sz="2600"/>
          </a:p>
          <a:p>
            <a:r>
              <a:rPr lang="zh-CN" altLang="en-US" sz="2600"/>
              <a:t>讨论：</a:t>
            </a:r>
            <a:r>
              <a:rPr lang="en-US" altLang="zh-CN" sz="2600">
                <a:solidFill>
                  <a:srgbClr val="FF0000"/>
                </a:solidFill>
              </a:rPr>
              <a:t>ROI</a:t>
            </a:r>
            <a:r>
              <a:rPr lang="zh-CN" altLang="en-US" sz="2600">
                <a:solidFill>
                  <a:srgbClr val="FF0000"/>
                </a:solidFill>
              </a:rPr>
              <a:t>相同，怎么选？</a:t>
            </a:r>
            <a:endParaRPr lang="zh-CN" altLang="en-US" sz="2600">
              <a:solidFill>
                <a:srgbClr val="FF0000"/>
              </a:solidFill>
            </a:endParaRPr>
          </a:p>
        </p:txBody>
      </p:sp>
      <p:sp>
        <p:nvSpPr>
          <p:cNvPr id="8" name="文本框 7"/>
          <p:cNvSpPr txBox="1"/>
          <p:nvPr/>
        </p:nvSpPr>
        <p:spPr>
          <a:xfrm>
            <a:off x="2063750" y="5949315"/>
            <a:ext cx="8808085" cy="521970"/>
          </a:xfrm>
          <a:prstGeom prst="rect">
            <a:avLst/>
          </a:prstGeom>
        </p:spPr>
        <p:txBody>
          <a:bodyPr wrap="square">
            <a:spAutoFit/>
          </a:bodyPr>
          <a:p>
            <a:pPr marL="0" indent="0"/>
            <a:r>
              <a:rPr lang="zh-CN" altLang="en-US" sz="2800" b="0" i="0">
                <a:solidFill>
                  <a:srgbClr val="FF0000"/>
                </a:solidFill>
                <a:latin typeface="黑体" panose="02010609060101010101" pitchFamily="49" charset="-122"/>
                <a:ea typeface="黑体" panose="02010609060101010101" pitchFamily="49" charset="-122"/>
                <a:cs typeface="黑体" panose="02010609060101010101" pitchFamily="49" charset="-122"/>
              </a:rPr>
              <a:t>注意：关键不是‘选哪个’，而是‘为什么这么选’。</a:t>
            </a:r>
            <a:endParaRPr lang="zh-CN" altLang="en-US" sz="2800" b="0" i="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blinds(horizontal)">
                                      <p:cBhvr>
                                        <p:cTn id="7" dur="500"/>
                                        <p:tgtEl>
                                          <p:spTgt spid="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
        <p:nvSpPr>
          <p:cNvPr id="43015" name="Rectangle 6"/>
          <p:cNvSpPr>
            <a:spLocks noGrp="1"/>
          </p:cNvSpPr>
          <p:nvPr>
            <p:ph type="body" idx="4294967295"/>
          </p:nvPr>
        </p:nvSpPr>
        <p:spPr>
          <a:xfrm>
            <a:off x="1720850" y="1214120"/>
            <a:ext cx="9827260" cy="5257165"/>
          </a:xfrm>
        </p:spPr>
        <p:txBody>
          <a:bodyPr vert="horz" wrap="square" lIns="0" tIns="0" rIns="0" bIns="0" anchor="t" anchorCtr="0"/>
          <a:lstStyle/>
          <a:p>
            <a:pPr marL="457200" lvl="0" indent="-457200" eaLnBrk="1" hangingPunct="1">
              <a:lnSpc>
                <a:spcPct val="110000"/>
              </a:lnSpc>
              <a:buClr>
                <a:schemeClr val="tx1"/>
              </a:buClr>
              <a:buFont typeface="Wingdings" panose="05000000000000000000" pitchFamily="2" charset="2"/>
              <a:buChar char="ü"/>
              <a:defRPr/>
            </a:pPr>
            <a:r>
              <a:rPr lang="zh-CN" altLang="en-US" sz="2800" dirty="0">
                <a:solidFill>
                  <a:srgbClr val="FF3300"/>
                </a:solidFill>
                <a:effectLst>
                  <a:outerShdw blurRad="38100" dist="38100" dir="2700000">
                    <a:srgbClr val="FFFFFF"/>
                  </a:outerShdw>
                </a:effectLst>
                <a:sym typeface="Symbol" panose="05050102010706020507" pitchFamily="18" charset="2"/>
              </a:rPr>
              <a:t>制定项目管理计划</a:t>
            </a:r>
            <a:r>
              <a:rPr lang="zh-CN" altLang="en-US" sz="2800" dirty="0">
                <a:effectLst>
                  <a:outerShdw blurRad="38100" dist="38100" dir="2700000">
                    <a:srgbClr val="FFFFFF"/>
                  </a:outerShdw>
                </a:effectLst>
                <a:sym typeface="Symbol" panose="05050102010706020507" pitchFamily="18" charset="2"/>
              </a:rPr>
              <a:t>是</a:t>
            </a:r>
            <a:r>
              <a:rPr lang="zh-CN" altLang="en-US" sz="2800" dirty="0">
                <a:effectLst>
                  <a:outerShdw blurRad="38100" dist="38100" dir="2700000">
                    <a:srgbClr val="FFFFFF"/>
                  </a:outerShdw>
                </a:effectLst>
                <a:highlight>
                  <a:srgbClr val="FFFF00"/>
                </a:highlight>
                <a:sym typeface="Symbol" panose="05050102010706020507" pitchFamily="18" charset="2"/>
              </a:rPr>
              <a:t>定义、准备和协调</a:t>
            </a:r>
            <a:r>
              <a:rPr lang="zh-CN" altLang="en-US" sz="2800" dirty="0">
                <a:effectLst>
                  <a:outerShdw blurRad="38100" dist="38100" dir="2700000">
                    <a:srgbClr val="FFFFFF"/>
                  </a:outerShdw>
                </a:effectLst>
                <a:sym typeface="Symbol" panose="05050102010706020507" pitchFamily="18" charset="2"/>
              </a:rPr>
              <a:t>项目计划的所有组成部分，并把它们</a:t>
            </a:r>
            <a:r>
              <a:rPr lang="zh-CN" altLang="en-US" sz="2800" dirty="0">
                <a:effectLst>
                  <a:outerShdw blurRad="38100" dist="38100" dir="2700000">
                    <a:srgbClr val="FFFFFF"/>
                  </a:outerShdw>
                </a:effectLst>
                <a:highlight>
                  <a:srgbClr val="FFFF00"/>
                </a:highlight>
                <a:sym typeface="Symbol" panose="05050102010706020507" pitchFamily="18" charset="2"/>
              </a:rPr>
              <a:t>整合</a:t>
            </a:r>
            <a:r>
              <a:rPr lang="zh-CN" altLang="en-US" sz="2800" dirty="0">
                <a:effectLst>
                  <a:outerShdw blurRad="38100" dist="38100" dir="2700000">
                    <a:srgbClr val="FFFFFF"/>
                  </a:outerShdw>
                </a:effectLst>
                <a:sym typeface="Symbol" panose="05050102010706020507" pitchFamily="18" charset="2"/>
              </a:rPr>
              <a:t>为一份综合项目管理计划的过程。</a:t>
            </a:r>
            <a:endParaRPr lang="en-US" altLang="zh-CN" sz="2800" dirty="0">
              <a:effectLst>
                <a:outerShdw blurRad="38100" dist="38100" dir="2700000">
                  <a:srgbClr val="FFFFFF"/>
                </a:outerShdw>
              </a:effectLst>
              <a:sym typeface="Symbol" panose="05050102010706020507" pitchFamily="18" charset="2"/>
            </a:endParaRPr>
          </a:p>
          <a:p>
            <a:pPr marL="457200" lvl="0" indent="-457200" eaLnBrk="1" hangingPunct="1">
              <a:lnSpc>
                <a:spcPct val="110000"/>
              </a:lnSpc>
              <a:buClr>
                <a:schemeClr val="tx1"/>
              </a:buClr>
              <a:buFont typeface="Wingdings" panose="05000000000000000000" pitchFamily="2" charset="2"/>
              <a:buChar char="ü"/>
              <a:defRPr/>
            </a:pPr>
            <a:r>
              <a:rPr lang="zh-CN" altLang="en-US" sz="2800" dirty="0">
                <a:effectLst>
                  <a:outerShdw blurRad="38100" dist="38100" dir="2700000">
                    <a:srgbClr val="FFFFFF"/>
                  </a:outerShdw>
                </a:effectLst>
                <a:sym typeface="Symbol" panose="05050102010706020507" pitchFamily="18" charset="2"/>
              </a:rPr>
              <a:t>本过程的主要作用是，</a:t>
            </a:r>
            <a:r>
              <a:rPr lang="zh-CN" altLang="en-US" sz="2800" dirty="0">
                <a:solidFill>
                  <a:srgbClr val="FF0000"/>
                </a:solidFill>
                <a:effectLst>
                  <a:outerShdw blurRad="38100" dist="38100" dir="2700000">
                    <a:srgbClr val="FFFFFF"/>
                  </a:outerShdw>
                </a:effectLst>
                <a:sym typeface="Symbol" panose="05050102010706020507" pitchFamily="18" charset="2"/>
              </a:rPr>
              <a:t>生成一份综合文件，用于确定所有项目工作的基础及其执行方式</a:t>
            </a:r>
            <a:r>
              <a:rPr lang="zh-CN" altLang="en-US" sz="2800" dirty="0">
                <a:effectLst>
                  <a:outerShdw blurRad="38100" dist="38100" dir="2700000">
                    <a:srgbClr val="FFFFFF"/>
                  </a:outerShdw>
                </a:effectLst>
                <a:sym typeface="Symbol" panose="05050102010706020507" pitchFamily="18" charset="2"/>
              </a:rPr>
              <a:t>，它仅开展一次或仅在项目的预定义点开展。为了</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协调、整合</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项目管理知识领域和组织内部的信息，有必要制定一个完善的</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项目管理计划</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rgbClr val="FF0000"/>
                </a:solidFill>
                <a:uLnTx/>
                <a:uFillTx/>
                <a:latin typeface="+mn-lt"/>
                <a:ea typeface="+mn-ea"/>
                <a:cs typeface="+mn-cs"/>
                <a:sym typeface="Symbol" panose="05050102010706020507" pitchFamily="18" charset="2"/>
              </a:rPr>
              <a:t>项目管理计划</a:t>
            </a:r>
            <a:r>
              <a:rPr kumimoji="0" lang="en-US" altLang="zh-CN" sz="2800" b="0" i="0" u="none" strike="noStrike" kern="1200" cap="none" spc="0" normalizeH="0" baseline="0" noProof="0" dirty="0">
                <a:ln>
                  <a:noFill/>
                </a:ln>
                <a:solidFill>
                  <a:schemeClr val="tx1"/>
                </a:solidFill>
                <a:uLnTx/>
                <a:uFillTx/>
                <a:latin typeface="+mn-lt"/>
                <a:ea typeface="+mn-ea"/>
                <a:cs typeface="+mn-cs"/>
                <a:sym typeface="Symbol" panose="05050102010706020507" pitchFamily="18" charset="2"/>
              </a:rPr>
              <a:t>(project </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management plan)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用来</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协调</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所有项目计划文件和帮助</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引导</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项目的执行与控制。</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100355" name="Group 8"/>
          <p:cNvGrpSpPr/>
          <p:nvPr/>
        </p:nvGrpSpPr>
        <p:grpSpPr>
          <a:xfrm>
            <a:off x="1519238" y="893763"/>
            <a:ext cx="9148762" cy="85725"/>
            <a:chOff x="0" y="0"/>
            <a:chExt cx="5763" cy="54"/>
          </a:xfrm>
        </p:grpSpPr>
        <p:sp>
          <p:nvSpPr>
            <p:cNvPr id="10035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035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5">
                                            <p:txEl>
                                              <p:pRg st="0" end="0"/>
                                            </p:txEl>
                                          </p:spTgt>
                                        </p:tgtEl>
                                        <p:attrNameLst>
                                          <p:attrName>style.visibility</p:attrName>
                                        </p:attrNameLst>
                                      </p:cBhvr>
                                      <p:to>
                                        <p:strVal val="visible"/>
                                      </p:to>
                                    </p:set>
                                    <p:animEffect transition="in" filter="wipe(left)">
                                      <p:cBhvr>
                                        <p:cTn id="7" dur="1000"/>
                                        <p:tgtEl>
                                          <p:spTgt spid="430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5">
                                            <p:txEl>
                                              <p:pRg st="1" end="1"/>
                                            </p:txEl>
                                          </p:spTgt>
                                        </p:tgtEl>
                                        <p:attrNameLst>
                                          <p:attrName>style.visibility</p:attrName>
                                        </p:attrNameLst>
                                      </p:cBhvr>
                                      <p:to>
                                        <p:strVal val="visible"/>
                                      </p:to>
                                    </p:set>
                                    <p:animEffect transition="in" filter="wipe(left)">
                                      <p:cBhvr>
                                        <p:cTn id="12" dur="1000"/>
                                        <p:tgtEl>
                                          <p:spTgt spid="430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5">
                                            <p:txEl>
                                              <p:pRg st="2" end="2"/>
                                            </p:txEl>
                                          </p:spTgt>
                                        </p:tgtEl>
                                        <p:attrNameLst>
                                          <p:attrName>style.visibility</p:attrName>
                                        </p:attrNameLst>
                                      </p:cBhvr>
                                      <p:to>
                                        <p:strVal val="visible"/>
                                      </p:to>
                                    </p:set>
                                    <p:animEffect transition="in" filter="wipe(left)">
                                      <p:cBhvr>
                                        <p:cTn id="17" dur="1000"/>
                                        <p:tgtEl>
                                          <p:spTgt spid="430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89" name="Group 8"/>
          <p:cNvGrpSpPr/>
          <p:nvPr/>
        </p:nvGrpSpPr>
        <p:grpSpPr>
          <a:xfrm>
            <a:off x="1524000" y="908050"/>
            <a:ext cx="9148763" cy="85725"/>
            <a:chOff x="0" y="0"/>
            <a:chExt cx="5763" cy="54"/>
          </a:xfrm>
        </p:grpSpPr>
        <p:sp>
          <p:nvSpPr>
            <p:cNvPr id="114690"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4691"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0" name="Rectangle 5"/>
          <p:cNvSpPr txBox="1"/>
          <p:nvPr/>
        </p:nvSpPr>
        <p:spPr>
          <a:xfrm>
            <a:off x="2495550" y="390525"/>
            <a:ext cx="4176490" cy="503238"/>
          </a:xfrm>
          <a:noFill/>
          <a:ln>
            <a:noFill/>
          </a:ln>
        </p:spPr>
        <p:txBody>
          <a:bodyPr wrap="square" lIns="0" tIns="0" rIns="0" bIns="0" anchor="ctr" anchorCtr="0"/>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eaLnBrk="1" hangingPunct="1"/>
            <a:r>
              <a:rPr lang="en-US" altLang="zh-CN" sz="2800">
                <a:solidFill>
                  <a:srgbClr val="A50021"/>
                </a:solidFill>
                <a:effectLst/>
                <a:ea typeface="华文中宋" panose="02010600040101010101" pitchFamily="2" charset="-122"/>
              </a:rPr>
              <a:t>4.3 </a:t>
            </a:r>
            <a:r>
              <a:rPr lang="zh-CN" altLang="en-US" sz="280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3705" y="836930"/>
            <a:ext cx="10617835" cy="5858510"/>
          </a:xfrm>
          <a:prstGeom prst="rect">
            <a:avLst/>
          </a:prstGeom>
        </p:spPr>
      </p:pic>
    </p:spTree>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89" name="Group 8"/>
          <p:cNvGrpSpPr/>
          <p:nvPr/>
        </p:nvGrpSpPr>
        <p:grpSpPr>
          <a:xfrm>
            <a:off x="1524000" y="908050"/>
            <a:ext cx="9148763" cy="85725"/>
            <a:chOff x="0" y="0"/>
            <a:chExt cx="5763" cy="54"/>
          </a:xfrm>
        </p:grpSpPr>
        <p:sp>
          <p:nvSpPr>
            <p:cNvPr id="114690"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4691"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0" name="Rectangle 5"/>
          <p:cNvSpPr txBox="1"/>
          <p:nvPr/>
        </p:nvSpPr>
        <p:spPr>
          <a:xfrm>
            <a:off x="2495550" y="390525"/>
            <a:ext cx="4176490" cy="503238"/>
          </a:xfrm>
          <a:noFill/>
          <a:ln>
            <a:noFill/>
          </a:ln>
        </p:spPr>
        <p:txBody>
          <a:bodyPr wrap="square" lIns="0" tIns="0" rIns="0" bIns="0" anchor="ctr" anchorCtr="0"/>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eaLnBrk="1" hangingPunct="1"/>
            <a:r>
              <a:rPr lang="en-US" altLang="zh-CN" sz="2800">
                <a:solidFill>
                  <a:srgbClr val="A50021"/>
                </a:solidFill>
                <a:effectLst/>
                <a:ea typeface="华文中宋" panose="02010600040101010101" pitchFamily="2" charset="-122"/>
              </a:rPr>
              <a:t>4.3 </a:t>
            </a:r>
            <a:r>
              <a:rPr lang="zh-CN" altLang="en-US" sz="280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2007" y="1234256"/>
            <a:ext cx="7847619" cy="4761905"/>
          </a:xfrm>
          <a:prstGeom prst="rect">
            <a:avLst/>
          </a:prstGeom>
        </p:spPr>
      </p:pic>
      <p:sp>
        <p:nvSpPr>
          <p:cNvPr id="5" name="矩形 4"/>
          <p:cNvSpPr/>
          <p:nvPr/>
        </p:nvSpPr>
        <p:spPr>
          <a:xfrm>
            <a:off x="5810265" y="5949950"/>
            <a:ext cx="1706880" cy="460375"/>
          </a:xfrm>
          <a:prstGeom prst="rect">
            <a:avLst/>
          </a:prstGeom>
        </p:spPr>
        <p:txBody>
          <a:bodyPr wrap="none">
            <a:spAutoFit/>
          </a:bodyPr>
          <a:lstStyle/>
          <a:p>
            <a:r>
              <a:rPr lang="zh-CN" altLang="en-US" dirty="0">
                <a:solidFill>
                  <a:srgbClr val="333333"/>
                </a:solidFill>
                <a:latin typeface="Helvetica Neue"/>
              </a:rPr>
              <a:t>数据流向图</a:t>
            </a:r>
            <a:endParaRPr lang="zh-CN" altLang="en-US" dirty="0"/>
          </a:p>
        </p:txBody>
      </p:sp>
    </p:spTree>
  </p:cSld>
  <p:clrMapOvr>
    <a:masterClrMapping/>
  </p:clrMapOvr>
  <p:transition spd="slow">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1032"/>
          <p:cNvSpPr>
            <a:spLocks noGrp="1"/>
          </p:cNvSpPr>
          <p:nvPr>
            <p:ph type="ftr" sz="quarter" idx="3"/>
          </p:nvPr>
        </p:nvSpPr>
        <p:spPr>
          <a:noFill/>
          <a:ln>
            <a:noFill/>
          </a:ln>
        </p:spPr>
        <p:txBody>
          <a:bodyPr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buFontTx/>
            </a:pPr>
            <a:r>
              <a:rPr lang="en-US" altLang="zh-CN" sz="1200" dirty="0">
                <a:solidFill>
                  <a:srgbClr val="B5A788"/>
                </a:solidFill>
                <a:latin typeface="Times New Roman" panose="02020603050405020304" pitchFamily="18" charset="0"/>
              </a:rPr>
              <a:t>SSPM/WRL</a:t>
            </a:r>
            <a:endParaRPr lang="en-US" altLang="zh-CN" sz="1200" dirty="0">
              <a:solidFill>
                <a:srgbClr val="B5A788"/>
              </a:solidFill>
              <a:latin typeface="Times New Roman" panose="02020603050405020304" pitchFamily="18" charset="0"/>
            </a:endParaRPr>
          </a:p>
        </p:txBody>
      </p:sp>
      <p:sp>
        <p:nvSpPr>
          <p:cNvPr id="101378" name="Rectangle 1033"/>
          <p:cNvSpPr>
            <a:spLocks noGrp="1"/>
          </p:cNvSpPr>
          <p:nvPr>
            <p:ph type="sldNum" sz="quarter" idx="4"/>
          </p:nvPr>
        </p:nvSpPr>
        <p:spPr>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0" hangingPunct="0"/>
            <a:fld id="{9A0DB2DC-4C9A-4742-B13C-FB6460FD3503}" type="slidenum">
              <a:rPr lang="zh-CN" altLang="en-US" sz="1200" dirty="0">
                <a:solidFill>
                  <a:srgbClr val="B5A788"/>
                </a:solidFill>
                <a:latin typeface="Times New Roman" panose="02020603050405020304" pitchFamily="18" charset="0"/>
                <a:ea typeface="宋体" panose="02010600030101010101" pitchFamily="2" charset="-122"/>
              </a:rPr>
            </a:fld>
            <a:r>
              <a:rPr lang="en-US" altLang="zh-CN" sz="1200" dirty="0">
                <a:solidFill>
                  <a:srgbClr val="B5A788"/>
                </a:solidFill>
                <a:latin typeface="Times New Roman" panose="02020603050405020304" pitchFamily="18" charset="0"/>
              </a:rPr>
              <a:t>/3</a:t>
            </a:r>
            <a:r>
              <a:rPr lang="en-GB" altLang="zh-CN" sz="1200" dirty="0">
                <a:solidFill>
                  <a:srgbClr val="B5A788"/>
                </a:solidFill>
                <a:latin typeface="Times New Roman" panose="02020603050405020304" pitchFamily="18" charset="0"/>
              </a:rPr>
              <a:t>3</a:t>
            </a:r>
            <a:endParaRPr lang="en-US" altLang="zh-CN" sz="1200" dirty="0">
              <a:solidFill>
                <a:srgbClr val="B5A788"/>
              </a:solidFill>
              <a:latin typeface="Times New Roman" panose="02020603050405020304" pitchFamily="18" charset="0"/>
            </a:endParaRPr>
          </a:p>
        </p:txBody>
      </p:sp>
      <p:sp>
        <p:nvSpPr>
          <p:cNvPr id="101379" name="Text Box 4"/>
          <p:cNvSpPr txBox="1"/>
          <p:nvPr/>
        </p:nvSpPr>
        <p:spPr>
          <a:xfrm>
            <a:off x="1974215" y="1341755"/>
            <a:ext cx="9515475" cy="3147695"/>
          </a:xfrm>
          <a:prstGeom prst="rect">
            <a:avLst/>
          </a:prstGeom>
          <a:noFill/>
          <a:ln w="50800">
            <a:noFill/>
          </a:ln>
        </p:spPr>
        <p:txBody>
          <a:bodyPr wrap="square" anchor="t" anchorCtr="0">
            <a:spAutoFit/>
          </a:bodyPr>
          <a:lstStyle/>
          <a:p>
            <a:pPr marL="457200" indent="-457200" algn="just" eaLnBrk="0" hangingPunct="0">
              <a:lnSpc>
                <a:spcPct val="110000"/>
              </a:lnSpc>
              <a:spcBef>
                <a:spcPct val="40000"/>
              </a:spcBef>
              <a:buFont typeface="Wingdings" panose="05000000000000000000" pitchFamily="2" charset="2"/>
            </a:pPr>
            <a:r>
              <a:rPr lang="zh-CN" altLang="en-US" sz="2800" dirty="0">
                <a:solidFill>
                  <a:srgbClr val="4F271C"/>
                </a:solidFill>
                <a:latin typeface="Times New Roman" panose="02020603050405020304" pitchFamily="18" charset="0"/>
                <a:ea typeface="宋体" panose="02010600030101010101" pitchFamily="2" charset="-122"/>
              </a:rPr>
              <a:t>项目管理计划包括：</a:t>
            </a:r>
            <a:endParaRPr lang="en-US" altLang="zh-CN" sz="2800" dirty="0">
              <a:solidFill>
                <a:srgbClr val="4F271C"/>
              </a:solidFill>
              <a:latin typeface="Times New Roman" panose="02020603050405020304" pitchFamily="18" charset="0"/>
            </a:endParaRPr>
          </a:p>
          <a:p>
            <a:pPr marL="457200" indent="-457200" algn="just" eaLnBrk="0" hangingPunct="0">
              <a:lnSpc>
                <a:spcPct val="110000"/>
              </a:lnSpc>
              <a:spcBef>
                <a:spcPct val="40000"/>
              </a:spcBef>
              <a:buFont typeface="Wingdings" panose="05000000000000000000" pitchFamily="2" charset="2"/>
              <a:buChar char="Ø"/>
            </a:pPr>
            <a:r>
              <a:rPr lang="zh-CN" altLang="en-US" sz="2800" dirty="0">
                <a:solidFill>
                  <a:srgbClr val="4F271C"/>
                </a:solidFill>
                <a:latin typeface="Times New Roman" panose="02020603050405020304" pitchFamily="18" charset="0"/>
                <a:ea typeface="宋体" panose="02010600030101010101" pitchFamily="2" charset="-122"/>
              </a:rPr>
              <a:t>项目计划</a:t>
            </a:r>
            <a:r>
              <a:rPr lang="zh-CN" altLang="en-US" sz="2800" dirty="0">
                <a:solidFill>
                  <a:srgbClr val="0000FF"/>
                </a:solidFill>
                <a:latin typeface="Times New Roman" panose="02020603050405020304" pitchFamily="18" charset="0"/>
                <a:ea typeface="宋体" panose="02010600030101010101" pitchFamily="2" charset="-122"/>
              </a:rPr>
              <a:t>假设</a:t>
            </a:r>
            <a:r>
              <a:rPr lang="zh-CN" altLang="en-US" sz="2800" dirty="0">
                <a:solidFill>
                  <a:srgbClr val="4F271C"/>
                </a:solidFill>
                <a:latin typeface="Times New Roman" panose="02020603050405020304" pitchFamily="18" charset="0"/>
                <a:ea typeface="宋体" panose="02010600030101010101" pitchFamily="2" charset="-122"/>
              </a:rPr>
              <a:t>和有关选择的</a:t>
            </a:r>
            <a:r>
              <a:rPr lang="zh-CN" altLang="en-US" sz="2800" dirty="0">
                <a:solidFill>
                  <a:srgbClr val="0000FF"/>
                </a:solidFill>
                <a:latin typeface="Times New Roman" panose="02020603050405020304" pitchFamily="18" charset="0"/>
                <a:ea typeface="宋体" panose="02010600030101010101" pitchFamily="2" charset="-122"/>
              </a:rPr>
              <a:t>决定</a:t>
            </a:r>
            <a:r>
              <a:rPr lang="zh-CN" altLang="en-US" sz="2800" dirty="0">
                <a:solidFill>
                  <a:srgbClr val="4F271C"/>
                </a:solidFill>
                <a:latin typeface="Times New Roman" panose="02020603050405020304" pitchFamily="18" charset="0"/>
                <a:ea typeface="宋体" panose="02010600030101010101" pitchFamily="2" charset="-122"/>
              </a:rPr>
              <a:t>；</a:t>
            </a:r>
            <a:endParaRPr lang="en-US" altLang="zh-CN" sz="2800" dirty="0">
              <a:solidFill>
                <a:srgbClr val="4F271C"/>
              </a:solidFill>
              <a:latin typeface="Times New Roman" panose="02020603050405020304" pitchFamily="18" charset="0"/>
            </a:endParaRPr>
          </a:p>
          <a:p>
            <a:pPr marL="457200" indent="-457200" algn="just" eaLnBrk="0" hangingPunct="0">
              <a:lnSpc>
                <a:spcPct val="110000"/>
              </a:lnSpc>
              <a:spcBef>
                <a:spcPct val="40000"/>
              </a:spcBef>
              <a:buFont typeface="Wingdings" panose="05000000000000000000" pitchFamily="2" charset="2"/>
              <a:buChar char="Ø"/>
            </a:pPr>
            <a:r>
              <a:rPr lang="zh-CN" altLang="en-US" sz="2800" dirty="0">
                <a:solidFill>
                  <a:srgbClr val="4F271C"/>
                </a:solidFill>
                <a:latin typeface="宋体" panose="02010600030101010101" pitchFamily="2" charset="-122"/>
                <a:ea typeface="宋体" panose="02010600030101010101" pitchFamily="2" charset="-122"/>
              </a:rPr>
              <a:t>在利益相关者之间的</a:t>
            </a:r>
            <a:r>
              <a:rPr lang="zh-CN" altLang="en-US" sz="2800" dirty="0">
                <a:solidFill>
                  <a:srgbClr val="0000FF"/>
                </a:solidFill>
                <a:latin typeface="宋体" panose="02010600030101010101" pitchFamily="2" charset="-122"/>
                <a:ea typeface="宋体" panose="02010600030101010101" pitchFamily="2" charset="-122"/>
              </a:rPr>
              <a:t>快捷沟通</a:t>
            </a:r>
            <a:r>
              <a:rPr lang="zh-CN" altLang="en-US" sz="2800" dirty="0">
                <a:solidFill>
                  <a:srgbClr val="4F271C"/>
                </a:solidFill>
                <a:latin typeface="宋体" panose="02010600030101010101" pitchFamily="2" charset="-122"/>
                <a:ea typeface="宋体" panose="02010600030101010101" pitchFamily="2" charset="-122"/>
              </a:rPr>
              <a:t>；</a:t>
            </a:r>
            <a:endParaRPr lang="en-US" altLang="zh-CN" sz="2800" dirty="0">
              <a:solidFill>
                <a:srgbClr val="4F271C"/>
              </a:solidFill>
              <a:latin typeface="宋体" panose="02010600030101010101" pitchFamily="2" charset="-122"/>
            </a:endParaRPr>
          </a:p>
          <a:p>
            <a:pPr marL="457200" indent="-457200" algn="just" eaLnBrk="0" hangingPunct="0">
              <a:lnSpc>
                <a:spcPct val="110000"/>
              </a:lnSpc>
              <a:spcBef>
                <a:spcPct val="40000"/>
              </a:spcBef>
              <a:buFont typeface="Wingdings" panose="05000000000000000000" pitchFamily="2" charset="2"/>
              <a:buChar char="Ø"/>
            </a:pPr>
            <a:r>
              <a:rPr lang="zh-CN" altLang="en-US" sz="2800" dirty="0">
                <a:solidFill>
                  <a:srgbClr val="4F271C"/>
                </a:solidFill>
                <a:latin typeface="宋体" panose="02010600030101010101" pitchFamily="2" charset="-122"/>
                <a:ea typeface="宋体" panose="02010600030101010101" pitchFamily="2" charset="-122"/>
              </a:rPr>
              <a:t>确定</a:t>
            </a:r>
            <a:r>
              <a:rPr lang="zh-CN" altLang="en-US" sz="2800" dirty="0">
                <a:solidFill>
                  <a:srgbClr val="0000FF"/>
                </a:solidFill>
                <a:latin typeface="宋体" panose="02010600030101010101" pitchFamily="2" charset="-122"/>
                <a:ea typeface="宋体" panose="02010600030101010101" pitchFamily="2" charset="-122"/>
              </a:rPr>
              <a:t>关键管理评审</a:t>
            </a:r>
            <a:r>
              <a:rPr lang="zh-CN" altLang="en-US" sz="2800" dirty="0">
                <a:solidFill>
                  <a:srgbClr val="4F271C"/>
                </a:solidFill>
                <a:latin typeface="宋体" panose="02010600030101010101" pitchFamily="2" charset="-122"/>
                <a:ea typeface="宋体" panose="02010600030101010101" pitchFamily="2" charset="-122"/>
              </a:rPr>
              <a:t>的内容、程度和时机；</a:t>
            </a:r>
            <a:endParaRPr lang="en-US" altLang="zh-CN" sz="2800" dirty="0">
              <a:solidFill>
                <a:srgbClr val="4F271C"/>
              </a:solidFill>
              <a:latin typeface="宋体" panose="02010600030101010101" pitchFamily="2" charset="-122"/>
            </a:endParaRPr>
          </a:p>
          <a:p>
            <a:pPr marL="457200" indent="-457200" algn="just" eaLnBrk="0" hangingPunct="0">
              <a:lnSpc>
                <a:spcPct val="110000"/>
              </a:lnSpc>
              <a:spcBef>
                <a:spcPct val="40000"/>
              </a:spcBef>
              <a:buFont typeface="Wingdings" panose="05000000000000000000" pitchFamily="2" charset="2"/>
              <a:buChar char="Ø"/>
            </a:pPr>
            <a:r>
              <a:rPr lang="zh-CN" altLang="en-US" sz="2800" dirty="0">
                <a:solidFill>
                  <a:srgbClr val="4F271C"/>
                </a:solidFill>
                <a:latin typeface="宋体" panose="02010600030101010101" pitchFamily="2" charset="-122"/>
                <a:ea typeface="宋体" panose="02010600030101010101" pitchFamily="2" charset="-122"/>
              </a:rPr>
              <a:t>确认测量进展和控制项目的</a:t>
            </a:r>
            <a:r>
              <a:rPr lang="zh-CN" altLang="en-US" sz="2800" dirty="0">
                <a:solidFill>
                  <a:srgbClr val="0000FF"/>
                </a:solidFill>
                <a:latin typeface="宋体" panose="02010600030101010101" pitchFamily="2" charset="-122"/>
                <a:ea typeface="宋体" panose="02010600030101010101" pitchFamily="2" charset="-122"/>
              </a:rPr>
              <a:t>基准</a:t>
            </a:r>
            <a:r>
              <a:rPr lang="zh-CN" altLang="en-US" sz="2800" dirty="0">
                <a:solidFill>
                  <a:srgbClr val="4F271C"/>
                </a:solidFill>
                <a:latin typeface="宋体" panose="02010600030101010101" pitchFamily="2" charset="-122"/>
                <a:ea typeface="宋体" panose="02010600030101010101" pitchFamily="2" charset="-122"/>
              </a:rPr>
              <a:t>；</a:t>
            </a:r>
            <a:endParaRPr lang="zh-CN" altLang="en-US" sz="2800" dirty="0">
              <a:solidFill>
                <a:srgbClr val="4F271C"/>
              </a:solidFill>
              <a:latin typeface="宋体" panose="02010600030101010101" pitchFamily="2" charset="-122"/>
              <a:ea typeface="宋体" panose="02010600030101010101" pitchFamily="2" charset="-122"/>
            </a:endParaRPr>
          </a:p>
        </p:txBody>
      </p:sp>
      <p:sp>
        <p:nvSpPr>
          <p:cNvPr id="101380"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4.3 </a:t>
            </a:r>
            <a:r>
              <a:rPr lang="zh-CN" altLang="en-US" sz="2800" dirty="0">
                <a:solidFill>
                  <a:srgbClr val="A50021"/>
                </a:solidFill>
                <a:latin typeface="Gill Sans MT" panose="020B0502020104020203" pitchFamily="34" charset="0"/>
                <a:ea typeface="华文中宋" panose="02010600040101010101" pitchFamily="2" charset="-122"/>
              </a:rPr>
              <a:t>制定项目管理计划</a:t>
            </a:r>
            <a:endParaRPr lang="zh-CN" altLang="en-US" sz="2800" dirty="0">
              <a:solidFill>
                <a:srgbClr val="A50021"/>
              </a:solidFill>
              <a:latin typeface="Gill Sans MT" panose="020B0502020104020203" pitchFamily="34" charset="0"/>
              <a:ea typeface="华文中宋" panose="02010600040101010101" pitchFamily="2" charset="-122"/>
            </a:endParaRPr>
          </a:p>
        </p:txBody>
      </p:sp>
      <p:grpSp>
        <p:nvGrpSpPr>
          <p:cNvPr id="101381" name="Group 8"/>
          <p:cNvGrpSpPr/>
          <p:nvPr/>
        </p:nvGrpSpPr>
        <p:grpSpPr>
          <a:xfrm>
            <a:off x="1519238" y="893763"/>
            <a:ext cx="9148762" cy="85725"/>
            <a:chOff x="0" y="0"/>
            <a:chExt cx="5763" cy="54"/>
          </a:xfrm>
        </p:grpSpPr>
        <p:sp>
          <p:nvSpPr>
            <p:cNvPr id="10138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138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p:strips dir="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2"/>
          <p:cNvSpPr txBox="1">
            <a:spLocks noGrp="1" noChangeArrowheads="1"/>
          </p:cNvSpPr>
          <p:nvPr>
            <p:ph type="ftr" sz="quarter" idx="3"/>
          </p:nvPr>
        </p:nvSpPr>
        <p:spPr>
          <a:noFill/>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rPr>
              <a:t>SSPM/WRL</a:t>
            </a:r>
            <a:endParaRPr kumimoji="0" lang="en-US" altLang="zh-CN" sz="1200" b="0" i="0" u="none" strike="noStrike" kern="1200" cap="none" spc="0" normalizeH="0" baseline="0" noProof="0">
              <a:ln>
                <a:noFill/>
              </a:ln>
              <a:solidFill>
                <a:schemeClr val="bg2">
                  <a:shade val="50000"/>
                  <a:satMod val="200000"/>
                </a:schemeClr>
              </a:solidFill>
              <a:effectLst/>
              <a:uLnTx/>
              <a:uFillTx/>
              <a:latin typeface="Times New Roman" panose="02020603050405020304" pitchFamily="18" charset="0"/>
              <a:ea typeface="宋体" panose="02010600030101010101" pitchFamily="2" charset="-122"/>
              <a:cs typeface="+mn-cs"/>
            </a:endParaRPr>
          </a:p>
        </p:txBody>
      </p:sp>
      <p:sp>
        <p:nvSpPr>
          <p:cNvPr id="102402" name="Rectangle 1033"/>
          <p:cNvSpPr>
            <a:spLocks noGrp="1"/>
          </p:cNvSpPr>
          <p:nvPr>
            <p:ph type="sldNum" sz="quarter" idx="4"/>
          </p:nvPr>
        </p:nvSpPr>
        <p:spPr>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0" hangingPunct="0"/>
            <a:fld id="{9A0DB2DC-4C9A-4742-B13C-FB6460FD3503}" type="slidenum">
              <a:rPr lang="zh-CN" altLang="en-US" sz="1200" dirty="0">
                <a:solidFill>
                  <a:srgbClr val="B5A788"/>
                </a:solidFill>
                <a:latin typeface="Times New Roman" panose="02020603050405020304" pitchFamily="18" charset="0"/>
                <a:ea typeface="宋体" panose="02010600030101010101" pitchFamily="2" charset="-122"/>
              </a:rPr>
            </a:fld>
            <a:r>
              <a:rPr lang="en-US" altLang="zh-CN" sz="1200" dirty="0">
                <a:solidFill>
                  <a:srgbClr val="B5A788"/>
                </a:solidFill>
                <a:latin typeface="Times New Roman" panose="02020603050405020304" pitchFamily="18" charset="0"/>
              </a:rPr>
              <a:t>/3</a:t>
            </a:r>
            <a:r>
              <a:rPr lang="en-GB" altLang="zh-CN" sz="1200" dirty="0">
                <a:solidFill>
                  <a:srgbClr val="B5A788"/>
                </a:solidFill>
                <a:latin typeface="Times New Roman" panose="02020603050405020304" pitchFamily="18" charset="0"/>
              </a:rPr>
              <a:t>3</a:t>
            </a:r>
            <a:endParaRPr lang="en-US" altLang="zh-CN" sz="1200" dirty="0">
              <a:solidFill>
                <a:srgbClr val="B5A788"/>
              </a:solidFill>
              <a:latin typeface="Times New Roman" panose="02020603050405020304" pitchFamily="18" charset="0"/>
            </a:endParaRPr>
          </a:p>
        </p:txBody>
      </p:sp>
      <p:sp>
        <p:nvSpPr>
          <p:cNvPr id="124932" name="Text Box 4"/>
          <p:cNvSpPr txBox="1">
            <a:spLocks noChangeArrowheads="1"/>
          </p:cNvSpPr>
          <p:nvPr/>
        </p:nvSpPr>
        <p:spPr bwMode="auto">
          <a:xfrm>
            <a:off x="1919605" y="1340485"/>
            <a:ext cx="9158605" cy="3751580"/>
          </a:xfrm>
          <a:prstGeom prst="rect">
            <a:avLst/>
          </a:prstGeom>
          <a:noFill/>
          <a:ln w="50800">
            <a:noFill/>
            <a:miter lim="800000"/>
          </a:ln>
          <a:effectLst/>
        </p:spPr>
        <p:txBody>
          <a:bodyPr wrap="square">
            <a:spAutoFit/>
          </a:bodyPr>
          <a:lstStyle/>
          <a:p>
            <a:pPr marL="457200" marR="0" indent="-457200" algn="just" defTabSz="914400" eaLnBrk="0" hangingPunct="0">
              <a:lnSpc>
                <a:spcPct val="110000"/>
              </a:lnSpc>
              <a:spcBef>
                <a:spcPct val="40000"/>
              </a:spcBef>
              <a:buClrTx/>
              <a:buSzTx/>
              <a:buFont typeface="Wingdings" panose="05000000000000000000" pitchFamily="2" charset="2"/>
              <a:buNone/>
              <a:defRPr/>
            </a:pPr>
            <a:r>
              <a:rPr kumimoji="0" lang="en-US" altLang="zh-CN"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800"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项目计划是一个用来</a:t>
            </a:r>
            <a:r>
              <a:rPr kumimoji="0" lang="zh-CN" altLang="en-US" sz="2800" kern="1200" cap="none" spc="0" normalizeH="0" baseline="0" noProof="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协调</a:t>
            </a:r>
            <a:r>
              <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所有其他计划，以</a:t>
            </a:r>
            <a:r>
              <a:rPr kumimoji="0" lang="zh-CN" altLang="en-US" sz="2800" kern="1200" cap="none" spc="0" normalizeH="0" baseline="0" noProof="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指导项目执行和控制</a:t>
            </a:r>
            <a:r>
              <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的可操作的文件。</a:t>
            </a:r>
            <a:endPar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a:p>
            <a:pPr marL="457200" marR="0" indent="-457200" algn="just" defTabSz="914400" eaLnBrk="0" hangingPunct="0">
              <a:lnSpc>
                <a:spcPct val="110000"/>
              </a:lnSpc>
              <a:spcBef>
                <a:spcPct val="40000"/>
              </a:spcBef>
              <a:buClrTx/>
              <a:buSzTx/>
              <a:buFont typeface="Wingdings" panose="05000000000000000000" pitchFamily="2" charset="2"/>
              <a:buNone/>
              <a:defRPr/>
            </a:pPr>
            <a:r>
              <a:rPr kumimoji="0" lang="en-US" altLang="zh-CN"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800"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关系：</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项目计划与项目执行应该是</a:t>
            </a:r>
            <a:r>
              <a:rPr kumimoji="0" lang="zh-CN" altLang="en-US" sz="2800" kern="1200" cap="none" spc="0" normalizeH="0" baseline="0" noProof="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相互渗透</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的,谁</a:t>
            </a:r>
            <a:r>
              <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负责</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做这件事，就该由谁来</a:t>
            </a:r>
            <a:r>
              <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做</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这个计划</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rPr>
              <a:t>。</a:t>
            </a:r>
            <a:endParaRPr kumimoji="0" lang="zh-CN" altLang="en-US" sz="2800" kern="1200" cap="none" spc="0" normalizeH="0" baseline="0" noProof="0" dirty="0">
              <a:solidFill>
                <a:schemeClr val="tx2"/>
              </a:solidFill>
              <a:ea typeface="宋体" panose="02010600030101010101" pitchFamily="2" charset="-122"/>
              <a:cs typeface="Times New Roman" panose="02020603050405020304" pitchFamily="18" charset="0"/>
            </a:endParaRPr>
          </a:p>
          <a:p>
            <a:pPr marL="457200" marR="0" indent="-457200" algn="just" defTabSz="914400" eaLnBrk="0" hangingPunct="0">
              <a:lnSpc>
                <a:spcPct val="110000"/>
              </a:lnSpc>
              <a:spcBef>
                <a:spcPct val="40000"/>
              </a:spcBef>
              <a:buClrTx/>
              <a:buSzTx/>
              <a:buFont typeface="Wingdings" panose="05000000000000000000" pitchFamily="2" charset="2"/>
              <a:buNone/>
              <a:defRPr/>
            </a:pPr>
            <a:r>
              <a:rPr kumimoji="0" lang="en-US" altLang="zh-CN"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800"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内容：</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一个项目计划主要</a:t>
            </a:r>
            <a:r>
              <a:rPr kumimoji="0" lang="zh-CN" altLang="en-US" sz="2800" kern="1200" cap="none" spc="0" normalizeH="0" baseline="0" noProof="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包括</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整体介绍、组织描述、管理程序、技术程序、任务范围、时间进度、经费预算等</a:t>
            </a:r>
            <a:r>
              <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rPr>
              <a:t>。</a:t>
            </a:r>
            <a:endParaRPr kumimoji="0" lang="zh-CN" altLang="en-US" sz="2800" kern="1200" cap="none" spc="0" normalizeH="0" baseline="0" noProof="0" dirty="0">
              <a:solidFill>
                <a:schemeClr val="tx2"/>
              </a:solidFill>
              <a:latin typeface="宋体" panose="02010600030101010101" pitchFamily="2" charset="-122"/>
              <a:ea typeface="宋体" panose="02010600030101010101" pitchFamily="2" charset="-122"/>
              <a:cs typeface="+mn-cs"/>
            </a:endParaRPr>
          </a:p>
        </p:txBody>
      </p:sp>
      <p:sp>
        <p:nvSpPr>
          <p:cNvPr id="102404"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4.3</a:t>
            </a:r>
            <a:r>
              <a:rPr lang="zh-CN" altLang="en-US" sz="2800" dirty="0">
                <a:solidFill>
                  <a:srgbClr val="A50021"/>
                </a:solidFill>
                <a:latin typeface="Gill Sans MT" panose="020B0502020104020203" pitchFamily="34" charset="0"/>
                <a:ea typeface="华文中宋" panose="02010600040101010101" pitchFamily="2" charset="-122"/>
              </a:rPr>
              <a:t>制定项目管理计划</a:t>
            </a:r>
            <a:endParaRPr lang="zh-CN" altLang="en-US" sz="2800" dirty="0">
              <a:solidFill>
                <a:srgbClr val="A50021"/>
              </a:solidFill>
              <a:latin typeface="Gill Sans MT" panose="020B0502020104020203" pitchFamily="34" charset="0"/>
              <a:ea typeface="华文中宋" panose="02010600040101010101" pitchFamily="2" charset="-122"/>
            </a:endParaRPr>
          </a:p>
        </p:txBody>
      </p:sp>
      <p:grpSp>
        <p:nvGrpSpPr>
          <p:cNvPr id="102405" name="Group 8"/>
          <p:cNvGrpSpPr/>
          <p:nvPr/>
        </p:nvGrpSpPr>
        <p:grpSpPr>
          <a:xfrm>
            <a:off x="1519238" y="893763"/>
            <a:ext cx="9148762" cy="85725"/>
            <a:chOff x="0" y="0"/>
            <a:chExt cx="5763" cy="54"/>
          </a:xfrm>
        </p:grpSpPr>
        <p:sp>
          <p:nvSpPr>
            <p:cNvPr id="10240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240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p:strips dir="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2" name="Text Box 1028"/>
          <p:cNvSpPr txBox="1">
            <a:spLocks noChangeArrowheads="1"/>
          </p:cNvSpPr>
          <p:nvPr/>
        </p:nvSpPr>
        <p:spPr bwMode="auto">
          <a:xfrm>
            <a:off x="2567305" y="1133475"/>
            <a:ext cx="7762240" cy="5384800"/>
          </a:xfrm>
          <a:prstGeom prst="rect">
            <a:avLst/>
          </a:prstGeom>
          <a:noFill/>
          <a:ln w="50800">
            <a:noFill/>
            <a:miter lim="800000"/>
          </a:ln>
          <a:effectLst/>
        </p:spPr>
        <p:txBody>
          <a:bodyPr wrap="square">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整体介绍或概述</a:t>
            </a:r>
            <a:r>
              <a:rPr kumimoji="0" lang="zh-CN" altLang="en-US" sz="3200" kern="1200" cap="none" spc="0" normalizeH="0" baseline="0" noProof="0" dirty="0">
                <a:latin typeface="宋体" panose="02010600030101010101" pitchFamily="2" charset="-122"/>
                <a:ea typeface="宋体" panose="02010600030101010101" pitchFamily="2" charset="-122"/>
                <a:cs typeface="+mn-cs"/>
              </a:rPr>
              <a:t>：</a:t>
            </a:r>
            <a:r>
              <a:rPr kumimoji="0" lang="zh-CN" altLang="en-US" kern="1200" cap="none" spc="0" normalizeH="0" baseline="0" noProof="0" dirty="0">
                <a:latin typeface="宋体" panose="02010600030101010101" pitchFamily="2" charset="-122"/>
                <a:ea typeface="宋体" panose="02010600030101010101" pitchFamily="2" charset="-122"/>
                <a:cs typeface="+mn-cs"/>
              </a:rPr>
              <a:t>　　</a:t>
            </a:r>
            <a:endParaRPr kumimoji="0" lang="zh-CN" altLang="en-US" sz="32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1)</a:t>
            </a:r>
            <a:r>
              <a:rPr kumimoji="0" lang="zh-CN" altLang="en-US" sz="2600" kern="1200" cap="none" spc="0" normalizeH="0" baseline="0" noProof="0" dirty="0">
                <a:latin typeface="楷体_GB2312" pitchFamily="49" charset="-122"/>
                <a:ea typeface="宋体" panose="02010600030101010101" pitchFamily="2" charset="-122"/>
                <a:cs typeface="+mn-cs"/>
              </a:rPr>
              <a:t>项目</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名称</a:t>
            </a:r>
            <a:r>
              <a:rPr kumimoji="0" lang="zh-CN" altLang="en-US" sz="2600" kern="1200" cap="none" spc="0" normalizeH="0" baseline="0" noProof="0" dirty="0">
                <a:latin typeface="楷体_GB2312" pitchFamily="49" charset="-122"/>
                <a:ea typeface="宋体" panose="02010600030101010101" pitchFamily="2" charset="-122"/>
                <a:cs typeface="+mn-cs"/>
              </a:rPr>
              <a:t>（全称、简称、缩写）</a:t>
            </a:r>
            <a:endParaRPr kumimoji="0" lang="zh-CN" altLang="en-US" sz="2600" kern="1200" cap="none" spc="0" normalizeH="0" baseline="0" noProof="0" dirty="0">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2)</a:t>
            </a:r>
            <a:r>
              <a:rPr kumimoji="0" lang="zh-CN" altLang="en-US" sz="2600" kern="1200" cap="none" spc="0" normalizeH="0" baseline="0" noProof="0" dirty="0">
                <a:latin typeface="楷体_GB2312" pitchFamily="49" charset="-122"/>
                <a:ea typeface="宋体" panose="02010600030101010101" pitchFamily="2" charset="-122"/>
                <a:cs typeface="+mn-cs"/>
              </a:rPr>
              <a:t>项目</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背景</a:t>
            </a:r>
            <a:r>
              <a:rPr kumimoji="0" lang="zh-CN" altLang="en-US" sz="2600" kern="1200" cap="none" spc="0" normalizeH="0" baseline="0" noProof="0" dirty="0">
                <a:latin typeface="楷体_GB2312" pitchFamily="49" charset="-122"/>
                <a:ea typeface="宋体" panose="02010600030101010101" pitchFamily="2" charset="-122"/>
                <a:cs typeface="+mn-cs"/>
              </a:rPr>
              <a:t>简单描述</a:t>
            </a:r>
            <a:endParaRPr kumimoji="0" lang="zh-CN" altLang="en-US" sz="2600" kern="1200" cap="none" spc="0" normalizeH="0" baseline="0" noProof="0" dirty="0">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3)</a:t>
            </a:r>
            <a:r>
              <a:rPr kumimoji="0" lang="zh-CN" altLang="en-US" sz="2600" kern="1200" cap="none" spc="0" normalizeH="0" baseline="0" noProof="0" dirty="0">
                <a:latin typeface="楷体_GB2312" pitchFamily="49" charset="-122"/>
                <a:ea typeface="宋体" panose="02010600030101010101" pitchFamily="2" charset="-122"/>
                <a:cs typeface="+mn-cs"/>
              </a:rPr>
              <a:t>项目应该满足的</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需求</a:t>
            </a:r>
            <a:r>
              <a:rPr kumimoji="0" lang="zh-CN" altLang="en-US" sz="2600" kern="1200" cap="none" spc="0" normalizeH="0" baseline="0" noProof="0" dirty="0">
                <a:latin typeface="楷体_GB2312" pitchFamily="49" charset="-122"/>
                <a:ea typeface="宋体" panose="02010600030101010101" pitchFamily="2" charset="-122"/>
                <a:cs typeface="+mn-cs"/>
              </a:rPr>
              <a:t>的简单描述</a:t>
            </a:r>
            <a:endParaRPr kumimoji="0" lang="zh-CN" altLang="en-US" sz="2600" kern="1200" cap="none" spc="0" normalizeH="0" baseline="0" noProof="0" dirty="0">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4)</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发起人</a:t>
            </a:r>
            <a:r>
              <a:rPr kumimoji="0" lang="zh-CN" altLang="en-US" sz="2600" kern="1200" cap="none" spc="0" normalizeH="0" baseline="0" noProof="0" dirty="0">
                <a:latin typeface="楷体_GB2312" pitchFamily="49" charset="-122"/>
                <a:ea typeface="宋体" panose="02010600030101010101" pitchFamily="2" charset="-122"/>
                <a:cs typeface="+mn-cs"/>
              </a:rPr>
              <a:t>的名称</a:t>
            </a:r>
            <a:endParaRPr kumimoji="0" lang="zh-CN" altLang="en-US" sz="2600" kern="1200" cap="none" spc="0" normalizeH="0" baseline="0" noProof="0" dirty="0">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5)</a:t>
            </a:r>
            <a:r>
              <a:rPr kumimoji="0" lang="zh-CN" altLang="en-US" sz="2600" kern="1200" cap="none" spc="0" normalizeH="0" baseline="0" noProof="0" dirty="0">
                <a:latin typeface="楷体_GB2312" pitchFamily="49" charset="-122"/>
                <a:ea typeface="宋体" panose="02010600030101010101" pitchFamily="2" charset="-122"/>
                <a:cs typeface="+mn-cs"/>
              </a:rPr>
              <a:t>项目经理与主要项目组</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成员简介</a:t>
            </a:r>
            <a:endPar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6)</a:t>
            </a:r>
            <a:r>
              <a:rPr kumimoji="0" lang="zh-CN" altLang="en-US" sz="2600" kern="1200" cap="none" spc="0" normalizeH="0" baseline="0" noProof="0" dirty="0">
                <a:latin typeface="楷体_GB2312" pitchFamily="49" charset="-122"/>
                <a:ea typeface="宋体" panose="02010600030101010101" pitchFamily="2" charset="-122"/>
                <a:cs typeface="+mn-cs"/>
              </a:rPr>
              <a:t>项目可</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交付成果</a:t>
            </a:r>
            <a:endPar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7)</a:t>
            </a:r>
            <a:r>
              <a:rPr kumimoji="0" lang="zh-CN" altLang="en-US" sz="2600" kern="1200" cap="none" spc="0" normalizeH="0" baseline="0" noProof="0" dirty="0">
                <a:latin typeface="楷体_GB2312" pitchFamily="49" charset="-122"/>
                <a:ea typeface="宋体" panose="02010600030101010101" pitchFamily="2" charset="-122"/>
                <a:cs typeface="+mn-cs"/>
              </a:rPr>
              <a:t>重要</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资料清单</a:t>
            </a:r>
            <a:r>
              <a:rPr kumimoji="0" lang="zh-CN" altLang="en-US" sz="2600" kern="1200" cap="none" spc="0" normalizeH="0" baseline="0" noProof="0" dirty="0">
                <a:latin typeface="楷体_GB2312" pitchFamily="49" charset="-122"/>
                <a:ea typeface="宋体" panose="02010600030101010101" pitchFamily="2" charset="-122"/>
                <a:cs typeface="+mn-cs"/>
              </a:rPr>
              <a:t> </a:t>
            </a:r>
            <a:endParaRPr kumimoji="0" lang="zh-CN" altLang="en-US" sz="2600" kern="1200" cap="none" spc="0" normalizeH="0" baseline="0" noProof="0" dirty="0">
              <a:latin typeface="楷体_GB2312" pitchFamily="49" charset="-122"/>
              <a:ea typeface="宋体" panose="02010600030101010101" pitchFamily="2" charset="-122"/>
              <a:cs typeface="+mn-cs"/>
            </a:endParaRPr>
          </a:p>
          <a:p>
            <a:pPr marR="0" algn="just" defTabSz="914400" eaLnBrk="0" hangingPunct="0">
              <a:spcBef>
                <a:spcPct val="50000"/>
              </a:spcBef>
              <a:buClrTx/>
              <a:buSzTx/>
              <a:buFontTx/>
              <a:buNone/>
              <a:defRPr/>
            </a:pPr>
            <a:r>
              <a:rPr kumimoji="0" lang="en-US" altLang="zh-CN"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8)</a:t>
            </a:r>
            <a:r>
              <a:rPr kumimoji="0" lang="zh-CN" altLang="en-US" sz="2600" kern="1200" cap="none" spc="0" normalizeH="0" baseline="0" noProof="0" dirty="0">
                <a:latin typeface="楷体_GB2312" pitchFamily="49" charset="-122"/>
                <a:ea typeface="宋体" panose="02010600030101010101" pitchFamily="2" charset="-122"/>
                <a:cs typeface="+mn-cs"/>
              </a:rPr>
              <a:t>有关定义和缩写词的</a:t>
            </a:r>
            <a:r>
              <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rPr>
              <a:t>说明</a:t>
            </a:r>
            <a:endParaRPr kumimoji="0" lang="zh-CN" altLang="en-US" sz="2600" kern="1200" cap="none" spc="0" normalizeH="0" baseline="0" noProof="0" dirty="0">
              <a:effectLst>
                <a:outerShdw blurRad="38100" dist="38100" dir="2700000" algn="tl">
                  <a:srgbClr val="C0C0C0"/>
                </a:outerShdw>
              </a:effectLst>
              <a:latin typeface="楷体_GB2312" pitchFamily="49" charset="-122"/>
              <a:ea typeface="宋体" panose="02010600030101010101" pitchFamily="2" charset="-122"/>
              <a:cs typeface="+mn-cs"/>
            </a:endParaRPr>
          </a:p>
        </p:txBody>
      </p:sp>
      <p:grpSp>
        <p:nvGrpSpPr>
          <p:cNvPr id="103427" name="Group 8"/>
          <p:cNvGrpSpPr/>
          <p:nvPr/>
        </p:nvGrpSpPr>
        <p:grpSpPr>
          <a:xfrm>
            <a:off x="1519238" y="893763"/>
            <a:ext cx="9148762" cy="85725"/>
            <a:chOff x="0" y="0"/>
            <a:chExt cx="5763" cy="54"/>
          </a:xfrm>
        </p:grpSpPr>
        <p:sp>
          <p:nvSpPr>
            <p:cNvPr id="103428"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3429"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7"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2" name="Text Box 1028"/>
          <p:cNvSpPr txBox="1">
            <a:spLocks noChangeArrowheads="1"/>
          </p:cNvSpPr>
          <p:nvPr/>
        </p:nvSpPr>
        <p:spPr bwMode="auto">
          <a:xfrm>
            <a:off x="2566988" y="1133475"/>
            <a:ext cx="7129463" cy="2461260"/>
          </a:xfrm>
          <a:prstGeom prst="rect">
            <a:avLst/>
          </a:prstGeom>
          <a:noFill/>
          <a:ln w="50800">
            <a:noFill/>
            <a:miter lim="800000"/>
          </a:ln>
          <a:effectLst/>
        </p:spPr>
        <p:txBody>
          <a:bodyPr wrap="square">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组织情况描述：</a:t>
            </a:r>
            <a:endParaRPr kumimoji="0" lang="zh-CN" altLang="en-US" sz="2800" kern="1200" cap="none" spc="0" normalizeH="0" baseline="0" noProof="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R="0" algn="just" defTabSz="914400" eaLnBrk="0" hangingPunct="0">
              <a:spcBef>
                <a:spcPct val="50000"/>
              </a:spcBef>
              <a:buClrTx/>
              <a:buSzTx/>
              <a:buFontTx/>
              <a:buNone/>
              <a:defRPr/>
            </a:pPr>
            <a:r>
              <a:rPr kumimoji="0" lang="en-US" altLang="zh-CN"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组织结构图</a:t>
            </a:r>
            <a:endPar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endParaRPr>
          </a:p>
          <a:p>
            <a:pPr marR="0" algn="just" defTabSz="914400" eaLnBrk="0" hangingPunct="0">
              <a:spcBef>
                <a:spcPct val="50000"/>
              </a:spcBef>
              <a:buClrTx/>
              <a:buSzTx/>
              <a:buFontTx/>
              <a:buNone/>
              <a:defRPr/>
            </a:pPr>
            <a:r>
              <a:rPr kumimoji="0" lang="en-US" altLang="zh-CN"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项目责任</a:t>
            </a:r>
            <a:r>
              <a:rPr kumimoji="0" lang="en-US" altLang="zh-CN"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分工）</a:t>
            </a:r>
            <a:endPar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endParaRPr>
          </a:p>
          <a:p>
            <a:pPr marR="0" algn="just" defTabSz="914400" eaLnBrk="0" hangingPunct="0">
              <a:spcBef>
                <a:spcPct val="50000"/>
              </a:spcBef>
              <a:buClrTx/>
              <a:buSzTx/>
              <a:buFontTx/>
              <a:buNone/>
              <a:defRPr/>
            </a:pPr>
            <a:r>
              <a:rPr kumimoji="0" lang="en-US" altLang="zh-CN"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与组织或过程相关的信息 </a:t>
            </a:r>
            <a:endParaRPr kumimoji="0" lang="zh-CN" altLang="en-US" sz="2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04451" name="Group 8"/>
          <p:cNvGrpSpPr/>
          <p:nvPr/>
        </p:nvGrpSpPr>
        <p:grpSpPr>
          <a:xfrm>
            <a:off x="1519238" y="893763"/>
            <a:ext cx="9148762" cy="85725"/>
            <a:chOff x="0" y="0"/>
            <a:chExt cx="5763" cy="54"/>
          </a:xfrm>
        </p:grpSpPr>
        <p:sp>
          <p:nvSpPr>
            <p:cNvPr id="10445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445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7"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474" name="Group 8"/>
          <p:cNvGrpSpPr/>
          <p:nvPr/>
        </p:nvGrpSpPr>
        <p:grpSpPr>
          <a:xfrm>
            <a:off x="1519238" y="893763"/>
            <a:ext cx="9148762" cy="85725"/>
            <a:chOff x="0" y="0"/>
            <a:chExt cx="5763" cy="54"/>
          </a:xfrm>
        </p:grpSpPr>
        <p:sp>
          <p:nvSpPr>
            <p:cNvPr id="10547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547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4"/>
          <p:cNvSpPr txBox="1">
            <a:spLocks noChangeArrowheads="1"/>
          </p:cNvSpPr>
          <p:nvPr/>
        </p:nvSpPr>
        <p:spPr bwMode="auto">
          <a:xfrm>
            <a:off x="2700338" y="1341438"/>
            <a:ext cx="6781800" cy="3753485"/>
          </a:xfrm>
          <a:prstGeom prst="rect">
            <a:avLst/>
          </a:prstGeom>
          <a:noFill/>
          <a:ln w="50800">
            <a:noFill/>
            <a:miter lim="800000"/>
          </a:ln>
          <a:effectLst/>
        </p:spPr>
        <p:txBody>
          <a:bodyPr>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项目的管理和方法</a:t>
            </a:r>
            <a:endPar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管理</a:t>
            </a: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目标</a:t>
            </a:r>
            <a:endParaRPr kumimoji="0" lang="zh-CN" altLang="en-US" sz="2800" kern="1200" cap="none" spc="0" normalizeH="0" baseline="0" noProof="0" dirty="0">
              <a:solidFill>
                <a:srgbClr val="99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项目</a:t>
            </a: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控制</a:t>
            </a:r>
            <a:endPar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风险</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管理</a:t>
            </a:r>
            <a:endPar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项目</a:t>
            </a: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人员</a:t>
            </a:r>
            <a:endPar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技术</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过程</a:t>
            </a:r>
            <a:endPar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2" name="AutoShape 6"/>
          <p:cNvSpPr/>
          <p:nvPr/>
        </p:nvSpPr>
        <p:spPr>
          <a:xfrm>
            <a:off x="5735955" y="1700530"/>
            <a:ext cx="5434965" cy="1371600"/>
          </a:xfrm>
          <a:prstGeom prst="wedgeRoundRectCallout">
            <a:avLst>
              <a:gd name="adj1" fmla="val -71398"/>
              <a:gd name="adj2" fmla="val -11806"/>
              <a:gd name="adj3" fmla="val 16667"/>
            </a:avLst>
          </a:prstGeom>
          <a:solidFill>
            <a:srgbClr val="FFFF00"/>
          </a:solidFill>
          <a:ln w="38100" cap="flat" cmpd="sng">
            <a:solidFill>
              <a:srgbClr val="800000"/>
            </a:solidFill>
            <a:prstDash val="solid"/>
            <a:miter/>
            <a:headEnd type="none" w="med" len="med"/>
            <a:tailEnd type="none" w="med" len="med"/>
          </a:ln>
        </p:spPr>
        <p:txBody>
          <a:bodyPr lIns="92075" tIns="46038" rIns="92075" bIns="46038" anchor="ctr" anchorCtr="0"/>
          <a:lstStyle/>
          <a:p>
            <a:pPr marL="457200" indent="-457200"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上级管理层对项目有哪些想法</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a:p>
            <a:pPr marL="457200" indent="-457200"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有哪些要优先考虑的因素</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a:p>
            <a:pPr marL="457200" indent="-457200"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有哪些假设条件和限制条件</a:t>
            </a:r>
            <a:r>
              <a:rPr lang="zh-CN" altLang="en-US" dirty="0">
                <a:solidFill>
                  <a:srgbClr val="0000FF"/>
                </a:solidFill>
                <a:latin typeface="Times New Roman" panose="02020603050405020304" pitchFamily="18" charset="0"/>
                <a:ea typeface="宋体" panose="02010600030101010101" pitchFamily="2" charset="-122"/>
              </a:rPr>
              <a:t>? </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 name="AutoShape 7"/>
          <p:cNvSpPr/>
          <p:nvPr/>
        </p:nvSpPr>
        <p:spPr>
          <a:xfrm>
            <a:off x="5304155" y="3429000"/>
            <a:ext cx="6269355" cy="2590800"/>
          </a:xfrm>
          <a:prstGeom prst="wedgeRoundRectCallout">
            <a:avLst>
              <a:gd name="adj1" fmla="val -54935"/>
              <a:gd name="adj2" fmla="val -66176"/>
              <a:gd name="adj3" fmla="val 16667"/>
            </a:avLst>
          </a:prstGeom>
          <a:solidFill>
            <a:srgbClr val="FFFF00"/>
          </a:solidFill>
          <a:ln w="38100" cap="flat" cmpd="sng">
            <a:solidFill>
              <a:srgbClr val="800000"/>
            </a:solidFill>
            <a:prstDash val="solid"/>
            <a:miter/>
            <a:headEnd type="none" w="med" len="med"/>
            <a:tailEnd type="none" w="med" len="med"/>
          </a:ln>
        </p:spPr>
        <p:txBody>
          <a:bodyPr lIns="92075" tIns="46038" rIns="92075" bIns="46038" anchor="ctr" anchorCtr="0"/>
          <a:lstStyle/>
          <a:p>
            <a:pPr marL="457200" indent="-457200"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使用什么方法、规则和工具对项目运行进行监控</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a:p>
            <a:pPr marL="457200" indent="-457200"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变更控制的过程是什么</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a:p>
            <a:pPr marL="457200" indent="-457200"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不同类型的变更都得需要哪个管理层的批准</a:t>
            </a:r>
            <a:r>
              <a:rPr lang="zh-CN" altLang="en-US" dirty="0">
                <a:solidFill>
                  <a:srgbClr val="0000FF"/>
                </a:solidFill>
                <a:latin typeface="Times New Roman" panose="02020603050405020304" pitchFamily="18" charset="0"/>
                <a:ea typeface="宋体" panose="02010600030101010101" pitchFamily="2" charset="-122"/>
              </a:rPr>
              <a:t>? </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9"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1+#ppt_w/2"/>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500" fill="hold"/>
                                        <p:tgtEl>
                                          <p:spTgt spid="13"/>
                                        </p:tgtEl>
                                        <p:attrNameLst>
                                          <p:attrName>ppt_x</p:attrName>
                                        </p:attrNameLst>
                                      </p:cBhvr>
                                      <p:tavLst>
                                        <p:tav tm="0">
                                          <p:val>
                                            <p:strVal val="1+#ppt_w/2"/>
                                          </p:val>
                                        </p:tav>
                                        <p:tav tm="100000">
                                          <p:val>
                                            <p:strVal val="#ppt_x"/>
                                          </p:val>
                                        </p:tav>
                                      </p:tavLst>
                                    </p:anim>
                                    <p:anim calcmode="lin" valueType="num">
                                      <p:cBhvr>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498" name="Group 8"/>
          <p:cNvGrpSpPr/>
          <p:nvPr/>
        </p:nvGrpSpPr>
        <p:grpSpPr>
          <a:xfrm>
            <a:off x="1519238" y="893763"/>
            <a:ext cx="9148762" cy="85725"/>
            <a:chOff x="0" y="0"/>
            <a:chExt cx="5763" cy="54"/>
          </a:xfrm>
        </p:grpSpPr>
        <p:sp>
          <p:nvSpPr>
            <p:cNvPr id="106499"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6500"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4"/>
          <p:cNvSpPr txBox="1">
            <a:spLocks noChangeArrowheads="1"/>
          </p:cNvSpPr>
          <p:nvPr/>
        </p:nvSpPr>
        <p:spPr bwMode="auto">
          <a:xfrm>
            <a:off x="2700338" y="1341438"/>
            <a:ext cx="6781800" cy="3753485"/>
          </a:xfrm>
          <a:prstGeom prst="rect">
            <a:avLst/>
          </a:prstGeom>
          <a:noFill/>
          <a:ln w="50800">
            <a:noFill/>
            <a:miter lim="800000"/>
          </a:ln>
          <a:effectLst/>
        </p:spPr>
        <p:txBody>
          <a:bodyPr>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项目的管理和方法</a:t>
            </a:r>
            <a:endPar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管理</a:t>
            </a: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目标</a:t>
            </a:r>
            <a:endParaRPr kumimoji="0" lang="zh-CN" altLang="en-US" sz="2800" kern="1200" cap="none" spc="0" normalizeH="0" baseline="0" noProof="0" dirty="0">
              <a:solidFill>
                <a:srgbClr val="99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项目</a:t>
            </a: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控制</a:t>
            </a:r>
            <a:endPar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风险</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管理</a:t>
            </a:r>
            <a:endPar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项目</a:t>
            </a: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人员</a:t>
            </a:r>
            <a:endPar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solidFill>
                  <a:srgbClr val="99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技术</a:t>
            </a:r>
            <a:r>
              <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过程</a:t>
            </a:r>
            <a:endParaRPr kumimoji="0" lang="zh-CN" altLang="en-US" sz="2800"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4" name="AutoShape 1030"/>
          <p:cNvSpPr/>
          <p:nvPr/>
        </p:nvSpPr>
        <p:spPr>
          <a:xfrm>
            <a:off x="6096000" y="1557655"/>
            <a:ext cx="5016500" cy="914400"/>
          </a:xfrm>
          <a:prstGeom prst="wedgeRoundRectCallout">
            <a:avLst>
              <a:gd name="adj1" fmla="val -75531"/>
              <a:gd name="adj2" fmla="val 143680"/>
              <a:gd name="adj3" fmla="val 16667"/>
            </a:avLst>
          </a:prstGeom>
          <a:solidFill>
            <a:srgbClr val="FFFF00"/>
          </a:solidFill>
          <a:ln w="38100" cap="flat" cmpd="sng">
            <a:solidFill>
              <a:srgbClr val="800000"/>
            </a:solidFill>
            <a:prstDash val="solid"/>
            <a:miter/>
            <a:headEnd type="none" w="med" len="med"/>
            <a:tailEnd type="none" w="med" len="med"/>
          </a:ln>
        </p:spPr>
        <p:txBody>
          <a:bodyPr lIns="92075" tIns="46038" rIns="92075" bIns="46038" anchor="ctr" anchorCtr="0"/>
          <a:lstStyle/>
          <a:p>
            <a:pPr marL="457200" indent="-457200" eaLnBrk="0" hangingPunct="0"/>
            <a:r>
              <a:rPr lang="zh-CN" altLang="en-US" dirty="0">
                <a:solidFill>
                  <a:srgbClr val="0000FF"/>
                </a:solidFill>
                <a:latin typeface="宋体" panose="02010600030101010101" pitchFamily="2" charset="-122"/>
                <a:ea typeface="宋体" panose="02010600030101010101" pitchFamily="2" charset="-122"/>
              </a:rPr>
              <a:t>如何进行风险的识别、管理和控制。</a:t>
            </a:r>
            <a:r>
              <a:rPr lang="zh-CN" altLang="en-US" dirty="0">
                <a:solidFill>
                  <a:srgbClr val="0000FF"/>
                </a:solidFill>
                <a:latin typeface="Times New Roman" panose="02020603050405020304" pitchFamily="18" charset="0"/>
                <a:ea typeface="宋体" panose="02010600030101010101" pitchFamily="2" charset="-122"/>
              </a:rPr>
              <a:t> </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5" name="AutoShape 1031"/>
          <p:cNvSpPr/>
          <p:nvPr/>
        </p:nvSpPr>
        <p:spPr>
          <a:xfrm>
            <a:off x="5923280" y="3049905"/>
            <a:ext cx="5255260" cy="685800"/>
          </a:xfrm>
          <a:prstGeom prst="wedgeRoundRectCallout">
            <a:avLst>
              <a:gd name="adj1" fmla="val -70480"/>
              <a:gd name="adj2" fmla="val 102777"/>
              <a:gd name="adj3" fmla="val 16667"/>
            </a:avLst>
          </a:prstGeom>
          <a:solidFill>
            <a:srgbClr val="FFFF00"/>
          </a:solidFill>
          <a:ln w="38100" cap="flat" cmpd="sng">
            <a:solidFill>
              <a:srgbClr val="800000"/>
            </a:solidFill>
            <a:prstDash val="solid"/>
            <a:miter/>
            <a:headEnd type="none" w="med" len="med"/>
            <a:tailEnd type="none" w="med" len="med"/>
          </a:ln>
        </p:spPr>
        <p:txBody>
          <a:bodyPr lIns="92075" tIns="46038" rIns="92075" bIns="46038" anchor="ctr" anchorCtr="0"/>
          <a:lstStyle/>
          <a:p>
            <a:pPr marL="457200" indent="-457200" eaLnBrk="0" hangingPunct="0"/>
            <a:r>
              <a:rPr lang="zh-CN" altLang="en-US" dirty="0">
                <a:solidFill>
                  <a:srgbClr val="0000FF"/>
                </a:solidFill>
                <a:latin typeface="宋体" panose="02010600030101010101" pitchFamily="2" charset="-122"/>
                <a:ea typeface="宋体" panose="02010600030101010101" pitchFamily="2" charset="-122"/>
              </a:rPr>
              <a:t>所需人员的数量和类型等信息</a:t>
            </a:r>
            <a:r>
              <a:rPr lang="zh-CN" altLang="en-US" dirty="0">
                <a:solidFill>
                  <a:srgbClr val="0000FF"/>
                </a:solidFill>
                <a:latin typeface="Times New Roman" panose="02020603050405020304" pitchFamily="18" charset="0"/>
                <a:ea typeface="宋体" panose="02010600030101010101" pitchFamily="2" charset="-122"/>
              </a:rPr>
              <a:t> </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6" name="AutoShape 1032"/>
          <p:cNvSpPr/>
          <p:nvPr/>
        </p:nvSpPr>
        <p:spPr>
          <a:xfrm>
            <a:off x="5808980" y="4078605"/>
            <a:ext cx="5413375" cy="2303145"/>
          </a:xfrm>
          <a:prstGeom prst="wedgeRoundRectCallout">
            <a:avLst>
              <a:gd name="adj1" fmla="val -70046"/>
              <a:gd name="adj2" fmla="val -17080"/>
              <a:gd name="adj3" fmla="val 16667"/>
            </a:avLst>
          </a:prstGeom>
          <a:solidFill>
            <a:srgbClr val="FFFF00"/>
          </a:solidFill>
          <a:ln w="38100" cap="flat" cmpd="sng">
            <a:solidFill>
              <a:srgbClr val="800000"/>
            </a:solidFill>
            <a:prstDash val="solid"/>
            <a:miter/>
            <a:headEnd type="none" w="med" len="med"/>
            <a:tailEnd type="none" w="med" len="med"/>
          </a:ln>
        </p:spPr>
        <p:txBody>
          <a:bodyPr lIns="92075" tIns="46038" rIns="92075" bIns="46038" anchor="ctr" anchorCtr="0"/>
          <a:lstStyle/>
          <a:p>
            <a:pPr eaLnBrk="0" hangingPunct="0"/>
            <a:r>
              <a:rPr lang="zh-CN" altLang="en-US" dirty="0">
                <a:solidFill>
                  <a:srgbClr val="0000FF"/>
                </a:solidFill>
                <a:latin typeface="楷体_GB2312"/>
                <a:ea typeface="宋体" panose="02010600030101010101" pitchFamily="2" charset="-122"/>
              </a:rPr>
              <a:t>项目可能用到的一些具体方法以及信息的归档方法。例如，许多</a:t>
            </a:r>
            <a:r>
              <a:rPr lang="en-US" altLang="zh-CN" dirty="0">
                <a:solidFill>
                  <a:srgbClr val="0000FF"/>
                </a:solidFill>
                <a:latin typeface="楷体_GB2312"/>
              </a:rPr>
              <a:t>IT</a:t>
            </a:r>
            <a:r>
              <a:rPr lang="zh-CN" altLang="en-US" dirty="0">
                <a:solidFill>
                  <a:srgbClr val="0000FF"/>
                </a:solidFill>
                <a:latin typeface="楷体_GB2312"/>
                <a:ea typeface="宋体" panose="02010600030101010101" pitchFamily="2" charset="-122"/>
              </a:rPr>
              <a:t>项目要采用一些具体的软件开发方法和计算机辅助软件工程(</a:t>
            </a:r>
            <a:r>
              <a:rPr lang="en-US" altLang="zh-CN" dirty="0">
                <a:solidFill>
                  <a:srgbClr val="0000FF"/>
                </a:solidFill>
                <a:latin typeface="楷体_GB2312"/>
              </a:rPr>
              <a:t>CASE)</a:t>
            </a:r>
            <a:r>
              <a:rPr lang="zh-CN" altLang="en-US" dirty="0">
                <a:solidFill>
                  <a:srgbClr val="0000FF"/>
                </a:solidFill>
                <a:latin typeface="楷体_GB2312"/>
                <a:ea typeface="宋体" panose="02010600030101010101" pitchFamily="2" charset="-122"/>
              </a:rPr>
              <a:t>工具。</a:t>
            </a:r>
            <a:r>
              <a:rPr lang="zh-CN" altLang="en-US" dirty="0">
                <a:solidFill>
                  <a:srgbClr val="0000FF"/>
                </a:solidFill>
                <a:latin typeface="宋体" panose="02010600030101010101" pitchFamily="2" charset="-122"/>
                <a:ea typeface="宋体" panose="02010600030101010101" pitchFamily="2" charset="-122"/>
              </a:rPr>
              <a:t> </a:t>
            </a:r>
            <a:endParaRPr lang="zh-CN" altLang="en-US" dirty="0">
              <a:solidFill>
                <a:srgbClr val="0000FF"/>
              </a:solidFill>
              <a:latin typeface="宋体" panose="02010600030101010101" pitchFamily="2" charset="-122"/>
              <a:ea typeface="宋体" panose="02010600030101010101" pitchFamily="2" charset="-122"/>
            </a:endParaRPr>
          </a:p>
        </p:txBody>
      </p:sp>
      <p:sp>
        <p:nvSpPr>
          <p:cNvPr id="10"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1+#ppt_w/2"/>
                                          </p:val>
                                        </p:tav>
                                        <p:tav tm="100000">
                                          <p:val>
                                            <p:strVal val="#ppt_x"/>
                                          </p:val>
                                        </p:tav>
                                      </p:tavLst>
                                    </p:anim>
                                    <p:anim calcmode="lin" valueType="num">
                                      <p:cBhvr>
                                        <p:cTn id="8"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ppt_x</p:attrName>
                                        </p:attrNameLst>
                                      </p:cBhvr>
                                      <p:tavLst>
                                        <p:tav tm="0">
                                          <p:val>
                                            <p:strVal val="1+#ppt_w/2"/>
                                          </p:val>
                                        </p:tav>
                                        <p:tav tm="100000">
                                          <p:val>
                                            <p:strVal val="#ppt_x"/>
                                          </p:val>
                                        </p:tav>
                                      </p:tavLst>
                                    </p:anim>
                                    <p:anim calcmode="lin" valueType="num">
                                      <p:cBhvr>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ppt_x</p:attrName>
                                        </p:attrNameLst>
                                      </p:cBhvr>
                                      <p:tavLst>
                                        <p:tav tm="0">
                                          <p:val>
                                            <p:strVal val="1+#ppt_w/2"/>
                                          </p:val>
                                        </p:tav>
                                        <p:tav tm="100000">
                                          <p:val>
                                            <p:strVal val="#ppt_x"/>
                                          </p:val>
                                        </p:tav>
                                      </p:tavLst>
                                    </p:anim>
                                    <p:anim calcmode="lin" valueType="num">
                                      <p:cBhvr>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bldLvl="0" animBg="1"/>
      <p:bldP spid="16"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522" name="Group 8"/>
          <p:cNvGrpSpPr/>
          <p:nvPr/>
        </p:nvGrpSpPr>
        <p:grpSpPr>
          <a:xfrm>
            <a:off x="1519238" y="893763"/>
            <a:ext cx="9148762" cy="85725"/>
            <a:chOff x="0" y="0"/>
            <a:chExt cx="5763" cy="54"/>
          </a:xfrm>
        </p:grpSpPr>
        <p:sp>
          <p:nvSpPr>
            <p:cNvPr id="10752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752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4"/>
          <p:cNvSpPr txBox="1">
            <a:spLocks noChangeArrowheads="1"/>
          </p:cNvSpPr>
          <p:nvPr/>
        </p:nvSpPr>
        <p:spPr bwMode="auto">
          <a:xfrm>
            <a:off x="2700338" y="1341438"/>
            <a:ext cx="4259263" cy="2461260"/>
          </a:xfrm>
          <a:prstGeom prst="rect">
            <a:avLst/>
          </a:prstGeom>
          <a:noFill/>
          <a:ln w="50800">
            <a:noFill/>
            <a:miter lim="800000"/>
          </a:ln>
          <a:effectLst/>
        </p:spPr>
        <p:txBody>
          <a:bodyPr wrap="square">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项目任务</a:t>
            </a:r>
            <a:endPar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主要工作</a:t>
            </a:r>
            <a:r>
              <a:rPr kumimoji="0" lang="zh-CN" altLang="en-US" sz="2800" kern="1200" cap="none" spc="0" normalizeH="0" baseline="0" noProof="0" dirty="0">
                <a:solidFill>
                  <a:srgbClr val="7030A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内容</a:t>
            </a:r>
            <a:endParaRPr kumimoji="0" lang="zh-CN" altLang="en-US" sz="2800" kern="1200" cap="none" spc="0" normalizeH="0" baseline="0" noProof="0" dirty="0">
              <a:solidFill>
                <a:srgbClr val="7030A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主要可</a:t>
            </a:r>
            <a:r>
              <a:rPr kumimoji="0" lang="zh-CN" altLang="en-US" sz="2800" kern="1200" cap="none" spc="0" normalizeH="0" baseline="0" noProof="0" dirty="0">
                <a:solidFill>
                  <a:srgbClr val="7030A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交付成果</a:t>
            </a:r>
            <a:endParaRPr kumimoji="0" lang="zh-CN" altLang="en-US" sz="2800" kern="1200" cap="none" spc="0" normalizeH="0" baseline="0" noProof="0" dirty="0">
              <a:solidFill>
                <a:srgbClr val="7030A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宋体" panose="02010600030101010101" pitchFamily="2" charset="-122"/>
                <a:ea typeface="宋体" panose="02010600030101010101" pitchFamily="2" charset="-122"/>
                <a:cs typeface="+mn-cs"/>
              </a:rPr>
              <a:t>工作有关的</a:t>
            </a:r>
            <a:r>
              <a:rPr kumimoji="0" lang="zh-CN" altLang="en-US" sz="2800" kern="1200" cap="none" spc="0" normalizeH="0" baseline="0" noProof="0" dirty="0">
                <a:solidFill>
                  <a:srgbClr val="7030A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其他信息</a:t>
            </a:r>
            <a:endParaRPr kumimoji="0" lang="zh-CN" altLang="en-US" sz="2800" kern="1200" cap="none" spc="0" normalizeH="0" baseline="0" noProof="0" dirty="0">
              <a:solidFill>
                <a:srgbClr val="7030A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2" name="AutoShape 5"/>
          <p:cNvSpPr/>
          <p:nvPr/>
        </p:nvSpPr>
        <p:spPr>
          <a:xfrm>
            <a:off x="5951855" y="1008380"/>
            <a:ext cx="5878830" cy="1626870"/>
          </a:xfrm>
          <a:prstGeom prst="wedgeRoundRectCallout">
            <a:avLst>
              <a:gd name="adj1" fmla="val -60596"/>
              <a:gd name="adj2" fmla="val 29820"/>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运用</a:t>
            </a:r>
            <a:r>
              <a:rPr lang="en-US" altLang="zh-CN" dirty="0">
                <a:solidFill>
                  <a:srgbClr val="0000FF"/>
                </a:solidFill>
                <a:latin typeface="宋体" panose="02010600030101010101" pitchFamily="2" charset="-122"/>
              </a:rPr>
              <a:t>WBS</a:t>
            </a:r>
            <a:r>
              <a:rPr lang="zh-CN" altLang="en-US" dirty="0">
                <a:solidFill>
                  <a:srgbClr val="0000FF"/>
                </a:solidFill>
                <a:latin typeface="宋体" panose="02010600030101010101" pitchFamily="2" charset="-122"/>
                <a:ea typeface="宋体" panose="02010600030101010101" pitchFamily="2" charset="-122"/>
              </a:rPr>
              <a:t>将项目分解成一些工作包 </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制定工作说明(</a:t>
            </a:r>
            <a:r>
              <a:rPr lang="en-US" altLang="zh-CN" dirty="0">
                <a:solidFill>
                  <a:srgbClr val="0000FF"/>
                </a:solidFill>
                <a:latin typeface="宋体" panose="02010600030101010101" pitchFamily="2" charset="-122"/>
              </a:rPr>
              <a:t>SOW)</a:t>
            </a:r>
            <a:r>
              <a:rPr lang="zh-CN" altLang="en-US" dirty="0">
                <a:solidFill>
                  <a:srgbClr val="0000FF"/>
                </a:solidFill>
                <a:latin typeface="宋体" panose="02010600030101010101" pitchFamily="2" charset="-122"/>
                <a:ea typeface="宋体" panose="02010600030101010101" pitchFamily="2" charset="-122"/>
              </a:rPr>
              <a:t> 描述细节内容</a:t>
            </a:r>
            <a:endParaRPr lang="zh-CN" altLang="en-US" dirty="0">
              <a:solidFill>
                <a:srgbClr val="0000FF"/>
              </a:solidFill>
              <a:latin typeface="宋体" panose="02010600030101010101" pitchFamily="2" charset="-122"/>
              <a:ea typeface="宋体" panose="02010600030101010101" pitchFamily="2" charset="-122"/>
            </a:endParaRPr>
          </a:p>
        </p:txBody>
      </p:sp>
      <p:sp>
        <p:nvSpPr>
          <p:cNvPr id="13" name="AutoShape 6"/>
          <p:cNvSpPr>
            <a:spLocks noChangeArrowheads="1"/>
          </p:cNvSpPr>
          <p:nvPr/>
        </p:nvSpPr>
        <p:spPr bwMode="auto">
          <a:xfrm>
            <a:off x="6600825" y="3313113"/>
            <a:ext cx="3959225" cy="1484313"/>
          </a:xfrm>
          <a:prstGeom prst="wedgeRoundRectCallout">
            <a:avLst>
              <a:gd name="adj1" fmla="val -69422"/>
              <a:gd name="adj2" fmla="val -70377"/>
              <a:gd name="adj3" fmla="val 16667"/>
            </a:avLst>
          </a:prstGeom>
          <a:solidFill>
            <a:srgbClr val="FFFF00"/>
          </a:solidFill>
          <a:ln w="38100">
            <a:solidFill>
              <a:srgbClr val="800000"/>
            </a:solidFill>
            <a:miter lim="800000"/>
          </a:ln>
          <a:effectLst/>
        </p:spPr>
        <p:txBody>
          <a:bodyPr lIns="0" tIns="0" rIns="0" bIns="0"/>
          <a:lstStyle/>
          <a:p>
            <a:pPr marL="288925" marR="0" lvl="0" indent="-288925" algn="l" defTabSz="914400" rtl="0" eaLnBrk="0" fontAlgn="base" latinLnBrk="0" hangingPunct="0">
              <a:lnSpc>
                <a:spcPct val="100000"/>
              </a:lnSpc>
              <a:spcBef>
                <a:spcPct val="0"/>
              </a:spcBef>
              <a:spcAft>
                <a:spcPct val="0"/>
              </a:spcAft>
              <a:buClrTx/>
              <a:buSzTx/>
              <a:buFontTx/>
              <a:buAutoNum type="arabicPeriod"/>
              <a:defRPr/>
            </a:pPr>
            <a:r>
              <a:rPr kumimoji="0" lang="zh-CN" altLang="en-US" sz="24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提交的产品与提交方式</a:t>
            </a:r>
            <a:endParaRPr kumimoji="0" lang="zh-CN" altLang="en-US" sz="24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endParaRPr>
          </a:p>
          <a:p>
            <a:pPr marL="288925" marR="0" lvl="0" indent="-288925" algn="l" defTabSz="914400" rtl="0" eaLnBrk="0" fontAlgn="base" latinLnBrk="0" hangingPunct="0">
              <a:lnSpc>
                <a:spcPct val="100000"/>
              </a:lnSpc>
              <a:spcBef>
                <a:spcPct val="0"/>
              </a:spcBef>
              <a:spcAft>
                <a:spcPct val="0"/>
              </a:spcAft>
              <a:buClrTx/>
              <a:buSzTx/>
              <a:buFontTx/>
              <a:buAutoNum type="arabicPeriod"/>
              <a:defRPr/>
            </a:pPr>
            <a:r>
              <a:rPr kumimoji="0" lang="zh-CN" altLang="en-US" sz="24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质量要求与判断标准</a:t>
            </a:r>
            <a:endParaRPr kumimoji="0" lang="zh-CN" altLang="en-US" sz="24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（软件成果＝程序＋文档）</a:t>
            </a:r>
            <a:endParaRPr kumimoji="0" lang="zh-CN" altLang="en-US" sz="2400" b="0"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endParaRPr>
          </a:p>
        </p:txBody>
      </p:sp>
      <p:sp>
        <p:nvSpPr>
          <p:cNvPr id="17" name="AutoShape 7"/>
          <p:cNvSpPr/>
          <p:nvPr/>
        </p:nvSpPr>
        <p:spPr>
          <a:xfrm>
            <a:off x="1992313" y="4165600"/>
            <a:ext cx="4535487" cy="2416175"/>
          </a:xfrm>
          <a:prstGeom prst="wedgeRoundRectCallout">
            <a:avLst>
              <a:gd name="adj1" fmla="val -18074"/>
              <a:gd name="adj2" fmla="val -72741"/>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重点突出项目要做工作的一些重要信息：开发方法、关键技术、采用的平台、使用的工具 、遵循的规范等。</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Times New Roman" panose="02020603050405020304" pitchFamily="18" charset="0"/>
                <a:ea typeface="宋体" panose="02010600030101010101" pitchFamily="2" charset="-122"/>
              </a:rPr>
              <a:t>明确项目成功必须满足的前提条件。</a:t>
            </a:r>
            <a:endParaRPr lang="zh-CN" altLang="en-US" dirty="0">
              <a:solidFill>
                <a:srgbClr val="0000FF"/>
              </a:solidFill>
              <a:latin typeface="宋体" panose="02010600030101010101" pitchFamily="2" charset="-122"/>
              <a:ea typeface="宋体" panose="02010600030101010101" pitchFamily="2" charset="-122"/>
            </a:endParaRPr>
          </a:p>
        </p:txBody>
      </p:sp>
      <p:sp>
        <p:nvSpPr>
          <p:cNvPr id="10"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1+#ppt_w/2"/>
                                          </p:val>
                                        </p:tav>
                                        <p:tav tm="100000">
                                          <p:val>
                                            <p:strVal val="#ppt_x"/>
                                          </p:val>
                                        </p:tav>
                                      </p:tavLst>
                                    </p:anim>
                                    <p:anim calcmode="lin" valueType="num">
                                      <p:cBhvr>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500" fill="hold"/>
                                        <p:tgtEl>
                                          <p:spTgt spid="13"/>
                                        </p:tgtEl>
                                        <p:attrNameLst>
                                          <p:attrName>ppt_x</p:attrName>
                                        </p:attrNameLst>
                                      </p:cBhvr>
                                      <p:tavLst>
                                        <p:tav tm="0">
                                          <p:val>
                                            <p:strVal val="1+#ppt_w/2"/>
                                          </p:val>
                                        </p:tav>
                                        <p:tav tm="100000">
                                          <p:val>
                                            <p:strVal val="#ppt_x"/>
                                          </p:val>
                                        </p:tav>
                                      </p:tavLst>
                                    </p:anim>
                                    <p:anim calcmode="lin" valueType="num">
                                      <p:cBhvr>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ppt_x</p:attrName>
                                        </p:attrNameLst>
                                      </p:cBhvr>
                                      <p:tavLst>
                                        <p:tav tm="0">
                                          <p:val>
                                            <p:strVal val="0-#ppt_w/2"/>
                                          </p:val>
                                        </p:tav>
                                        <p:tav tm="100000">
                                          <p:val>
                                            <p:strVal val="#ppt_x"/>
                                          </p:val>
                                        </p:tav>
                                      </p:tavLst>
                                    </p:anim>
                                    <p:anim calcmode="lin" valueType="num">
                                      <p:cBhvr>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7"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6" name="Group 8"/>
          <p:cNvGrpSpPr/>
          <p:nvPr/>
        </p:nvGrpSpPr>
        <p:grpSpPr>
          <a:xfrm>
            <a:off x="1519238" y="893763"/>
            <a:ext cx="9148762" cy="85725"/>
            <a:chOff x="0" y="0"/>
            <a:chExt cx="5763" cy="54"/>
          </a:xfrm>
        </p:grpSpPr>
        <p:sp>
          <p:nvSpPr>
            <p:cNvPr id="10854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854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4"/>
          <p:cNvSpPr txBox="1">
            <a:spLocks noChangeArrowheads="1"/>
          </p:cNvSpPr>
          <p:nvPr/>
        </p:nvSpPr>
        <p:spPr bwMode="auto">
          <a:xfrm>
            <a:off x="2700338" y="1341438"/>
            <a:ext cx="4259263" cy="2461260"/>
          </a:xfrm>
          <a:prstGeom prst="rect">
            <a:avLst/>
          </a:prstGeom>
          <a:noFill/>
          <a:ln w="50800">
            <a:noFill/>
            <a:miter lim="800000"/>
          </a:ln>
          <a:effectLst/>
        </p:spPr>
        <p:txBody>
          <a:bodyPr wrap="square">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项目进度</a:t>
            </a:r>
            <a:endPar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进度</a:t>
            </a:r>
            <a:r>
              <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概要</a:t>
            </a:r>
            <a:endPar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Times New Roman" panose="02020603050405020304" pitchFamily="18" charset="0"/>
                <a:ea typeface="宋体" panose="02010600030101010101" pitchFamily="2" charset="-122"/>
                <a:cs typeface="+mn-cs"/>
              </a:rPr>
              <a:t>进度</a:t>
            </a:r>
            <a:r>
              <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细要</a:t>
            </a:r>
            <a:endPar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L="457200" marR="0" indent="-457200" algn="just" defTabSz="914400" eaLnBrk="0" hangingPunct="0">
              <a:spcBef>
                <a:spcPct val="50000"/>
              </a:spcBef>
              <a:buClrTx/>
              <a:buSzTx/>
              <a:buFont typeface="Wingdings" panose="05000000000000000000" pitchFamily="2" charset="2"/>
              <a:buAutoNum type="circleNumDbPlain"/>
              <a:defRPr/>
            </a:pPr>
            <a:r>
              <a:rPr kumimoji="0" lang="zh-CN" altLang="en-US" sz="2800" kern="1200" cap="none" spc="0" normalizeH="0" baseline="0" noProof="0" dirty="0">
                <a:latin typeface="宋体" panose="02010600030101010101" pitchFamily="2" charset="-122"/>
                <a:ea typeface="宋体" panose="02010600030101010101" pitchFamily="2" charset="-122"/>
                <a:cs typeface="+mn-cs"/>
              </a:rPr>
              <a:t>与进度有关的</a:t>
            </a:r>
            <a:r>
              <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其他信息</a:t>
            </a:r>
            <a:endPar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4" name="AutoShape 5"/>
          <p:cNvSpPr/>
          <p:nvPr/>
        </p:nvSpPr>
        <p:spPr>
          <a:xfrm>
            <a:off x="5664200" y="1141413"/>
            <a:ext cx="4846638" cy="581025"/>
          </a:xfrm>
          <a:prstGeom prst="wedgeRoundRectCallout">
            <a:avLst>
              <a:gd name="adj1" fmla="val -68303"/>
              <a:gd name="adj2" fmla="val 110491"/>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eaLnBrk="0" hangingPunct="0"/>
            <a:r>
              <a:rPr lang="zh-CN" altLang="en-US" dirty="0">
                <a:solidFill>
                  <a:srgbClr val="0000FF"/>
                </a:solidFill>
                <a:latin typeface="宋体" panose="02010600030101010101" pitchFamily="2" charset="-122"/>
                <a:ea typeface="宋体" panose="02010600030101010101" pitchFamily="2" charset="-122"/>
              </a:rPr>
              <a:t>关键的可交付成果和计划完成日期 </a:t>
            </a:r>
            <a:endParaRPr lang="zh-CN" altLang="en-US" dirty="0">
              <a:solidFill>
                <a:srgbClr val="0000FF"/>
              </a:solidFill>
              <a:latin typeface="宋体" panose="02010600030101010101" pitchFamily="2" charset="-122"/>
              <a:ea typeface="宋体" panose="02010600030101010101" pitchFamily="2" charset="-122"/>
            </a:endParaRPr>
          </a:p>
        </p:txBody>
      </p:sp>
      <p:sp>
        <p:nvSpPr>
          <p:cNvPr id="15" name="AutoShape 6"/>
          <p:cNvSpPr/>
          <p:nvPr/>
        </p:nvSpPr>
        <p:spPr>
          <a:xfrm>
            <a:off x="6169025" y="2112963"/>
            <a:ext cx="3671888" cy="1143000"/>
          </a:xfrm>
          <a:prstGeom prst="wedgeRoundRectCallout">
            <a:avLst>
              <a:gd name="adj1" fmla="val -84833"/>
              <a:gd name="adj2" fmla="val 16287"/>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eaLnBrk="0" hangingPunct="0"/>
            <a:r>
              <a:rPr lang="zh-CN" altLang="en-US" dirty="0">
                <a:solidFill>
                  <a:srgbClr val="0000FF"/>
                </a:solidFill>
                <a:latin typeface="宋体" panose="02010600030101010101" pitchFamily="2" charset="-122"/>
                <a:ea typeface="宋体" panose="02010600030101010101" pitchFamily="2" charset="-122"/>
              </a:rPr>
              <a:t>项目进度计划 </a:t>
            </a:r>
            <a:endParaRPr lang="zh-CN" altLang="en-US" dirty="0">
              <a:solidFill>
                <a:srgbClr val="0000FF"/>
              </a:solidFill>
              <a:latin typeface="宋体" panose="02010600030101010101" pitchFamily="2" charset="-122"/>
              <a:ea typeface="宋体" panose="02010600030101010101" pitchFamily="2" charset="-122"/>
            </a:endParaRPr>
          </a:p>
          <a:p>
            <a:pPr eaLnBrk="0" hangingPunct="0"/>
            <a:r>
              <a:rPr lang="zh-CN" altLang="en-US" dirty="0">
                <a:solidFill>
                  <a:srgbClr val="0000FF"/>
                </a:solidFill>
                <a:latin typeface="宋体" panose="02010600030101010101" pitchFamily="2" charset="-122"/>
                <a:ea typeface="宋体" panose="02010600030101010101" pitchFamily="2" charset="-122"/>
              </a:rPr>
              <a:t>进度管理计划</a:t>
            </a:r>
            <a:endParaRPr lang="zh-CN" altLang="en-US" dirty="0">
              <a:solidFill>
                <a:srgbClr val="0000FF"/>
              </a:solidFill>
              <a:latin typeface="宋体" panose="02010600030101010101" pitchFamily="2" charset="-122"/>
              <a:ea typeface="宋体" panose="02010600030101010101" pitchFamily="2" charset="-122"/>
            </a:endParaRPr>
          </a:p>
          <a:p>
            <a:pPr eaLnBrk="0" hangingPunct="0"/>
            <a:r>
              <a:rPr lang="zh-CN" altLang="en-US" dirty="0">
                <a:solidFill>
                  <a:srgbClr val="0000FF"/>
                </a:solidFill>
                <a:latin typeface="宋体" panose="02010600030101010101" pitchFamily="2" charset="-122"/>
                <a:ea typeface="宋体" panose="02010600030101010101" pitchFamily="2" charset="-122"/>
              </a:rPr>
              <a:t>项目活动的相互依赖关系</a:t>
            </a:r>
            <a:endParaRPr lang="zh-CN" altLang="en-US" dirty="0">
              <a:solidFill>
                <a:srgbClr val="0000FF"/>
              </a:solidFill>
              <a:latin typeface="宋体" panose="02010600030101010101" pitchFamily="2" charset="-122"/>
              <a:ea typeface="宋体" panose="02010600030101010101" pitchFamily="2" charset="-122"/>
            </a:endParaRPr>
          </a:p>
        </p:txBody>
      </p:sp>
      <p:sp>
        <p:nvSpPr>
          <p:cNvPr id="16" name="AutoShape 7"/>
          <p:cNvSpPr/>
          <p:nvPr/>
        </p:nvSpPr>
        <p:spPr>
          <a:xfrm>
            <a:off x="2208213" y="4194175"/>
            <a:ext cx="4392612" cy="2043113"/>
          </a:xfrm>
          <a:prstGeom prst="wedgeRoundRectCallout">
            <a:avLst>
              <a:gd name="adj1" fmla="val -4282"/>
              <a:gd name="adj2" fmla="val -74864"/>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eaLnBrk="0" hangingPunct="0"/>
            <a:r>
              <a:rPr lang="zh-CN" altLang="en-US" dirty="0">
                <a:solidFill>
                  <a:srgbClr val="0000FF"/>
                </a:solidFill>
                <a:latin typeface="宋体" panose="02010600030101010101" pitchFamily="2" charset="-122"/>
                <a:ea typeface="宋体" panose="02010600030101010101" pitchFamily="2" charset="-122"/>
              </a:rPr>
              <a:t>主要假设并重点说明一些与项目进度有关的其他信息。</a:t>
            </a:r>
            <a:endParaRPr lang="zh-CN" altLang="en-US" dirty="0">
              <a:solidFill>
                <a:srgbClr val="0000FF"/>
              </a:solidFill>
              <a:latin typeface="宋体" panose="02010600030101010101" pitchFamily="2" charset="-122"/>
              <a:ea typeface="宋体" panose="02010600030101010101" pitchFamily="2" charset="-122"/>
            </a:endParaRPr>
          </a:p>
          <a:p>
            <a:pPr eaLnBrk="0" hangingPunct="0"/>
            <a:r>
              <a:rPr lang="zh-CN" altLang="en-US" dirty="0">
                <a:latin typeface="宋体" panose="02010600030101010101" pitchFamily="2" charset="-122"/>
                <a:ea typeface="宋体" panose="02010600030101010101" pitchFamily="2" charset="-122"/>
              </a:rPr>
              <a:t>(采用的技术路线、软件范围、功能、资金、设备、人员等）</a:t>
            </a:r>
            <a:r>
              <a:rPr lang="en-US" altLang="zh-CN" dirty="0">
                <a:latin typeface="宋体" panose="02010600030101010101" pitchFamily="2" charset="-122"/>
              </a:rPr>
              <a:t> </a:t>
            </a:r>
            <a:endParaRPr lang="en-US" altLang="zh-CN" dirty="0">
              <a:latin typeface="宋体" panose="02010600030101010101" pitchFamily="2" charset="-122"/>
            </a:endParaRPr>
          </a:p>
        </p:txBody>
      </p:sp>
      <p:sp>
        <p:nvSpPr>
          <p:cNvPr id="10"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1+#ppt_w/2"/>
                                          </p:val>
                                        </p:tav>
                                        <p:tav tm="100000">
                                          <p:val>
                                            <p:strVal val="#ppt_x"/>
                                          </p:val>
                                        </p:tav>
                                      </p:tavLst>
                                    </p:anim>
                                    <p:anim calcmode="lin" valueType="num">
                                      <p:cBhvr>
                                        <p:cTn id="8"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ppt_x</p:attrName>
                                        </p:attrNameLst>
                                      </p:cBhvr>
                                      <p:tavLst>
                                        <p:tav tm="0">
                                          <p:val>
                                            <p:strVal val="1+#ppt_w/2"/>
                                          </p:val>
                                        </p:tav>
                                        <p:tav tm="100000">
                                          <p:val>
                                            <p:strVal val="#ppt_x"/>
                                          </p:val>
                                        </p:tav>
                                      </p:tavLst>
                                    </p:anim>
                                    <p:anim calcmode="lin" valueType="num">
                                      <p:cBhvr>
                                        <p:cTn id="1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ppt_x</p:attrName>
                                        </p:attrNameLst>
                                      </p:cBhvr>
                                      <p:tavLst>
                                        <p:tav tm="0">
                                          <p:val>
                                            <p:strVal val="0-#ppt_w/2"/>
                                          </p:val>
                                        </p:tav>
                                        <p:tav tm="100000">
                                          <p:val>
                                            <p:strVal val="#ppt_x"/>
                                          </p:val>
                                        </p:tav>
                                      </p:tavLst>
                                    </p:anim>
                                    <p:anim calcmode="lin" valueType="num">
                                      <p:cBhvr>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bldLvl="0" animBg="1"/>
      <p:bldP spid="16"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Group 8"/>
          <p:cNvGrpSpPr/>
          <p:nvPr/>
        </p:nvGrpSpPr>
        <p:grpSpPr>
          <a:xfrm>
            <a:off x="1519238" y="893763"/>
            <a:ext cx="9148762" cy="85725"/>
            <a:chOff x="0" y="0"/>
            <a:chExt cx="5763" cy="54"/>
          </a:xfrm>
        </p:grpSpPr>
        <p:sp>
          <p:nvSpPr>
            <p:cNvPr id="109571"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09572"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4"/>
          <p:cNvSpPr txBox="1">
            <a:spLocks noChangeArrowheads="1"/>
          </p:cNvSpPr>
          <p:nvPr/>
        </p:nvSpPr>
        <p:spPr bwMode="auto">
          <a:xfrm>
            <a:off x="2700338" y="1341438"/>
            <a:ext cx="4259263" cy="2461260"/>
          </a:xfrm>
          <a:prstGeom prst="rect">
            <a:avLst/>
          </a:prstGeom>
          <a:noFill/>
          <a:ln w="50800">
            <a:noFill/>
            <a:miter lim="800000"/>
          </a:ln>
          <a:effectLst/>
        </p:spPr>
        <p:txBody>
          <a:bodyPr wrap="square">
            <a:spAutoFit/>
          </a:bodyPr>
          <a:lstStyle/>
          <a:p>
            <a:pPr marL="457200" marR="0" indent="-457200" algn="just" defTabSz="914400" eaLnBrk="0" hangingPunct="0">
              <a:spcBef>
                <a:spcPct val="50000"/>
              </a:spcBef>
              <a:buClrTx/>
              <a:buSzTx/>
              <a:buFont typeface="Wingdings" panose="05000000000000000000" pitchFamily="2" charset="2"/>
              <a:buChar char="ü"/>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项目预算</a:t>
            </a:r>
            <a:endParaRPr kumimoji="0" lang="en-US" altLang="zh-CN" sz="28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R="0" algn="just" defTabSz="914400" eaLnBrk="0" hangingPunct="0">
              <a:spcBef>
                <a:spcPct val="50000"/>
              </a:spcBef>
              <a:buClrTx/>
              <a:buSzTx/>
              <a:buFont typeface="Wingdings" panose="05000000000000000000" pitchFamily="2" charset="2"/>
              <a:buChar char="Ø"/>
              <a:defRPr/>
            </a:pPr>
            <a:r>
              <a:rPr kumimoji="0" lang="en-US" altLang="zh-CN" sz="2800" kern="1200" cap="none" spc="0" normalizeH="0" baseline="0" noProof="0" dirty="0">
                <a:latin typeface="楷体_GB2312" pitchFamily="49" charset="-122"/>
                <a:ea typeface="宋体" panose="02010600030101010101" pitchFamily="2" charset="-122"/>
                <a:cs typeface="+mn-cs"/>
              </a:rPr>
              <a:t> </a:t>
            </a:r>
            <a:r>
              <a:rPr kumimoji="0" lang="zh-CN" altLang="en-US" sz="2800" kern="1200" cap="none" spc="0" normalizeH="0" baseline="0" noProof="0" dirty="0">
                <a:latin typeface="楷体_GB2312" pitchFamily="49" charset="-122"/>
                <a:ea typeface="宋体" panose="02010600030101010101" pitchFamily="2" charset="-122"/>
                <a:cs typeface="+mn-cs"/>
              </a:rPr>
              <a:t>预算</a:t>
            </a:r>
            <a:r>
              <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概要</a:t>
            </a:r>
            <a:endPar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algn="just" defTabSz="914400" eaLnBrk="0" hangingPunct="0">
              <a:spcBef>
                <a:spcPct val="50000"/>
              </a:spcBef>
              <a:buClrTx/>
              <a:buSzTx/>
              <a:buFont typeface="Wingdings" panose="05000000000000000000" pitchFamily="2" charset="2"/>
              <a:buChar char="Ø"/>
              <a:defRPr/>
            </a:pPr>
            <a:r>
              <a:rPr kumimoji="0" lang="zh-CN" altLang="en-US" sz="2800" kern="1200" cap="none" spc="0" normalizeH="0" baseline="0" noProof="0" dirty="0">
                <a:latin typeface="楷体_GB2312" pitchFamily="49" charset="-122"/>
                <a:ea typeface="宋体" panose="02010600030101010101" pitchFamily="2" charset="-122"/>
                <a:cs typeface="+mn-cs"/>
              </a:rPr>
              <a:t> 预算</a:t>
            </a:r>
            <a:r>
              <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细要</a:t>
            </a:r>
            <a:endPar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algn="just" defTabSz="914400" eaLnBrk="0" hangingPunct="0">
              <a:spcBef>
                <a:spcPct val="50000"/>
              </a:spcBef>
              <a:buClrTx/>
              <a:buSzTx/>
              <a:buFont typeface="Wingdings" panose="05000000000000000000" pitchFamily="2" charset="2"/>
              <a:buChar char="Ø"/>
              <a:defRPr/>
            </a:pPr>
            <a:r>
              <a:rPr kumimoji="0" lang="zh-CN" altLang="en-US" sz="2800" kern="1200" cap="none" spc="0" normalizeH="0" baseline="0" noProof="0" dirty="0">
                <a:latin typeface="宋体" panose="02010600030101010101" pitchFamily="2" charset="-122"/>
                <a:ea typeface="宋体" panose="02010600030101010101" pitchFamily="2" charset="-122"/>
                <a:cs typeface="+mn-cs"/>
              </a:rPr>
              <a:t> </a:t>
            </a:r>
            <a:r>
              <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其他信息</a:t>
            </a:r>
            <a:endParaRPr kumimoji="0" lang="zh-CN" altLang="en-US" sz="2800" kern="1200" cap="none" spc="0" normalizeH="0" baseline="0" noProof="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2" name="AutoShape 5"/>
          <p:cNvSpPr/>
          <p:nvPr/>
        </p:nvSpPr>
        <p:spPr>
          <a:xfrm>
            <a:off x="5737225" y="506413"/>
            <a:ext cx="4678363" cy="2736850"/>
          </a:xfrm>
          <a:prstGeom prst="wedgeRoundRectCallout">
            <a:avLst>
              <a:gd name="adj1" fmla="val -70943"/>
              <a:gd name="adj2" fmla="val 13143"/>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marL="288925" indent="-288925" eaLnBrk="0" hangingPunct="0">
              <a:buNone/>
            </a:pPr>
            <a:r>
              <a:rPr lang="zh-CN" altLang="en-US" dirty="0">
                <a:solidFill>
                  <a:srgbClr val="0000FF"/>
                </a:solidFill>
                <a:latin typeface="宋体" panose="02010600030101010101" pitchFamily="2" charset="-122"/>
                <a:ea typeface="宋体" panose="02010600030101010101" pitchFamily="2" charset="-122"/>
              </a:rPr>
              <a:t> 项目整体估算:</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机房、计算机设备、网络设备、  通讯设备。</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系统软件、工具软件、数据库、应用软件。</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实施费、培训费、维护费。</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时间段预算分解。</a:t>
            </a:r>
            <a:endParaRPr lang="zh-CN" altLang="en-US" dirty="0">
              <a:solidFill>
                <a:srgbClr val="0000FF"/>
              </a:solidFill>
              <a:latin typeface="宋体" panose="02010600030101010101" pitchFamily="2" charset="-122"/>
              <a:ea typeface="宋体" panose="02010600030101010101" pitchFamily="2" charset="-122"/>
            </a:endParaRPr>
          </a:p>
        </p:txBody>
      </p:sp>
      <p:sp>
        <p:nvSpPr>
          <p:cNvPr id="13" name="AutoShape 7"/>
          <p:cNvSpPr/>
          <p:nvPr/>
        </p:nvSpPr>
        <p:spPr>
          <a:xfrm>
            <a:off x="5880100" y="3429000"/>
            <a:ext cx="4392613" cy="2849563"/>
          </a:xfrm>
          <a:prstGeom prst="wedgeRoundRectCallout">
            <a:avLst>
              <a:gd name="adj1" fmla="val -75702"/>
              <a:gd name="adj2" fmla="val -63214"/>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根据成本管理计划的内容，给出较为详细的预算资料。</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每年预估的项目固定成本和重置成本。</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项目人员类型，劳动成本计算依据。</a:t>
            </a:r>
            <a:endParaRPr lang="zh-CN" altLang="en-US" dirty="0">
              <a:solidFill>
                <a:srgbClr val="0000FF"/>
              </a:solidFill>
              <a:latin typeface="宋体" panose="02010600030101010101" pitchFamily="2" charset="-122"/>
              <a:ea typeface="宋体" panose="02010600030101010101" pitchFamily="2" charset="-122"/>
            </a:endParaRPr>
          </a:p>
          <a:p>
            <a:pPr marL="288925" indent="-288925" eaLnBrk="0" hangingPunct="0">
              <a:buAutoNum type="arabicPeriod"/>
            </a:pPr>
            <a:r>
              <a:rPr lang="zh-CN" altLang="en-US" dirty="0">
                <a:solidFill>
                  <a:srgbClr val="0000FF"/>
                </a:solidFill>
                <a:latin typeface="宋体" panose="02010600030101010101" pitchFamily="2" charset="-122"/>
                <a:ea typeface="宋体" panose="02010600030101010101" pitchFamily="2" charset="-122"/>
              </a:rPr>
              <a:t>预计经济收益与计算依据。</a:t>
            </a:r>
            <a:endParaRPr lang="zh-CN" altLang="en-US" dirty="0">
              <a:solidFill>
                <a:srgbClr val="0000FF"/>
              </a:solidFill>
              <a:latin typeface="宋体" panose="02010600030101010101" pitchFamily="2" charset="-122"/>
              <a:ea typeface="宋体" panose="02010600030101010101" pitchFamily="2" charset="-122"/>
            </a:endParaRPr>
          </a:p>
        </p:txBody>
      </p:sp>
      <p:sp>
        <p:nvSpPr>
          <p:cNvPr id="17" name="AutoShape 8"/>
          <p:cNvSpPr/>
          <p:nvPr/>
        </p:nvSpPr>
        <p:spPr>
          <a:xfrm>
            <a:off x="2351088" y="4508500"/>
            <a:ext cx="3168650" cy="2073275"/>
          </a:xfrm>
          <a:prstGeom prst="wedgeRoundRectCallout">
            <a:avLst>
              <a:gd name="adj1" fmla="val -19491"/>
              <a:gd name="adj2" fmla="val -91338"/>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eaLnBrk="0" hangingPunct="0"/>
            <a:r>
              <a:rPr lang="zh-CN" altLang="en-US" dirty="0">
                <a:solidFill>
                  <a:srgbClr val="0000FF"/>
                </a:solidFill>
                <a:latin typeface="宋体" panose="02010600030101010101" pitchFamily="2" charset="-122"/>
                <a:ea typeface="宋体" panose="02010600030101010101" pitchFamily="2" charset="-122"/>
              </a:rPr>
              <a:t>解释预算时遵循的标准和方针、采用的模板、计算依据，以及其他需要强调和说明的问题。</a:t>
            </a:r>
            <a:endParaRPr lang="zh-CN" altLang="en-US" dirty="0">
              <a:solidFill>
                <a:srgbClr val="0000FF"/>
              </a:solidFill>
              <a:latin typeface="宋体" panose="02010600030101010101" pitchFamily="2" charset="-122"/>
              <a:ea typeface="宋体" panose="02010600030101010101" pitchFamily="2" charset="-122"/>
            </a:endParaRPr>
          </a:p>
        </p:txBody>
      </p:sp>
      <p:sp>
        <p:nvSpPr>
          <p:cNvPr id="10"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1+#ppt_w/2"/>
                                          </p:val>
                                        </p:tav>
                                        <p:tav tm="100000">
                                          <p:val>
                                            <p:strVal val="#ppt_x"/>
                                          </p:val>
                                        </p:tav>
                                      </p:tavLst>
                                    </p:anim>
                                    <p:anim calcmode="lin" valueType="num">
                                      <p:cBhvr>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500" fill="hold"/>
                                        <p:tgtEl>
                                          <p:spTgt spid="13"/>
                                        </p:tgtEl>
                                        <p:attrNameLst>
                                          <p:attrName>ppt_x</p:attrName>
                                        </p:attrNameLst>
                                      </p:cBhvr>
                                      <p:tavLst>
                                        <p:tav tm="0">
                                          <p:val>
                                            <p:strVal val="1+#ppt_w/2"/>
                                          </p:val>
                                        </p:tav>
                                        <p:tav tm="100000">
                                          <p:val>
                                            <p:strVal val="#ppt_x"/>
                                          </p:val>
                                        </p:tav>
                                      </p:tavLst>
                                    </p:anim>
                                    <p:anim calcmode="lin" valueType="num">
                                      <p:cBhvr>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ppt_x</p:attrName>
                                        </p:attrNameLst>
                                      </p:cBhvr>
                                      <p:tavLst>
                                        <p:tav tm="0">
                                          <p:val>
                                            <p:strVal val="1+#ppt_w/2"/>
                                          </p:val>
                                        </p:tav>
                                        <p:tav tm="100000">
                                          <p:val>
                                            <p:strVal val="#ppt_x"/>
                                          </p:val>
                                        </p:tav>
                                      </p:tavLst>
                                    </p:anim>
                                    <p:anim calcmode="lin" valueType="num">
                                      <p:cBhvr>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7"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594" name="Group 8"/>
          <p:cNvGrpSpPr/>
          <p:nvPr/>
        </p:nvGrpSpPr>
        <p:grpSpPr>
          <a:xfrm>
            <a:off x="1519238" y="893763"/>
            <a:ext cx="9148762" cy="85725"/>
            <a:chOff x="0" y="0"/>
            <a:chExt cx="5763" cy="54"/>
          </a:xfrm>
        </p:grpSpPr>
        <p:sp>
          <p:nvSpPr>
            <p:cNvPr id="11059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059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grpSp>
        <p:nvGrpSpPr>
          <p:cNvPr id="110597" name="Group 1062"/>
          <p:cNvGrpSpPr/>
          <p:nvPr/>
        </p:nvGrpSpPr>
        <p:grpSpPr>
          <a:xfrm>
            <a:off x="1703705" y="1844675"/>
            <a:ext cx="9544685" cy="4524375"/>
            <a:chOff x="0" y="984"/>
            <a:chExt cx="5760" cy="2544"/>
          </a:xfrm>
        </p:grpSpPr>
        <p:grpSp>
          <p:nvGrpSpPr>
            <p:cNvPr id="110598" name="Group 1029"/>
            <p:cNvGrpSpPr/>
            <p:nvPr/>
          </p:nvGrpSpPr>
          <p:grpSpPr>
            <a:xfrm>
              <a:off x="0" y="989"/>
              <a:ext cx="1216" cy="259"/>
              <a:chOff x="0" y="0"/>
              <a:chExt cx="640" cy="518"/>
            </a:xfrm>
          </p:grpSpPr>
          <p:sp>
            <p:nvSpPr>
              <p:cNvPr id="110599" name="Rectangle 1030"/>
              <p:cNvSpPr/>
              <p:nvPr/>
            </p:nvSpPr>
            <p:spPr>
              <a:xfrm>
                <a:off x="43" y="0"/>
                <a:ext cx="554" cy="518"/>
              </a:xfrm>
              <a:prstGeom prst="rect">
                <a:avLst/>
              </a:prstGeom>
              <a:noFill/>
              <a:ln w="50800">
                <a:noFill/>
              </a:ln>
            </p:spPr>
            <p:txBody>
              <a:bodyPr tIns="0" bIns="0" anchor="t" anchorCtr="0"/>
              <a:lstStyle/>
              <a:p>
                <a:pPr eaLnBrk="0" hangingPunct="0"/>
                <a:r>
                  <a:rPr lang="zh-CN" altLang="en-US" dirty="0">
                    <a:latin typeface="楷体_GB2312"/>
                    <a:ea typeface="宋体" panose="02010600030101010101" pitchFamily="2" charset="-122"/>
                  </a:rPr>
                  <a:t>1、介绍</a:t>
                </a:r>
                <a:endParaRPr lang="zh-CN" altLang="en-US" dirty="0">
                  <a:latin typeface="楷体_GB2312"/>
                  <a:ea typeface="宋体" panose="02010600030101010101" pitchFamily="2" charset="-122"/>
                </a:endParaRPr>
              </a:p>
              <a:p>
                <a:pPr eaLnBrk="0" hangingPunct="0"/>
                <a:endParaRPr lang="zh-CN" altLang="en-US" dirty="0">
                  <a:latin typeface="楷体_GB2312"/>
                  <a:ea typeface="宋体" panose="02010600030101010101" pitchFamily="2" charset="-122"/>
                </a:endParaRPr>
              </a:p>
            </p:txBody>
          </p:sp>
          <p:sp>
            <p:nvSpPr>
              <p:cNvPr id="110600" name="Rectangle 1031"/>
              <p:cNvSpPr/>
              <p:nvPr/>
            </p:nvSpPr>
            <p:spPr>
              <a:xfrm>
                <a:off x="0" y="0"/>
                <a:ext cx="640" cy="518"/>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01" name="Group 1032"/>
            <p:cNvGrpSpPr/>
            <p:nvPr/>
          </p:nvGrpSpPr>
          <p:grpSpPr>
            <a:xfrm>
              <a:off x="1182" y="989"/>
              <a:ext cx="1101" cy="259"/>
              <a:chOff x="620" y="0"/>
              <a:chExt cx="660" cy="518"/>
            </a:xfrm>
          </p:grpSpPr>
          <p:sp>
            <p:nvSpPr>
              <p:cNvPr id="110602" name="Rectangle 1033"/>
              <p:cNvSpPr/>
              <p:nvPr/>
            </p:nvSpPr>
            <p:spPr>
              <a:xfrm>
                <a:off x="620" y="0"/>
                <a:ext cx="617" cy="518"/>
              </a:xfrm>
              <a:prstGeom prst="rect">
                <a:avLst/>
              </a:prstGeom>
              <a:noFill/>
              <a:ln w="50800">
                <a:noFill/>
              </a:ln>
            </p:spPr>
            <p:txBody>
              <a:bodyPr tIns="0" bIns="0" anchor="t" anchorCtr="0"/>
              <a:lstStyle/>
              <a:p>
                <a:pPr eaLnBrk="0" hangingPunct="0"/>
                <a:r>
                  <a:rPr lang="zh-CN" altLang="en-US" sz="1800" dirty="0">
                    <a:latin typeface="楷体_GB2312"/>
                    <a:ea typeface="宋体" panose="02010600030101010101" pitchFamily="2" charset="-122"/>
                  </a:rPr>
                  <a:t>2、项目组织</a:t>
                </a:r>
                <a:endParaRPr lang="zh-CN" altLang="en-US" sz="1800" dirty="0">
                  <a:latin typeface="楷体_GB2312"/>
                  <a:ea typeface="宋体" panose="02010600030101010101" pitchFamily="2" charset="-122"/>
                </a:endParaRPr>
              </a:p>
            </p:txBody>
          </p:sp>
          <p:sp>
            <p:nvSpPr>
              <p:cNvPr id="110603" name="Rectangle 1034"/>
              <p:cNvSpPr/>
              <p:nvPr/>
            </p:nvSpPr>
            <p:spPr>
              <a:xfrm>
                <a:off x="640" y="0"/>
                <a:ext cx="640" cy="518"/>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04" name="Group 1035"/>
            <p:cNvGrpSpPr/>
            <p:nvPr/>
          </p:nvGrpSpPr>
          <p:grpSpPr>
            <a:xfrm>
              <a:off x="2283" y="989"/>
              <a:ext cx="1069" cy="259"/>
              <a:chOff x="1279" y="0"/>
              <a:chExt cx="641" cy="518"/>
            </a:xfrm>
          </p:grpSpPr>
          <p:sp>
            <p:nvSpPr>
              <p:cNvPr id="110605" name="Rectangle 1036"/>
              <p:cNvSpPr/>
              <p:nvPr/>
            </p:nvSpPr>
            <p:spPr>
              <a:xfrm>
                <a:off x="1279" y="0"/>
                <a:ext cx="598" cy="518"/>
              </a:xfrm>
              <a:prstGeom prst="rect">
                <a:avLst/>
              </a:prstGeom>
              <a:noFill/>
              <a:ln w="50800">
                <a:noFill/>
              </a:ln>
            </p:spPr>
            <p:txBody>
              <a:bodyPr tIns="0" bIns="0" anchor="t" anchorCtr="0"/>
              <a:lstStyle/>
              <a:p>
                <a:pPr eaLnBrk="0" hangingPunct="0"/>
                <a:r>
                  <a:rPr lang="zh-CN" altLang="en-US" sz="1800" dirty="0">
                    <a:latin typeface="楷体_GB2312"/>
                    <a:ea typeface="宋体" panose="02010600030101010101" pitchFamily="2" charset="-122"/>
                  </a:rPr>
                  <a:t>3、管理过程</a:t>
                </a:r>
                <a:endParaRPr lang="zh-CN" altLang="en-US" sz="1800" dirty="0">
                  <a:latin typeface="楷体_GB2312"/>
                  <a:ea typeface="宋体" panose="02010600030101010101" pitchFamily="2" charset="-122"/>
                </a:endParaRPr>
              </a:p>
              <a:p>
                <a:pPr eaLnBrk="0" hangingPunct="0"/>
                <a:endParaRPr lang="zh-CN" altLang="en-US" sz="1800" dirty="0">
                  <a:latin typeface="楷体_GB2312"/>
                  <a:ea typeface="宋体" panose="02010600030101010101" pitchFamily="2" charset="-122"/>
                </a:endParaRPr>
              </a:p>
            </p:txBody>
          </p:sp>
          <p:sp>
            <p:nvSpPr>
              <p:cNvPr id="110606" name="Rectangle 1037"/>
              <p:cNvSpPr/>
              <p:nvPr/>
            </p:nvSpPr>
            <p:spPr>
              <a:xfrm>
                <a:off x="1280" y="0"/>
                <a:ext cx="640" cy="518"/>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07" name="Group 1038"/>
            <p:cNvGrpSpPr/>
            <p:nvPr/>
          </p:nvGrpSpPr>
          <p:grpSpPr>
            <a:xfrm>
              <a:off x="3339" y="999"/>
              <a:ext cx="1090" cy="240"/>
              <a:chOff x="1907" y="0"/>
              <a:chExt cx="653" cy="518"/>
            </a:xfrm>
          </p:grpSpPr>
          <p:sp>
            <p:nvSpPr>
              <p:cNvPr id="110608" name="Rectangle 1039"/>
              <p:cNvSpPr/>
              <p:nvPr/>
            </p:nvSpPr>
            <p:spPr>
              <a:xfrm>
                <a:off x="1907" y="0"/>
                <a:ext cx="610" cy="518"/>
              </a:xfrm>
              <a:prstGeom prst="rect">
                <a:avLst/>
              </a:prstGeom>
              <a:noFill/>
              <a:ln w="50800">
                <a:noFill/>
              </a:ln>
            </p:spPr>
            <p:txBody>
              <a:bodyPr tIns="0" bIns="0" anchor="t" anchorCtr="0"/>
              <a:lstStyle/>
              <a:p>
                <a:pPr eaLnBrk="0" hangingPunct="0"/>
                <a:r>
                  <a:rPr lang="zh-CN" altLang="en-US" sz="1800" dirty="0">
                    <a:latin typeface="楷体_GB2312"/>
                    <a:ea typeface="宋体" panose="02010600030101010101" pitchFamily="2" charset="-122"/>
                  </a:rPr>
                  <a:t>4、技术过程</a:t>
                </a:r>
                <a:endParaRPr lang="zh-CN" altLang="en-US" sz="1800" dirty="0">
                  <a:latin typeface="楷体_GB2312"/>
                  <a:ea typeface="宋体" panose="02010600030101010101" pitchFamily="2" charset="-122"/>
                </a:endParaRPr>
              </a:p>
            </p:txBody>
          </p:sp>
          <p:sp>
            <p:nvSpPr>
              <p:cNvPr id="110609" name="Rectangle 1040"/>
              <p:cNvSpPr/>
              <p:nvPr/>
            </p:nvSpPr>
            <p:spPr>
              <a:xfrm>
                <a:off x="1920" y="0"/>
                <a:ext cx="640" cy="518"/>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10" name="Group 1041"/>
            <p:cNvGrpSpPr/>
            <p:nvPr/>
          </p:nvGrpSpPr>
          <p:grpSpPr>
            <a:xfrm>
              <a:off x="4404" y="989"/>
              <a:ext cx="1325" cy="259"/>
              <a:chOff x="2551" y="0"/>
              <a:chExt cx="761" cy="518"/>
            </a:xfrm>
          </p:grpSpPr>
          <p:sp>
            <p:nvSpPr>
              <p:cNvPr id="110611" name="Rectangle 1042"/>
              <p:cNvSpPr/>
              <p:nvPr/>
            </p:nvSpPr>
            <p:spPr>
              <a:xfrm>
                <a:off x="2551" y="0"/>
                <a:ext cx="761" cy="518"/>
              </a:xfrm>
              <a:prstGeom prst="rect">
                <a:avLst/>
              </a:prstGeom>
              <a:noFill/>
              <a:ln w="50800">
                <a:noFill/>
              </a:ln>
            </p:spPr>
            <p:txBody>
              <a:bodyPr tIns="0" bIns="0" anchor="t" anchorCtr="0"/>
              <a:lstStyle/>
              <a:p>
                <a:pPr eaLnBrk="0" hangingPunct="0"/>
                <a:r>
                  <a:rPr lang="zh-CN" altLang="en-US" sz="1400" b="1" dirty="0">
                    <a:latin typeface="楷体_GB2312"/>
                    <a:ea typeface="宋体" panose="02010600030101010101" pitchFamily="2" charset="-122"/>
                  </a:rPr>
                  <a:t>5、范围、进度和预算</a:t>
                </a:r>
                <a:endParaRPr lang="zh-CN" altLang="en-US" sz="1400" b="1" dirty="0">
                  <a:latin typeface="楷体_GB2312"/>
                  <a:ea typeface="宋体" panose="02010600030101010101" pitchFamily="2" charset="-122"/>
                </a:endParaRPr>
              </a:p>
            </p:txBody>
          </p:sp>
          <p:sp>
            <p:nvSpPr>
              <p:cNvPr id="110612" name="Rectangle 1043"/>
              <p:cNvSpPr/>
              <p:nvPr/>
            </p:nvSpPr>
            <p:spPr>
              <a:xfrm>
                <a:off x="2560" y="0"/>
                <a:ext cx="715" cy="518"/>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13" name="Group 1044"/>
            <p:cNvGrpSpPr/>
            <p:nvPr/>
          </p:nvGrpSpPr>
          <p:grpSpPr>
            <a:xfrm>
              <a:off x="0" y="1248"/>
              <a:ext cx="1216" cy="2256"/>
              <a:chOff x="0" y="518"/>
              <a:chExt cx="640" cy="1152"/>
            </a:xfrm>
          </p:grpSpPr>
          <p:sp>
            <p:nvSpPr>
              <p:cNvPr id="110614" name="Rectangle 1045"/>
              <p:cNvSpPr/>
              <p:nvPr/>
            </p:nvSpPr>
            <p:spPr>
              <a:xfrm>
                <a:off x="43" y="518"/>
                <a:ext cx="554" cy="1152"/>
              </a:xfrm>
              <a:prstGeom prst="rect">
                <a:avLst/>
              </a:prstGeom>
              <a:solidFill>
                <a:srgbClr val="FFFF00"/>
              </a:solidFill>
              <a:ln w="50800">
                <a:noFill/>
              </a:ln>
            </p:spPr>
            <p:txBody>
              <a:bodyPr tIns="0" bIns="0" anchor="t" anchorCtr="0"/>
              <a:lstStyle/>
              <a:p>
                <a:pPr algn="just" eaLnBrk="0" hangingPunct="0"/>
                <a:r>
                  <a:rPr lang="zh-CN" altLang="en-US" sz="2000" dirty="0">
                    <a:latin typeface="楷体_GB2312"/>
                    <a:ea typeface="宋体" panose="02010600030101010101" pitchFamily="2" charset="-122"/>
                  </a:rPr>
                  <a:t>1.1 项目概述</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1.2 项目可交</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    付成果</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1.3 软件项目</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    管理计划</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    的制定过</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    程</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1.4 参考资料 </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1.5 有关定义</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    和缩写说</a:t>
                </a:r>
                <a:endParaRPr lang="zh-CN" altLang="en-US" sz="2000" dirty="0">
                  <a:latin typeface="楷体_GB2312"/>
                  <a:ea typeface="宋体" panose="02010600030101010101" pitchFamily="2" charset="-122"/>
                </a:endParaRPr>
              </a:p>
              <a:p>
                <a:pPr algn="just" eaLnBrk="0" hangingPunct="0"/>
                <a:r>
                  <a:rPr lang="zh-CN" altLang="en-US" sz="2000" dirty="0">
                    <a:latin typeface="楷体_GB2312"/>
                    <a:ea typeface="宋体" panose="02010600030101010101" pitchFamily="2" charset="-122"/>
                  </a:rPr>
                  <a:t>    明  </a:t>
                </a:r>
                <a:endParaRPr lang="zh-CN" altLang="en-US" sz="2000" dirty="0">
                  <a:latin typeface="楷体_GB2312"/>
                  <a:ea typeface="宋体" panose="02010600030101010101" pitchFamily="2" charset="-122"/>
                </a:endParaRPr>
              </a:p>
              <a:p>
                <a:pPr algn="just" eaLnBrk="0" hangingPunct="0"/>
                <a:endParaRPr lang="zh-CN" altLang="en-US" sz="2000" dirty="0">
                  <a:latin typeface="楷体_GB2312"/>
                  <a:ea typeface="宋体" panose="02010600030101010101" pitchFamily="2" charset="-122"/>
                </a:endParaRPr>
              </a:p>
            </p:txBody>
          </p:sp>
          <p:sp>
            <p:nvSpPr>
              <p:cNvPr id="110615" name="Rectangle 1046"/>
              <p:cNvSpPr/>
              <p:nvPr/>
            </p:nvSpPr>
            <p:spPr>
              <a:xfrm>
                <a:off x="0" y="518"/>
                <a:ext cx="640" cy="1152"/>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16" name="Group 1047"/>
            <p:cNvGrpSpPr/>
            <p:nvPr/>
          </p:nvGrpSpPr>
          <p:grpSpPr>
            <a:xfrm>
              <a:off x="1156" y="1248"/>
              <a:ext cx="1180" cy="2256"/>
              <a:chOff x="640" y="518"/>
              <a:chExt cx="640" cy="1152"/>
            </a:xfrm>
          </p:grpSpPr>
          <p:sp>
            <p:nvSpPr>
              <p:cNvPr id="110617" name="Rectangle 1048"/>
              <p:cNvSpPr/>
              <p:nvPr/>
            </p:nvSpPr>
            <p:spPr>
              <a:xfrm>
                <a:off x="683" y="518"/>
                <a:ext cx="554" cy="1152"/>
              </a:xfrm>
              <a:prstGeom prst="rect">
                <a:avLst/>
              </a:prstGeom>
              <a:solidFill>
                <a:srgbClr val="C8FEFD"/>
              </a:solidFill>
              <a:ln w="50800">
                <a:noFill/>
              </a:ln>
            </p:spPr>
            <p:txBody>
              <a:bodyPr tIns="0" bIns="0" anchor="t" anchorCtr="0"/>
              <a:lstStyle/>
              <a:p>
                <a:pPr algn="just" eaLnBrk="0" hangingPunct="0"/>
                <a:r>
                  <a:rPr lang="zh-CN" altLang="en-US" sz="1800" dirty="0">
                    <a:latin typeface="楷体_GB2312"/>
                    <a:ea typeface="宋体" panose="02010600030101010101" pitchFamily="2" charset="-122"/>
                  </a:rPr>
                  <a:t>2.1 过程模型</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2.2 组织结构</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2.3 组织界限和界面</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2.4 项目责任</a:t>
                </a:r>
                <a:endParaRPr lang="zh-CN" altLang="en-US" sz="1800" dirty="0">
                  <a:latin typeface="楷体_GB2312"/>
                  <a:ea typeface="宋体" panose="02010600030101010101" pitchFamily="2" charset="-122"/>
                </a:endParaRPr>
              </a:p>
              <a:p>
                <a:pPr algn="just" eaLnBrk="0" hangingPunct="0"/>
                <a:endParaRPr lang="zh-CN" altLang="en-US" sz="1800" dirty="0">
                  <a:latin typeface="楷体_GB2312"/>
                  <a:ea typeface="宋体" panose="02010600030101010101" pitchFamily="2" charset="-122"/>
                </a:endParaRPr>
              </a:p>
            </p:txBody>
          </p:sp>
          <p:sp>
            <p:nvSpPr>
              <p:cNvPr id="110618" name="Rectangle 1049"/>
              <p:cNvSpPr/>
              <p:nvPr/>
            </p:nvSpPr>
            <p:spPr>
              <a:xfrm>
                <a:off x="640" y="518"/>
                <a:ext cx="640" cy="1152"/>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19" name="Group 1050"/>
            <p:cNvGrpSpPr/>
            <p:nvPr/>
          </p:nvGrpSpPr>
          <p:grpSpPr>
            <a:xfrm>
              <a:off x="2154" y="1253"/>
              <a:ext cx="1270" cy="2255"/>
              <a:chOff x="1280" y="518"/>
              <a:chExt cx="640" cy="1152"/>
            </a:xfrm>
          </p:grpSpPr>
          <p:sp>
            <p:nvSpPr>
              <p:cNvPr id="110620" name="Rectangle 1051"/>
              <p:cNvSpPr/>
              <p:nvPr/>
            </p:nvSpPr>
            <p:spPr>
              <a:xfrm>
                <a:off x="1323" y="518"/>
                <a:ext cx="554" cy="1152"/>
              </a:xfrm>
              <a:prstGeom prst="rect">
                <a:avLst/>
              </a:prstGeom>
              <a:solidFill>
                <a:srgbClr val="FFFF00"/>
              </a:solidFill>
              <a:ln w="50800">
                <a:noFill/>
              </a:ln>
            </p:spPr>
            <p:txBody>
              <a:bodyPr tIns="0" bIns="0" anchor="t" anchorCtr="0"/>
              <a:lstStyle/>
              <a:p>
                <a:pPr algn="just" eaLnBrk="0" hangingPunct="0"/>
                <a:r>
                  <a:rPr lang="zh-CN" altLang="en-US" sz="1800" dirty="0">
                    <a:latin typeface="楷体_GB2312"/>
                    <a:ea typeface="宋体" panose="02010600030101010101" pitchFamily="2" charset="-122"/>
                  </a:rPr>
                  <a:t>3.1 管理目标</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和优先级</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3.2 设定条件</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、依赖关</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系和约束</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条件</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3.3 风险管理</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3.4 监督与控</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制机制</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3.5 人员计划</a:t>
                </a:r>
                <a:endParaRPr lang="zh-CN" altLang="en-US" sz="1800" dirty="0">
                  <a:latin typeface="楷体_GB2312"/>
                  <a:ea typeface="宋体" panose="02010600030101010101" pitchFamily="2" charset="-122"/>
                </a:endParaRPr>
              </a:p>
              <a:p>
                <a:pPr algn="just" eaLnBrk="0" hangingPunct="0"/>
                <a:endParaRPr lang="zh-CN" altLang="en-US" dirty="0">
                  <a:latin typeface="楷体_GB2312"/>
                  <a:ea typeface="宋体" panose="02010600030101010101" pitchFamily="2" charset="-122"/>
                </a:endParaRPr>
              </a:p>
            </p:txBody>
          </p:sp>
          <p:sp>
            <p:nvSpPr>
              <p:cNvPr id="110621" name="Rectangle 1052"/>
              <p:cNvSpPr/>
              <p:nvPr/>
            </p:nvSpPr>
            <p:spPr>
              <a:xfrm>
                <a:off x="1280" y="518"/>
                <a:ext cx="640" cy="1152"/>
              </a:xfrm>
              <a:prstGeom prst="rect">
                <a:avLst/>
              </a:prstGeom>
              <a:noFill/>
              <a:ln w="0">
                <a:noFill/>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22" name="Group 1053"/>
            <p:cNvGrpSpPr/>
            <p:nvPr/>
          </p:nvGrpSpPr>
          <p:grpSpPr>
            <a:xfrm>
              <a:off x="3339" y="1248"/>
              <a:ext cx="1180" cy="2256"/>
              <a:chOff x="1913" y="518"/>
              <a:chExt cx="707" cy="1152"/>
            </a:xfrm>
          </p:grpSpPr>
          <p:sp>
            <p:nvSpPr>
              <p:cNvPr id="110623" name="Rectangle 1054"/>
              <p:cNvSpPr/>
              <p:nvPr/>
            </p:nvSpPr>
            <p:spPr>
              <a:xfrm>
                <a:off x="1913" y="518"/>
                <a:ext cx="707" cy="1152"/>
              </a:xfrm>
              <a:prstGeom prst="rect">
                <a:avLst/>
              </a:prstGeom>
              <a:solidFill>
                <a:srgbClr val="C8FEFD"/>
              </a:solidFill>
              <a:ln w="50800">
                <a:noFill/>
              </a:ln>
            </p:spPr>
            <p:txBody>
              <a:bodyPr tIns="0" bIns="0" anchor="t" anchorCtr="0"/>
              <a:lstStyle/>
              <a:p>
                <a:pPr algn="just" eaLnBrk="0" hangingPunct="0"/>
                <a:r>
                  <a:rPr lang="zh-CN" altLang="en-US" sz="1800" dirty="0">
                    <a:latin typeface="楷体_GB2312"/>
                    <a:ea typeface="宋体" panose="02010600030101010101" pitchFamily="2" charset="-122"/>
                  </a:rPr>
                  <a:t>4.1 方法、</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工具和</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技巧</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4.2 软件文</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件</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4.3 项目各</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项辅助</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    职能  </a:t>
                </a:r>
                <a:endParaRPr lang="zh-CN" altLang="en-US" sz="1800" dirty="0">
                  <a:latin typeface="楷体_GB2312"/>
                  <a:ea typeface="宋体" panose="02010600030101010101" pitchFamily="2" charset="-122"/>
                </a:endParaRPr>
              </a:p>
              <a:p>
                <a:pPr algn="just" eaLnBrk="0" hangingPunct="0"/>
                <a:endParaRPr lang="zh-CN" altLang="en-US" sz="1800" dirty="0">
                  <a:latin typeface="楷体_GB2312"/>
                  <a:ea typeface="宋体" panose="02010600030101010101" pitchFamily="2" charset="-122"/>
                </a:endParaRPr>
              </a:p>
            </p:txBody>
          </p:sp>
          <p:sp>
            <p:nvSpPr>
              <p:cNvPr id="110624" name="Rectangle 1055"/>
              <p:cNvSpPr/>
              <p:nvPr/>
            </p:nvSpPr>
            <p:spPr>
              <a:xfrm>
                <a:off x="1920" y="518"/>
                <a:ext cx="640" cy="1152"/>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grpSp>
          <p:nvGrpSpPr>
            <p:cNvPr id="110625" name="Group 1056"/>
            <p:cNvGrpSpPr/>
            <p:nvPr/>
          </p:nvGrpSpPr>
          <p:grpSpPr>
            <a:xfrm>
              <a:off x="4419" y="1248"/>
              <a:ext cx="1341" cy="2256"/>
              <a:chOff x="2560" y="518"/>
              <a:chExt cx="715" cy="1152"/>
            </a:xfrm>
          </p:grpSpPr>
          <p:sp>
            <p:nvSpPr>
              <p:cNvPr id="110626" name="Rectangle 1057"/>
              <p:cNvSpPr/>
              <p:nvPr/>
            </p:nvSpPr>
            <p:spPr>
              <a:xfrm>
                <a:off x="2603" y="518"/>
                <a:ext cx="629" cy="1152"/>
              </a:xfrm>
              <a:prstGeom prst="rect">
                <a:avLst/>
              </a:prstGeom>
              <a:solidFill>
                <a:srgbClr val="FFFF00"/>
              </a:solidFill>
              <a:ln w="50800">
                <a:noFill/>
              </a:ln>
            </p:spPr>
            <p:txBody>
              <a:bodyPr tIns="0" bIns="0" anchor="t" anchorCtr="0"/>
              <a:lstStyle/>
              <a:p>
                <a:pPr algn="just" eaLnBrk="0" hangingPunct="0"/>
                <a:r>
                  <a:rPr lang="zh-CN" altLang="en-US" sz="1800" dirty="0">
                    <a:latin typeface="楷体_GB2312"/>
                    <a:ea typeface="宋体" panose="02010600030101010101" pitchFamily="2" charset="-122"/>
                  </a:rPr>
                  <a:t>5.1 工作包</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5.2 依赖关系</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5.3 资源要求</a:t>
                </a:r>
                <a:endParaRPr lang="zh-CN" altLang="en-US" sz="1800" dirty="0">
                  <a:latin typeface="楷体_GB2312"/>
                  <a:ea typeface="宋体" panose="02010600030101010101" pitchFamily="2" charset="-122"/>
                </a:endParaRPr>
              </a:p>
              <a:p>
                <a:pPr algn="just" eaLnBrk="0" hangingPunct="0"/>
                <a:r>
                  <a:rPr lang="zh-CN" altLang="en-US" sz="1800" dirty="0">
                    <a:latin typeface="楷体_GB2312"/>
                    <a:ea typeface="宋体" panose="02010600030101010101" pitchFamily="2" charset="-122"/>
                  </a:rPr>
                  <a:t>5.4 预算与资源分配以及进    度汁划</a:t>
                </a:r>
                <a:endParaRPr lang="zh-CN" altLang="en-US" sz="1800" dirty="0">
                  <a:latin typeface="楷体_GB2312"/>
                  <a:ea typeface="宋体" panose="02010600030101010101" pitchFamily="2" charset="-122"/>
                </a:endParaRPr>
              </a:p>
              <a:p>
                <a:pPr algn="just" eaLnBrk="0" hangingPunct="0"/>
                <a:endParaRPr lang="zh-CN" altLang="en-US" sz="1800" dirty="0">
                  <a:latin typeface="楷体_GB2312"/>
                  <a:ea typeface="宋体" panose="02010600030101010101" pitchFamily="2" charset="-122"/>
                </a:endParaRPr>
              </a:p>
            </p:txBody>
          </p:sp>
          <p:sp>
            <p:nvSpPr>
              <p:cNvPr id="110627" name="Rectangle 1058"/>
              <p:cNvSpPr/>
              <p:nvPr/>
            </p:nvSpPr>
            <p:spPr>
              <a:xfrm>
                <a:off x="2560" y="518"/>
                <a:ext cx="715" cy="1152"/>
              </a:xfrm>
              <a:prstGeom prst="rect">
                <a:avLst/>
              </a:prstGeom>
              <a:noFill/>
              <a:ln w="7"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sp>
          <p:nvSpPr>
            <p:cNvPr id="110628" name="Rectangle 1059"/>
            <p:cNvSpPr/>
            <p:nvPr/>
          </p:nvSpPr>
          <p:spPr>
            <a:xfrm>
              <a:off x="0" y="984"/>
              <a:ext cx="5760" cy="2544"/>
            </a:xfrm>
            <a:prstGeom prst="rect">
              <a:avLst/>
            </a:prstGeom>
            <a:noFill/>
            <a:ln w="9525" cap="flat" cmpd="sng">
              <a:solidFill>
                <a:srgbClr val="A0A0A0"/>
              </a:solidFill>
              <a:prstDash val="solid"/>
              <a:miter/>
              <a:headEnd type="none" w="med" len="med"/>
              <a:tailEnd type="none" w="med" len="med"/>
            </a:ln>
          </p:spPr>
          <p:txBody>
            <a:bodyPr tIns="0" bIns="0"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sp>
        <p:nvSpPr>
          <p:cNvPr id="47" name="Rectangle 1063"/>
          <p:cNvSpPr>
            <a:spLocks noChangeArrowheads="1"/>
          </p:cNvSpPr>
          <p:nvPr/>
        </p:nvSpPr>
        <p:spPr bwMode="auto">
          <a:xfrm>
            <a:off x="2800350" y="1162050"/>
            <a:ext cx="6119813" cy="521970"/>
          </a:xfrm>
          <a:prstGeom prst="rect">
            <a:avLst/>
          </a:prstGeom>
          <a:noFill/>
          <a:ln w="50800">
            <a:noFill/>
            <a:miter lim="800000"/>
          </a:ln>
          <a:effec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软件项目管理计划（</a:t>
            </a:r>
            <a:r>
              <a:rPr kumimoji="0" lang="en-US" altLang="zh-CN" sz="2800" b="0"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SPMP</a:t>
            </a:r>
            <a:r>
              <a:rPr kumimoji="0" lang="zh-CN" altLang="en-US" sz="2800" b="0"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）纲要示例</a:t>
            </a:r>
            <a:endParaRPr kumimoji="0" lang="zh-CN" altLang="en-US" sz="2800" b="0"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9" name="Rectangle 5"/>
          <p:cNvSpPr>
            <a:spLocks noGrp="1"/>
          </p:cNvSpPr>
          <p:nvPr>
            <p:ph type="title"/>
          </p:nvPr>
        </p:nvSpPr>
        <p:spPr>
          <a:xfrm>
            <a:off x="2495550" y="390525"/>
            <a:ext cx="4176490" cy="503238"/>
          </a:xfrm>
          <a:noFill/>
          <a:ln>
            <a:noFill/>
          </a:ln>
        </p:spPr>
        <p:txBody>
          <a:bodyPr wrap="square" lIns="0" tIns="0" rIns="0" bIns="0" anchor="ctr" anchorCtr="0"/>
          <a:lstStyle/>
          <a:p>
            <a:pPr eaLnBrk="1" hangingPunct="1">
              <a:buNone/>
            </a:pPr>
            <a:r>
              <a:rPr lang="en-US" altLang="zh-CN" sz="2800" dirty="0">
                <a:solidFill>
                  <a:srgbClr val="A50021"/>
                </a:solidFill>
                <a:effectLst/>
                <a:ea typeface="华文中宋" panose="02010600040101010101" pitchFamily="2" charset="-122"/>
              </a:rPr>
              <a:t>4.3 </a:t>
            </a:r>
            <a:r>
              <a:rPr lang="zh-CN" altLang="en-US" sz="2800" dirty="0">
                <a:solidFill>
                  <a:srgbClr val="A50021"/>
                </a:solidFill>
                <a:effectLst/>
                <a:ea typeface="华文中宋" panose="02010600040101010101" pitchFamily="2" charset="-122"/>
              </a:rPr>
              <a:t>制定项目管理计划</a:t>
            </a:r>
            <a:endParaRPr lang="zh-CN" altLang="en-US" sz="2800" dirty="0">
              <a:solidFill>
                <a:srgbClr val="A50021"/>
              </a:solidFill>
              <a:effectLst/>
              <a:ea typeface="华文中宋" panose="02010600040101010101" pitchFamily="2" charset="-122"/>
            </a:endParaRPr>
          </a:p>
        </p:txBody>
      </p:sp>
    </p:spTree>
  </p:cSld>
  <p:clrMapOvr>
    <a:masterClrMapping/>
  </p:clrMapOvr>
  <p:transition>
    <p:strips dir="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4.4 </a:t>
            </a:r>
            <a:r>
              <a:rPr lang="zh-CN" altLang="en-US" sz="2800" dirty="0">
                <a:solidFill>
                  <a:srgbClr val="A50021"/>
                </a:solidFill>
                <a:latin typeface="Gill Sans MT" panose="020B0502020104020203" pitchFamily="34" charset="0"/>
                <a:ea typeface="华文中宋" panose="02010600040101010101" pitchFamily="2" charset="-122"/>
              </a:rPr>
              <a:t>指导与管理项目工作</a:t>
            </a:r>
            <a:endParaRPr lang="zh-CN" altLang="en-US" sz="2800" dirty="0">
              <a:solidFill>
                <a:srgbClr val="A50021"/>
              </a:solidFill>
              <a:latin typeface="Gill Sans MT" panose="020B0502020104020203" pitchFamily="34" charset="0"/>
              <a:ea typeface="华文中宋" panose="02010600040101010101" pitchFamily="2" charset="-122"/>
            </a:endParaRPr>
          </a:p>
        </p:txBody>
      </p:sp>
      <p:grpSp>
        <p:nvGrpSpPr>
          <p:cNvPr id="115714" name="Group 8"/>
          <p:cNvGrpSpPr/>
          <p:nvPr/>
        </p:nvGrpSpPr>
        <p:grpSpPr>
          <a:xfrm>
            <a:off x="1519238" y="893763"/>
            <a:ext cx="9148762" cy="85725"/>
            <a:chOff x="0" y="0"/>
            <a:chExt cx="5763" cy="54"/>
          </a:xfrm>
        </p:grpSpPr>
        <p:sp>
          <p:nvSpPr>
            <p:cNvPr id="11571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571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Rectangle 4"/>
          <p:cNvSpPr/>
          <p:nvPr/>
        </p:nvSpPr>
        <p:spPr>
          <a:xfrm>
            <a:off x="1909445" y="1028065"/>
            <a:ext cx="8637270" cy="5492115"/>
          </a:xfrm>
          <a:prstGeom prst="rect">
            <a:avLst/>
          </a:prstGeom>
          <a:noFill/>
          <a:ln w="50800">
            <a:noFill/>
          </a:ln>
        </p:spPr>
        <p:txBody>
          <a:bodyPr wrap="square" anchor="t" anchorCtr="0">
            <a:spAutoFit/>
          </a:bodyPr>
          <a:lstStyle/>
          <a:p>
            <a:pPr eaLnBrk="0" hangingPunct="0">
              <a:spcBef>
                <a:spcPct val="40000"/>
              </a:spcBef>
              <a:buFont typeface="Wingdings" panose="05000000000000000000" pitchFamily="2" charset="2"/>
            </a:pPr>
            <a:r>
              <a:rPr lang="en-US" altLang="zh-CN" sz="2700" dirty="0">
                <a:solidFill>
                  <a:srgbClr val="FF0000"/>
                </a:solidFill>
                <a:latin typeface="宋体" panose="02010600030101010101" pitchFamily="2" charset="-122"/>
              </a:rPr>
              <a:t>1.</a:t>
            </a:r>
            <a:r>
              <a:rPr lang="zh-CN" altLang="en-US" sz="2700" dirty="0">
                <a:solidFill>
                  <a:srgbClr val="FF0000"/>
                </a:solidFill>
                <a:latin typeface="宋体" panose="02010600030101010101" pitchFamily="2" charset="-122"/>
              </a:rPr>
              <a:t>定义：</a:t>
            </a:r>
            <a:r>
              <a:rPr lang="zh-CN" altLang="en-US" sz="2700" dirty="0">
                <a:solidFill>
                  <a:schemeClr val="tx1"/>
                </a:solidFill>
                <a:latin typeface="宋体" panose="02010600030101010101" pitchFamily="2" charset="-122"/>
              </a:rPr>
              <a:t>为实现项目目标而</a:t>
            </a:r>
            <a:r>
              <a:rPr lang="zh-CN" altLang="en-US" sz="2700" dirty="0">
                <a:solidFill>
                  <a:srgbClr val="FF0000"/>
                </a:solidFill>
                <a:latin typeface="宋体" panose="02010600030101010101" pitchFamily="2" charset="-122"/>
              </a:rPr>
              <a:t>领导和执行</a:t>
            </a:r>
            <a:r>
              <a:rPr lang="zh-CN" altLang="en-US" sz="2700" dirty="0">
                <a:solidFill>
                  <a:schemeClr val="tx1"/>
                </a:solidFill>
                <a:latin typeface="宋体" panose="02010600030101010101" pitchFamily="2" charset="-122"/>
              </a:rPr>
              <a:t>项目管理计划中所</a:t>
            </a:r>
            <a:r>
              <a:rPr lang="zh-CN" altLang="en-US" sz="2700" dirty="0">
                <a:solidFill>
                  <a:srgbClr val="FF0000"/>
                </a:solidFill>
                <a:latin typeface="宋体" panose="02010600030101010101" pitchFamily="2" charset="-122"/>
              </a:rPr>
              <a:t>确定的工作</a:t>
            </a:r>
            <a:r>
              <a:rPr lang="zh-CN" altLang="en-US" sz="2700" dirty="0">
                <a:solidFill>
                  <a:schemeClr val="tx1"/>
                </a:solidFill>
                <a:latin typeface="宋体" panose="02010600030101010101" pitchFamily="2" charset="-122"/>
              </a:rPr>
              <a:t>，并</a:t>
            </a:r>
            <a:r>
              <a:rPr lang="zh-CN" altLang="en-US" sz="2700" dirty="0">
                <a:solidFill>
                  <a:srgbClr val="FF0000"/>
                </a:solidFill>
                <a:latin typeface="宋体" panose="02010600030101010101" pitchFamily="2" charset="-122"/>
              </a:rPr>
              <a:t>实施已批准变更</a:t>
            </a:r>
            <a:r>
              <a:rPr lang="zh-CN" altLang="en-US" sz="2700" dirty="0">
                <a:solidFill>
                  <a:schemeClr val="tx1"/>
                </a:solidFill>
                <a:latin typeface="宋体" panose="02010600030101010101" pitchFamily="2" charset="-122"/>
              </a:rPr>
              <a:t>的过程。</a:t>
            </a:r>
            <a:endParaRPr lang="zh-CN" altLang="en-US" sz="2700" dirty="0">
              <a:solidFill>
                <a:srgbClr val="FF0000"/>
              </a:solidFill>
              <a:latin typeface="宋体" panose="02010600030101010101" pitchFamily="2" charset="-122"/>
            </a:endParaRPr>
          </a:p>
          <a:p>
            <a:pPr eaLnBrk="0" hangingPunct="0">
              <a:spcBef>
                <a:spcPct val="40000"/>
              </a:spcBef>
              <a:buFont typeface="Wingdings" panose="05000000000000000000" pitchFamily="2" charset="2"/>
            </a:pPr>
            <a:r>
              <a:rPr lang="en-US" altLang="zh-CN" sz="2700" dirty="0">
                <a:solidFill>
                  <a:schemeClr val="tx2"/>
                </a:solidFill>
                <a:latin typeface="宋体" panose="02010600030101010101" pitchFamily="2" charset="-122"/>
              </a:rPr>
              <a:t>2</a:t>
            </a:r>
            <a:r>
              <a:rPr lang="zh-CN" altLang="en-US" sz="2700" dirty="0">
                <a:solidFill>
                  <a:schemeClr val="tx2"/>
                </a:solidFill>
                <a:latin typeface="宋体" panose="02010600030101010101" pitchFamily="2" charset="-122"/>
              </a:rPr>
              <a:t>、</a:t>
            </a:r>
            <a:r>
              <a:rPr lang="zh-CN" altLang="en-US" sz="2700" dirty="0">
                <a:solidFill>
                  <a:srgbClr val="FF0000"/>
                </a:solidFill>
                <a:latin typeface="宋体" panose="02010600030101010101" pitchFamily="2" charset="-122"/>
              </a:rPr>
              <a:t>主要作用：</a:t>
            </a:r>
            <a:r>
              <a:rPr lang="zh-CN" altLang="en-US" sz="2700" dirty="0">
                <a:solidFill>
                  <a:schemeClr val="tx2"/>
                </a:solidFill>
                <a:latin typeface="宋体" panose="02010600030101010101" pitchFamily="2" charset="-122"/>
              </a:rPr>
              <a:t>对</a:t>
            </a:r>
            <a:r>
              <a:rPr lang="zh-CN" altLang="en-US" sz="2700" dirty="0">
                <a:solidFill>
                  <a:srgbClr val="FF0000"/>
                </a:solidFill>
                <a:latin typeface="宋体" panose="02010600030101010101" pitchFamily="2" charset="-122"/>
              </a:rPr>
              <a:t>项目工作和可交付成果</a:t>
            </a:r>
            <a:r>
              <a:rPr lang="zh-CN" altLang="en-US" sz="2700" dirty="0">
                <a:solidFill>
                  <a:schemeClr val="tx2"/>
                </a:solidFill>
                <a:latin typeface="宋体" panose="02010600030101010101" pitchFamily="2" charset="-122"/>
              </a:rPr>
              <a:t>开展综合管理，以提高项目成功的可能性。需要在整个项目期间开展。</a:t>
            </a:r>
            <a:endParaRPr lang="en-US" altLang="zh-CN" sz="2700" dirty="0">
              <a:solidFill>
                <a:schemeClr val="tx2"/>
              </a:solidFill>
              <a:latin typeface="宋体" panose="02010600030101010101" pitchFamily="2" charset="-122"/>
            </a:endParaRPr>
          </a:p>
          <a:p>
            <a:pPr eaLnBrk="0" hangingPunct="0">
              <a:spcBef>
                <a:spcPct val="40000"/>
              </a:spcBef>
              <a:buFont typeface="Wingdings" panose="05000000000000000000" pitchFamily="2" charset="2"/>
            </a:pPr>
            <a:r>
              <a:rPr lang="en-US" altLang="zh-CN" sz="2700" dirty="0">
                <a:solidFill>
                  <a:srgbClr val="FF0000"/>
                </a:solidFill>
                <a:latin typeface="宋体" panose="02010600030101010101" pitchFamily="2" charset="-122"/>
              </a:rPr>
              <a:t>3.</a:t>
            </a:r>
            <a:r>
              <a:rPr lang="zh-CN" altLang="en-US" sz="2700" dirty="0">
                <a:solidFill>
                  <a:srgbClr val="FF0000"/>
                </a:solidFill>
                <a:latin typeface="宋体" panose="02010600030101010101" pitchFamily="2" charset="-122"/>
              </a:rPr>
              <a:t>管理理解：</a:t>
            </a:r>
            <a:r>
              <a:rPr lang="zh-CN" altLang="en-US" sz="2700" dirty="0">
                <a:latin typeface="宋体" panose="02010600030101010101" pitchFamily="2" charset="-122"/>
              </a:rPr>
              <a:t>项目集成管理将</a:t>
            </a:r>
            <a:r>
              <a:rPr lang="zh-CN" altLang="en-US" sz="2700" dirty="0">
                <a:highlight>
                  <a:srgbClr val="FFFF00"/>
                </a:highlight>
                <a:latin typeface="宋体" panose="02010600030101010101" pitchFamily="2" charset="-122"/>
              </a:rPr>
              <a:t>项目计划和项目执行</a:t>
            </a:r>
            <a:r>
              <a:rPr lang="zh-CN" altLang="en-US" sz="2700" dirty="0">
                <a:latin typeface="宋体" panose="02010600030101010101" pitchFamily="2" charset="-122"/>
              </a:rPr>
              <a:t>视为</a:t>
            </a:r>
            <a:r>
              <a:rPr lang="zh-CN" altLang="en-US" sz="2700" dirty="0">
                <a:solidFill>
                  <a:srgbClr val="0000FF"/>
                </a:solidFill>
                <a:latin typeface="宋体" panose="02010600030101010101" pitchFamily="2" charset="-122"/>
              </a:rPr>
              <a:t>互相渗透，不可分割的活动</a:t>
            </a:r>
            <a:r>
              <a:rPr lang="zh-CN" altLang="en-US" sz="2700" dirty="0">
                <a:latin typeface="宋体" panose="02010600030101010101" pitchFamily="2" charset="-122"/>
              </a:rPr>
              <a:t>。 </a:t>
            </a:r>
            <a:endParaRPr lang="zh-CN" altLang="en-US" sz="2700" dirty="0">
              <a:latin typeface="宋体" panose="02010600030101010101" pitchFamily="2" charset="-122"/>
            </a:endParaRPr>
          </a:p>
          <a:p>
            <a:pPr eaLnBrk="0" hangingPunct="0">
              <a:spcBef>
                <a:spcPct val="40000"/>
              </a:spcBef>
              <a:buFont typeface="Wingdings" panose="05000000000000000000" pitchFamily="2" charset="2"/>
            </a:pPr>
            <a:r>
              <a:rPr lang="en-US" altLang="zh-CN" sz="2700" dirty="0">
                <a:solidFill>
                  <a:srgbClr val="FF0000"/>
                </a:solidFill>
                <a:latin typeface="宋体" panose="02010600030101010101" pitchFamily="2" charset="-122"/>
              </a:rPr>
              <a:t>4.</a:t>
            </a:r>
            <a:r>
              <a:rPr lang="zh-CN" altLang="en-US" sz="2700" dirty="0">
                <a:latin typeface="宋体" panose="02010600030101010101" pitchFamily="2" charset="-122"/>
              </a:rPr>
              <a:t>整体计划与阶段计划的关系：</a:t>
            </a:r>
            <a:endParaRPr lang="zh-CN" altLang="en-US" sz="2700" dirty="0">
              <a:latin typeface="宋体" panose="02010600030101010101" pitchFamily="2" charset="-122"/>
            </a:endParaRPr>
          </a:p>
          <a:p>
            <a:pPr eaLnBrk="0" hangingPunct="0">
              <a:spcBef>
                <a:spcPct val="40000"/>
              </a:spcBef>
            </a:pPr>
            <a:r>
              <a:rPr lang="zh-CN" altLang="en-US" sz="2700" dirty="0">
                <a:latin typeface="宋体" panose="02010600030101010101" pitchFamily="2" charset="-122"/>
              </a:rPr>
              <a:t>1）整体项目计划</a:t>
            </a:r>
            <a:r>
              <a:rPr lang="zh-CN" altLang="en-US" sz="2700" dirty="0">
                <a:solidFill>
                  <a:srgbClr val="0000FF"/>
                </a:solidFill>
                <a:latin typeface="宋体" panose="02010600030101010101" pitchFamily="2" charset="-122"/>
              </a:rPr>
              <a:t>指导</a:t>
            </a:r>
            <a:r>
              <a:rPr lang="zh-CN" altLang="en-US" sz="2700" dirty="0">
                <a:latin typeface="宋体" panose="02010600030101010101" pitchFamily="2" charset="-122"/>
              </a:rPr>
              <a:t>各阶段计划，阶段计划为整体计划的变更</a:t>
            </a:r>
            <a:r>
              <a:rPr lang="zh-CN" altLang="en-US" sz="2700" dirty="0">
                <a:solidFill>
                  <a:srgbClr val="0000FF"/>
                </a:solidFill>
                <a:latin typeface="宋体" panose="02010600030101010101" pitchFamily="2" charset="-122"/>
              </a:rPr>
              <a:t>提供依据</a:t>
            </a:r>
            <a:r>
              <a:rPr lang="zh-CN" altLang="en-US" sz="2700" dirty="0">
                <a:latin typeface="宋体" panose="02010600030101010101" pitchFamily="2" charset="-122"/>
              </a:rPr>
              <a:t>。</a:t>
            </a:r>
            <a:endParaRPr lang="zh-CN" altLang="en-US" sz="2700" dirty="0">
              <a:latin typeface="宋体" panose="02010600030101010101" pitchFamily="2" charset="-122"/>
            </a:endParaRPr>
          </a:p>
          <a:p>
            <a:pPr eaLnBrk="0" hangingPunct="0">
              <a:spcBef>
                <a:spcPct val="40000"/>
              </a:spcBef>
            </a:pPr>
            <a:r>
              <a:rPr lang="zh-CN" altLang="en-US" sz="2700" dirty="0">
                <a:latin typeface="宋体" panose="02010600030101010101" pitchFamily="2" charset="-122"/>
              </a:rPr>
              <a:t>2）阶段计划的制定和执行是落实与完成整体计划的</a:t>
            </a:r>
            <a:r>
              <a:rPr lang="zh-CN" altLang="en-US" sz="2700" dirty="0">
                <a:solidFill>
                  <a:srgbClr val="0000FF"/>
                </a:solidFill>
                <a:latin typeface="宋体" panose="02010600030101010101" pitchFamily="2" charset="-122"/>
              </a:rPr>
              <a:t>基础和保证</a:t>
            </a:r>
            <a:r>
              <a:rPr lang="zh-CN" altLang="en-US" sz="2700" dirty="0">
                <a:latin typeface="宋体" panose="02010600030101010101" pitchFamily="2" charset="-122"/>
              </a:rPr>
              <a:t>。 </a:t>
            </a:r>
            <a:endParaRPr lang="en-US" altLang="zh-CN" sz="2700" dirty="0">
              <a:latin typeface="宋体" panose="0201060003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8"/>
          <p:cNvGrpSpPr/>
          <p:nvPr/>
        </p:nvGrpSpPr>
        <p:grpSpPr>
          <a:xfrm>
            <a:off x="1519238" y="893763"/>
            <a:ext cx="9148762" cy="85725"/>
            <a:chOff x="0" y="0"/>
            <a:chExt cx="5763" cy="54"/>
          </a:xfrm>
        </p:grpSpPr>
        <p:sp>
          <p:nvSpPr>
            <p:cNvPr id="116739"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6740"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2" name="Text Box 5"/>
          <p:cNvSpPr txBox="1"/>
          <p:nvPr/>
        </p:nvSpPr>
        <p:spPr>
          <a:xfrm>
            <a:off x="1847850" y="1412875"/>
            <a:ext cx="9124950" cy="3107690"/>
          </a:xfrm>
          <a:prstGeom prst="rect">
            <a:avLst/>
          </a:prstGeom>
          <a:noFill/>
          <a:ln w="50800">
            <a:noFill/>
          </a:ln>
        </p:spPr>
        <p:txBody>
          <a:bodyPr wrap="square" anchor="t" anchorCtr="0">
            <a:spAutoFit/>
          </a:bodyPr>
          <a:lstStyle/>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5.</a:t>
            </a:r>
            <a:r>
              <a:rPr lang="zh-CN" altLang="en-US" sz="2800" dirty="0">
                <a:solidFill>
                  <a:srgbClr val="FF0000"/>
                </a:solidFill>
                <a:latin typeface="宋体" panose="02010600030101010101" pitchFamily="2" charset="-122"/>
                <a:ea typeface="宋体" panose="02010600030101010101" pitchFamily="2" charset="-122"/>
              </a:rPr>
              <a:t>好计划与控制：</a:t>
            </a:r>
            <a:r>
              <a:rPr lang="zh-CN" altLang="en-US" sz="2800" dirty="0">
                <a:solidFill>
                  <a:srgbClr val="990000"/>
                </a:solidFill>
                <a:latin typeface="宋体" panose="02010600030101010101" pitchFamily="2" charset="-122"/>
                <a:ea typeface="宋体" panose="02010600030101010101" pitchFamily="2" charset="-122"/>
              </a:rPr>
              <a:t>没有</a:t>
            </a:r>
            <a:r>
              <a:rPr lang="zh-CN" altLang="en-US" sz="2800" dirty="0">
                <a:latin typeface="宋体" panose="02010600030101010101" pitchFamily="2" charset="-122"/>
                <a:ea typeface="宋体" panose="02010600030101010101" pitchFamily="2" charset="-122"/>
              </a:rPr>
              <a:t>好的</a:t>
            </a:r>
            <a:r>
              <a:rPr lang="zh-CN" altLang="en-US" sz="2800" dirty="0">
                <a:solidFill>
                  <a:srgbClr val="0000FF"/>
                </a:solidFill>
                <a:latin typeface="宋体" panose="02010600030101010101" pitchFamily="2" charset="-122"/>
                <a:ea typeface="宋体" panose="02010600030101010101" pitchFamily="2" charset="-122"/>
              </a:rPr>
              <a:t>计划</a:t>
            </a:r>
            <a:r>
              <a:rPr lang="zh-CN" altLang="en-US" sz="2800" dirty="0">
                <a:latin typeface="宋体" panose="02010600030101010101" pitchFamily="2" charset="-122"/>
                <a:ea typeface="宋体" panose="02010600030101010101" pitchFamily="2" charset="-122"/>
              </a:rPr>
              <a:t>就</a:t>
            </a:r>
            <a:r>
              <a:rPr lang="zh-CN" altLang="en-US" sz="2800" dirty="0">
                <a:solidFill>
                  <a:srgbClr val="FF33CC"/>
                </a:solidFill>
                <a:latin typeface="宋体" panose="02010600030101010101" pitchFamily="2" charset="-122"/>
                <a:ea typeface="宋体" panose="02010600030101010101" pitchFamily="2" charset="-122"/>
              </a:rPr>
              <a:t>不可能</a:t>
            </a:r>
            <a:r>
              <a:rPr lang="zh-CN" altLang="en-US" sz="2800" dirty="0">
                <a:solidFill>
                  <a:srgbClr val="990000"/>
                </a:solidFill>
                <a:latin typeface="宋体" panose="02010600030101010101" pitchFamily="2" charset="-122"/>
                <a:ea typeface="宋体" panose="02010600030101010101" pitchFamily="2" charset="-122"/>
              </a:rPr>
              <a:t>有</a:t>
            </a:r>
            <a:r>
              <a:rPr lang="zh-CN" altLang="en-US" sz="2800" dirty="0">
                <a:latin typeface="宋体" panose="02010600030101010101" pitchFamily="2" charset="-122"/>
                <a:ea typeface="宋体" panose="02010600030101010101" pitchFamily="2" charset="-122"/>
              </a:rPr>
              <a:t>好的</a:t>
            </a:r>
            <a:r>
              <a:rPr lang="zh-CN" altLang="en-US" sz="2800" dirty="0">
                <a:solidFill>
                  <a:srgbClr val="0000FF"/>
                </a:solidFill>
                <a:latin typeface="宋体" panose="02010600030101010101" pitchFamily="2" charset="-122"/>
                <a:ea typeface="宋体" panose="02010600030101010101" pitchFamily="2" charset="-122"/>
              </a:rPr>
              <a:t>结果</a:t>
            </a:r>
            <a:r>
              <a:rPr lang="zh-CN" altLang="en-US" sz="2800" dirty="0">
                <a:latin typeface="宋体" panose="02010600030101010101" pitchFamily="2" charset="-122"/>
                <a:ea typeface="宋体" panose="02010600030101010101" pitchFamily="2" charset="-122"/>
              </a:rPr>
              <a:t>。</a:t>
            </a:r>
            <a:r>
              <a:rPr lang="zh-CN" altLang="en-US" sz="2800" dirty="0">
                <a:solidFill>
                  <a:srgbClr val="990000"/>
                </a:solidFill>
                <a:latin typeface="宋体" panose="02010600030101010101" pitchFamily="2" charset="-122"/>
                <a:ea typeface="宋体" panose="02010600030101010101" pitchFamily="2" charset="-122"/>
              </a:rPr>
              <a:t>有</a:t>
            </a:r>
            <a:r>
              <a:rPr lang="zh-CN" altLang="en-US" sz="2800" dirty="0">
                <a:latin typeface="宋体" panose="02010600030101010101" pitchFamily="2" charset="-122"/>
                <a:ea typeface="宋体" panose="02010600030101010101" pitchFamily="2" charset="-122"/>
              </a:rPr>
              <a:t>好的计划，</a:t>
            </a:r>
            <a:r>
              <a:rPr lang="zh-CN" altLang="en-US" sz="2800" dirty="0">
                <a:solidFill>
                  <a:srgbClr val="FF33CC"/>
                </a:solidFill>
                <a:latin typeface="宋体" panose="02010600030101010101" pitchFamily="2" charset="-122"/>
                <a:ea typeface="宋体" panose="02010600030101010101" pitchFamily="2" charset="-122"/>
              </a:rPr>
              <a:t>不加强控制和监督</a:t>
            </a:r>
            <a:r>
              <a:rPr lang="zh-CN" altLang="en-US" sz="2800" dirty="0">
                <a:latin typeface="宋体" panose="02010600030101010101" pitchFamily="2" charset="-122"/>
                <a:ea typeface="宋体" panose="02010600030101010101" pitchFamily="2" charset="-122"/>
              </a:rPr>
              <a:t>也</a:t>
            </a:r>
            <a:r>
              <a:rPr lang="zh-CN" altLang="en-US" sz="2800" dirty="0">
                <a:solidFill>
                  <a:srgbClr val="990000"/>
                </a:solidFill>
                <a:latin typeface="宋体" panose="02010600030101010101" pitchFamily="2" charset="-122"/>
                <a:ea typeface="宋体" panose="02010600030101010101" pitchFamily="2" charset="-122"/>
              </a:rPr>
              <a:t>很难</a:t>
            </a:r>
            <a:r>
              <a:rPr lang="zh-CN" altLang="en-US" sz="2800" dirty="0">
                <a:latin typeface="宋体" panose="02010600030101010101" pitchFamily="2" charset="-122"/>
                <a:ea typeface="宋体" panose="02010600030101010101" pitchFamily="2" charset="-122"/>
              </a:rPr>
              <a:t>得到满意的</a:t>
            </a:r>
            <a:r>
              <a:rPr lang="zh-CN" altLang="en-US" sz="2800" dirty="0">
                <a:solidFill>
                  <a:srgbClr val="0000FF"/>
                </a:solidFill>
                <a:latin typeface="宋体" panose="02010600030101010101" pitchFamily="2" charset="-122"/>
                <a:ea typeface="宋体" panose="02010600030101010101" pitchFamily="2" charset="-122"/>
              </a:rPr>
              <a:t>结果</a:t>
            </a:r>
            <a:r>
              <a:rPr lang="zh-CN" altLang="en-US" sz="2800" dirty="0">
                <a:latin typeface="宋体" panose="02010600030101010101" pitchFamily="2" charset="-122"/>
                <a:ea typeface="宋体" panose="02010600030101010101" pitchFamily="2" charset="-122"/>
              </a:rPr>
              <a:t>。</a:t>
            </a:r>
            <a:endParaRPr lang="zh-CN" altLang="en-GB" sz="2800"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6.</a:t>
            </a:r>
            <a:r>
              <a:rPr lang="zh-CN" altLang="en-US" sz="2800" dirty="0">
                <a:solidFill>
                  <a:srgbClr val="FF0000"/>
                </a:solidFill>
                <a:latin typeface="宋体" panose="02010600030101010101" pitchFamily="2" charset="-122"/>
                <a:ea typeface="宋体" panose="02010600030101010101" pitchFamily="2" charset="-122"/>
              </a:rPr>
              <a:t>操作性：</a:t>
            </a:r>
            <a:r>
              <a:rPr lang="zh-CN" altLang="en-US" sz="2800" dirty="0">
                <a:solidFill>
                  <a:srgbClr val="FF33CC"/>
                </a:solidFill>
                <a:latin typeface="宋体" panose="02010600030101010101" pitchFamily="2" charset="-122"/>
                <a:ea typeface="宋体" panose="02010600030101010101" pitchFamily="2" charset="-122"/>
              </a:rPr>
              <a:t>不</a:t>
            </a:r>
            <a:r>
              <a:rPr lang="zh-CN" altLang="en-US" sz="2800" dirty="0">
                <a:latin typeface="宋体" panose="02010600030101010101" pitchFamily="2" charset="-122"/>
                <a:ea typeface="宋体" panose="02010600030101010101" pitchFamily="2" charset="-122"/>
              </a:rPr>
              <a:t>可操作或者操作</a:t>
            </a:r>
            <a:r>
              <a:rPr lang="zh-CN" altLang="en-US" sz="2800" dirty="0">
                <a:solidFill>
                  <a:srgbClr val="FF33CC"/>
                </a:solidFill>
                <a:latin typeface="宋体" panose="02010600030101010101" pitchFamily="2" charset="-122"/>
                <a:ea typeface="宋体" panose="02010600030101010101" pitchFamily="2" charset="-122"/>
              </a:rPr>
              <a:t>很困难</a:t>
            </a:r>
            <a:r>
              <a:rPr lang="zh-CN" altLang="en-US" sz="2800" dirty="0">
                <a:latin typeface="宋体" panose="02010600030101010101" pitchFamily="2" charset="-122"/>
                <a:ea typeface="宋体" panose="02010600030101010101" pitchFamily="2" charset="-122"/>
              </a:rPr>
              <a:t>的计划不是</a:t>
            </a:r>
            <a:r>
              <a:rPr lang="zh-CN" altLang="en-US" sz="2800" dirty="0">
                <a:solidFill>
                  <a:srgbClr val="0000FF"/>
                </a:solidFill>
                <a:latin typeface="宋体" panose="02010600030101010101" pitchFamily="2" charset="-122"/>
                <a:ea typeface="宋体" panose="02010600030101010101" pitchFamily="2" charset="-122"/>
              </a:rPr>
              <a:t>好计划</a:t>
            </a:r>
            <a:r>
              <a:rPr lang="zh-CN" altLang="en-US" sz="2800" dirty="0">
                <a:latin typeface="宋体" panose="02010600030101010101" pitchFamily="2" charset="-122"/>
                <a:ea typeface="宋体" panose="02010600030101010101" pitchFamily="2" charset="-122"/>
              </a:rPr>
              <a:t>，甚至</a:t>
            </a:r>
            <a:r>
              <a:rPr lang="zh-CN" altLang="en-US" sz="2800" dirty="0">
                <a:solidFill>
                  <a:srgbClr val="0000FF"/>
                </a:solidFill>
                <a:latin typeface="宋体" panose="02010600030101010101" pitchFamily="2" charset="-122"/>
                <a:ea typeface="宋体" panose="02010600030101010101" pitchFamily="2" charset="-122"/>
              </a:rPr>
              <a:t>不能</a:t>
            </a:r>
            <a:r>
              <a:rPr lang="zh-CN" altLang="en-US" sz="2800" dirty="0">
                <a:solidFill>
                  <a:srgbClr val="990000"/>
                </a:solidFill>
                <a:latin typeface="宋体" panose="02010600030101010101" pitchFamily="2" charset="-122"/>
                <a:ea typeface="宋体" panose="02010600030101010101" pitchFamily="2" charset="-122"/>
              </a:rPr>
              <a:t>叫做</a:t>
            </a:r>
            <a:r>
              <a:rPr lang="zh-CN" altLang="en-US" sz="2800" dirty="0">
                <a:solidFill>
                  <a:srgbClr val="0000FF"/>
                </a:solidFill>
                <a:latin typeface="宋体" panose="02010600030101010101" pitchFamily="2" charset="-122"/>
                <a:ea typeface="宋体" panose="02010600030101010101" pitchFamily="2" charset="-122"/>
              </a:rPr>
              <a:t>计划</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7.</a:t>
            </a:r>
            <a:r>
              <a:rPr lang="zh-CN" altLang="en-US" sz="2800" dirty="0">
                <a:solidFill>
                  <a:srgbClr val="FF0000"/>
                </a:solidFill>
                <a:latin typeface="宋体" panose="02010600030101010101" pitchFamily="2" charset="-122"/>
                <a:ea typeface="宋体" panose="02010600030101010101" pitchFamily="2" charset="-122"/>
              </a:rPr>
              <a:t>规则：</a:t>
            </a:r>
            <a:r>
              <a:rPr lang="zh-CN" altLang="en-US" sz="2800" dirty="0">
                <a:latin typeface="宋体" panose="02010600030101010101" pitchFamily="2" charset="-122"/>
                <a:ea typeface="宋体" panose="02010600030101010101" pitchFamily="2" charset="-122"/>
              </a:rPr>
              <a:t>用于改进计划制定和实施之间协调的关系，其简单的规则是</a:t>
            </a:r>
            <a:r>
              <a:rPr lang="zh-CN" altLang="en-US" sz="2800" dirty="0">
                <a:solidFill>
                  <a:srgbClr val="0000FF"/>
                </a:solidFill>
                <a:latin typeface="宋体" panose="02010600030101010101" pitchFamily="2" charset="-122"/>
                <a:ea typeface="宋体" panose="02010600030101010101" pitchFamily="2" charset="-122"/>
              </a:rPr>
              <a:t>负责做这件事的人来做这个计划</a:t>
            </a:r>
            <a:r>
              <a:rPr lang="zh-CN" altLang="en-US" sz="2800" dirty="0">
                <a:latin typeface="宋体" panose="02010600030101010101" pitchFamily="2" charset="-122"/>
                <a:ea typeface="宋体" panose="02010600030101010101" pitchFamily="2" charset="-122"/>
              </a:rPr>
              <a:t>。</a:t>
            </a:r>
            <a:endParaRPr lang="zh-CN" altLang="en-US" sz="2800" dirty="0">
              <a:solidFill>
                <a:schemeClr val="folHlink"/>
              </a:solidFill>
              <a:latin typeface="宋体" panose="02010600030101010101" pitchFamily="2" charset="-122"/>
              <a:ea typeface="宋体" panose="02010600030101010101" pitchFamily="2" charset="-122"/>
            </a:endParaRPr>
          </a:p>
        </p:txBody>
      </p:sp>
      <p:sp>
        <p:nvSpPr>
          <p:cNvPr id="7"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4.4 </a:t>
            </a:r>
            <a:r>
              <a:rPr lang="zh-CN" altLang="en-US" sz="2800" dirty="0">
                <a:solidFill>
                  <a:srgbClr val="A50021"/>
                </a:solidFill>
                <a:latin typeface="Gill Sans MT" panose="020B0502020104020203" pitchFamily="34" charset="0"/>
                <a:ea typeface="华文中宋" panose="02010600040101010101" pitchFamily="2" charset="-122"/>
              </a:rPr>
              <a:t>指导与管理项目工作</a:t>
            </a:r>
            <a:endParaRPr lang="zh-CN" altLang="en-US" sz="2800" dirty="0">
              <a:solidFill>
                <a:srgbClr val="A50021"/>
              </a:solidFill>
              <a:latin typeface="Gill Sans MT" panose="020B0502020104020203" pitchFamily="34" charset="0"/>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p:cTn id="13" dur="500" fill="hold"/>
                                        <p:tgtEl>
                                          <p:spTgt spid="12">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1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p:cTn id="19" dur="500" fill="hold"/>
                                        <p:tgtEl>
                                          <p:spTgt spid="12">
                                            <p:txEl>
                                              <p:pRg st="2" end="2"/>
                                            </p:txEl>
                                          </p:spTgt>
                                        </p:tgtEl>
                                        <p:attrNameLst>
                                          <p:attrName>ppt_x</p:attrName>
                                        </p:attrNameLst>
                                      </p:cBhvr>
                                      <p:tavLst>
                                        <p:tav tm="0">
                                          <p:val>
                                            <p:strVal val="0-#ppt_w/2"/>
                                          </p:val>
                                        </p:tav>
                                        <p:tav tm="100000">
                                          <p:val>
                                            <p:strVal val="#ppt_x"/>
                                          </p:val>
                                        </p:tav>
                                      </p:tavLst>
                                    </p:anim>
                                    <p:anim calcmode="lin" valueType="num">
                                      <p:cBhvr>
                                        <p:cTn id="20" dur="500" fill="hold"/>
                                        <p:tgtEl>
                                          <p:spTgt spid="1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2" name="Group 8"/>
          <p:cNvGrpSpPr/>
          <p:nvPr/>
        </p:nvGrpSpPr>
        <p:grpSpPr>
          <a:xfrm>
            <a:off x="1519238" y="893763"/>
            <a:ext cx="9148762" cy="85725"/>
            <a:chOff x="0" y="0"/>
            <a:chExt cx="5763" cy="54"/>
          </a:xfrm>
        </p:grpSpPr>
        <p:sp>
          <p:nvSpPr>
            <p:cNvPr id="11776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776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5"/>
          <p:cNvSpPr txBox="1"/>
          <p:nvPr/>
        </p:nvSpPr>
        <p:spPr>
          <a:xfrm>
            <a:off x="2136140" y="1443990"/>
            <a:ext cx="8776970" cy="3969385"/>
          </a:xfrm>
          <a:prstGeom prst="rect">
            <a:avLst/>
          </a:prstGeom>
          <a:noFill/>
          <a:ln w="50800">
            <a:noFill/>
          </a:ln>
        </p:spPr>
        <p:txBody>
          <a:bodyPr wrap="square" anchor="t" anchorCtr="0">
            <a:spAutoFit/>
          </a:bodyPr>
          <a:lstStyle/>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8.</a:t>
            </a:r>
            <a:r>
              <a:rPr lang="zh-CN" altLang="en-US" sz="2800" dirty="0">
                <a:solidFill>
                  <a:srgbClr val="FF0000"/>
                </a:solidFill>
                <a:latin typeface="宋体" panose="02010600030101010101" pitchFamily="2" charset="-122"/>
                <a:ea typeface="宋体" panose="02010600030101010101" pitchFamily="2" charset="-122"/>
              </a:rPr>
              <a:t>基本要求</a:t>
            </a:r>
            <a:r>
              <a:rPr lang="zh-CN" altLang="en-US" sz="2800" dirty="0">
                <a:solidFill>
                  <a:schemeClr val="hlink"/>
                </a:solidFill>
                <a:latin typeface="宋体" panose="02010600030101010101" pitchFamily="2" charset="-122"/>
                <a:ea typeface="宋体" panose="02010600030101010101" pitchFamily="2" charset="-122"/>
              </a:rPr>
              <a:t>：</a:t>
            </a:r>
            <a:r>
              <a:rPr lang="zh-CN" altLang="en-US" sz="2800" dirty="0">
                <a:solidFill>
                  <a:srgbClr val="990000"/>
                </a:solidFill>
                <a:latin typeface="宋体" panose="02010600030101010101" pitchFamily="2" charset="-122"/>
                <a:ea typeface="宋体" panose="02010600030101010101" pitchFamily="2" charset="-122"/>
              </a:rPr>
              <a:t>要求</a:t>
            </a:r>
            <a:r>
              <a:rPr lang="zh-CN" altLang="en-US" sz="2800" dirty="0">
                <a:solidFill>
                  <a:srgbClr val="0000FF"/>
                </a:solidFill>
                <a:latin typeface="宋体" panose="02010600030101010101" pitchFamily="2" charset="-122"/>
                <a:ea typeface="宋体" panose="02010600030101010101" pitchFamily="2" charset="-122"/>
              </a:rPr>
              <a:t>项目人员</a:t>
            </a:r>
            <a:r>
              <a:rPr lang="zh-CN" altLang="en-US" sz="2800" dirty="0">
                <a:latin typeface="宋体" panose="02010600030101010101" pitchFamily="2" charset="-122"/>
                <a:ea typeface="宋体" panose="02010600030101010101" pitchFamily="2" charset="-122"/>
              </a:rPr>
              <a:t>都必须</a:t>
            </a:r>
            <a:r>
              <a:rPr lang="zh-CN" altLang="en-US" sz="2800" dirty="0">
                <a:solidFill>
                  <a:srgbClr val="990000"/>
                </a:solidFill>
                <a:latin typeface="宋体" panose="02010600030101010101" pitchFamily="2" charset="-122"/>
                <a:ea typeface="宋体" panose="02010600030101010101" pitchFamily="2" charset="-122"/>
              </a:rPr>
              <a:t>遵循</a:t>
            </a:r>
            <a:r>
              <a:rPr lang="zh-CN" altLang="en-US" sz="2800" dirty="0">
                <a:latin typeface="宋体" panose="02010600030101010101" pitchFamily="2" charset="-122"/>
                <a:ea typeface="宋体" panose="02010600030101010101" pitchFamily="2" charset="-122"/>
              </a:rPr>
              <a:t>计划制定的</a:t>
            </a:r>
            <a:r>
              <a:rPr lang="zh-CN" altLang="en-US" sz="2800" dirty="0">
                <a:solidFill>
                  <a:srgbClr val="FF33CC"/>
                </a:solidFill>
                <a:latin typeface="宋体" panose="02010600030101010101" pitchFamily="2" charset="-122"/>
                <a:ea typeface="宋体" panose="02010600030101010101" pitchFamily="2" charset="-122"/>
              </a:rPr>
              <a:t>指导方针</a:t>
            </a:r>
            <a:r>
              <a:rPr lang="zh-CN" altLang="en-US" sz="2800" dirty="0">
                <a:latin typeface="宋体" panose="02010600030101010101" pitchFamily="2" charset="-122"/>
                <a:ea typeface="宋体" panose="02010600030101010101" pitchFamily="2" charset="-122"/>
              </a:rPr>
              <a:t>、</a:t>
            </a:r>
            <a:r>
              <a:rPr lang="zh-CN" altLang="en-US" sz="2800" dirty="0">
                <a:solidFill>
                  <a:srgbClr val="FF33CC"/>
                </a:solidFill>
                <a:latin typeface="宋体" panose="02010600030101010101" pitchFamily="2" charset="-122"/>
                <a:ea typeface="宋体" panose="02010600030101010101" pitchFamily="2" charset="-122"/>
              </a:rPr>
              <a:t>规范</a:t>
            </a:r>
            <a:r>
              <a:rPr lang="zh-CN" altLang="en-US" sz="2800" dirty="0">
                <a:latin typeface="宋体" panose="02010600030101010101" pitchFamily="2" charset="-122"/>
                <a:ea typeface="宋体" panose="02010600030101010101" pitchFamily="2" charset="-122"/>
              </a:rPr>
              <a:t>、</a:t>
            </a:r>
            <a:r>
              <a:rPr lang="zh-CN" altLang="en-US" sz="2800" dirty="0">
                <a:solidFill>
                  <a:srgbClr val="FF33CC"/>
                </a:solidFill>
                <a:latin typeface="宋体" panose="02010600030101010101" pitchFamily="2" charset="-122"/>
                <a:ea typeface="宋体" panose="02010600030101010101" pitchFamily="2" charset="-122"/>
              </a:rPr>
              <a:t>模板</a:t>
            </a:r>
            <a:r>
              <a:rPr lang="zh-CN" altLang="en-US" sz="2800" dirty="0">
                <a:latin typeface="宋体" panose="02010600030101010101" pitchFamily="2" charset="-122"/>
                <a:ea typeface="宋体" panose="02010600030101010101" pitchFamily="2" charset="-122"/>
              </a:rPr>
              <a:t>，是一个组织成熟的</a:t>
            </a:r>
            <a:r>
              <a:rPr lang="zh-CN" altLang="en-US" sz="2800" dirty="0">
                <a:solidFill>
                  <a:srgbClr val="FF33CC"/>
                </a:solidFill>
                <a:latin typeface="宋体" panose="02010600030101010101" pitchFamily="2" charset="-122"/>
                <a:ea typeface="宋体" panose="02010600030101010101" pitchFamily="2" charset="-122"/>
              </a:rPr>
              <a:t>表现</a:t>
            </a:r>
            <a:r>
              <a:rPr lang="zh-CN" altLang="en-US" sz="2800" dirty="0">
                <a:latin typeface="宋体" panose="02010600030101010101" pitchFamily="2" charset="-122"/>
                <a:ea typeface="宋体" panose="02010600030101010101" pitchFamily="2" charset="-122"/>
              </a:rPr>
              <a:t>，是计划</a:t>
            </a:r>
            <a:r>
              <a:rPr lang="zh-CN" altLang="en-US" sz="2800" dirty="0">
                <a:solidFill>
                  <a:srgbClr val="990000"/>
                </a:solidFill>
                <a:latin typeface="宋体" panose="02010600030101010101" pitchFamily="2" charset="-122"/>
                <a:ea typeface="宋体" panose="02010600030101010101" pitchFamily="2" charset="-122"/>
              </a:rPr>
              <a:t>编制和控制</a:t>
            </a:r>
            <a:r>
              <a:rPr lang="zh-CN" altLang="en-US" sz="2800" dirty="0">
                <a:latin typeface="宋体" panose="02010600030101010101" pitchFamily="2" charset="-122"/>
                <a:ea typeface="宋体" panose="02010600030101010101" pitchFamily="2" charset="-122"/>
              </a:rPr>
              <a:t>的</a:t>
            </a:r>
            <a:r>
              <a:rPr lang="zh-CN" altLang="en-US" sz="2800" dirty="0">
                <a:solidFill>
                  <a:srgbClr val="FF33CC"/>
                </a:solidFill>
                <a:latin typeface="宋体" panose="02010600030101010101" pitchFamily="2" charset="-122"/>
                <a:ea typeface="宋体" panose="02010600030101010101" pitchFamily="2" charset="-122"/>
              </a:rPr>
              <a:t>基本要求</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9.</a:t>
            </a:r>
            <a:r>
              <a:rPr lang="zh-CN" altLang="en-US" sz="2800" dirty="0">
                <a:solidFill>
                  <a:srgbClr val="FF0000"/>
                </a:solidFill>
                <a:latin typeface="宋体" panose="02010600030101010101" pitchFamily="2" charset="-122"/>
                <a:ea typeface="宋体" panose="02010600030101010101" pitchFamily="2" charset="-122"/>
              </a:rPr>
              <a:t>表率作用：</a:t>
            </a:r>
            <a:r>
              <a:rPr lang="zh-CN" altLang="en-US" sz="2800" dirty="0">
                <a:solidFill>
                  <a:srgbClr val="0000FF"/>
                </a:solidFill>
                <a:latin typeface="宋体" panose="02010600030101010101" pitchFamily="2" charset="-122"/>
                <a:ea typeface="宋体" panose="02010600030101010101" pitchFamily="2" charset="-122"/>
              </a:rPr>
              <a:t>项目经理</a:t>
            </a:r>
            <a:r>
              <a:rPr lang="zh-CN" altLang="en-US" sz="2800" dirty="0">
                <a:solidFill>
                  <a:srgbClr val="990000"/>
                </a:solidFill>
                <a:latin typeface="宋体" panose="02010600030101010101" pitchFamily="2" charset="-122"/>
                <a:ea typeface="宋体" panose="02010600030101010101" pitchFamily="2" charset="-122"/>
              </a:rPr>
              <a:t>制定和执行</a:t>
            </a:r>
            <a:r>
              <a:rPr lang="zh-CN" altLang="en-US" sz="2800" dirty="0">
                <a:latin typeface="宋体" panose="02010600030101010101" pitchFamily="2" charset="-122"/>
                <a:ea typeface="宋体" panose="02010600030101010101" pitchFamily="2" charset="-122"/>
              </a:rPr>
              <a:t>自己制定的计划的</a:t>
            </a:r>
            <a:r>
              <a:rPr lang="zh-CN" altLang="en-US" sz="2800" dirty="0">
                <a:solidFill>
                  <a:srgbClr val="FF33CC"/>
                </a:solidFill>
                <a:latin typeface="宋体" panose="02010600030101010101" pitchFamily="2" charset="-122"/>
                <a:ea typeface="宋体" panose="02010600030101010101" pitchFamily="2" charset="-122"/>
              </a:rPr>
              <a:t>态度和效果</a:t>
            </a:r>
            <a:r>
              <a:rPr lang="zh-CN" altLang="en-US" sz="2800" dirty="0">
                <a:solidFill>
                  <a:srgbClr val="990000"/>
                </a:solidFill>
                <a:latin typeface="宋体" panose="02010600030101010101" pitchFamily="2" charset="-122"/>
                <a:ea typeface="宋体" panose="02010600030101010101" pitchFamily="2" charset="-122"/>
              </a:rPr>
              <a:t>直接影响</a:t>
            </a:r>
            <a:r>
              <a:rPr lang="zh-CN" altLang="en-US" sz="2800" dirty="0">
                <a:latin typeface="宋体" panose="02010600030101010101" pitchFamily="2" charset="-122"/>
                <a:ea typeface="宋体" panose="02010600030101010101" pitchFamily="2" charset="-122"/>
              </a:rPr>
              <a:t>其他成员制定和执行各自计划的</a:t>
            </a:r>
            <a:r>
              <a:rPr lang="zh-CN" altLang="en-US" sz="2800" dirty="0">
                <a:solidFill>
                  <a:srgbClr val="FF33CC"/>
                </a:solidFill>
                <a:latin typeface="宋体" panose="02010600030101010101" pitchFamily="2" charset="-122"/>
                <a:ea typeface="宋体" panose="02010600030101010101" pitchFamily="2" charset="-122"/>
              </a:rPr>
              <a:t>质量和成效</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10.</a:t>
            </a:r>
            <a:r>
              <a:rPr lang="zh-CN" altLang="en-US" sz="2800" dirty="0">
                <a:solidFill>
                  <a:srgbClr val="FF0000"/>
                </a:solidFill>
                <a:latin typeface="宋体" panose="02010600030101010101" pitchFamily="2" charset="-122"/>
                <a:ea typeface="宋体" panose="02010600030101010101" pitchFamily="2" charset="-122"/>
              </a:rPr>
              <a:t>积极的态度：</a:t>
            </a:r>
            <a:r>
              <a:rPr lang="zh-CN" altLang="en-US" sz="2800" dirty="0">
                <a:solidFill>
                  <a:srgbClr val="0000FF"/>
                </a:solidFill>
                <a:latin typeface="宋体" panose="02010600030101010101" pitchFamily="2" charset="-122"/>
                <a:ea typeface="宋体" panose="02010600030101010101" pitchFamily="2" charset="-122"/>
              </a:rPr>
              <a:t>积极的领导</a:t>
            </a:r>
            <a:r>
              <a:rPr lang="zh-CN" altLang="en-US" sz="2800" dirty="0">
                <a:latin typeface="宋体" panose="02010600030101010101" pitchFamily="2" charset="-122"/>
                <a:ea typeface="宋体" panose="02010600030101010101" pitchFamily="2" charset="-122"/>
              </a:rPr>
              <a:t>始终是项目成功真正的</a:t>
            </a:r>
            <a:r>
              <a:rPr lang="zh-CN" altLang="en-US" sz="2800" dirty="0">
                <a:solidFill>
                  <a:srgbClr val="0000FF"/>
                </a:solidFill>
                <a:latin typeface="宋体" panose="02010600030101010101" pitchFamily="2" charset="-122"/>
                <a:ea typeface="宋体" panose="02010600030101010101" pitchFamily="2" charset="-122"/>
              </a:rPr>
              <a:t>关键要素</a:t>
            </a:r>
            <a:r>
              <a:rPr lang="zh-CN" altLang="en-US" sz="2800" dirty="0">
                <a:solidFill>
                  <a:schemeClr val="hlink"/>
                </a:solidFill>
                <a:latin typeface="宋体" panose="02010600030101010101" pitchFamily="2" charset="-122"/>
                <a:ea typeface="宋体" panose="02010600030101010101" pitchFamily="2" charset="-122"/>
              </a:rPr>
              <a:t>。</a:t>
            </a:r>
            <a:endParaRPr lang="zh-CN" altLang="en-US" sz="2800" dirty="0">
              <a:solidFill>
                <a:schemeClr val="hlink"/>
              </a:solidFill>
              <a:latin typeface="宋体" panose="02010600030101010101" pitchFamily="2" charset="-122"/>
              <a:ea typeface="宋体" panose="02010600030101010101" pitchFamily="2" charset="-122"/>
            </a:endParaRPr>
          </a:p>
        </p:txBody>
      </p:sp>
      <p:sp>
        <p:nvSpPr>
          <p:cNvPr id="7"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4.4 </a:t>
            </a:r>
            <a:r>
              <a:rPr lang="zh-CN" altLang="en-US" sz="2800" dirty="0">
                <a:solidFill>
                  <a:srgbClr val="A50021"/>
                </a:solidFill>
                <a:latin typeface="Gill Sans MT" panose="020B0502020104020203" pitchFamily="34" charset="0"/>
                <a:ea typeface="华文中宋" panose="02010600040101010101" pitchFamily="2" charset="-122"/>
              </a:rPr>
              <a:t>指导与管理项目工作</a:t>
            </a:r>
            <a:endParaRPr lang="zh-CN" altLang="en-US" sz="2800" dirty="0">
              <a:solidFill>
                <a:srgbClr val="A50021"/>
              </a:solidFill>
              <a:latin typeface="Gill Sans MT" panose="020B0502020104020203" pitchFamily="34" charset="0"/>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786" name="Group 8"/>
          <p:cNvGrpSpPr/>
          <p:nvPr/>
        </p:nvGrpSpPr>
        <p:grpSpPr>
          <a:xfrm>
            <a:off x="1519238" y="893763"/>
            <a:ext cx="9148762" cy="85725"/>
            <a:chOff x="0" y="0"/>
            <a:chExt cx="5763" cy="54"/>
          </a:xfrm>
        </p:grpSpPr>
        <p:sp>
          <p:nvSpPr>
            <p:cNvPr id="11878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878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7"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4.4 </a:t>
            </a:r>
            <a:r>
              <a:rPr lang="zh-CN" altLang="en-US" sz="2800" dirty="0">
                <a:solidFill>
                  <a:srgbClr val="A50021"/>
                </a:solidFill>
                <a:latin typeface="Gill Sans MT" panose="020B0502020104020203" pitchFamily="34" charset="0"/>
                <a:ea typeface="华文中宋" panose="02010600040101010101" pitchFamily="2" charset="-122"/>
              </a:rPr>
              <a:t>指导与管理项目工作</a:t>
            </a:r>
            <a:endParaRPr lang="zh-CN" altLang="en-US" sz="2800" dirty="0">
              <a:solidFill>
                <a:srgbClr val="A50021"/>
              </a:solidFill>
              <a:latin typeface="Gill Sans MT" panose="020B0502020104020203" pitchFamily="34" charset="0"/>
              <a:ea typeface="华文中宋" panose="02010600040101010101" pitchFamily="2"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02360" y="963930"/>
            <a:ext cx="10706100" cy="5838825"/>
          </a:xfrm>
          <a:prstGeom prst="rect">
            <a:avLst/>
          </a:prstGeom>
        </p:spPr>
      </p:pic>
    </p:spTree>
  </p:cSld>
  <p:clrMapOvr>
    <a:masterClrMapping/>
  </p:clrMapOvr>
  <p:transition>
    <p:strips dir="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2" name="Group 8"/>
          <p:cNvGrpSpPr/>
          <p:nvPr/>
        </p:nvGrpSpPr>
        <p:grpSpPr>
          <a:xfrm>
            <a:off x="1519238" y="893763"/>
            <a:ext cx="9148762" cy="85725"/>
            <a:chOff x="0" y="0"/>
            <a:chExt cx="5763" cy="54"/>
          </a:xfrm>
        </p:grpSpPr>
        <p:sp>
          <p:nvSpPr>
            <p:cNvPr id="11776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776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1" name="Text Box 5"/>
          <p:cNvSpPr txBox="1"/>
          <p:nvPr/>
        </p:nvSpPr>
        <p:spPr>
          <a:xfrm>
            <a:off x="2279650" y="1772920"/>
            <a:ext cx="8980805" cy="2891790"/>
          </a:xfrm>
          <a:prstGeom prst="rect">
            <a:avLst/>
          </a:prstGeom>
          <a:noFill/>
          <a:ln w="50800">
            <a:noFill/>
          </a:ln>
        </p:spPr>
        <p:txBody>
          <a:bodyPr wrap="square" anchor="t" anchorCtr="0">
            <a:spAutoFit/>
          </a:bodyPr>
          <a:lstStyle/>
          <a:p>
            <a:pPr marL="457200" indent="-457200" eaLnBrk="0" hangingPunct="0">
              <a:spcBef>
                <a:spcPct val="50000"/>
              </a:spcBef>
              <a:buFont typeface="Wingdings" panose="05000000000000000000" charset="0"/>
              <a:buChar char="Ø"/>
            </a:pPr>
            <a:r>
              <a:rPr lang="zh-CN" altLang="en-US" sz="2800" dirty="0">
                <a:solidFill>
                  <a:srgbClr val="FF0000"/>
                </a:solidFill>
                <a:latin typeface="宋体" panose="02010600030101010101" pitchFamily="2" charset="-122"/>
                <a:ea typeface="宋体" panose="02010600030101010101" pitchFamily="2" charset="-122"/>
              </a:rPr>
              <a:t>项目管理信息系统 (PMIS) </a:t>
            </a:r>
            <a:endParaRPr lang="zh-CN" altLang="en-US" sz="2800" dirty="0">
              <a:solidFill>
                <a:srgbClr val="FF0000"/>
              </a:solidFill>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PMIS 提供信息技术 (IT) 软件工具，例如进度计划软件工具、工作授权系统、配置管理系统、信息收集与发布系统，以及进入其他在线自动化系统（如公司知识库）的界面。自动收集和报告关键绩效指标（KPI）可以是系统的一项功能。</a:t>
            </a:r>
            <a:endParaRPr lang="zh-CN" altLang="en-US" sz="2800" dirty="0">
              <a:latin typeface="宋体" panose="02010600030101010101" pitchFamily="2" charset="-122"/>
              <a:ea typeface="宋体" panose="02010600030101010101" pitchFamily="2" charset="-122"/>
            </a:endParaRPr>
          </a:p>
        </p:txBody>
      </p:sp>
      <p:sp>
        <p:nvSpPr>
          <p:cNvPr id="7"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4.4 </a:t>
            </a:r>
            <a:r>
              <a:rPr lang="zh-CN" altLang="en-US" sz="2800" dirty="0">
                <a:solidFill>
                  <a:srgbClr val="A50021"/>
                </a:solidFill>
                <a:latin typeface="Gill Sans MT" panose="020B0502020104020203" pitchFamily="34" charset="0"/>
                <a:ea typeface="华文中宋" panose="02010600040101010101" pitchFamily="2" charset="-122"/>
              </a:rPr>
              <a:t>指导与管理项目工作</a:t>
            </a:r>
            <a:endParaRPr lang="zh-CN" altLang="en-US" sz="2800" dirty="0">
              <a:solidFill>
                <a:srgbClr val="A50021"/>
              </a:solidFill>
              <a:latin typeface="Gill Sans MT" panose="020B0502020104020203" pitchFamily="34" charset="0"/>
              <a:ea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786" name="Group 8"/>
          <p:cNvGrpSpPr/>
          <p:nvPr/>
        </p:nvGrpSpPr>
        <p:grpSpPr>
          <a:xfrm>
            <a:off x="1519238" y="893763"/>
            <a:ext cx="9148762" cy="85725"/>
            <a:chOff x="0" y="0"/>
            <a:chExt cx="5763" cy="54"/>
          </a:xfrm>
        </p:grpSpPr>
        <p:sp>
          <p:nvSpPr>
            <p:cNvPr id="11878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878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7" name="Rectangle 5"/>
          <p:cNvSpPr txBox="1"/>
          <p:nvPr/>
        </p:nvSpPr>
        <p:spPr>
          <a:xfrm>
            <a:off x="2495550" y="276225"/>
            <a:ext cx="3816350" cy="503238"/>
          </a:xfrm>
          <a:prstGeom prst="rect">
            <a:avLst/>
          </a:prstGeom>
          <a:noFill/>
          <a:ln w="9525">
            <a:noFill/>
          </a:ln>
        </p:spPr>
        <p:txBody>
          <a:bodyPr lIns="0" tIns="0" rIns="0" bIns="0" anchor="ctr" anchorCtr="0"/>
          <a:lstStyle/>
          <a:p>
            <a:r>
              <a:rPr lang="en-US" altLang="zh-CN" sz="2800" dirty="0">
                <a:solidFill>
                  <a:srgbClr val="A50021"/>
                </a:solidFill>
                <a:latin typeface="Gill Sans MT" panose="020B0502020104020203" pitchFamily="34" charset="0"/>
                <a:ea typeface="华文中宋" panose="02010600040101010101" pitchFamily="2" charset="-122"/>
              </a:rPr>
              <a:t>4.4 </a:t>
            </a:r>
            <a:r>
              <a:rPr lang="zh-CN" altLang="en-US" sz="2800" dirty="0">
                <a:solidFill>
                  <a:srgbClr val="A50021"/>
                </a:solidFill>
                <a:latin typeface="Gill Sans MT" panose="020B0502020104020203" pitchFamily="34" charset="0"/>
                <a:ea typeface="华文中宋" panose="02010600040101010101" pitchFamily="2" charset="-122"/>
              </a:rPr>
              <a:t>指导与管理项目工作</a:t>
            </a:r>
            <a:endParaRPr lang="zh-CN" altLang="en-US" sz="2800" dirty="0">
              <a:solidFill>
                <a:srgbClr val="A50021"/>
              </a:solidFill>
              <a:latin typeface="Gill Sans MT" panose="020B0502020104020203" pitchFamily="34" charset="0"/>
              <a:ea typeface="华文中宋" panose="02010600040101010101" pitchFamily="2" charset="-122"/>
            </a:endParaRPr>
          </a:p>
        </p:txBody>
      </p:sp>
      <p:pic>
        <p:nvPicPr>
          <p:cNvPr id="2" name="图片 1"/>
          <p:cNvPicPr>
            <a:picLocks noChangeAspect="1"/>
          </p:cNvPicPr>
          <p:nvPr/>
        </p:nvPicPr>
        <p:blipFill>
          <a:blip r:embed="rId1"/>
          <a:stretch>
            <a:fillRect/>
          </a:stretch>
        </p:blipFill>
        <p:spPr>
          <a:xfrm>
            <a:off x="2639695" y="0"/>
            <a:ext cx="8689340" cy="6858000"/>
          </a:xfrm>
          <a:prstGeom prst="rect">
            <a:avLst/>
          </a:prstGeom>
        </p:spPr>
      </p:pic>
      <p:sp>
        <p:nvSpPr>
          <p:cNvPr id="3" name="矩形 2"/>
          <p:cNvSpPr/>
          <p:nvPr/>
        </p:nvSpPr>
        <p:spPr>
          <a:xfrm>
            <a:off x="1705881" y="1673226"/>
            <a:ext cx="501849" cy="1938020"/>
          </a:xfrm>
          <a:prstGeom prst="rect">
            <a:avLst/>
          </a:prstGeom>
        </p:spPr>
        <p:txBody>
          <a:bodyPr wrap="square">
            <a:spAutoFit/>
          </a:bodyPr>
          <a:lstStyle/>
          <a:p>
            <a:r>
              <a:rPr lang="zh-CN" altLang="en-US" dirty="0">
                <a:solidFill>
                  <a:srgbClr val="333333"/>
                </a:solidFill>
                <a:latin typeface="Helvetica Neue"/>
              </a:rPr>
              <a:t>数据流向图</a:t>
            </a:r>
            <a:endParaRPr lang="zh-CN" altLang="en-US" dirty="0"/>
          </a:p>
        </p:txBody>
      </p:sp>
    </p:spTree>
  </p:cSld>
  <p:clrMapOvr>
    <a:masterClrMapping/>
  </p:clrMapOvr>
  <p:transition>
    <p:strips dir="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管理项目知识</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50183" name="Rectangle 6"/>
          <p:cNvSpPr>
            <a:spLocks noGrp="1"/>
          </p:cNvSpPr>
          <p:nvPr>
            <p:ph type="body" idx="4294967295"/>
          </p:nvPr>
        </p:nvSpPr>
        <p:spPr>
          <a:xfrm>
            <a:off x="1918970" y="1629410"/>
            <a:ext cx="9190355" cy="3375025"/>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sz="2800" b="0" i="0" u="none" strike="noStrike" kern="1200" cap="none" spc="0" normalizeH="0" baseline="0" noProof="0" dirty="0">
                <a:ln>
                  <a:noFill/>
                </a:ln>
                <a:solidFill>
                  <a:srgbClr val="0000FF"/>
                </a:solidFill>
                <a:effectLst/>
                <a:uLnTx/>
                <a:uFillTx/>
                <a:latin typeface="+mn-lt"/>
                <a:ea typeface="+mn-ea"/>
                <a:cs typeface="+mn-cs"/>
                <a:sym typeface="Symbol" panose="05050102010706020507" pitchFamily="18" charset="2"/>
              </a:rPr>
              <a:t>管理项目知识</a:t>
            </a:r>
            <a:r>
              <a:rPr kumimoji="0" sz="2800" b="0" i="0" u="none" strike="noStrike" kern="1200" cap="none" spc="0" normalizeH="0" baseline="0" noProof="0" dirty="0">
                <a:ln>
                  <a:noFill/>
                </a:ln>
                <a:effectLst/>
                <a:uLnTx/>
                <a:uFillTx/>
                <a:latin typeface="+mn-lt"/>
                <a:ea typeface="+mn-ea"/>
                <a:cs typeface="+mn-cs"/>
                <a:sym typeface="Symbol" panose="05050102010706020507" pitchFamily="18" charset="2"/>
              </a:rPr>
              <a:t>是使用现有知识并生成新知识，以实现项目目标，并且帮助组织学习的过程。</a:t>
            </a:r>
            <a:endParaRPr kumimoji="0" sz="2800" b="0" i="0" u="none" strike="noStrike" kern="1200" cap="none" spc="0" normalizeH="0" baseline="0" noProof="0" dirty="0">
              <a:ln>
                <a:noFill/>
              </a:ln>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sz="2800" b="0" i="0" u="none" strike="noStrike" kern="1200" cap="none" spc="0" normalizeH="0" baseline="0" noProof="0" dirty="0">
                <a:ln>
                  <a:noFill/>
                </a:ln>
                <a:effectLst/>
                <a:uLnTx/>
                <a:uFillTx/>
                <a:latin typeface="+mn-lt"/>
                <a:ea typeface="+mn-ea"/>
                <a:cs typeface="+mn-cs"/>
                <a:sym typeface="Symbol" panose="05050102010706020507" pitchFamily="18" charset="2"/>
              </a:rPr>
              <a:t>主要作用</a:t>
            </a:r>
            <a:r>
              <a:rPr kumimoji="0" lang="zh-CN" sz="2800" b="0" i="0" u="none" strike="noStrike" kern="1200" cap="none" spc="0" normalizeH="0" baseline="0" noProof="0" dirty="0">
                <a:ln>
                  <a:noFill/>
                </a:ln>
                <a:effectLst/>
                <a:uLnTx/>
                <a:uFillTx/>
                <a:latin typeface="+mn-lt"/>
                <a:ea typeface="+mn-ea"/>
                <a:cs typeface="+mn-cs"/>
                <a:sym typeface="Symbol" panose="05050102010706020507" pitchFamily="18" charset="2"/>
              </a:rPr>
              <a:t>：</a:t>
            </a:r>
            <a:r>
              <a:rPr kumimoji="0" sz="2800" b="0" i="0" u="none" strike="noStrike" kern="1200" cap="none" spc="0" normalizeH="0" baseline="0" noProof="0" dirty="0">
                <a:ln>
                  <a:noFill/>
                </a:ln>
                <a:effectLst/>
                <a:uLnTx/>
                <a:uFillTx/>
                <a:latin typeface="+mn-lt"/>
                <a:ea typeface="+mn-ea"/>
                <a:cs typeface="+mn-cs"/>
                <a:sym typeface="Symbol" panose="05050102010706020507" pitchFamily="18" charset="2"/>
              </a:rPr>
              <a:t>利用已有的组织知识来</a:t>
            </a:r>
            <a:r>
              <a:rPr kumimoji="0" sz="28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创造或改进</a:t>
            </a:r>
            <a:r>
              <a:rPr kumimoji="0" sz="2800" b="0" i="0" u="none" strike="noStrike" kern="1200" cap="none" spc="0" normalizeH="0" baseline="0" noProof="0" dirty="0">
                <a:ln>
                  <a:noFill/>
                </a:ln>
                <a:effectLst/>
                <a:uLnTx/>
                <a:uFillTx/>
                <a:latin typeface="+mn-lt"/>
                <a:ea typeface="+mn-ea"/>
                <a:cs typeface="+mn-cs"/>
                <a:sym typeface="Symbol" panose="05050102010706020507" pitchFamily="18" charset="2"/>
              </a:rPr>
              <a:t>项目成果，并且使当前项目创造的知识可用于支持组织运营和未来的项目或阶段。</a:t>
            </a:r>
            <a:endParaRPr kumimoji="0" sz="2800" b="0" i="0" u="none" strike="noStrike" kern="1200" cap="none" spc="0" normalizeH="0" baseline="0" noProof="0" dirty="0">
              <a:ln>
                <a:noFill/>
              </a:ln>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sz="2800" b="0" i="0" u="none" strike="noStrike" kern="1200" cap="none" spc="0" normalizeH="0" baseline="0" noProof="0" dirty="0">
                <a:ln>
                  <a:noFill/>
                </a:ln>
                <a:effectLst/>
                <a:uLnTx/>
                <a:uFillTx/>
                <a:latin typeface="+mn-lt"/>
                <a:ea typeface="+mn-ea"/>
                <a:cs typeface="+mn-cs"/>
                <a:sym typeface="Symbol" panose="05050102010706020507" pitchFamily="18" charset="2"/>
              </a:rPr>
              <a:t>需要在整个项目期间开展。</a:t>
            </a:r>
            <a:endParaRPr kumimoji="0" sz="2800" b="0" i="0" u="none" strike="noStrike" kern="1200" cap="none" spc="0" normalizeH="0" baseline="0" noProof="0" dirty="0">
              <a:ln>
                <a:noFill/>
              </a:ln>
              <a:effectLst/>
              <a:uLnTx/>
              <a:uFillTx/>
              <a:latin typeface="+mn-lt"/>
              <a:ea typeface="+mn-ea"/>
              <a:cs typeface="+mn-cs"/>
              <a:sym typeface="Symbol" panose="05050102010706020507" pitchFamily="18" charset="2"/>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animEffect transition="in" filter="wipe(left)">
                                      <p:cBhvr>
                                        <p:cTn id="7" dur="1000"/>
                                        <p:tgtEl>
                                          <p:spTgt spid="501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3">
                                            <p:txEl>
                                              <p:pRg st="1" end="1"/>
                                            </p:txEl>
                                          </p:spTgt>
                                        </p:tgtEl>
                                        <p:attrNameLst>
                                          <p:attrName>style.visibility</p:attrName>
                                        </p:attrNameLst>
                                      </p:cBhvr>
                                      <p:to>
                                        <p:strVal val="visible"/>
                                      </p:to>
                                    </p:set>
                                    <p:animEffect transition="in" filter="wipe(left)">
                                      <p:cBhvr>
                                        <p:cTn id="12" dur="1000"/>
                                        <p:tgtEl>
                                          <p:spTgt spid="501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83">
                                            <p:txEl>
                                              <p:pRg st="2" end="2"/>
                                            </p:txEl>
                                          </p:spTgt>
                                        </p:tgtEl>
                                        <p:attrNameLst>
                                          <p:attrName>style.visibility</p:attrName>
                                        </p:attrNameLst>
                                      </p:cBhvr>
                                      <p:to>
                                        <p:strVal val="visible"/>
                                      </p:to>
                                    </p:set>
                                    <p:animEffect transition="in" filter="wipe(left)">
                                      <p:cBhvr>
                                        <p:cTn id="17" dur="1000"/>
                                        <p:tgtEl>
                                          <p:spTgt spid="501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管理项目知识</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pic>
        <p:nvPicPr>
          <p:cNvPr id="100" name="图片 99"/>
          <p:cNvPicPr/>
          <p:nvPr/>
        </p:nvPicPr>
        <p:blipFill>
          <a:blip r:embed="rId1"/>
          <a:srcRect b="8221"/>
          <a:stretch>
            <a:fillRect/>
          </a:stretch>
        </p:blipFill>
        <p:spPr>
          <a:xfrm>
            <a:off x="1616710" y="1080135"/>
            <a:ext cx="9600565" cy="3769360"/>
          </a:xfrm>
          <a:prstGeom prst="rect">
            <a:avLst/>
          </a:prstGeom>
          <a:noFill/>
          <a:ln w="9525">
            <a:noFill/>
          </a:ln>
        </p:spPr>
      </p:pic>
      <p:sp>
        <p:nvSpPr>
          <p:cNvPr id="2" name="文本框 1"/>
          <p:cNvSpPr txBox="1"/>
          <p:nvPr/>
        </p:nvSpPr>
        <p:spPr>
          <a:xfrm>
            <a:off x="1847215" y="4943475"/>
            <a:ext cx="9289415" cy="1568450"/>
          </a:xfrm>
          <a:prstGeom prst="rect">
            <a:avLst/>
          </a:prstGeom>
          <a:noFill/>
        </p:spPr>
        <p:txBody>
          <a:bodyPr wrap="square" rtlCol="0" anchor="t">
            <a:spAutoFit/>
          </a:bodyPr>
          <a:p>
            <a:pPr marL="342900" indent="-342900">
              <a:buFont typeface="Wingdings" panose="05000000000000000000" charset="0"/>
              <a:buChar char="Ø"/>
            </a:pPr>
            <a:r>
              <a:rPr lang="zh-CN" altLang="en-US"/>
              <a:t>知识管理：将员工联系起来，使他们能够合作生成新知识、分享隐性知识，以及集成不同团队成员所拥有的知识。</a:t>
            </a:r>
            <a:endParaRPr lang="zh-CN" altLang="en-US"/>
          </a:p>
          <a:p>
            <a:pPr marL="342900" indent="-342900">
              <a:buFont typeface="Wingdings" panose="05000000000000000000" charset="0"/>
              <a:buChar char="Ø"/>
            </a:pPr>
            <a:r>
              <a:rPr lang="zh-CN" altLang="en-US"/>
              <a:t>适用于项目的工具和技术取决于项目的性质，尤其是创新程度、项目复杂性，以及团队的多元化（包括学科背景多元化）程度。</a:t>
            </a:r>
            <a:endParaRPr lang="zh-CN" altLang="en-US"/>
          </a:p>
        </p:txBody>
      </p:sp>
    </p:spTree>
  </p:cSld>
  <p:clrMapOvr>
    <a:masterClrMapping/>
  </p:clrMapOvr>
  <p:transition spd="slow">
    <p:wipe dir="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4.5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监控项目工作</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50183" name="Rectangle 6"/>
          <p:cNvSpPr>
            <a:spLocks noGrp="1"/>
          </p:cNvSpPr>
          <p:nvPr>
            <p:ph type="body" idx="4294967295"/>
          </p:nvPr>
        </p:nvSpPr>
        <p:spPr>
          <a:xfrm>
            <a:off x="1745615" y="1196975"/>
            <a:ext cx="9374505" cy="5114290"/>
          </a:xfrm>
        </p:spPr>
        <p:txBody>
          <a:bodyPr vert="horz" wrap="square" lIns="0" tIns="0" rIns="0" bIns="0" anchor="t" anchorCtr="0"/>
          <a:lstStyle/>
          <a:p>
            <a:pPr marL="0" marR="0" lvl="0" indent="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在一个大型项目中，项目经理</a:t>
            </a:r>
            <a:r>
              <a:rPr kumimoji="0" lang="en-US" altLang="zh-CN"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90%</a:t>
            </a: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的工作是用于</a:t>
            </a:r>
            <a:r>
              <a:rPr kumimoji="0" lang="zh-CN" altLang="en-US" sz="28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沟通和管理变更</a:t>
            </a: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，制定一个流程来监控变更非常重要。</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lang="zh-CN" altLang="en-US" sz="2800" noProof="0" dirty="0">
                <a:ln>
                  <a:noFill/>
                </a:ln>
                <a:solidFill>
                  <a:srgbClr val="A50021"/>
                </a:solidFill>
                <a:effectLst>
                  <a:outerShdw blurRad="38100" dist="38100" dir="2700000">
                    <a:srgbClr val="000000"/>
                  </a:outerShdw>
                </a:effectLst>
                <a:uLnTx/>
                <a:uFillTx/>
                <a:latin typeface="+mj-lt"/>
                <a:ea typeface="+mj-ea"/>
                <a:cs typeface="+mj-cs"/>
                <a:sym typeface="+mn-ea"/>
              </a:rPr>
              <a:t>监控项目工作：</a:t>
            </a:r>
            <a:r>
              <a:rPr kumimoji="0" lang="zh-CN" altLang="en-US" sz="2800" b="0" i="0" u="none" strike="noStrike" kern="1200" cap="none" spc="0" normalizeH="0" baseline="0" noProof="0" dirty="0">
                <a:ln>
                  <a:noFill/>
                </a:ln>
                <a:solidFill>
                  <a:srgbClr val="0000FF"/>
                </a:solidFill>
                <a:effectLst/>
                <a:uLnTx/>
                <a:uFillTx/>
                <a:latin typeface="+mn-lt"/>
                <a:ea typeface="+mn-ea"/>
                <a:cs typeface="+mn-cs"/>
                <a:sym typeface="Symbol" panose="05050102010706020507" pitchFamily="18" charset="2"/>
              </a:rPr>
              <a:t>跟踪、审查和报告</a:t>
            </a: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整体项目进展，以实现项目管理计划中确定的绩效目标的过程。</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监督项目工作包括</a:t>
            </a:r>
            <a:r>
              <a:rPr kumimoji="0" lang="zh-CN" altLang="en-US" sz="28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采集、衡量、发布绩效信息，</a:t>
            </a: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还包括</a:t>
            </a:r>
            <a:r>
              <a:rPr kumimoji="0" lang="zh-CN" altLang="en-US" sz="28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评估度量数据和分析趋势</a:t>
            </a:r>
            <a:r>
              <a:rPr kumimoji="0" lang="zh-CN" altLang="en-US"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，以确定可以做哪些过程改进。</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rgbClr val="FF0000"/>
                </a:solidFill>
                <a:effectLst/>
                <a:uLnTx/>
                <a:uFillTx/>
                <a:latin typeface="+mn-lt"/>
                <a:ea typeface="+mn-ea"/>
                <a:cs typeface="+mn-cs"/>
                <a:sym typeface="Symbol" panose="05050102010706020507" pitchFamily="18" charset="2"/>
              </a:rPr>
              <a:t>主要作用</a:t>
            </a:r>
            <a:r>
              <a:rPr kumimoji="0" lang="zh-CN" altLang="en-US" sz="2800" b="0" i="0" u="none" strike="noStrike" kern="1200" cap="none" spc="0" normalizeH="0" baseline="0" noProof="0" dirty="0">
                <a:ln>
                  <a:noFill/>
                </a:ln>
                <a:effectLst/>
                <a:uLnTx/>
                <a:uFillTx/>
                <a:latin typeface="+mn-lt"/>
                <a:ea typeface="+mn-ea"/>
                <a:cs typeface="+mn-cs"/>
                <a:sym typeface="Symbol" panose="05050102010706020507" pitchFamily="18" charset="2"/>
              </a:rPr>
              <a:t>：让相关方了解项目的当前状态并认可为处理绩效问题而采取的行动，以及通过成本和进度预测，让相关方了解未来项目状态</a:t>
            </a:r>
            <a:endParaRPr kumimoji="0" lang="zh-CN" altLang="en-US" sz="2800" b="0" i="0" u="none" strike="noStrike" kern="1200" cap="none" spc="0" normalizeH="0" baseline="0" noProof="0" dirty="0">
              <a:ln>
                <a:noFill/>
              </a:ln>
              <a:effectLst/>
              <a:uLnTx/>
              <a:uFillTx/>
              <a:latin typeface="+mn-lt"/>
              <a:ea typeface="+mn-ea"/>
              <a:cs typeface="+mn-cs"/>
              <a:sym typeface="Symbol" panose="05050102010706020507" pitchFamily="18" charset="2"/>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animEffect transition="in" filter="wipe(left)">
                                      <p:cBhvr>
                                        <p:cTn id="7" dur="1000"/>
                                        <p:tgtEl>
                                          <p:spTgt spid="501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3">
                                            <p:txEl>
                                              <p:pRg st="1" end="1"/>
                                            </p:txEl>
                                          </p:spTgt>
                                        </p:tgtEl>
                                        <p:attrNameLst>
                                          <p:attrName>style.visibility</p:attrName>
                                        </p:attrNameLst>
                                      </p:cBhvr>
                                      <p:to>
                                        <p:strVal val="visible"/>
                                      </p:to>
                                    </p:set>
                                    <p:animEffect transition="in" filter="wipe(left)">
                                      <p:cBhvr>
                                        <p:cTn id="12" dur="1000"/>
                                        <p:tgtEl>
                                          <p:spTgt spid="501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83">
                                            <p:txEl>
                                              <p:pRg st="2" end="2"/>
                                            </p:txEl>
                                          </p:spTgt>
                                        </p:tgtEl>
                                        <p:attrNameLst>
                                          <p:attrName>style.visibility</p:attrName>
                                        </p:attrNameLst>
                                      </p:cBhvr>
                                      <p:to>
                                        <p:strVal val="visible"/>
                                      </p:to>
                                    </p:set>
                                    <p:animEffect transition="in" filter="wipe(left)">
                                      <p:cBhvr>
                                        <p:cTn id="17" dur="1000"/>
                                        <p:tgtEl>
                                          <p:spTgt spid="501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183">
                                            <p:txEl>
                                              <p:pRg st="3" end="3"/>
                                            </p:txEl>
                                          </p:spTgt>
                                        </p:tgtEl>
                                        <p:attrNameLst>
                                          <p:attrName>style.visibility</p:attrName>
                                        </p:attrNameLst>
                                      </p:cBhvr>
                                      <p:to>
                                        <p:strVal val="visible"/>
                                      </p:to>
                                    </p:set>
                                    <p:animEffect transition="in" filter="wipe(left)">
                                      <p:cBhvr>
                                        <p:cTn id="22" dur="1000"/>
                                        <p:tgtEl>
                                          <p:spTgt spid="501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4.5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监控项目工作</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pic>
        <p:nvPicPr>
          <p:cNvPr id="2" name="图片 1"/>
          <p:cNvPicPr>
            <a:picLocks noChangeAspect="1"/>
          </p:cNvPicPr>
          <p:nvPr/>
        </p:nvPicPr>
        <p:blipFill>
          <a:blip r:embed="rId1"/>
          <a:stretch>
            <a:fillRect/>
          </a:stretch>
        </p:blipFill>
        <p:spPr>
          <a:xfrm>
            <a:off x="1919605" y="1196975"/>
            <a:ext cx="9779000" cy="5574665"/>
          </a:xfrm>
          <a:prstGeom prst="rect">
            <a:avLst/>
          </a:prstGeom>
        </p:spPr>
      </p:pic>
    </p:spTree>
  </p:cSld>
  <p:clrMapOvr>
    <a:masterClrMapping/>
  </p:clrMapOvr>
  <p:transition spd="slow">
    <p:wipe dir="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4.5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监控项目工作</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50183" name="Rectangle 6"/>
          <p:cNvSpPr>
            <a:spLocks noGrp="1"/>
          </p:cNvSpPr>
          <p:nvPr>
            <p:ph type="body" idx="4294967295"/>
          </p:nvPr>
        </p:nvSpPr>
        <p:spPr>
          <a:xfrm>
            <a:off x="1847850" y="1196975"/>
            <a:ext cx="9424670" cy="4737735"/>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项目管理计划、项目文件、工作绩效信息、协议、企业环境因素、组织过程资产都是项目监控工作的</a:t>
            </a:r>
            <a:r>
              <a:rPr kumimoji="0" 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重要输入</a:t>
            </a:r>
            <a:endPar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项目管理计划为识别和控制项目变更提供了基准。</a:t>
            </a:r>
            <a:endPar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rgbClr val="FF0000"/>
              </a:buClr>
              <a:buSzPct val="80000"/>
              <a:buFont typeface="Wingdings" panose="05000000000000000000" charset="0"/>
              <a:buChar char="u"/>
              <a:defRPr/>
            </a:pPr>
            <a:r>
              <a:rPr kumimoji="0" lang="en-US" altLang="zh-CN"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 </a:t>
            </a:r>
            <a:r>
              <a:rPr kumimoji="0" lang="zh-CN"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基准</a:t>
            </a:r>
            <a:r>
              <a:rPr kumimoji="0" 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是被记录下来的一个起点、一组度量和一组观察值，能否用于将来的比较。</a:t>
            </a:r>
            <a:endParaRPr kumimoji="0" 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监控项目工作的重要输出包括</a:t>
            </a:r>
            <a:r>
              <a:rPr kumimoji="0" 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变更请求和工作绩效报告。</a:t>
            </a:r>
            <a:endParaRPr kumimoji="0" lang="zh-CN"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Arial" panose="020B0604020202020204" pitchFamily="34" charset="0"/>
              <a:buChar char="•"/>
              <a:defRPr/>
            </a:pPr>
            <a:r>
              <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变更请求包括：纠正、预防和缺陷补救。</a:t>
            </a:r>
            <a:endPar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Arial" panose="020B0604020202020204" pitchFamily="34" charset="0"/>
              <a:buChar char="•"/>
              <a:defRPr/>
            </a:pPr>
            <a:r>
              <a:rPr kumimoji="0" 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工作绩效报告：</a:t>
            </a:r>
            <a:r>
              <a:rPr kumimoji="0" lang="zh-CN"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状态报告、进度报告、备忘录、其他用来沟通绩效的文件。</a:t>
            </a:r>
            <a:endParaRPr kumimoji="0" lang="zh-CN" sz="24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animEffect transition="in" filter="wipe(left)">
                                      <p:cBhvr>
                                        <p:cTn id="7" dur="1000"/>
                                        <p:tgtEl>
                                          <p:spTgt spid="501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3">
                                            <p:txEl>
                                              <p:pRg st="1" end="1"/>
                                            </p:txEl>
                                          </p:spTgt>
                                        </p:tgtEl>
                                        <p:attrNameLst>
                                          <p:attrName>style.visibility</p:attrName>
                                        </p:attrNameLst>
                                      </p:cBhvr>
                                      <p:to>
                                        <p:strVal val="visible"/>
                                      </p:to>
                                    </p:set>
                                    <p:animEffect transition="in" filter="wipe(left)">
                                      <p:cBhvr>
                                        <p:cTn id="12" dur="1000"/>
                                        <p:tgtEl>
                                          <p:spTgt spid="501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83">
                                            <p:txEl>
                                              <p:pRg st="2" end="2"/>
                                            </p:txEl>
                                          </p:spTgt>
                                        </p:tgtEl>
                                        <p:attrNameLst>
                                          <p:attrName>style.visibility</p:attrName>
                                        </p:attrNameLst>
                                      </p:cBhvr>
                                      <p:to>
                                        <p:strVal val="visible"/>
                                      </p:to>
                                    </p:set>
                                    <p:animEffect transition="in" filter="wipe(left)">
                                      <p:cBhvr>
                                        <p:cTn id="17" dur="1000"/>
                                        <p:tgtEl>
                                          <p:spTgt spid="501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183">
                                            <p:txEl>
                                              <p:pRg st="3" end="3"/>
                                            </p:txEl>
                                          </p:spTgt>
                                        </p:tgtEl>
                                        <p:attrNameLst>
                                          <p:attrName>style.visibility</p:attrName>
                                        </p:attrNameLst>
                                      </p:cBhvr>
                                      <p:to>
                                        <p:strVal val="visible"/>
                                      </p:to>
                                    </p:set>
                                    <p:animEffect transition="in" filter="wipe(left)">
                                      <p:cBhvr>
                                        <p:cTn id="22" dur="1000"/>
                                        <p:tgtEl>
                                          <p:spTgt spid="501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183">
                                            <p:txEl>
                                              <p:pRg st="4" end="4"/>
                                            </p:txEl>
                                          </p:spTgt>
                                        </p:tgtEl>
                                        <p:attrNameLst>
                                          <p:attrName>style.visibility</p:attrName>
                                        </p:attrNameLst>
                                      </p:cBhvr>
                                      <p:to>
                                        <p:strVal val="visible"/>
                                      </p:to>
                                    </p:set>
                                    <p:animEffect transition="in" filter="wipe(left)">
                                      <p:cBhvr>
                                        <p:cTn id="27" dur="1000"/>
                                        <p:tgtEl>
                                          <p:spTgt spid="501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183">
                                            <p:txEl>
                                              <p:pRg st="5" end="5"/>
                                            </p:txEl>
                                          </p:spTgt>
                                        </p:tgtEl>
                                        <p:attrNameLst>
                                          <p:attrName>style.visibility</p:attrName>
                                        </p:attrNameLst>
                                      </p:cBhvr>
                                      <p:to>
                                        <p:strVal val="visible"/>
                                      </p:to>
                                    </p:set>
                                    <p:animEffect transition="in" filter="wipe(left)">
                                      <p:cBhvr>
                                        <p:cTn id="32" dur="1000"/>
                                        <p:tgtEl>
                                          <p:spTgt spid="501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4.5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监控项目工作</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3" name="文本框 2"/>
          <p:cNvSpPr txBox="1"/>
          <p:nvPr/>
        </p:nvSpPr>
        <p:spPr>
          <a:xfrm>
            <a:off x="1776095" y="1124585"/>
            <a:ext cx="9653270" cy="3277235"/>
          </a:xfrm>
          <a:prstGeom prst="rect">
            <a:avLst/>
          </a:prstGeom>
          <a:noFill/>
        </p:spPr>
        <p:txBody>
          <a:bodyPr wrap="square" rtlCol="0" anchor="t">
            <a:noAutofit/>
          </a:bodyPr>
          <a:p>
            <a:pPr marL="285750" indent="-285750">
              <a:buFont typeface="Wingdings" panose="05000000000000000000" charset="0"/>
              <a:buChar char="Ø"/>
            </a:pPr>
            <a:r>
              <a:rPr lang="zh-CN" altLang="en-US" sz="2800"/>
              <a:t>在整个项目生命周期中需要</a:t>
            </a:r>
            <a:r>
              <a:rPr lang="zh-CN" altLang="en-US" sz="2800">
                <a:solidFill>
                  <a:srgbClr val="FF0000"/>
                </a:solidFill>
              </a:rPr>
              <a:t>定期收集和分析</a:t>
            </a:r>
            <a:r>
              <a:rPr lang="zh-CN" altLang="en-US" sz="2800"/>
              <a:t>项目数据。关于项目数据和信息的主要术语定义如下：</a:t>
            </a:r>
            <a:endParaRPr lang="zh-CN" altLang="en-US" sz="2800"/>
          </a:p>
          <a:p>
            <a:pPr marL="285750" indent="-285750">
              <a:buFont typeface="Wingdings" panose="05000000000000000000" charset="0"/>
              <a:buChar char="ü"/>
            </a:pPr>
            <a:r>
              <a:rPr lang="zh-CN" altLang="en-US" sz="2800">
                <a:solidFill>
                  <a:srgbClr val="0000FF"/>
                </a:solidFill>
              </a:rPr>
              <a:t>工作绩效数据：</a:t>
            </a:r>
            <a:r>
              <a:rPr lang="zh-CN" altLang="en-US" sz="2800"/>
              <a:t>在执行项目工作的过程中，从每个正在执行的活动中收集到的原始观察结果和测量值。</a:t>
            </a:r>
            <a:r>
              <a:rPr lang="zh-CN" altLang="en-US" sz="2800">
                <a:highlight>
                  <a:srgbClr val="FFFF00"/>
                </a:highlight>
              </a:rPr>
              <a:t>例如</a:t>
            </a:r>
            <a:r>
              <a:rPr lang="zh-CN" altLang="en-US" sz="2800"/>
              <a:t>包括工作完成百分比、质量和技术绩效测量结果、进度计划活动的开始和结束日期、变更请求的数量、缺陷的数量、实际成本和实际持续时间等。</a:t>
            </a:r>
            <a:endParaRPr lang="zh-CN" altLang="en-US" sz="2800"/>
          </a:p>
        </p:txBody>
      </p:sp>
    </p:spTree>
  </p:cSld>
  <p:clrMapOvr>
    <a:masterClrMapping/>
  </p:clrMapOvr>
  <p:transition spd="slow">
    <p:wipe dir="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4.5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监控项目工作</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19811" name="Group 8"/>
          <p:cNvGrpSpPr/>
          <p:nvPr/>
        </p:nvGrpSpPr>
        <p:grpSpPr>
          <a:xfrm>
            <a:off x="1524000" y="908050"/>
            <a:ext cx="9148763" cy="85725"/>
            <a:chOff x="0" y="0"/>
            <a:chExt cx="5763" cy="54"/>
          </a:xfrm>
        </p:grpSpPr>
        <p:sp>
          <p:nvSpPr>
            <p:cNvPr id="119812"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19813"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3" name="文本框 2"/>
          <p:cNvSpPr txBox="1"/>
          <p:nvPr/>
        </p:nvSpPr>
        <p:spPr>
          <a:xfrm>
            <a:off x="1682750" y="1196975"/>
            <a:ext cx="9520555" cy="4399915"/>
          </a:xfrm>
          <a:prstGeom prst="rect">
            <a:avLst/>
          </a:prstGeom>
          <a:noFill/>
        </p:spPr>
        <p:txBody>
          <a:bodyPr wrap="square" rtlCol="0" anchor="t">
            <a:spAutoFit/>
          </a:bodyPr>
          <a:p>
            <a:pPr marL="285750" indent="-285750">
              <a:buFont typeface="Wingdings" panose="05000000000000000000" charset="0"/>
              <a:buChar char="Ø"/>
            </a:pPr>
            <a:r>
              <a:rPr lang="zh-CN" altLang="en-US" sz="2800"/>
              <a:t>在整个项目生命周期中需要</a:t>
            </a:r>
            <a:r>
              <a:rPr lang="zh-CN" altLang="en-US" sz="2800">
                <a:solidFill>
                  <a:srgbClr val="FF0000"/>
                </a:solidFill>
              </a:rPr>
              <a:t>定期收集和分析</a:t>
            </a:r>
            <a:r>
              <a:rPr lang="zh-CN" altLang="en-US" sz="2800"/>
              <a:t>项目数据。关于项目数据和信息的主要术语定义如下：</a:t>
            </a:r>
            <a:endParaRPr lang="zh-CN" altLang="en-US" sz="2800"/>
          </a:p>
          <a:p>
            <a:pPr marL="285750" indent="-285750">
              <a:buFont typeface="Wingdings" panose="05000000000000000000" charset="0"/>
              <a:buChar char="ü"/>
            </a:pPr>
            <a:r>
              <a:rPr lang="zh-CN" altLang="en-US" sz="2800">
                <a:solidFill>
                  <a:srgbClr val="0000FF"/>
                </a:solidFill>
              </a:rPr>
              <a:t>工作绩效信息：</a:t>
            </a:r>
            <a:r>
              <a:rPr lang="zh-CN" altLang="en-US" sz="2800"/>
              <a:t>从各控制过程收集，并结合相关背景和跨领域关系进行整合分析而得到的绩效数据。绩效信息的</a:t>
            </a:r>
            <a:r>
              <a:rPr lang="zh-CN" altLang="en-US" sz="2800">
                <a:highlight>
                  <a:srgbClr val="FFFF00"/>
                </a:highlight>
              </a:rPr>
              <a:t>例子</a:t>
            </a:r>
            <a:r>
              <a:rPr lang="zh-CN" altLang="en-US" sz="2800"/>
              <a:t>包括可交付成果的状态、变更请求的落实情况及预测的完工尚需估算。</a:t>
            </a:r>
            <a:endParaRPr lang="zh-CN" altLang="en-US" sz="2800"/>
          </a:p>
          <a:p>
            <a:pPr marL="285750" indent="-285750">
              <a:buFont typeface="Wingdings" panose="05000000000000000000" charset="0"/>
              <a:buChar char="ü"/>
            </a:pPr>
            <a:r>
              <a:rPr lang="zh-CN" altLang="en-US" sz="2800">
                <a:solidFill>
                  <a:srgbClr val="0000FF"/>
                </a:solidFill>
              </a:rPr>
              <a:t>工作绩效报告：</a:t>
            </a:r>
            <a:r>
              <a:rPr lang="zh-CN" altLang="en-US" sz="2800"/>
              <a:t>为制定决策、提出问题、采取行动或引起关注，而汇编工作绩效信息所形成的实物或电子项目文件。</a:t>
            </a:r>
            <a:r>
              <a:rPr lang="zh-CN" altLang="en-US" sz="2800">
                <a:highlight>
                  <a:srgbClr val="FFFF00"/>
                </a:highlight>
              </a:rPr>
              <a:t>例如</a:t>
            </a:r>
            <a:r>
              <a:rPr lang="zh-CN" altLang="en-US" sz="2800"/>
              <a:t>包括状况报告、备忘录、论证报告、信息札记、电子仪表盘、推荐意见和情况更新。</a:t>
            </a:r>
            <a:endParaRPr lang="zh-CN" altLang="en-US" sz="2800"/>
          </a:p>
        </p:txBody>
      </p:sp>
    </p:spTree>
  </p:cSld>
  <p:clrMapOvr>
    <a:masterClrMapping/>
  </p:clrMapOvr>
  <p:transition spd="slow">
    <p:wipe dir="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Rectangle 5"/>
          <p:cNvSpPr>
            <a:spLocks noGrp="1"/>
          </p:cNvSpPr>
          <p:nvPr>
            <p:ph type="title" idx="4294967295"/>
          </p:nvPr>
        </p:nvSpPr>
        <p:spPr>
          <a:xfrm>
            <a:off x="2495550" y="186055"/>
            <a:ext cx="4360545"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实施集成变更控制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51207" name="Rectangle 6"/>
          <p:cNvSpPr>
            <a:spLocks noGrp="1"/>
          </p:cNvSpPr>
          <p:nvPr>
            <p:ph type="body" idx="4294967295"/>
          </p:nvPr>
        </p:nvSpPr>
        <p:spPr>
          <a:xfrm>
            <a:off x="1954530" y="1268730"/>
            <a:ext cx="9399905" cy="4758690"/>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实施集成变更控制</a:t>
            </a:r>
            <a:r>
              <a:rPr kumimoji="0" sz="2800" b="0" i="0" u="none" strike="noStrike" kern="1200" cap="none" spc="0" normalizeH="0" baseline="0" noProof="0" dirty="0">
                <a:ln>
                  <a:noFill/>
                </a:ln>
                <a:effectLst>
                  <a:outerShdw blurRad="38100" dist="38100" dir="2700000">
                    <a:srgbClr val="FFFFFF"/>
                  </a:outerShdw>
                </a:effectLst>
                <a:uLnTx/>
                <a:uFillTx/>
                <a:latin typeface="+mn-lt"/>
                <a:ea typeface="+mn-ea"/>
                <a:cs typeface="+mn-cs"/>
                <a:sym typeface="Symbol" panose="05050102010706020507" pitchFamily="18" charset="2"/>
              </a:rPr>
              <a:t>是审查所有变更请求、批准变更，管理对可交付成果、项目文件和项目管理计划的变更，并对变更处理结果进行沟通的过程。本过程审查</a:t>
            </a:r>
            <a:r>
              <a:rPr kumimoji="0"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对项目文件、可交付成果或项目管理计划的所有变更请求</a:t>
            </a:r>
            <a:r>
              <a:rPr kumimoji="0" sz="2800" b="0" i="0" u="none" strike="noStrike" kern="1200" cap="none" spc="0" normalizeH="0" baseline="0" noProof="0" dirty="0">
                <a:ln>
                  <a:noFill/>
                </a:ln>
                <a:effectLst>
                  <a:outerShdw blurRad="38100" dist="38100" dir="2700000">
                    <a:srgbClr val="FFFFFF"/>
                  </a:outerShdw>
                </a:effectLst>
                <a:uLnTx/>
                <a:uFillTx/>
                <a:latin typeface="+mn-lt"/>
                <a:ea typeface="+mn-ea"/>
                <a:cs typeface="+mn-cs"/>
                <a:sym typeface="Symbol" panose="05050102010706020507" pitchFamily="18" charset="2"/>
              </a:rPr>
              <a:t>，并决定对变更请求的处置方案。</a:t>
            </a:r>
            <a:endParaRPr kumimoji="0" sz="2800" b="0" i="0" u="none" strike="noStrike" kern="1200" cap="none" spc="0" normalizeH="0" baseline="0" noProof="0" dirty="0">
              <a:ln>
                <a:noFill/>
              </a:ln>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主要作用</a:t>
            </a:r>
            <a:r>
              <a:rPr kumimoji="0" sz="2800" b="0" i="0" u="none" strike="noStrike" kern="1200" cap="none" spc="0" normalizeH="0" baseline="0" noProof="0" dirty="0">
                <a:ln>
                  <a:noFill/>
                </a:ln>
                <a:effectLst>
                  <a:outerShdw blurRad="38100" dist="38100" dir="2700000">
                    <a:srgbClr val="FFFFFF"/>
                  </a:outerShdw>
                </a:effectLst>
                <a:uLnTx/>
                <a:uFillTx/>
                <a:latin typeface="+mn-lt"/>
                <a:ea typeface="+mn-ea"/>
                <a:cs typeface="+mn-cs"/>
                <a:sym typeface="Symbol" panose="05050102010706020507" pitchFamily="18" charset="2"/>
              </a:rPr>
              <a:t>是确保对</a:t>
            </a:r>
            <a:r>
              <a:rPr kumimoji="0" sz="2800" b="0" i="0" u="none" strike="noStrike" kern="1200" cap="none" spc="0" normalizeH="0" baseline="0" noProof="0" dirty="0">
                <a:ln>
                  <a:noFill/>
                </a:ln>
                <a:solidFill>
                  <a:srgbClr val="0000FF"/>
                </a:solidFill>
                <a:effectLst>
                  <a:outerShdw blurRad="38100" dist="38100" dir="2700000">
                    <a:srgbClr val="FFFFFF"/>
                  </a:outerShdw>
                </a:effectLst>
                <a:highlight>
                  <a:srgbClr val="FFFF00"/>
                </a:highlight>
                <a:uLnTx/>
                <a:uFillTx/>
                <a:latin typeface="+mn-lt"/>
                <a:ea typeface="+mn-ea"/>
                <a:cs typeface="+mn-cs"/>
                <a:sym typeface="Symbol" panose="05050102010706020507" pitchFamily="18" charset="2"/>
              </a:rPr>
              <a:t>项目中已记录在案的变更做综合评审</a:t>
            </a:r>
            <a:r>
              <a:rPr kumimoji="0" sz="2800" b="0" i="0" u="none" strike="noStrike" kern="1200" cap="none" spc="0" normalizeH="0" baseline="0" noProof="0" dirty="0">
                <a:ln>
                  <a:noFill/>
                </a:ln>
                <a:effectLst>
                  <a:outerShdw blurRad="38100" dist="38100" dir="2700000">
                    <a:srgbClr val="FFFFFF"/>
                  </a:outerShdw>
                </a:effectLst>
                <a:uLnTx/>
                <a:uFillTx/>
                <a:latin typeface="+mn-lt"/>
                <a:ea typeface="+mn-ea"/>
                <a:cs typeface="+mn-cs"/>
                <a:sym typeface="Symbol" panose="05050102010706020507" pitchFamily="18" charset="2"/>
              </a:rPr>
              <a:t>。如果不考虑变更对整体项目目标或计划的影响就开展变更，往往会加剧整体项目风险。</a:t>
            </a:r>
            <a:endParaRPr kumimoji="0" sz="2800" b="0" i="0" u="none" strike="noStrike" kern="1200" cap="none" spc="0" normalizeH="0" baseline="0" noProof="0" dirty="0">
              <a:ln>
                <a:noFill/>
              </a:ln>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120835" name="Group 8"/>
          <p:cNvGrpSpPr/>
          <p:nvPr/>
        </p:nvGrpSpPr>
        <p:grpSpPr>
          <a:xfrm>
            <a:off x="1519238" y="684213"/>
            <a:ext cx="9148762" cy="85725"/>
            <a:chOff x="0" y="0"/>
            <a:chExt cx="5763" cy="54"/>
          </a:xfrm>
        </p:grpSpPr>
        <p:sp>
          <p:nvSpPr>
            <p:cNvPr id="12083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083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7">
                                            <p:txEl>
                                              <p:pRg st="0" end="0"/>
                                            </p:txEl>
                                          </p:spTgt>
                                        </p:tgtEl>
                                        <p:attrNameLst>
                                          <p:attrName>style.visibility</p:attrName>
                                        </p:attrNameLst>
                                      </p:cBhvr>
                                      <p:to>
                                        <p:strVal val="visible"/>
                                      </p:to>
                                    </p:set>
                                    <p:animEffect transition="in" filter="wipe(left)">
                                      <p:cBhvr>
                                        <p:cTn id="7" dur="1000"/>
                                        <p:tgtEl>
                                          <p:spTgt spid="512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7">
                                            <p:txEl>
                                              <p:pRg st="1" end="1"/>
                                            </p:txEl>
                                          </p:spTgt>
                                        </p:tgtEl>
                                        <p:attrNameLst>
                                          <p:attrName>style.visibility</p:attrName>
                                        </p:attrNameLst>
                                      </p:cBhvr>
                                      <p:to>
                                        <p:strVal val="visible"/>
                                      </p:to>
                                    </p:set>
                                    <p:animEffect transition="in" filter="wipe(left)">
                                      <p:cBhvr>
                                        <p:cTn id="12" dur="1000"/>
                                        <p:tgtEl>
                                          <p:spTgt spid="512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Rectangle 5"/>
          <p:cNvSpPr>
            <a:spLocks noGrp="1"/>
          </p:cNvSpPr>
          <p:nvPr>
            <p:ph type="title" idx="4294967295"/>
          </p:nvPr>
        </p:nvSpPr>
        <p:spPr>
          <a:xfrm>
            <a:off x="2495550" y="186055"/>
            <a:ext cx="4360545"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实施集成变更控制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sp>
        <p:nvSpPr>
          <p:cNvPr id="51207" name="Rectangle 6"/>
          <p:cNvSpPr>
            <a:spLocks noGrp="1"/>
          </p:cNvSpPr>
          <p:nvPr>
            <p:ph type="body" idx="4294967295"/>
          </p:nvPr>
        </p:nvSpPr>
        <p:spPr>
          <a:xfrm>
            <a:off x="2000250" y="1268730"/>
            <a:ext cx="9039860" cy="4471670"/>
          </a:xfrm>
        </p:spPr>
        <p:txBody>
          <a:bodyPr vert="horz" wrap="square" lIns="0" tIns="0" rIns="0" bIns="0" anchor="t" anchorCtr="0"/>
          <a:lstStyle/>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集成变更控制</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 integrated change control) </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涉及在整个项目的生命周期中</a:t>
            </a:r>
            <a:r>
              <a:rPr kumimoji="0" lang="zh-CN" altLang="en-US" sz="2800" b="0" i="0" u="none" strike="noStrike" kern="1200" cap="none" spc="0" normalizeH="0" baseline="0" noProof="0" dirty="0">
                <a:ln>
                  <a:noFill/>
                </a:ln>
                <a:solidFill>
                  <a:srgbClr val="FF0000"/>
                </a:solidFill>
                <a:effectLst>
                  <a:outerShdw blurRad="38100" dist="38100" dir="2700000">
                    <a:srgbClr val="FFFFFF"/>
                  </a:outerShdw>
                </a:effectLst>
                <a:uLnTx/>
                <a:uFillTx/>
                <a:latin typeface="+mn-lt"/>
                <a:ea typeface="+mn-ea"/>
                <a:cs typeface="+mn-cs"/>
                <a:sym typeface="Symbol" panose="05050102010706020507" pitchFamily="18" charset="2"/>
              </a:rPr>
              <a:t>识别、估计和管理变更</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ü"/>
              <a:defRPr/>
            </a:pP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集成变更控制的</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highlight>
                  <a:srgbClr val="FFFF00"/>
                </a:highlight>
                <a:uLnTx/>
                <a:uFillTx/>
                <a:latin typeface="+mn-lt"/>
                <a:ea typeface="+mn-ea"/>
                <a:cs typeface="+mn-cs"/>
                <a:sym typeface="Symbol" panose="05050102010706020507" pitchFamily="18" charset="2"/>
              </a:rPr>
              <a:t>主要目的</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是</a:t>
            </a: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a:t>
            </a:r>
            <a:endPar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Ø"/>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(1)</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控制</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可能造成变更的</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因素</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，以确保变更都是有益的。</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Ø"/>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(2) </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确认</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变更已经发生。</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a:p>
            <a:pPr marL="457200" marR="0" lvl="0" indent="-457200" algn="l" defTabSz="914400" rtl="0" eaLnBrk="1" fontAlgn="base" latinLnBrk="0" hangingPunct="1">
              <a:lnSpc>
                <a:spcPct val="110000"/>
              </a:lnSpc>
              <a:spcBef>
                <a:spcPts val="600"/>
              </a:spcBef>
              <a:spcAft>
                <a:spcPct val="0"/>
              </a:spcAft>
              <a:buClr>
                <a:schemeClr val="tx1"/>
              </a:buClr>
              <a:buSzPct val="80000"/>
              <a:buFont typeface="Wingdings" panose="05000000000000000000" pitchFamily="2" charset="2"/>
              <a:buChar char="Ø"/>
              <a:defRPr/>
            </a:pPr>
            <a:r>
              <a:rPr kumimoji="0" lang="en-US" altLang="zh-CN"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(3) </a:t>
            </a:r>
            <a:r>
              <a:rPr kumimoji="0" lang="zh-CN" altLang="en-US" sz="2800" b="0" i="0" u="none" strike="noStrike" kern="1200" cap="none" spc="0" normalizeH="0" baseline="0" noProof="0" dirty="0">
                <a:ln>
                  <a:noFill/>
                </a:ln>
                <a:solidFill>
                  <a:srgbClr val="0000FF"/>
                </a:solidFill>
                <a:effectLst>
                  <a:outerShdw blurRad="38100" dist="38100" dir="2700000">
                    <a:srgbClr val="FFFFFF"/>
                  </a:outerShdw>
                </a:effectLst>
                <a:uLnTx/>
                <a:uFillTx/>
                <a:latin typeface="+mn-lt"/>
                <a:ea typeface="+mn-ea"/>
                <a:cs typeface="+mn-cs"/>
                <a:sym typeface="Symbol" panose="05050102010706020507" pitchFamily="18" charset="2"/>
              </a:rPr>
              <a:t>管理</a:t>
            </a:r>
            <a:r>
              <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rPr>
              <a:t>发生的变更。</a:t>
            </a:r>
            <a:endParaRPr kumimoji="0" lang="zh-CN" altLang="en-US" sz="2800" b="0" i="0" u="none" strike="noStrike" kern="1200" cap="none" spc="0" normalizeH="0" baseline="0" noProof="0" dirty="0">
              <a:ln>
                <a:noFill/>
              </a:ln>
              <a:solidFill>
                <a:schemeClr val="tx1"/>
              </a:solidFill>
              <a:effectLst>
                <a:outerShdw blurRad="38100" dist="38100" dir="2700000">
                  <a:srgbClr val="FFFFFF"/>
                </a:outerShdw>
              </a:effectLst>
              <a:uLnTx/>
              <a:uFillTx/>
              <a:latin typeface="+mn-lt"/>
              <a:ea typeface="+mn-ea"/>
              <a:cs typeface="+mn-cs"/>
              <a:sym typeface="Symbol" panose="05050102010706020507" pitchFamily="18" charset="2"/>
            </a:endParaRPr>
          </a:p>
        </p:txBody>
      </p:sp>
      <p:grpSp>
        <p:nvGrpSpPr>
          <p:cNvPr id="120835" name="Group 8"/>
          <p:cNvGrpSpPr/>
          <p:nvPr/>
        </p:nvGrpSpPr>
        <p:grpSpPr>
          <a:xfrm>
            <a:off x="1519238" y="684213"/>
            <a:ext cx="9148762" cy="85725"/>
            <a:chOff x="0" y="0"/>
            <a:chExt cx="5763" cy="54"/>
          </a:xfrm>
        </p:grpSpPr>
        <p:sp>
          <p:nvSpPr>
            <p:cNvPr id="120836"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0837"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7">
                                            <p:txEl>
                                              <p:pRg st="0" end="0"/>
                                            </p:txEl>
                                          </p:spTgt>
                                        </p:tgtEl>
                                        <p:attrNameLst>
                                          <p:attrName>style.visibility</p:attrName>
                                        </p:attrNameLst>
                                      </p:cBhvr>
                                      <p:to>
                                        <p:strVal val="visible"/>
                                      </p:to>
                                    </p:set>
                                    <p:animEffect transition="in" filter="wipe(left)">
                                      <p:cBhvr>
                                        <p:cTn id="7" dur="1000"/>
                                        <p:tgtEl>
                                          <p:spTgt spid="512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7">
                                            <p:txEl>
                                              <p:pRg st="1" end="1"/>
                                            </p:txEl>
                                          </p:spTgt>
                                        </p:tgtEl>
                                        <p:attrNameLst>
                                          <p:attrName>style.visibility</p:attrName>
                                        </p:attrNameLst>
                                      </p:cBhvr>
                                      <p:to>
                                        <p:strVal val="visible"/>
                                      </p:to>
                                    </p:set>
                                    <p:animEffect transition="in" filter="wipe(left)">
                                      <p:cBhvr>
                                        <p:cTn id="12" dur="1000"/>
                                        <p:tgtEl>
                                          <p:spTgt spid="512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7">
                                            <p:txEl>
                                              <p:pRg st="2" end="2"/>
                                            </p:txEl>
                                          </p:spTgt>
                                        </p:tgtEl>
                                        <p:attrNameLst>
                                          <p:attrName>style.visibility</p:attrName>
                                        </p:attrNameLst>
                                      </p:cBhvr>
                                      <p:to>
                                        <p:strVal val="visible"/>
                                      </p:to>
                                    </p:set>
                                    <p:animEffect transition="in" filter="wipe(left)">
                                      <p:cBhvr>
                                        <p:cTn id="17" dur="1000"/>
                                        <p:tgtEl>
                                          <p:spTgt spid="512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07">
                                            <p:txEl>
                                              <p:pRg st="3" end="3"/>
                                            </p:txEl>
                                          </p:spTgt>
                                        </p:tgtEl>
                                        <p:attrNameLst>
                                          <p:attrName>style.visibility</p:attrName>
                                        </p:attrNameLst>
                                      </p:cBhvr>
                                      <p:to>
                                        <p:strVal val="visible"/>
                                      </p:to>
                                    </p:set>
                                    <p:animEffect transition="in" filter="wipe(left)">
                                      <p:cBhvr>
                                        <p:cTn id="22" dur="1000"/>
                                        <p:tgtEl>
                                          <p:spTgt spid="512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207">
                                            <p:txEl>
                                              <p:pRg st="4" end="4"/>
                                            </p:txEl>
                                          </p:spTgt>
                                        </p:tgtEl>
                                        <p:attrNameLst>
                                          <p:attrName>style.visibility</p:attrName>
                                        </p:attrNameLst>
                                      </p:cBhvr>
                                      <p:to>
                                        <p:strVal val="visible"/>
                                      </p:to>
                                    </p:set>
                                    <p:animEffect transition="in" filter="wipe(left)">
                                      <p:cBhvr>
                                        <p:cTn id="27" dur="1000"/>
                                        <p:tgtEl>
                                          <p:spTgt spid="512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7305" y="347980"/>
            <a:ext cx="4608830"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lang="zh-CN" altLang="en-US" sz="2800" noProof="0" dirty="0">
                <a:ln>
                  <a:noFill/>
                </a:ln>
                <a:solidFill>
                  <a:srgbClr val="A50021"/>
                </a:solidFill>
                <a:effectLst>
                  <a:outerShdw blurRad="38100" dist="38100" dir="2700000">
                    <a:srgbClr val="000000"/>
                  </a:outerShdw>
                </a:effectLst>
                <a:uLnTx/>
                <a:uFillTx/>
                <a:sym typeface="+mn-ea"/>
              </a:rPr>
              <a:t>实施</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1858" name="Group 8"/>
          <p:cNvGrpSpPr/>
          <p:nvPr/>
        </p:nvGrpSpPr>
        <p:grpSpPr>
          <a:xfrm>
            <a:off x="1524000" y="908050"/>
            <a:ext cx="9148763" cy="85725"/>
            <a:chOff x="0" y="0"/>
            <a:chExt cx="5763" cy="54"/>
          </a:xfrm>
        </p:grpSpPr>
        <p:sp>
          <p:nvSpPr>
            <p:cNvPr id="121859"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1860"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7" name="Text Box 5"/>
          <p:cNvSpPr txBox="1">
            <a:spLocks noChangeArrowheads="1"/>
          </p:cNvSpPr>
          <p:nvPr/>
        </p:nvSpPr>
        <p:spPr bwMode="auto">
          <a:xfrm>
            <a:off x="1859915" y="1079500"/>
            <a:ext cx="9432290" cy="2461260"/>
          </a:xfrm>
          <a:prstGeom prst="rect">
            <a:avLst/>
          </a:prstGeom>
          <a:noFill/>
          <a:ln w="50800">
            <a:noFill/>
            <a:miter lim="800000"/>
          </a:ln>
          <a:effectLst/>
        </p:spPr>
        <p:txBody>
          <a:bodyPr wrap="square">
            <a:spAutoFit/>
          </a:bodyPr>
          <a:lstStyle/>
          <a:p>
            <a:pPr marR="0" defTabSz="914400" eaLnBrk="0" hangingPunct="0">
              <a:spcBef>
                <a:spcPct val="50000"/>
              </a:spcBef>
              <a:buClr>
                <a:schemeClr val="hlink"/>
              </a:buClr>
              <a:buSzTx/>
              <a:buFont typeface="Wingdings" panose="05000000000000000000" pitchFamily="2" charset="2"/>
              <a:buNone/>
              <a:defRPr/>
            </a:pPr>
            <a:r>
              <a:rPr kumimoji="0" lang="en-US" altLang="zh-CN" sz="2800" kern="1200" cap="none" spc="0" normalizeH="0" baseline="0" noProof="0" dirty="0">
                <a:solidFill>
                  <a:srgbClr val="FF0000"/>
                </a:solidFill>
                <a:latin typeface="宋体" panose="02010600030101010101" pitchFamily="2" charset="-122"/>
                <a:ea typeface="宋体" panose="02010600030101010101" pitchFamily="2" charset="-122"/>
                <a:cs typeface="+mn-cs"/>
              </a:rPr>
              <a:t>1.</a:t>
            </a:r>
            <a:r>
              <a:rPr kumimoji="0" lang="zh-CN" altLang="en-US" sz="2800" kern="1200" cap="none" spc="0" normalizeH="0" baseline="0" noProof="0" dirty="0">
                <a:solidFill>
                  <a:srgbClr val="FF0000"/>
                </a:solidFill>
                <a:latin typeface="宋体" panose="02010600030101010101" pitchFamily="2" charset="-122"/>
                <a:ea typeface="宋体" panose="02010600030101010101" pitchFamily="2" charset="-122"/>
                <a:cs typeface="+mn-cs"/>
              </a:rPr>
              <a:t>重要性：</a:t>
            </a:r>
            <a:r>
              <a:rPr kumimoji="0" lang="en-US" altLang="zh-CN" sz="2800" kern="1200" cap="none" spc="0" normalizeH="0" baseline="0" noProof="0" dirty="0">
                <a:latin typeface="宋体" panose="02010600030101010101" pitchFamily="2" charset="-122"/>
                <a:ea typeface="宋体" panose="02010600030101010101" pitchFamily="2" charset="-122"/>
                <a:cs typeface="+mn-cs"/>
              </a:rPr>
              <a:t>IT</a:t>
            </a:r>
            <a:r>
              <a:rPr kumimoji="0" lang="zh-CN" altLang="en-US" sz="2800" kern="1200" cap="none" spc="0" normalizeH="0" baseline="0" noProof="0" dirty="0">
                <a:latin typeface="宋体" panose="02010600030101010101" pitchFamily="2" charset="-122"/>
                <a:ea typeface="宋体" panose="02010600030101010101" pitchFamily="2" charset="-122"/>
                <a:cs typeface="+mn-cs"/>
              </a:rPr>
              <a:t>项目管理中的</a:t>
            </a:r>
            <a:r>
              <a:rPr kumimoji="0" lang="zh-CN" altLang="en-US" sz="2800" kern="1200" cap="none" spc="0" normalizeH="0" baseline="0" noProof="0" dirty="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重点和难点</a:t>
            </a:r>
            <a:r>
              <a:rPr kumimoji="0" lang="zh-CN" altLang="en-US" sz="2800" kern="1200" cap="none" spc="0" normalizeH="0" baseline="0" noProof="0" dirty="0">
                <a:latin typeface="宋体" panose="02010600030101010101" pitchFamily="2" charset="-122"/>
                <a:ea typeface="宋体" panose="02010600030101010101" pitchFamily="2" charset="-122"/>
                <a:cs typeface="+mn-cs"/>
              </a:rPr>
              <a:t>中排在</a:t>
            </a:r>
            <a:r>
              <a:rPr kumimoji="0" lang="zh-CN" altLang="en-US" sz="2800" b="1" kern="1200" cap="none" spc="0" normalizeH="0" baseline="0" noProof="0" dirty="0">
                <a:solidFill>
                  <a:srgbClr val="990000"/>
                </a:solidFill>
                <a:highlight>
                  <a:srgbClr val="FFFF00"/>
                </a:highlight>
                <a:latin typeface="宋体" panose="02010600030101010101" pitchFamily="2" charset="-122"/>
                <a:ea typeface="宋体" panose="02010600030101010101" pitchFamily="2" charset="-122"/>
                <a:cs typeface="+mn-cs"/>
              </a:rPr>
              <a:t>首位</a:t>
            </a:r>
            <a:r>
              <a:rPr kumimoji="0" lang="zh-CN" altLang="en-US" sz="2800" kern="1200" cap="none" spc="0" normalizeH="0" baseline="0" noProof="0" dirty="0">
                <a:latin typeface="宋体" panose="02010600030101010101" pitchFamily="2" charset="-122"/>
                <a:ea typeface="宋体" panose="02010600030101010101" pitchFamily="2" charset="-122"/>
                <a:cs typeface="+mn-cs"/>
              </a:rPr>
              <a:t>的是</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集成变更控制</a:t>
            </a:r>
            <a:r>
              <a:rPr kumimoji="0" lang="zh-CN" altLang="en-US" sz="2800" kern="1200" cap="none" spc="0" normalizeH="0" baseline="0" noProof="0" dirty="0">
                <a:latin typeface="宋体" panose="02010600030101010101" pitchFamily="2" charset="-122"/>
                <a:ea typeface="宋体" panose="02010600030101010101" pitchFamily="2" charset="-122"/>
                <a:cs typeface="+mn-cs"/>
              </a:rPr>
              <a:t>。</a:t>
            </a:r>
            <a:endParaRPr kumimoji="0" lang="zh-CN" altLang="en-US" sz="28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spcBef>
                <a:spcPct val="50000"/>
              </a:spcBef>
              <a:buClr>
                <a:schemeClr val="hlink"/>
              </a:buClr>
              <a:buSzTx/>
              <a:buFont typeface="Wingdings" panose="05000000000000000000" pitchFamily="2" charset="2"/>
              <a:buNone/>
              <a:defRPr/>
            </a:pPr>
            <a:r>
              <a:rPr kumimoji="0" lang="en-US" altLang="zh-CN" sz="2800" kern="1200" cap="none" spc="0" normalizeH="0" baseline="0" noProof="0" dirty="0">
                <a:solidFill>
                  <a:srgbClr val="FF0000"/>
                </a:solidFill>
                <a:latin typeface="宋体" panose="02010600030101010101" pitchFamily="2" charset="-122"/>
                <a:ea typeface="宋体" panose="02010600030101010101" pitchFamily="2" charset="-122"/>
                <a:cs typeface="+mn-cs"/>
              </a:rPr>
              <a:t>2.</a:t>
            </a:r>
            <a:r>
              <a:rPr kumimoji="0" lang="zh-CN" altLang="en-US" sz="2800" kern="1200" cap="none" spc="0" normalizeH="0" baseline="0" noProof="0" dirty="0">
                <a:solidFill>
                  <a:srgbClr val="FF0000"/>
                </a:solidFill>
                <a:latin typeface="宋体" panose="02010600030101010101" pitchFamily="2" charset="-122"/>
                <a:ea typeface="宋体" panose="02010600030101010101" pitchFamily="2" charset="-122"/>
                <a:cs typeface="+mn-cs"/>
              </a:rPr>
              <a:t>主要工作：</a:t>
            </a:r>
            <a:r>
              <a:rPr kumimoji="0" lang="en-US" altLang="zh-CN" sz="2800" kern="1200" cap="none" spc="0" normalizeH="0" baseline="0" noProof="0" dirty="0">
                <a:solidFill>
                  <a:srgbClr val="FF0000"/>
                </a:solidFill>
                <a:latin typeface="宋体" panose="02010600030101010101" pitchFamily="2" charset="-122"/>
                <a:ea typeface="宋体" panose="02010600030101010101" pitchFamily="2" charset="-122"/>
                <a:cs typeface="+mn-cs"/>
              </a:rPr>
              <a:t> </a:t>
            </a:r>
            <a:r>
              <a:rPr kumimoji="0" lang="en-US" altLang="zh-CN" sz="2800" kern="1200" cap="none" spc="0" normalizeH="0" baseline="0" noProof="0" dirty="0">
                <a:latin typeface="宋体" panose="02010600030101010101" pitchFamily="2" charset="-122"/>
                <a:ea typeface="宋体" panose="02010600030101010101" pitchFamily="2" charset="-122"/>
                <a:cs typeface="+mn-cs"/>
              </a:rPr>
              <a:t>IT</a:t>
            </a:r>
            <a:r>
              <a:rPr kumimoji="0" lang="zh-CN" altLang="en-US" sz="2800" kern="1200" cap="none" spc="0" normalizeH="0" baseline="0" noProof="0" dirty="0">
                <a:latin typeface="宋体" panose="02010600030101010101" pitchFamily="2" charset="-122"/>
                <a:ea typeface="宋体" panose="02010600030101010101" pitchFamily="2" charset="-122"/>
                <a:cs typeface="+mn-cs"/>
              </a:rPr>
              <a:t>项目经理主要工作是对项目的集成变更进行控制，使项目朝着</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提高工作</a:t>
            </a:r>
            <a:r>
              <a:rPr kumimoji="0" lang="zh-CN" altLang="en-US" sz="2800" kern="1200" cap="none" spc="0" normalizeH="0" baseline="0" noProof="0" dirty="0">
                <a:solidFill>
                  <a:schemeClr val="hlink"/>
                </a:solidFill>
                <a:latin typeface="宋体" panose="02010600030101010101" pitchFamily="2" charset="-122"/>
                <a:ea typeface="宋体" panose="02010600030101010101" pitchFamily="2" charset="-122"/>
                <a:cs typeface="+mn-cs"/>
              </a:rPr>
              <a:t>效率</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、产生经济</a:t>
            </a:r>
            <a:r>
              <a:rPr kumimoji="0" lang="zh-CN" altLang="en-US" sz="2800" kern="1200" cap="none" spc="0" normalizeH="0" baseline="0" noProof="0" dirty="0">
                <a:solidFill>
                  <a:schemeClr val="hlink"/>
                </a:solidFill>
                <a:latin typeface="宋体" panose="02010600030101010101" pitchFamily="2" charset="-122"/>
                <a:ea typeface="宋体" panose="02010600030101010101" pitchFamily="2" charset="-122"/>
                <a:cs typeface="+mn-cs"/>
              </a:rPr>
              <a:t>效益</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、和有利于项目顺利</a:t>
            </a:r>
            <a:r>
              <a:rPr kumimoji="0" lang="zh-CN" altLang="en-US" sz="2800" kern="1200" cap="none" spc="0" normalizeH="0" baseline="0" noProof="0" dirty="0">
                <a:solidFill>
                  <a:schemeClr val="hlink"/>
                </a:solidFill>
                <a:latin typeface="宋体" panose="02010600030101010101" pitchFamily="2" charset="-122"/>
                <a:ea typeface="宋体" panose="02010600030101010101" pitchFamily="2" charset="-122"/>
                <a:cs typeface="+mn-cs"/>
              </a:rPr>
              <a:t>进行</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，不断</a:t>
            </a:r>
            <a:r>
              <a:rPr kumimoji="0" lang="zh-CN" altLang="en-US" sz="2800" kern="1200" cap="none" spc="0" normalizeH="0" baseline="0" noProof="0" dirty="0">
                <a:solidFill>
                  <a:schemeClr val="hlink"/>
                </a:solidFill>
                <a:latin typeface="宋体" panose="02010600030101010101" pitchFamily="2" charset="-122"/>
                <a:ea typeface="宋体" panose="02010600030101010101" pitchFamily="2" charset="-122"/>
                <a:cs typeface="+mn-cs"/>
              </a:rPr>
              <a:t>逼近</a:t>
            </a:r>
            <a:r>
              <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rPr>
              <a:t>目标的方向发展。</a:t>
            </a:r>
            <a:endParaRPr kumimoji="0" lang="zh-CN" altLang="en-US" sz="2800" kern="1200" cap="none" spc="0" normalizeH="0" baseline="0" noProof="0" dirty="0">
              <a:solidFill>
                <a:srgbClr val="0000FF"/>
              </a:solidFill>
              <a:latin typeface="宋体" panose="02010600030101010101" pitchFamily="2" charset="-122"/>
              <a:ea typeface="宋体" panose="02010600030101010101" pitchFamily="2" charset="-122"/>
              <a:cs typeface="+mn-cs"/>
            </a:endParaRPr>
          </a:p>
        </p:txBody>
      </p:sp>
      <p:sp>
        <p:nvSpPr>
          <p:cNvPr id="10" name="Text Box 5"/>
          <p:cNvSpPr txBox="1"/>
          <p:nvPr/>
        </p:nvSpPr>
        <p:spPr>
          <a:xfrm>
            <a:off x="1991360" y="3626485"/>
            <a:ext cx="9425305" cy="2461260"/>
          </a:xfrm>
          <a:prstGeom prst="rect">
            <a:avLst/>
          </a:prstGeom>
          <a:noFill/>
          <a:ln w="50800">
            <a:noFill/>
          </a:ln>
        </p:spPr>
        <p:txBody>
          <a:bodyPr wrap="square" anchor="t" anchorCtr="0">
            <a:spAutoFit/>
          </a:bodyPr>
          <a:lstStyle/>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3.</a:t>
            </a:r>
            <a:r>
              <a:rPr lang="zh-CN" altLang="en-US" sz="2800" dirty="0">
                <a:solidFill>
                  <a:srgbClr val="FF0000"/>
                </a:solidFill>
                <a:latin typeface="宋体" panose="02010600030101010101" pitchFamily="2" charset="-122"/>
                <a:ea typeface="宋体" panose="02010600030101010101" pitchFamily="2" charset="-122"/>
              </a:rPr>
              <a:t>贯穿始末</a:t>
            </a:r>
            <a:r>
              <a:rPr lang="zh-CN" altLang="en-US" sz="2800" dirty="0">
                <a:latin typeface="宋体" panose="02010600030101010101" pitchFamily="2" charset="-122"/>
                <a:ea typeface="宋体" panose="02010600030101010101" pitchFamily="2" charset="-122"/>
              </a:rPr>
              <a:t>：变更是贯穿整个项目生命周期始末的，并且变更常常会给某些项目带来好处，也可能带来坏处。</a:t>
            </a:r>
            <a:endParaRPr lang="zh-CN" altLang="en-US" sz="2800"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dirty="0">
                <a:solidFill>
                  <a:srgbClr val="FF0000"/>
                </a:solidFill>
                <a:latin typeface="宋体" panose="02010600030101010101" pitchFamily="2" charset="-122"/>
              </a:rPr>
              <a:t>4.</a:t>
            </a:r>
            <a:r>
              <a:rPr lang="zh-CN" altLang="en-US" sz="2800" dirty="0">
                <a:solidFill>
                  <a:srgbClr val="FF0000"/>
                </a:solidFill>
                <a:latin typeface="宋体" panose="02010600030101010101" pitchFamily="2" charset="-122"/>
                <a:ea typeface="宋体" panose="02010600030101010101" pitchFamily="2" charset="-122"/>
              </a:rPr>
              <a:t>进行管理：</a:t>
            </a:r>
            <a:r>
              <a:rPr lang="zh-CN" altLang="en-US" sz="2800" dirty="0">
                <a:latin typeface="宋体" panose="02010600030101010101" pitchFamily="2" charset="-122"/>
                <a:ea typeface="宋体" panose="02010600030101010101" pitchFamily="2" charset="-122"/>
              </a:rPr>
              <a:t>所有的项目都存在一定的变更。如何对它们进行管理是项目管理的一个关键问题，特别是对软件项目来说更是这样。 </a:t>
            </a:r>
            <a:endParaRPr lang="en-US" altLang="zh-CN" sz="2800" dirty="0">
              <a:latin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 calcmode="lin" valueType="num">
                                      <p:cBhvr>
                                        <p:cTn id="15"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p:cTn id="16"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p:cTn id="21"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p:cTn id="22"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7305" y="347980"/>
            <a:ext cx="4214495"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lang="zh-CN" altLang="en-US" sz="2800" noProof="0" dirty="0">
                <a:ln>
                  <a:noFill/>
                </a:ln>
                <a:solidFill>
                  <a:srgbClr val="A50021"/>
                </a:solidFill>
                <a:effectLst>
                  <a:outerShdw blurRad="38100" dist="38100" dir="2700000">
                    <a:srgbClr val="000000"/>
                  </a:outerShdw>
                </a:effectLst>
                <a:uLnTx/>
                <a:uFillTx/>
                <a:sym typeface="+mn-ea"/>
              </a:rPr>
              <a:t>实施</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3906" name="Group 8"/>
          <p:cNvGrpSpPr/>
          <p:nvPr/>
        </p:nvGrpSpPr>
        <p:grpSpPr>
          <a:xfrm>
            <a:off x="1524000" y="908050"/>
            <a:ext cx="9148763" cy="85725"/>
            <a:chOff x="0" y="0"/>
            <a:chExt cx="5763" cy="54"/>
          </a:xfrm>
        </p:grpSpPr>
        <p:sp>
          <p:nvSpPr>
            <p:cNvPr id="123907"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3908"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pic>
        <p:nvPicPr>
          <p:cNvPr id="2" name="图片 1"/>
          <p:cNvPicPr>
            <a:picLocks noChangeAspect="1"/>
          </p:cNvPicPr>
          <p:nvPr/>
        </p:nvPicPr>
        <p:blipFill>
          <a:blip r:embed="rId1"/>
          <a:stretch>
            <a:fillRect/>
          </a:stretch>
        </p:blipFill>
        <p:spPr>
          <a:xfrm>
            <a:off x="1631315" y="1079500"/>
            <a:ext cx="9852025" cy="5713095"/>
          </a:xfrm>
          <a:prstGeom prst="rect">
            <a:avLst/>
          </a:prstGeom>
        </p:spPr>
      </p:pic>
    </p:spTree>
  </p:cSld>
  <p:clrMapOvr>
    <a:masterClrMapping/>
  </p:clrMapOvr>
  <p:transition spd="slow">
    <p:wipe dir="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7305" y="347980"/>
            <a:ext cx="4105910"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lang="zh-CN" altLang="en-US" sz="2800" noProof="0" dirty="0">
                <a:ln>
                  <a:noFill/>
                </a:ln>
                <a:solidFill>
                  <a:srgbClr val="A50021"/>
                </a:solidFill>
                <a:effectLst>
                  <a:outerShdw blurRad="38100" dist="38100" dir="2700000">
                    <a:srgbClr val="000000"/>
                  </a:outerShdw>
                </a:effectLst>
                <a:uLnTx/>
                <a:uFillTx/>
                <a:sym typeface="+mn-ea"/>
              </a:rPr>
              <a:t>实施</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2882" name="Group 8"/>
          <p:cNvGrpSpPr/>
          <p:nvPr/>
        </p:nvGrpSpPr>
        <p:grpSpPr>
          <a:xfrm>
            <a:off x="1524000" y="908050"/>
            <a:ext cx="9148763" cy="85725"/>
            <a:chOff x="0" y="0"/>
            <a:chExt cx="5763" cy="54"/>
          </a:xfrm>
        </p:grpSpPr>
        <p:sp>
          <p:nvSpPr>
            <p:cNvPr id="12288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288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8" name="文本框 7"/>
          <p:cNvSpPr txBox="1"/>
          <p:nvPr/>
        </p:nvSpPr>
        <p:spPr>
          <a:xfrm>
            <a:off x="2784475" y="1268413"/>
            <a:ext cx="4579938" cy="491490"/>
          </a:xfrm>
          <a:prstGeom prst="rect">
            <a:avLst/>
          </a:prstGeom>
          <a:noFill/>
        </p:spPr>
        <p:txBody>
          <a:bodyPr wrap="square">
            <a:spAutoFit/>
          </a:bodyPr>
          <a:lstStyle/>
          <a:p>
            <a:pPr marR="0" defTabSz="914400" eaLnBrk="0" hangingPunct="0">
              <a:buClrTx/>
              <a:buSzTx/>
              <a:buFontTx/>
              <a:buNone/>
              <a:defRPr/>
            </a:pPr>
            <a:r>
              <a:rPr kumimoji="0" lang="zh-CN" altLang="en-US" sz="2600" b="1" kern="1200" cap="none" spc="0" normalizeH="0" baseline="0" noProof="0" dirty="0">
                <a:solidFill>
                  <a:srgbClr val="FF33CC"/>
                </a:solidFill>
                <a:effectLst>
                  <a:outerShdw blurRad="38100" dist="38100" dir="2700000" algn="tl">
                    <a:srgbClr val="C0C0C0"/>
                  </a:outerShdw>
                </a:effectLst>
                <a:latin typeface="Times New Roman" panose="02020603050405020304" pitchFamily="18" charset="0"/>
                <a:ea typeface="楷体_GB2312" pitchFamily="49" charset="-122"/>
                <a:cs typeface="+mn-cs"/>
              </a:rPr>
              <a:t>流程</a:t>
            </a:r>
            <a:r>
              <a:rPr kumimoji="0" lang="zh-CN" altLang="en-US" sz="2600" b="1" kern="1200" cap="none" spc="0" normalizeH="0" baseline="0" noProof="0" dirty="0">
                <a:solidFill>
                  <a:schemeClr val="hlink"/>
                </a:solidFill>
                <a:latin typeface="Times New Roman" panose="02020603050405020304" pitchFamily="18" charset="0"/>
                <a:ea typeface="宋体" panose="02010600030101010101" pitchFamily="2" charset="-122"/>
                <a:cs typeface="+mn-cs"/>
              </a:rPr>
              <a:t> 　</a:t>
            </a:r>
            <a:endParaRPr kumimoji="0" lang="zh-CN" altLang="en-US" sz="2600"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122886" name="Group 44"/>
          <p:cNvGrpSpPr/>
          <p:nvPr/>
        </p:nvGrpSpPr>
        <p:grpSpPr>
          <a:xfrm>
            <a:off x="2855913" y="1628775"/>
            <a:ext cx="7000875" cy="4765675"/>
            <a:chOff x="288" y="1232"/>
            <a:chExt cx="4410" cy="3002"/>
          </a:xfrm>
        </p:grpSpPr>
        <p:sp>
          <p:nvSpPr>
            <p:cNvPr id="122887" name="Line 15"/>
            <p:cNvSpPr/>
            <p:nvPr/>
          </p:nvSpPr>
          <p:spPr>
            <a:xfrm>
              <a:off x="2994" y="1560"/>
              <a:ext cx="0" cy="210"/>
            </a:xfrm>
            <a:prstGeom prst="line">
              <a:avLst/>
            </a:prstGeom>
            <a:ln w="38100" cap="flat" cmpd="sng">
              <a:solidFill>
                <a:schemeClr val="hlink"/>
              </a:solidFill>
              <a:prstDash val="solid"/>
              <a:round/>
              <a:headEnd type="none" w="med" len="med"/>
              <a:tailEnd type="triangle" w="med" len="med"/>
            </a:ln>
          </p:spPr>
        </p:sp>
        <p:sp>
          <p:nvSpPr>
            <p:cNvPr id="122888" name="Line 17"/>
            <p:cNvSpPr/>
            <p:nvPr/>
          </p:nvSpPr>
          <p:spPr>
            <a:xfrm>
              <a:off x="2994" y="2557"/>
              <a:ext cx="0" cy="351"/>
            </a:xfrm>
            <a:prstGeom prst="line">
              <a:avLst/>
            </a:prstGeom>
            <a:ln w="50800" cap="flat" cmpd="tri">
              <a:solidFill>
                <a:schemeClr val="hlink"/>
              </a:solidFill>
              <a:prstDash val="solid"/>
              <a:round/>
              <a:headEnd type="none" w="med" len="med"/>
              <a:tailEnd type="triangle" w="med" len="med"/>
            </a:ln>
          </p:spPr>
        </p:sp>
        <p:sp>
          <p:nvSpPr>
            <p:cNvPr id="122889" name="Text Box 24"/>
            <p:cNvSpPr txBox="1"/>
            <p:nvPr/>
          </p:nvSpPr>
          <p:spPr>
            <a:xfrm>
              <a:off x="2493" y="1339"/>
              <a:ext cx="1276" cy="275"/>
            </a:xfrm>
            <a:prstGeom prst="rect">
              <a:avLst/>
            </a:prstGeom>
            <a:solidFill>
              <a:srgbClr val="FFFFFF"/>
            </a:solidFill>
            <a:ln w="28575" cap="flat" cmpd="sng">
              <a:solidFill>
                <a:srgbClr val="000000"/>
              </a:solidFill>
              <a:prstDash val="solid"/>
              <a:miter/>
              <a:headEnd type="none" w="med" len="med"/>
              <a:tailEnd type="none" w="med" len="med"/>
            </a:ln>
          </p:spPr>
          <p:txBody>
            <a:bodyPr lIns="0" tIns="108000" rIns="0" bIns="0" anchor="t" anchorCtr="0"/>
            <a:lstStyle/>
            <a:p>
              <a:pPr eaLnBrk="0" hangingPunct="0"/>
              <a:r>
                <a:rPr lang="zh-CN" altLang="en-US" sz="2000" dirty="0">
                  <a:latin typeface="Times New Roman" panose="02020603050405020304" pitchFamily="18" charset="0"/>
                  <a:ea typeface="宋体" panose="02010600030101010101" pitchFamily="2" charset="-122"/>
                </a:rPr>
                <a:t>建立基准计划</a:t>
              </a:r>
              <a:endParaRPr lang="zh-CN" altLang="en-US" sz="2000" dirty="0">
                <a:latin typeface="Times New Roman" panose="02020603050405020304" pitchFamily="18" charset="0"/>
                <a:ea typeface="宋体" panose="02010600030101010101" pitchFamily="2" charset="-122"/>
              </a:endParaRPr>
            </a:p>
          </p:txBody>
        </p:sp>
        <p:sp>
          <p:nvSpPr>
            <p:cNvPr id="122890" name="Text Box 23"/>
            <p:cNvSpPr txBox="1"/>
            <p:nvPr/>
          </p:nvSpPr>
          <p:spPr>
            <a:xfrm>
              <a:off x="2493" y="1768"/>
              <a:ext cx="1276" cy="364"/>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nchor="t" anchorCtr="0"/>
            <a:lstStyle/>
            <a:p>
              <a:pPr eaLnBrk="0" hangingPunct="0"/>
              <a:r>
                <a:rPr lang="zh-CN" altLang="en-US" sz="2000" dirty="0">
                  <a:latin typeface="Times New Roman" panose="02020603050405020304" pitchFamily="18" charset="0"/>
                  <a:ea typeface="宋体" panose="02010600030101010101" pitchFamily="2" charset="-122"/>
                </a:rPr>
                <a:t>评审项目状态</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和进展情况</a:t>
              </a:r>
              <a:endParaRPr lang="zh-CN" altLang="en-US" sz="2000" dirty="0">
                <a:latin typeface="Times New Roman" panose="02020603050405020304" pitchFamily="18" charset="0"/>
                <a:ea typeface="宋体" panose="02010600030101010101" pitchFamily="2" charset="-122"/>
              </a:endParaRPr>
            </a:p>
          </p:txBody>
        </p:sp>
        <p:sp>
          <p:nvSpPr>
            <p:cNvPr id="122891" name="Text Box 22"/>
            <p:cNvSpPr txBox="1"/>
            <p:nvPr/>
          </p:nvSpPr>
          <p:spPr>
            <a:xfrm>
              <a:off x="2493" y="2257"/>
              <a:ext cx="1293" cy="379"/>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nchor="t" anchorCtr="0"/>
            <a:lstStyle/>
            <a:p>
              <a:pPr eaLnBrk="0" hangingPunct="0"/>
              <a:r>
                <a:rPr lang="zh-CN" altLang="en-US" sz="2000" dirty="0">
                  <a:latin typeface="Times New Roman" panose="02020603050405020304" pitchFamily="18" charset="0"/>
                  <a:ea typeface="宋体" panose="02010600030101010101" pitchFamily="2" charset="-122"/>
                </a:rPr>
                <a:t>确认变更的发生</a:t>
              </a:r>
              <a:endParaRPr lang="zh-CN" altLang="en-US"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或将要发生</a:t>
              </a:r>
              <a:endParaRPr lang="zh-CN" altLang="en-US" sz="2000" dirty="0">
                <a:latin typeface="Times New Roman" panose="02020603050405020304" pitchFamily="18" charset="0"/>
                <a:ea typeface="宋体" panose="02010600030101010101" pitchFamily="2" charset="-122"/>
              </a:endParaRPr>
            </a:p>
          </p:txBody>
        </p:sp>
        <p:sp>
          <p:nvSpPr>
            <p:cNvPr id="122892" name="Text Box 21"/>
            <p:cNvSpPr txBox="1"/>
            <p:nvPr/>
          </p:nvSpPr>
          <p:spPr>
            <a:xfrm>
              <a:off x="3696" y="2932"/>
              <a:ext cx="1002" cy="432"/>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nchor="t" anchorCtr="0"/>
            <a:lstStyle/>
            <a:p>
              <a:pPr eaLnBrk="0" hangingPunct="0"/>
              <a:r>
                <a:rPr lang="zh-CN" altLang="en-US" dirty="0">
                  <a:latin typeface="Times New Roman" panose="02020603050405020304" pitchFamily="18" charset="0"/>
                  <a:ea typeface="宋体" panose="02010600030101010101" pitchFamily="2" charset="-122"/>
                </a:rPr>
                <a:t>共  享</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经验教训</a:t>
              </a:r>
              <a:endParaRPr lang="zh-CN" altLang="en-US" dirty="0">
                <a:latin typeface="Times New Roman" panose="02020603050405020304" pitchFamily="18" charset="0"/>
                <a:ea typeface="宋体" panose="02010600030101010101" pitchFamily="2" charset="-122"/>
              </a:endParaRPr>
            </a:p>
          </p:txBody>
        </p:sp>
        <p:sp>
          <p:nvSpPr>
            <p:cNvPr id="122893" name="Text Box 20"/>
            <p:cNvSpPr txBox="1"/>
            <p:nvPr/>
          </p:nvSpPr>
          <p:spPr>
            <a:xfrm>
              <a:off x="2493" y="2928"/>
              <a:ext cx="1002" cy="452"/>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nchor="t" anchorCtr="0"/>
            <a:lstStyle/>
            <a:p>
              <a:pPr eaLnBrk="0" hangingPunct="0"/>
              <a:r>
                <a:rPr lang="zh-CN" altLang="en-US" dirty="0">
                  <a:latin typeface="Times New Roman" panose="02020603050405020304" pitchFamily="18" charset="0"/>
                  <a:ea typeface="宋体" panose="02010600030101010101" pitchFamily="2" charset="-122"/>
                </a:rPr>
                <a:t>采  取</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纠正措施</a:t>
              </a:r>
              <a:endParaRPr lang="zh-CN" altLang="en-US" dirty="0">
                <a:latin typeface="Times New Roman" panose="02020603050405020304" pitchFamily="18" charset="0"/>
                <a:ea typeface="宋体" panose="02010600030101010101" pitchFamily="2" charset="-122"/>
              </a:endParaRPr>
            </a:p>
          </p:txBody>
        </p:sp>
        <p:sp>
          <p:nvSpPr>
            <p:cNvPr id="122894" name="Text Box 19"/>
            <p:cNvSpPr txBox="1"/>
            <p:nvPr/>
          </p:nvSpPr>
          <p:spPr>
            <a:xfrm rot="-10800000" flipV="1">
              <a:off x="1156" y="2900"/>
              <a:ext cx="1003" cy="4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nchor="t" anchorCtr="0"/>
            <a:lstStyle/>
            <a:p>
              <a:pPr eaLnBrk="0" hangingPunct="0"/>
              <a:r>
                <a:rPr lang="zh-CN" altLang="en-US" dirty="0">
                  <a:latin typeface="Times New Roman" panose="02020603050405020304" pitchFamily="18" charset="0"/>
                  <a:ea typeface="宋体" panose="02010600030101010101" pitchFamily="2" charset="-122"/>
                </a:rPr>
                <a:t>更  新</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项目计划</a:t>
              </a:r>
              <a:endParaRPr lang="zh-CN" altLang="en-US" dirty="0">
                <a:latin typeface="Times New Roman" panose="02020603050405020304" pitchFamily="18" charset="0"/>
                <a:ea typeface="宋体" panose="02010600030101010101" pitchFamily="2" charset="-122"/>
              </a:endParaRPr>
            </a:p>
          </p:txBody>
        </p:sp>
        <p:sp>
          <p:nvSpPr>
            <p:cNvPr id="122895" name="Freeform 18"/>
            <p:cNvSpPr/>
            <p:nvPr/>
          </p:nvSpPr>
          <p:spPr>
            <a:xfrm>
              <a:off x="1684" y="2708"/>
              <a:ext cx="2506" cy="210"/>
            </a:xfrm>
            <a:custGeom>
              <a:avLst/>
              <a:gdLst/>
              <a:ahLst/>
              <a:cxnLst>
                <a:cxn ang="0">
                  <a:pos x="0" y="468"/>
                </a:cxn>
                <a:cxn ang="0">
                  <a:pos x="0" y="0"/>
                </a:cxn>
                <a:cxn ang="0">
                  <a:pos x="4500" y="0"/>
                </a:cxn>
                <a:cxn ang="0">
                  <a:pos x="4500" y="468"/>
                </a:cxn>
              </a:cxnLst>
              <a:rect l="0" t="0" r="0" b="0"/>
              <a:pathLst>
                <a:path w="4500" h="468">
                  <a:moveTo>
                    <a:pt x="0" y="468"/>
                  </a:moveTo>
                  <a:lnTo>
                    <a:pt x="0" y="0"/>
                  </a:lnTo>
                  <a:lnTo>
                    <a:pt x="4500" y="0"/>
                  </a:lnTo>
                  <a:lnTo>
                    <a:pt x="4500" y="468"/>
                  </a:lnTo>
                </a:path>
              </a:pathLst>
            </a:custGeom>
            <a:noFill/>
            <a:ln w="50800" cap="flat" cmpd="sng">
              <a:solidFill>
                <a:schemeClr val="hlink"/>
              </a:solidFill>
              <a:prstDash val="solid"/>
              <a:round/>
              <a:headEnd type="triangle" w="med" len="med"/>
              <a:tailEnd type="triangle" w="med" len="med"/>
            </a:ln>
          </p:spPr>
          <p:txBody>
            <a:bodyPr/>
            <a:lstStyle/>
            <a:p>
              <a:endParaRPr lang="zh-CN" altLang="en-US"/>
            </a:p>
          </p:txBody>
        </p:sp>
        <p:sp>
          <p:nvSpPr>
            <p:cNvPr id="122896" name="Freeform 14"/>
            <p:cNvSpPr/>
            <p:nvPr/>
          </p:nvSpPr>
          <p:spPr>
            <a:xfrm>
              <a:off x="864" y="1475"/>
              <a:ext cx="1612" cy="1543"/>
            </a:xfrm>
            <a:custGeom>
              <a:avLst/>
              <a:gdLst/>
              <a:ahLst/>
              <a:cxnLst>
                <a:cxn ang="0">
                  <a:pos x="540" y="3588"/>
                </a:cxn>
                <a:cxn ang="0">
                  <a:pos x="0" y="3588"/>
                </a:cxn>
                <a:cxn ang="0">
                  <a:pos x="0" y="0"/>
                </a:cxn>
                <a:cxn ang="0">
                  <a:pos x="2880" y="0"/>
                </a:cxn>
              </a:cxnLst>
              <a:rect l="0" t="0" r="0" b="0"/>
              <a:pathLst>
                <a:path w="2880" h="3588">
                  <a:moveTo>
                    <a:pt x="540" y="3588"/>
                  </a:moveTo>
                  <a:lnTo>
                    <a:pt x="0" y="3588"/>
                  </a:lnTo>
                  <a:lnTo>
                    <a:pt x="0" y="0"/>
                  </a:lnTo>
                  <a:lnTo>
                    <a:pt x="2880" y="0"/>
                  </a:lnTo>
                </a:path>
              </a:pathLst>
            </a:custGeom>
            <a:noFill/>
            <a:ln w="44450" cap="flat" cmpd="sng">
              <a:solidFill>
                <a:schemeClr val="hlink"/>
              </a:solidFill>
              <a:prstDash val="solid"/>
              <a:round/>
              <a:headEnd type="none" w="med" len="med"/>
              <a:tailEnd type="triangle" w="med" len="med"/>
            </a:ln>
          </p:spPr>
          <p:txBody>
            <a:bodyPr/>
            <a:lstStyle/>
            <a:p>
              <a:endParaRPr lang="zh-CN" altLang="en-US"/>
            </a:p>
          </p:txBody>
        </p:sp>
        <p:sp>
          <p:nvSpPr>
            <p:cNvPr id="122897" name="Line 13"/>
            <p:cNvSpPr/>
            <p:nvPr/>
          </p:nvSpPr>
          <p:spPr>
            <a:xfrm>
              <a:off x="872" y="2457"/>
              <a:ext cx="1604" cy="0"/>
            </a:xfrm>
            <a:prstGeom prst="line">
              <a:avLst/>
            </a:prstGeom>
            <a:ln w="50800" cap="flat" cmpd="tri">
              <a:solidFill>
                <a:schemeClr val="hlink"/>
              </a:solidFill>
              <a:prstDash val="solid"/>
              <a:round/>
              <a:headEnd type="none" w="med" len="med"/>
              <a:tailEnd type="triangle" w="med" len="med"/>
            </a:ln>
          </p:spPr>
        </p:sp>
        <p:sp>
          <p:nvSpPr>
            <p:cNvPr id="122898" name="Line 12"/>
            <p:cNvSpPr/>
            <p:nvPr/>
          </p:nvSpPr>
          <p:spPr>
            <a:xfrm>
              <a:off x="889" y="1966"/>
              <a:ext cx="1604" cy="0"/>
            </a:xfrm>
            <a:prstGeom prst="line">
              <a:avLst/>
            </a:prstGeom>
            <a:ln w="50800" cap="flat" cmpd="tri">
              <a:solidFill>
                <a:schemeClr val="hlink"/>
              </a:solidFill>
              <a:prstDash val="solid"/>
              <a:round/>
              <a:headEnd type="none" w="med" len="med"/>
              <a:tailEnd type="triangle" w="med" len="med"/>
            </a:ln>
          </p:spPr>
        </p:sp>
        <p:sp>
          <p:nvSpPr>
            <p:cNvPr id="122899" name="Text Box 11"/>
            <p:cNvSpPr txBox="1"/>
            <p:nvPr/>
          </p:nvSpPr>
          <p:spPr>
            <a:xfrm>
              <a:off x="1025" y="1232"/>
              <a:ext cx="1134" cy="243"/>
            </a:xfrm>
            <a:prstGeom prst="rect">
              <a:avLst/>
            </a:prstGeom>
            <a:noFill/>
            <a:ln w="28575">
              <a:noFill/>
            </a:ln>
          </p:spPr>
          <p:txBody>
            <a:bodyPr lIns="0" tIns="0" rIns="0" bIns="0" anchor="t" anchorCtr="0"/>
            <a:lstStyle/>
            <a:p>
              <a:pPr eaLnBrk="0" hangingPunct="0"/>
              <a:r>
                <a:rPr lang="zh-CN" altLang="en-US" sz="2200" dirty="0">
                  <a:latin typeface="Times New Roman" panose="02020603050405020304" pitchFamily="18" charset="0"/>
                  <a:ea typeface="宋体" panose="02010600030101010101" pitchFamily="2" charset="-122"/>
                </a:rPr>
                <a:t>项目管理计划</a:t>
              </a:r>
              <a:endParaRPr lang="zh-CN" altLang="en-US" sz="2200" dirty="0">
                <a:latin typeface="Times New Roman" panose="02020603050405020304" pitchFamily="18" charset="0"/>
                <a:ea typeface="宋体" panose="02010600030101010101" pitchFamily="2" charset="-122"/>
              </a:endParaRPr>
            </a:p>
          </p:txBody>
        </p:sp>
        <p:sp>
          <p:nvSpPr>
            <p:cNvPr id="122900" name="Text Box 10"/>
            <p:cNvSpPr txBox="1"/>
            <p:nvPr/>
          </p:nvSpPr>
          <p:spPr>
            <a:xfrm>
              <a:off x="1059" y="1690"/>
              <a:ext cx="1133" cy="243"/>
            </a:xfrm>
            <a:prstGeom prst="rect">
              <a:avLst/>
            </a:prstGeom>
            <a:noFill/>
            <a:ln w="28575">
              <a:noFill/>
            </a:ln>
          </p:spPr>
          <p:txBody>
            <a:bodyPr lIns="0" tIns="0" rIns="0" bIns="0" anchor="t" anchorCtr="0"/>
            <a:lstStyle/>
            <a:p>
              <a:pPr eaLnBrk="0" hangingPunct="0"/>
              <a:r>
                <a:rPr lang="zh-CN" altLang="en-US" sz="2200" dirty="0">
                  <a:latin typeface="Times New Roman" panose="02020603050405020304" pitchFamily="18" charset="0"/>
                  <a:ea typeface="宋体" panose="02010600030101010101" pitchFamily="2" charset="-122"/>
                </a:rPr>
                <a:t>执行绩效报告</a:t>
              </a:r>
              <a:endParaRPr lang="zh-CN" altLang="en-US" sz="2200" dirty="0">
                <a:latin typeface="Times New Roman" panose="02020603050405020304" pitchFamily="18" charset="0"/>
                <a:ea typeface="宋体" panose="02010600030101010101" pitchFamily="2" charset="-122"/>
              </a:endParaRPr>
            </a:p>
            <a:p>
              <a:pPr eaLnBrk="0" hangingPunct="0"/>
              <a:endParaRPr lang="zh-CN" altLang="en-US" sz="2200" dirty="0">
                <a:latin typeface="Times New Roman" panose="02020603050405020304" pitchFamily="18" charset="0"/>
                <a:ea typeface="宋体" panose="02010600030101010101" pitchFamily="2" charset="-122"/>
              </a:endParaRPr>
            </a:p>
          </p:txBody>
        </p:sp>
        <p:sp>
          <p:nvSpPr>
            <p:cNvPr id="122901" name="Text Box 9"/>
            <p:cNvSpPr txBox="1"/>
            <p:nvPr/>
          </p:nvSpPr>
          <p:spPr>
            <a:xfrm>
              <a:off x="1170" y="2179"/>
              <a:ext cx="1133" cy="243"/>
            </a:xfrm>
            <a:prstGeom prst="rect">
              <a:avLst/>
            </a:prstGeom>
            <a:noFill/>
            <a:ln w="28575">
              <a:noFill/>
            </a:ln>
          </p:spPr>
          <p:txBody>
            <a:bodyPr lIns="0" tIns="0" rIns="0" bIns="0" anchor="t" anchorCtr="0"/>
            <a:lstStyle/>
            <a:p>
              <a:pPr eaLnBrk="0" hangingPunct="0"/>
              <a:r>
                <a:rPr lang="zh-CN" altLang="en-US" sz="2200" dirty="0">
                  <a:latin typeface="Times New Roman" panose="02020603050405020304" pitchFamily="18" charset="0"/>
                  <a:ea typeface="宋体" panose="02010600030101010101" pitchFamily="2" charset="-122"/>
                </a:rPr>
                <a:t>变更请求</a:t>
              </a:r>
              <a:endParaRPr lang="zh-CN" altLang="en-US" sz="2200" dirty="0">
                <a:latin typeface="Times New Roman" panose="02020603050405020304" pitchFamily="18" charset="0"/>
                <a:ea typeface="宋体" panose="02010600030101010101" pitchFamily="2" charset="-122"/>
              </a:endParaRPr>
            </a:p>
            <a:p>
              <a:pPr eaLnBrk="0" hangingPunct="0"/>
              <a:endParaRPr lang="zh-CN" altLang="en-US" sz="2200" dirty="0">
                <a:latin typeface="Times New Roman" panose="02020603050405020304" pitchFamily="18" charset="0"/>
                <a:ea typeface="宋体" panose="02010600030101010101" pitchFamily="2" charset="-122"/>
              </a:endParaRPr>
            </a:p>
          </p:txBody>
        </p:sp>
        <p:sp>
          <p:nvSpPr>
            <p:cNvPr id="122902" name="Text Box 8"/>
            <p:cNvSpPr txBox="1"/>
            <p:nvPr/>
          </p:nvSpPr>
          <p:spPr>
            <a:xfrm>
              <a:off x="1831" y="3850"/>
              <a:ext cx="1968" cy="384"/>
            </a:xfrm>
            <a:prstGeom prst="rect">
              <a:avLst/>
            </a:prstGeom>
            <a:noFill/>
            <a:ln w="28575">
              <a:noFill/>
            </a:ln>
          </p:spPr>
          <p:txBody>
            <a:bodyPr lIns="0" tIns="0" rIns="0" bIns="0" anchor="t" anchorCtr="0"/>
            <a:lstStyle/>
            <a:p>
              <a:pPr eaLnBrk="0" hangingPunct="0"/>
              <a:r>
                <a:rPr lang="zh-CN" altLang="en-US" sz="2800" dirty="0">
                  <a:latin typeface="宋体" panose="02010600030101010101" pitchFamily="2" charset="-122"/>
                  <a:ea typeface="宋体" panose="02010600030101010101" pitchFamily="2" charset="-122"/>
                </a:rPr>
                <a:t>集成变更控制过程</a:t>
              </a:r>
              <a:endParaRPr lang="zh-CN" altLang="en-US" sz="2800" dirty="0">
                <a:latin typeface="宋体" panose="02010600030101010101" pitchFamily="2" charset="-122"/>
                <a:ea typeface="宋体" panose="02010600030101010101" pitchFamily="2" charset="-122"/>
              </a:endParaRPr>
            </a:p>
            <a:p>
              <a:pPr eaLnBrk="0" hangingPunct="0"/>
              <a:endParaRPr lang="zh-CN" altLang="en-US" sz="2800" dirty="0">
                <a:latin typeface="Times New Roman" panose="02020603050405020304" pitchFamily="18" charset="0"/>
                <a:ea typeface="宋体" panose="02010600030101010101" pitchFamily="2" charset="-122"/>
              </a:endParaRPr>
            </a:p>
          </p:txBody>
        </p:sp>
        <p:sp>
          <p:nvSpPr>
            <p:cNvPr id="122903" name="Line 37"/>
            <p:cNvSpPr/>
            <p:nvPr/>
          </p:nvSpPr>
          <p:spPr>
            <a:xfrm>
              <a:off x="2980" y="2132"/>
              <a:ext cx="0" cy="144"/>
            </a:xfrm>
            <a:prstGeom prst="line">
              <a:avLst/>
            </a:prstGeom>
            <a:ln w="50800" cap="flat" cmpd="sng">
              <a:solidFill>
                <a:schemeClr val="hlink"/>
              </a:solidFill>
              <a:prstDash val="solid"/>
              <a:round/>
              <a:headEnd type="none" w="med" len="med"/>
              <a:tailEnd type="triangle" w="med" len="med"/>
            </a:ln>
          </p:spPr>
        </p:sp>
        <p:sp>
          <p:nvSpPr>
            <p:cNvPr id="27" name="Freeform 40"/>
            <p:cNvSpPr/>
            <p:nvPr/>
          </p:nvSpPr>
          <p:spPr bwMode="auto">
            <a:xfrm>
              <a:off x="288" y="2208"/>
              <a:ext cx="3936" cy="1488"/>
            </a:xfrm>
            <a:custGeom>
              <a:avLst/>
              <a:gdLst/>
              <a:ahLst/>
              <a:cxnLst>
                <a:cxn ang="0">
                  <a:pos x="3936" y="1152"/>
                </a:cxn>
                <a:cxn ang="0">
                  <a:pos x="3936" y="1488"/>
                </a:cxn>
                <a:cxn ang="0">
                  <a:pos x="0" y="1488"/>
                </a:cxn>
                <a:cxn ang="0">
                  <a:pos x="0" y="0"/>
                </a:cxn>
                <a:cxn ang="0">
                  <a:pos x="576" y="0"/>
                </a:cxn>
              </a:cxnLst>
              <a:rect l="0" t="0" r="r" b="b"/>
              <a:pathLst>
                <a:path w="3936" h="1488">
                  <a:moveTo>
                    <a:pt x="3936" y="1152"/>
                  </a:moveTo>
                  <a:lnTo>
                    <a:pt x="3936" y="1488"/>
                  </a:lnTo>
                  <a:lnTo>
                    <a:pt x="0" y="1488"/>
                  </a:lnTo>
                  <a:lnTo>
                    <a:pt x="0" y="0"/>
                  </a:lnTo>
                  <a:lnTo>
                    <a:pt x="576" y="0"/>
                  </a:lnTo>
                </a:path>
              </a:pathLst>
            </a:custGeom>
            <a:noFill/>
            <a:ln w="41275" cap="flat" cmpd="sng">
              <a:solidFill>
                <a:schemeClr val="accent3"/>
              </a:solidFill>
              <a:prstDash val="sysDot"/>
              <a:round/>
              <a:tailEnd type="triangl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05" name="Line 41"/>
            <p:cNvSpPr/>
            <p:nvPr/>
          </p:nvSpPr>
          <p:spPr>
            <a:xfrm>
              <a:off x="1584" y="3360"/>
              <a:ext cx="0" cy="336"/>
            </a:xfrm>
            <a:prstGeom prst="line">
              <a:avLst/>
            </a:prstGeom>
            <a:ln w="28575" cap="flat" cmpd="sng">
              <a:solidFill>
                <a:srgbClr val="0000FF"/>
              </a:solidFill>
              <a:prstDash val="solid"/>
              <a:round/>
              <a:headEnd type="none" w="med" len="med"/>
              <a:tailEnd type="triangle" w="med" len="med"/>
            </a:ln>
          </p:spPr>
        </p:sp>
        <p:sp>
          <p:nvSpPr>
            <p:cNvPr id="122906" name="Line 42"/>
            <p:cNvSpPr/>
            <p:nvPr/>
          </p:nvSpPr>
          <p:spPr>
            <a:xfrm>
              <a:off x="3024" y="3408"/>
              <a:ext cx="0" cy="240"/>
            </a:xfrm>
            <a:prstGeom prst="line">
              <a:avLst/>
            </a:prstGeom>
            <a:ln w="28575" cap="flat" cmpd="sng">
              <a:solidFill>
                <a:srgbClr val="0000FF"/>
              </a:solidFill>
              <a:prstDash val="solid"/>
              <a:round/>
              <a:headEnd type="none" w="med" len="med"/>
              <a:tailEnd type="triangle" w="med" len="med"/>
            </a:ln>
          </p:spPr>
        </p:sp>
      </p:grpSp>
    </p:spTree>
  </p:cSld>
  <p:clrMapOvr>
    <a:masterClrMapping/>
  </p:clrMapOvr>
  <p:transition spd="slow">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7305" y="347980"/>
            <a:ext cx="3629660"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lang="zh-CN" altLang="en-US" sz="2800" noProof="0" dirty="0">
                <a:ln>
                  <a:noFill/>
                </a:ln>
                <a:solidFill>
                  <a:srgbClr val="A50021"/>
                </a:solidFill>
                <a:effectLst>
                  <a:outerShdw blurRad="38100" dist="38100" dir="2700000">
                    <a:srgbClr val="000000"/>
                  </a:outerShdw>
                </a:effectLst>
                <a:uLnTx/>
                <a:uFillTx/>
                <a:sym typeface="+mn-ea"/>
              </a:rPr>
              <a:t>实施</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5954" name="Group 8"/>
          <p:cNvGrpSpPr/>
          <p:nvPr/>
        </p:nvGrpSpPr>
        <p:grpSpPr>
          <a:xfrm>
            <a:off x="1524000" y="908050"/>
            <a:ext cx="9148763" cy="85725"/>
            <a:chOff x="0" y="0"/>
            <a:chExt cx="5763" cy="54"/>
          </a:xfrm>
        </p:grpSpPr>
        <p:sp>
          <p:nvSpPr>
            <p:cNvPr id="125955"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5956"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8" name="Rectangle 3"/>
          <p:cNvSpPr txBox="1">
            <a:spLocks noChangeArrowheads="1"/>
          </p:cNvSpPr>
          <p:nvPr/>
        </p:nvSpPr>
        <p:spPr bwMode="auto">
          <a:xfrm>
            <a:off x="2552700" y="1079500"/>
            <a:ext cx="7086600" cy="583565"/>
          </a:xfrm>
          <a:prstGeom prst="rect">
            <a:avLst/>
          </a:prstGeom>
          <a:noFill/>
        </p:spPr>
        <p:txBody>
          <a:bodyPr wrap="square">
            <a:spAutoFit/>
          </a:bodyPr>
          <a:lstStyle>
            <a:defPPr>
              <a:defRPr lang="en-US"/>
            </a:defPPr>
            <a:lvl1pPr>
              <a:defRPr b="1">
                <a:solidFill>
                  <a:srgbClr val="FF33CC"/>
                </a:solidFill>
                <a:effectLst>
                  <a:outerShdw blurRad="38100" dist="38100" dir="2700000" algn="tl">
                    <a:srgbClr val="C0C0C0"/>
                  </a:outerShdw>
                </a:effectLst>
                <a:ea typeface="楷体_GB2312" pitchFamily="49" charset="-122"/>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charset="0"/>
              <a:buChar char="Ø"/>
              <a:defRPr/>
            </a:pPr>
            <a:r>
              <a:rPr kumimoji="0" lang="zh-CN" altLang="en-US" sz="3200" b="1" i="0" u="none" strike="noStrike" kern="1200" cap="none" spc="0" normalizeH="0" baseline="0" noProof="0" dirty="0">
                <a:ln>
                  <a:noFill/>
                </a:ln>
                <a:solidFill>
                  <a:srgbClr val="FF33CC"/>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变更控制系统 　　　　</a:t>
            </a:r>
            <a:endParaRPr kumimoji="0" lang="zh-CN" altLang="en-US" sz="3200" b="1" i="0" u="none" strike="noStrike" kern="1200" cap="none" spc="0" normalizeH="0" baseline="0" noProof="0" dirty="0">
              <a:ln>
                <a:noFill/>
              </a:ln>
              <a:solidFill>
                <a:srgbClr val="FF33CC"/>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125958" name="Text Box 6"/>
          <p:cNvSpPr txBox="1"/>
          <p:nvPr/>
        </p:nvSpPr>
        <p:spPr>
          <a:xfrm>
            <a:off x="1910715" y="1571625"/>
            <a:ext cx="9841865" cy="3538220"/>
          </a:xfrm>
          <a:prstGeom prst="rect">
            <a:avLst/>
          </a:prstGeom>
          <a:noFill/>
          <a:ln w="50800">
            <a:noFill/>
          </a:ln>
        </p:spPr>
        <p:txBody>
          <a:bodyPr wrap="square" anchor="t" anchorCtr="0">
            <a:spAutoFit/>
          </a:bodyPr>
          <a:lstStyle/>
          <a:p>
            <a:pPr eaLnBrk="0" hangingPunct="0">
              <a:spcBef>
                <a:spcPct val="50000"/>
              </a:spcBef>
              <a:buNone/>
            </a:pPr>
            <a:r>
              <a:rPr lang="zh-CN" altLang="en-US" sz="2800" dirty="0">
                <a:latin typeface="楷体_GB2312"/>
                <a:ea typeface="宋体" panose="02010600030101010101" pitchFamily="2" charset="-122"/>
              </a:rPr>
              <a:t>变更控制系统是一个</a:t>
            </a:r>
            <a:r>
              <a:rPr lang="zh-CN" altLang="en-US" sz="2800" dirty="0">
                <a:solidFill>
                  <a:srgbClr val="FF0000"/>
                </a:solidFill>
                <a:latin typeface="楷体_GB2312"/>
                <a:ea typeface="宋体" panose="02010600030101010101" pitchFamily="2" charset="-122"/>
              </a:rPr>
              <a:t>正式的、文档化</a:t>
            </a:r>
            <a:r>
              <a:rPr lang="zh-CN" altLang="en-US" sz="2800" dirty="0">
                <a:latin typeface="楷体_GB2312"/>
                <a:ea typeface="宋体" panose="02010600030101010101" pitchFamily="2" charset="-122"/>
              </a:rPr>
              <a:t>的过程。描述了正式的项目文件可能改变的时间和方式。</a:t>
            </a:r>
            <a:endParaRPr lang="en-US" altLang="zh-CN" sz="2800" dirty="0">
              <a:latin typeface="楷体_GB2312"/>
            </a:endParaRPr>
          </a:p>
          <a:p>
            <a:pPr eaLnBrk="0" hangingPunct="0">
              <a:spcBef>
                <a:spcPct val="50000"/>
              </a:spcBef>
              <a:buNone/>
            </a:pPr>
            <a:r>
              <a:rPr lang="zh-CN" altLang="en-US" sz="2800" dirty="0">
                <a:latin typeface="楷体_GB2312"/>
                <a:ea typeface="宋体" panose="02010600030101010101" pitchFamily="2" charset="-122"/>
              </a:rPr>
              <a:t>通常包括：</a:t>
            </a:r>
            <a:endParaRPr lang="zh-CN" altLang="en-US" sz="2800" dirty="0">
              <a:latin typeface="楷体_GB2312"/>
              <a:ea typeface="宋体" panose="02010600030101010101" pitchFamily="2" charset="-122"/>
            </a:endParaRPr>
          </a:p>
          <a:p>
            <a:pPr eaLnBrk="0" hangingPunct="0">
              <a:spcBef>
                <a:spcPct val="50000"/>
              </a:spcBef>
              <a:buClr>
                <a:schemeClr val="tx1"/>
              </a:buClr>
              <a:buFont typeface="Wingdings" panose="05000000000000000000" pitchFamily="2" charset="2"/>
              <a:buAutoNum type="circleNumDbPlain"/>
            </a:pPr>
            <a:r>
              <a:rPr lang="en-US" altLang="zh-CN" sz="2800" dirty="0">
                <a:latin typeface="楷体_GB2312"/>
                <a:ea typeface="宋体" panose="02010600030101010101" pitchFamily="2" charset="-122"/>
              </a:rPr>
              <a:t> </a:t>
            </a:r>
            <a:r>
              <a:rPr lang="zh-CN" altLang="en-US" sz="2800" dirty="0">
                <a:latin typeface="楷体_GB2312"/>
                <a:ea typeface="宋体" panose="02010600030101010101" pitchFamily="2" charset="-122"/>
              </a:rPr>
              <a:t>建立变更控制委员会</a:t>
            </a:r>
            <a:endParaRPr lang="zh-CN" altLang="en-US" sz="2800" dirty="0">
              <a:latin typeface="楷体_GB2312"/>
              <a:ea typeface="宋体" panose="02010600030101010101" pitchFamily="2" charset="-122"/>
            </a:endParaRPr>
          </a:p>
          <a:p>
            <a:pPr eaLnBrk="0" hangingPunct="0">
              <a:spcBef>
                <a:spcPct val="50000"/>
              </a:spcBef>
              <a:buFont typeface="Wingdings" panose="05000000000000000000" pitchFamily="2" charset="2"/>
              <a:buAutoNum type="circleNumDbPlain"/>
            </a:pPr>
            <a:r>
              <a:rPr lang="zh-CN" altLang="en-US" sz="2800" dirty="0">
                <a:latin typeface="楷体_GB2312"/>
                <a:ea typeface="宋体" panose="02010600030101010101" pitchFamily="2" charset="-122"/>
              </a:rPr>
              <a:t> 配置管理（正确、完整）</a:t>
            </a:r>
            <a:endParaRPr lang="zh-CN" altLang="en-US" sz="2800" dirty="0">
              <a:latin typeface="楷体_GB2312"/>
              <a:ea typeface="宋体" panose="02010600030101010101" pitchFamily="2" charset="-122"/>
            </a:endParaRPr>
          </a:p>
          <a:p>
            <a:pPr eaLnBrk="0" hangingPunct="0">
              <a:spcBef>
                <a:spcPct val="50000"/>
              </a:spcBef>
              <a:buFont typeface="Wingdings" panose="05000000000000000000" pitchFamily="2" charset="2"/>
              <a:buAutoNum type="circleNumDbPlain"/>
            </a:pPr>
            <a:r>
              <a:rPr lang="zh-CN" altLang="en-US" sz="2800" dirty="0">
                <a:latin typeface="楷体_GB2312"/>
                <a:ea typeface="宋体" panose="02010600030101010101" pitchFamily="2" charset="-122"/>
              </a:rPr>
              <a:t> 沟通程序</a:t>
            </a:r>
            <a:endParaRPr lang="zh-CN" altLang="en-US" sz="2800" dirty="0">
              <a:latin typeface="宋体" panose="02010600030101010101" pitchFamily="2" charset="-122"/>
              <a:ea typeface="宋体" panose="02010600030101010101" pitchFamily="2" charset="-122"/>
            </a:endParaRPr>
          </a:p>
        </p:txBody>
      </p:sp>
      <p:sp>
        <p:nvSpPr>
          <p:cNvPr id="11" name="AutoShape 7"/>
          <p:cNvSpPr/>
          <p:nvPr/>
        </p:nvSpPr>
        <p:spPr>
          <a:xfrm>
            <a:off x="6934200" y="4292600"/>
            <a:ext cx="4603750" cy="1828800"/>
          </a:xfrm>
          <a:prstGeom prst="wedgeRoundRectCallout">
            <a:avLst>
              <a:gd name="adj1" fmla="val -87972"/>
              <a:gd name="adj2" fmla="val -45937"/>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algn="just" eaLnBrk="0" hangingPunct="0">
              <a:buAutoNum type="arabicPeriod"/>
            </a:pPr>
            <a:r>
              <a:rPr lang="zh-CN" altLang="en-US" sz="1800" dirty="0">
                <a:solidFill>
                  <a:srgbClr val="0000FF"/>
                </a:solidFill>
                <a:latin typeface="Times New Roman" panose="02020603050405020304" pitchFamily="18" charset="0"/>
                <a:ea typeface="宋体" panose="02010600030101010101" pitchFamily="2" charset="-122"/>
              </a:rPr>
              <a:t>确定和记录项目产品的功能特征和物理构特征</a:t>
            </a:r>
            <a:r>
              <a:rPr lang="en-US" altLang="zh-CN" sz="1800" dirty="0">
                <a:solidFill>
                  <a:srgbClr val="0000FF"/>
                </a:solidFill>
                <a:latin typeface="Times New Roman" panose="02020603050405020304" pitchFamily="18" charset="0"/>
                <a:ea typeface="宋体" panose="02010600030101010101" pitchFamily="2" charset="-122"/>
              </a:rPr>
              <a:t> </a:t>
            </a:r>
            <a:r>
              <a:rPr lang="zh-CN" altLang="en-US" sz="1800" dirty="0">
                <a:solidFill>
                  <a:srgbClr val="0000FF"/>
                </a:solidFill>
                <a:latin typeface="Times New Roman" panose="02020603050405020304" pitchFamily="18" charset="0"/>
                <a:ea typeface="宋体" panose="02010600030101010101" pitchFamily="2" charset="-122"/>
              </a:rPr>
              <a:t>识别</a:t>
            </a:r>
            <a:r>
              <a:rPr lang="en-US" altLang="zh-CN" sz="1800" dirty="0">
                <a:solidFill>
                  <a:srgbClr val="0000FF"/>
                </a:solidFill>
                <a:latin typeface="Times New Roman" panose="02020603050405020304" pitchFamily="18" charset="0"/>
                <a:ea typeface="宋体" panose="02010600030101010101" pitchFamily="2" charset="-122"/>
              </a:rPr>
              <a:t> </a:t>
            </a:r>
            <a:r>
              <a:rPr lang="zh-CN" altLang="en-US" sz="1800" dirty="0">
                <a:solidFill>
                  <a:srgbClr val="0000FF"/>
                </a:solidFill>
                <a:latin typeface="Times New Roman" panose="02020603050405020304" pitchFamily="18" charset="0"/>
                <a:ea typeface="宋体" panose="02010600030101010101" pitchFamily="2" charset="-122"/>
              </a:rPr>
              <a:t>控制</a:t>
            </a:r>
            <a:endParaRPr lang="zh-CN" altLang="en-US" sz="1800" dirty="0">
              <a:solidFill>
                <a:srgbClr val="0000FF"/>
              </a:solidFill>
              <a:latin typeface="Times New Roman" panose="02020603050405020304" pitchFamily="18" charset="0"/>
              <a:ea typeface="宋体" panose="02010600030101010101" pitchFamily="2" charset="-122"/>
            </a:endParaRPr>
          </a:p>
          <a:p>
            <a:pPr algn="just" eaLnBrk="0" hangingPunct="0">
              <a:buAutoNum type="arabicPeriod"/>
            </a:pPr>
            <a:r>
              <a:rPr lang="zh-CN" altLang="en-US" sz="1800" dirty="0">
                <a:solidFill>
                  <a:srgbClr val="0000FF"/>
                </a:solidFill>
                <a:latin typeface="Times New Roman" panose="02020603050405020304" pitchFamily="18" charset="0"/>
                <a:ea typeface="宋体" panose="02010600030101010101" pitchFamily="2" charset="-122"/>
              </a:rPr>
              <a:t>对特征可能的变更进行控制、记录和报告.</a:t>
            </a:r>
            <a:endParaRPr lang="zh-CN" altLang="en-US" sz="1800" dirty="0">
              <a:solidFill>
                <a:srgbClr val="0000FF"/>
              </a:solidFill>
              <a:latin typeface="Times New Roman" panose="02020603050405020304" pitchFamily="18" charset="0"/>
              <a:ea typeface="宋体" panose="02010600030101010101" pitchFamily="2" charset="-122"/>
            </a:endParaRPr>
          </a:p>
          <a:p>
            <a:pPr algn="just" eaLnBrk="0" hangingPunct="0">
              <a:buAutoNum type="arabicPeriod"/>
            </a:pPr>
            <a:r>
              <a:rPr lang="zh-CN" altLang="en-US" sz="1800" dirty="0">
                <a:solidFill>
                  <a:srgbClr val="0000FF"/>
                </a:solidFill>
                <a:latin typeface="Times New Roman" panose="02020603050405020304" pitchFamily="18" charset="0"/>
                <a:ea typeface="宋体" panose="02010600030101010101" pitchFamily="2" charset="-122"/>
              </a:rPr>
              <a:t>对产品进行审查以考察其与要求的一致性。</a:t>
            </a:r>
            <a:endParaRPr lang="zh-CN" altLang="en-US" sz="1800" dirty="0">
              <a:solidFill>
                <a:srgbClr val="0000FF"/>
              </a:solidFill>
              <a:latin typeface="Times New Roman" panose="02020603050405020304" pitchFamily="18" charset="0"/>
              <a:ea typeface="Times New Roman" panose="02020603050405020304" pitchFamily="18" charset="0"/>
            </a:endParaRPr>
          </a:p>
        </p:txBody>
      </p:sp>
      <p:sp>
        <p:nvSpPr>
          <p:cNvPr id="12" name="AutoShape 9"/>
          <p:cNvSpPr/>
          <p:nvPr/>
        </p:nvSpPr>
        <p:spPr>
          <a:xfrm>
            <a:off x="6456363" y="2852738"/>
            <a:ext cx="4114800" cy="990600"/>
          </a:xfrm>
          <a:prstGeom prst="wedgeRoundRectCallout">
            <a:avLst>
              <a:gd name="adj1" fmla="val -62810"/>
              <a:gd name="adj2" fmla="val 7694"/>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marL="288925" indent="-288925" algn="just" eaLnBrk="0" hangingPunct="0">
              <a:buAutoNum type="arabicPeriod"/>
            </a:pPr>
            <a:r>
              <a:rPr lang="zh-CN" altLang="en-US" sz="1800" dirty="0">
                <a:solidFill>
                  <a:srgbClr val="0000FF"/>
                </a:solidFill>
                <a:latin typeface="宋体" panose="02010600030101010101" pitchFamily="2" charset="-122"/>
                <a:ea typeface="宋体" panose="02010600030101010101" pitchFamily="2" charset="-122"/>
              </a:rPr>
              <a:t>为准备提交的变更请求提供指导</a:t>
            </a:r>
            <a:endParaRPr lang="zh-CN" altLang="en-US" sz="1800" dirty="0">
              <a:solidFill>
                <a:srgbClr val="0000FF"/>
              </a:solidFill>
              <a:latin typeface="宋体" panose="02010600030101010101" pitchFamily="2" charset="-122"/>
              <a:ea typeface="宋体" panose="02010600030101010101" pitchFamily="2" charset="-122"/>
            </a:endParaRPr>
          </a:p>
          <a:p>
            <a:pPr marL="288925" indent="-288925" algn="just" eaLnBrk="0" hangingPunct="0">
              <a:buAutoNum type="arabicPeriod"/>
            </a:pPr>
            <a:r>
              <a:rPr lang="zh-CN" altLang="en-US" sz="1800" dirty="0">
                <a:solidFill>
                  <a:srgbClr val="0000FF"/>
                </a:solidFill>
                <a:latin typeface="宋体" panose="02010600030101010101" pitchFamily="2" charset="-122"/>
                <a:ea typeface="宋体" panose="02010600030101010101" pitchFamily="2" charset="-122"/>
              </a:rPr>
              <a:t>对变更请求做出评价</a:t>
            </a:r>
            <a:endParaRPr lang="zh-CN" altLang="en-US" sz="1800" dirty="0">
              <a:solidFill>
                <a:srgbClr val="0000FF"/>
              </a:solidFill>
              <a:latin typeface="宋体" panose="02010600030101010101" pitchFamily="2" charset="-122"/>
              <a:ea typeface="宋体" panose="02010600030101010101" pitchFamily="2" charset="-122"/>
            </a:endParaRPr>
          </a:p>
          <a:p>
            <a:pPr marL="288925" indent="-288925" algn="just" eaLnBrk="0" hangingPunct="0">
              <a:buAutoNum type="arabicPeriod"/>
            </a:pPr>
            <a:r>
              <a:rPr lang="zh-CN" altLang="en-US" sz="1800" dirty="0">
                <a:solidFill>
                  <a:srgbClr val="0000FF"/>
                </a:solidFill>
                <a:latin typeface="宋体" panose="02010600030101010101" pitchFamily="2" charset="-122"/>
                <a:ea typeface="宋体" panose="02010600030101010101" pitchFamily="2" charset="-122"/>
              </a:rPr>
              <a:t>并管理经批准的变更的实施过程</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 name="AutoShape 8"/>
          <p:cNvSpPr/>
          <p:nvPr/>
        </p:nvSpPr>
        <p:spPr>
          <a:xfrm>
            <a:off x="2136140" y="5372735"/>
            <a:ext cx="4343400" cy="1219200"/>
          </a:xfrm>
          <a:prstGeom prst="wedgeRoundRectCallout">
            <a:avLst>
              <a:gd name="adj1" fmla="val -20102"/>
              <a:gd name="adj2" fmla="val -80731"/>
              <a:gd name="adj3" fmla="val 16667"/>
            </a:avLst>
          </a:prstGeom>
          <a:solidFill>
            <a:srgbClr val="FFFF00"/>
          </a:solidFill>
          <a:ln w="38100" cap="flat" cmpd="sng">
            <a:solidFill>
              <a:srgbClr val="800000"/>
            </a:solidFill>
            <a:prstDash val="solid"/>
            <a:miter/>
            <a:headEnd type="none" w="med" len="med"/>
            <a:tailEnd type="none" w="med" len="med"/>
          </a:ln>
        </p:spPr>
        <p:txBody>
          <a:bodyPr lIns="0" tIns="0" rIns="0" bIns="0" anchor="t" anchorCtr="0"/>
          <a:lstStyle/>
          <a:p>
            <a:pPr marL="457200" indent="-457200" algn="just" eaLnBrk="0" hangingPunct="0">
              <a:buAutoNum type="arabicPeriod"/>
            </a:pPr>
            <a:r>
              <a:rPr lang="zh-CN" altLang="en-US" sz="1800" dirty="0">
                <a:solidFill>
                  <a:srgbClr val="0000FF"/>
                </a:solidFill>
                <a:latin typeface="宋体" panose="02010600030101010101" pitchFamily="2" charset="-122"/>
                <a:ea typeface="宋体" panose="02010600030101010101" pitchFamily="2" charset="-122"/>
              </a:rPr>
              <a:t>变更控制要素就是沟通。</a:t>
            </a:r>
            <a:endParaRPr lang="zh-CN" altLang="en-US" sz="1800" dirty="0">
              <a:solidFill>
                <a:srgbClr val="0000FF"/>
              </a:solidFill>
              <a:latin typeface="宋体" panose="02010600030101010101" pitchFamily="2" charset="-122"/>
              <a:ea typeface="宋体" panose="02010600030101010101" pitchFamily="2" charset="-122"/>
            </a:endParaRPr>
          </a:p>
          <a:p>
            <a:pPr marL="457200" indent="-457200" algn="just" eaLnBrk="0" hangingPunct="0">
              <a:buAutoNum type="arabicPeriod"/>
            </a:pPr>
            <a:r>
              <a:rPr lang="zh-CN" altLang="en-US" sz="1800" dirty="0">
                <a:solidFill>
                  <a:srgbClr val="0000FF"/>
                </a:solidFill>
                <a:latin typeface="宋体" panose="02010600030101010101" pitchFamily="2" charset="-122"/>
                <a:ea typeface="宋体" panose="02010600030101010101" pitchFamily="2" charset="-122"/>
              </a:rPr>
              <a:t>运用书面的和口头的执行绩效报告进行项目变更的确认和管理工作。</a:t>
            </a:r>
            <a:endParaRPr lang="zh-CN" altLang="en-US" sz="1800" dirty="0">
              <a:solidFill>
                <a:srgbClr val="0000FF"/>
              </a:solidFill>
              <a:latin typeface="宋体" panose="02010600030101010101" pitchFamily="2" charset="-122"/>
              <a:ea typeface="宋体" panose="02010600030101010101" pitchFamily="2" charset="-122"/>
            </a:endParaRPr>
          </a:p>
          <a:p>
            <a:pPr marL="457200" indent="-457200" algn="just" eaLnBrk="0" hangingPunct="0">
              <a:buAutoNum type="arabicPeriod"/>
            </a:pPr>
            <a:r>
              <a:rPr lang="zh-CN" altLang="en-US" sz="1800" dirty="0">
                <a:solidFill>
                  <a:srgbClr val="0000FF"/>
                </a:solidFill>
                <a:latin typeface="宋体" panose="02010600030101010101" pitchFamily="2" charset="-122"/>
                <a:ea typeface="宋体" panose="02010600030101010101" pitchFamily="2" charset="-122"/>
              </a:rPr>
              <a:t>碰头会</a:t>
            </a:r>
            <a:r>
              <a:rPr lang="zh-CN" altLang="en-US" sz="1800" dirty="0">
                <a:solidFill>
                  <a:srgbClr val="0000FF"/>
                </a:solidFill>
                <a:latin typeface="Times New Roman" panose="02020603050405020304" pitchFamily="18" charset="0"/>
                <a:ea typeface="宋体" panose="02010600030101010101" pitchFamily="2" charset="-122"/>
              </a:rPr>
              <a:t> </a:t>
            </a:r>
            <a:endParaRPr lang="zh-CN" altLang="en-US" sz="1800" dirty="0">
              <a:solidFill>
                <a:srgbClr val="0000FF"/>
              </a:solidFill>
              <a:latin typeface="Times New Roman" panose="02020603050405020304" pitchFamily="18" charset="0"/>
              <a:ea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1+#ppt_w/2"/>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ppt_x</p:attrName>
                                        </p:attrNameLst>
                                      </p:cBhvr>
                                      <p:tavLst>
                                        <p:tav tm="0">
                                          <p:val>
                                            <p:strVal val="1+#ppt_w/2"/>
                                          </p:val>
                                        </p:tav>
                                        <p:tav tm="100000">
                                          <p:val>
                                            <p:strVal val="#ppt_x"/>
                                          </p:val>
                                        </p:tav>
                                      </p:tavLst>
                                    </p:anim>
                                    <p:anim calcmode="lin" valueType="num">
                                      <p:cBhvr>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ppt_x</p:attrName>
                                        </p:attrNameLst>
                                      </p:cBhvr>
                                      <p:tavLst>
                                        <p:tav tm="0">
                                          <p:val>
                                            <p:strVal val="0-#ppt_w/2"/>
                                          </p:val>
                                        </p:tav>
                                        <p:tav tm="100000">
                                          <p:val>
                                            <p:strVal val="#ppt_x"/>
                                          </p:val>
                                        </p:tav>
                                      </p:tavLst>
                                    </p:anim>
                                    <p:anim calcmode="lin" valueType="num">
                                      <p:cBhvr>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7305" y="347980"/>
            <a:ext cx="5229225" cy="503555"/>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4.6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实施集成变更控制</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6978" name="Group 8"/>
          <p:cNvGrpSpPr/>
          <p:nvPr/>
        </p:nvGrpSpPr>
        <p:grpSpPr>
          <a:xfrm>
            <a:off x="1524000" y="908050"/>
            <a:ext cx="9148763" cy="85725"/>
            <a:chOff x="0" y="0"/>
            <a:chExt cx="5763" cy="54"/>
          </a:xfrm>
        </p:grpSpPr>
        <p:sp>
          <p:nvSpPr>
            <p:cNvPr id="126979"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6980"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8" name="Rectangle 3"/>
          <p:cNvSpPr txBox="1">
            <a:spLocks noChangeArrowheads="1"/>
          </p:cNvSpPr>
          <p:nvPr/>
        </p:nvSpPr>
        <p:spPr bwMode="auto">
          <a:xfrm>
            <a:off x="1919605" y="1124585"/>
            <a:ext cx="4206875" cy="491490"/>
          </a:xfrm>
          <a:prstGeom prst="rect">
            <a:avLst/>
          </a:prstGeom>
          <a:noFill/>
        </p:spPr>
        <p:txBody>
          <a:bodyPr wrap="square">
            <a:spAutoFit/>
          </a:bodyPr>
          <a:lstStyle>
            <a:defPPr>
              <a:defRPr lang="en-US"/>
            </a:defPPr>
            <a:lvl1pPr>
              <a:defRPr b="1">
                <a:solidFill>
                  <a:srgbClr val="FF33CC"/>
                </a:solidFill>
                <a:effectLst>
                  <a:outerShdw blurRad="38100" dist="38100" dir="2700000" algn="tl">
                    <a:srgbClr val="C0C0C0"/>
                  </a:outerShdw>
                </a:effectLst>
                <a:ea typeface="楷体_GB2312" pitchFamily="49" charset="-122"/>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600" b="1" i="0" u="none" strike="noStrike" kern="1200" cap="none" spc="0" normalizeH="0" baseline="0" noProof="0" dirty="0">
                <a:ln>
                  <a:noFill/>
                </a:ln>
                <a:solidFill>
                  <a:srgbClr val="FF33CC"/>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管理集成变更控制的方法 </a:t>
            </a:r>
            <a:endParaRPr kumimoji="0" lang="en-US" altLang="zh-CN" sz="2600" b="1" i="0" u="none" strike="noStrike" kern="1200" cap="none" spc="0" normalizeH="0" baseline="0" noProof="0" dirty="0">
              <a:ln>
                <a:noFill/>
              </a:ln>
              <a:solidFill>
                <a:srgbClr val="FF33CC"/>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14" name="Text Box 7"/>
          <p:cNvSpPr txBox="1">
            <a:spLocks noChangeArrowheads="1"/>
          </p:cNvSpPr>
          <p:nvPr/>
        </p:nvSpPr>
        <p:spPr bwMode="auto">
          <a:xfrm>
            <a:off x="1845310" y="1700530"/>
            <a:ext cx="9438005" cy="4092575"/>
          </a:xfrm>
          <a:prstGeom prst="rect">
            <a:avLst/>
          </a:prstGeom>
          <a:noFill/>
          <a:ln w="50800">
            <a:noFill/>
            <a:miter lim="800000"/>
          </a:ln>
          <a:effectLst/>
        </p:spPr>
        <p:txBody>
          <a:bodyPr wrap="square">
            <a:spAutoFit/>
          </a:bodyPr>
          <a:lstStyle/>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把项目管理</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视为</a:t>
            </a:r>
            <a:r>
              <a:rPr kumimoji="0" lang="zh-CN" altLang="en-US" sz="2600" kern="1200" cap="none" spc="0" normalizeH="0" baseline="0" noProof="0" dirty="0">
                <a:latin typeface="宋体" panose="02010600030101010101" pitchFamily="2" charset="-122"/>
                <a:ea typeface="宋体" panose="02010600030101010101" pitchFamily="2" charset="-122"/>
                <a:cs typeface="+mn-cs"/>
              </a:rPr>
              <a:t>一个</a:t>
            </a:r>
            <a:r>
              <a:rPr kumimoji="0" lang="zh-CN" altLang="en-US" sz="2600" kern="1200" cap="none" spc="0" normalizeH="0" baseline="0" noProof="0" dirty="0">
                <a:solidFill>
                  <a:srgbClr val="FF0000"/>
                </a:solidFill>
                <a:latin typeface="宋体" panose="02010600030101010101" pitchFamily="2" charset="-122"/>
                <a:ea typeface="宋体" panose="02010600030101010101" pitchFamily="2" charset="-122"/>
                <a:cs typeface="+mn-cs"/>
              </a:rPr>
              <a:t>不断的沟通和协商谈判</a:t>
            </a:r>
            <a:r>
              <a:rPr kumimoji="0" lang="zh-CN" altLang="en-US" sz="2600" kern="1200" cap="none" spc="0" normalizeH="0" baseline="0" noProof="0" dirty="0">
                <a:latin typeface="宋体" panose="02010600030101010101" pitchFamily="2" charset="-122"/>
                <a:ea typeface="宋体" panose="02010600030101010101" pitchFamily="2" charset="-122"/>
                <a:cs typeface="+mn-cs"/>
              </a:rPr>
              <a:t>的</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过程</a:t>
            </a:r>
            <a:r>
              <a:rPr kumimoji="0" lang="zh-CN" altLang="en-US" sz="2600" kern="1200" cap="none" spc="0" normalizeH="0" baseline="0" noProof="0" dirty="0">
                <a:latin typeface="宋体" panose="02010600030101010101" pitchFamily="2" charset="-122"/>
                <a:ea typeface="宋体" panose="02010600030101010101" pitchFamily="2" charset="-122"/>
                <a:cs typeface="+mn-cs"/>
              </a:rPr>
              <a:t>  </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为变更</a:t>
            </a:r>
            <a:r>
              <a:rPr kumimoji="0" lang="zh-CN" altLang="en-US" sz="26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制定计划</a:t>
            </a:r>
            <a:r>
              <a:rPr kumimoji="0" lang="zh-CN" altLang="en-US" sz="2600" kern="1200" cap="none" spc="0" normalizeH="0" baseline="0" noProof="0" dirty="0">
                <a:solidFill>
                  <a:srgbClr val="FF0000"/>
                </a:solidFill>
                <a:latin typeface="宋体" panose="02010600030101010101" pitchFamily="2" charset="-122"/>
                <a:ea typeface="宋体" panose="02010600030101010101" pitchFamily="2" charset="-122"/>
                <a:cs typeface="+mn-cs"/>
              </a:rPr>
              <a:t>  </a:t>
            </a:r>
            <a:endParaRPr kumimoji="0" lang="zh-CN" altLang="en-US" sz="2600" kern="1200" cap="none" spc="0" normalizeH="0" baseline="0" noProof="0" dirty="0">
              <a:solidFill>
                <a:srgbClr val="FF0000"/>
              </a:solidFill>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建立一套正式的</a:t>
            </a:r>
            <a:r>
              <a:rPr kumimoji="0" lang="zh-CN" altLang="en-US" sz="2600" kern="1200" cap="none" spc="0" normalizeH="0" baseline="0" noProof="0" dirty="0">
                <a:solidFill>
                  <a:srgbClr val="FF0000"/>
                </a:solidFill>
                <a:latin typeface="宋体" panose="02010600030101010101" pitchFamily="2" charset="-122"/>
                <a:ea typeface="宋体" panose="02010600030101010101" pitchFamily="2" charset="-122"/>
                <a:cs typeface="+mn-cs"/>
              </a:rPr>
              <a:t>变更控制系统</a:t>
            </a:r>
            <a:r>
              <a:rPr kumimoji="0" lang="zh-CN" altLang="en-US" sz="2600" kern="1200" cap="none" spc="0" normalizeH="0" baseline="0" noProof="0" dirty="0">
                <a:latin typeface="宋体" panose="02010600030101010101" pitchFamily="2" charset="-122"/>
                <a:ea typeface="宋体" panose="02010600030101010101" pitchFamily="2" charset="-122"/>
                <a:cs typeface="+mn-cs"/>
              </a:rPr>
              <a:t>，包括变更控制委员会(</a:t>
            </a:r>
            <a:r>
              <a:rPr kumimoji="0" lang="en-US" altLang="zh-CN" sz="2600" kern="1200" cap="none" spc="0" normalizeH="0" baseline="0" noProof="0" dirty="0">
                <a:latin typeface="宋体" panose="02010600030101010101" pitchFamily="2" charset="-122"/>
                <a:ea typeface="宋体" panose="02010600030101010101" pitchFamily="2" charset="-122"/>
                <a:cs typeface="+mn-cs"/>
              </a:rPr>
              <a:t>CCB)    </a:t>
            </a:r>
            <a:endParaRPr kumimoji="0" lang="en-US" altLang="zh-CN" sz="2600" kern="1200" cap="none" spc="0" normalizeH="0" baseline="0" noProof="0" dirty="0">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运用</a:t>
            </a:r>
            <a:r>
              <a:rPr kumimoji="0" lang="zh-CN" altLang="en-US" sz="2600" kern="1200" cap="none" spc="0" normalizeH="0" baseline="0" noProof="0" dirty="0">
                <a:solidFill>
                  <a:srgbClr val="FF0000"/>
                </a:solidFill>
                <a:latin typeface="宋体" panose="02010600030101010101" pitchFamily="2" charset="-122"/>
                <a:ea typeface="宋体" panose="02010600030101010101" pitchFamily="2" charset="-122"/>
                <a:cs typeface="+mn-cs"/>
              </a:rPr>
              <a:t>配置管理</a:t>
            </a:r>
            <a:r>
              <a:rPr kumimoji="0" lang="zh-CN" altLang="en-US" sz="2600" kern="1200" cap="none" spc="0" normalizeH="0" baseline="0" noProof="0" dirty="0">
                <a:latin typeface="宋体" panose="02010600030101010101" pitchFamily="2" charset="-122"/>
                <a:ea typeface="宋体" panose="02010600030101010101" pitchFamily="2" charset="-122"/>
                <a:cs typeface="+mn-cs"/>
              </a:rPr>
              <a:t> （确保项目产品的描述是正确的、完成的）   </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a:t>
            </a:r>
            <a:r>
              <a:rPr kumimoji="0" lang="zh-CN" altLang="en-US" sz="2600" kern="1200" cap="none" spc="0" normalizeH="0" baseline="0" noProof="0" dirty="0">
                <a:solidFill>
                  <a:srgbClr val="FF0000"/>
                </a:solidFill>
                <a:latin typeface="宋体" panose="02010600030101010101" pitchFamily="2" charset="-122"/>
                <a:ea typeface="宋体" panose="02010600030101010101" pitchFamily="2" charset="-122"/>
                <a:cs typeface="+mn-cs"/>
              </a:rPr>
              <a:t>制定一定的管理程序</a:t>
            </a:r>
            <a:r>
              <a:rPr kumimoji="0" lang="zh-CN" altLang="en-US" sz="2600" kern="1200" cap="none" spc="0" normalizeH="0" baseline="0" noProof="0" dirty="0">
                <a:latin typeface="宋体" panose="02010600030101010101" pitchFamily="2" charset="-122"/>
                <a:ea typeface="宋体" panose="02010600030101010101" pitchFamily="2" charset="-122"/>
                <a:cs typeface="+mn-cs"/>
              </a:rPr>
              <a:t>以实现较小变更的</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快速决策</a:t>
            </a:r>
            <a:r>
              <a:rPr kumimoji="0" lang="zh-CN" altLang="en-US" sz="2600" kern="1200" cap="none" spc="0" normalizeH="0" baseline="0" noProof="0" dirty="0">
                <a:latin typeface="宋体" panose="02010600030101010101" pitchFamily="2" charset="-122"/>
                <a:ea typeface="宋体" panose="02010600030101010101" pitchFamily="2" charset="-122"/>
                <a:cs typeface="+mn-cs"/>
              </a:rPr>
              <a:t>    </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通过书面和口头的</a:t>
            </a:r>
            <a:r>
              <a:rPr kumimoji="0" lang="zh-CN" altLang="en-US" sz="26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执行绩效报告</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确认和管理变更</a:t>
            </a:r>
            <a:r>
              <a:rPr kumimoji="0" lang="zh-CN" altLang="en-US" sz="2600" kern="1200" cap="none" spc="0" normalizeH="0" baseline="0" noProof="0" dirty="0">
                <a:latin typeface="宋体" panose="02010600030101010101" pitchFamily="2" charset="-122"/>
                <a:ea typeface="宋体" panose="02010600030101010101" pitchFamily="2" charset="-122"/>
                <a:cs typeface="+mn-cs"/>
              </a:rPr>
              <a:t>    </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a:p>
            <a:pPr marR="0"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a:t>
            </a:r>
            <a:r>
              <a:rPr kumimoji="0" lang="zh-CN" altLang="en-US" sz="2600" kern="1200" cap="none" spc="0" normalizeH="0" baseline="0" noProof="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运用项目管理软件</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和其他软件</a:t>
            </a:r>
            <a:r>
              <a:rPr kumimoji="0" lang="zh-CN" altLang="en-US" sz="2600" kern="1200" cap="none" spc="0" normalizeH="0" baseline="0" noProof="0" dirty="0">
                <a:latin typeface="宋体" panose="02010600030101010101" pitchFamily="2" charset="-122"/>
                <a:ea typeface="宋体" panose="02010600030101010101" pitchFamily="2" charset="-122"/>
                <a:cs typeface="+mn-cs"/>
              </a:rPr>
              <a:t>协助进行</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变更管理和沟通</a:t>
            </a:r>
            <a:endPar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p:txBody>
      </p:sp>
    </p:spTree>
  </p:cSld>
  <p:clrMapOvr>
    <a:masterClrMapping/>
  </p:clrMapOvr>
  <p:transition spd="slow">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4.7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项目或阶段收尾</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8002" name="Group 8"/>
          <p:cNvGrpSpPr/>
          <p:nvPr/>
        </p:nvGrpSpPr>
        <p:grpSpPr>
          <a:xfrm>
            <a:off x="1524000" y="908050"/>
            <a:ext cx="9148763" cy="85725"/>
            <a:chOff x="0" y="0"/>
            <a:chExt cx="5763" cy="54"/>
          </a:xfrm>
        </p:grpSpPr>
        <p:sp>
          <p:nvSpPr>
            <p:cNvPr id="12800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800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8" name="Rectangle 3"/>
          <p:cNvSpPr txBox="1">
            <a:spLocks noChangeArrowheads="1"/>
          </p:cNvSpPr>
          <p:nvPr/>
        </p:nvSpPr>
        <p:spPr bwMode="auto">
          <a:xfrm>
            <a:off x="1919605" y="1101090"/>
            <a:ext cx="7086600" cy="491490"/>
          </a:xfrm>
          <a:prstGeom prst="rect">
            <a:avLst/>
          </a:prstGeom>
          <a:noFill/>
        </p:spPr>
        <p:txBody>
          <a:bodyPr wrap="square">
            <a:spAutoFit/>
          </a:bodyPr>
          <a:lstStyle>
            <a:defPPr>
              <a:defRPr lang="en-US"/>
            </a:defPPr>
            <a:lvl1pPr>
              <a:defRPr b="1">
                <a:solidFill>
                  <a:srgbClr val="FF33CC"/>
                </a:solidFill>
                <a:effectLst>
                  <a:outerShdw blurRad="38100" dist="38100" dir="2700000" algn="tl">
                    <a:srgbClr val="C0C0C0"/>
                  </a:outerShdw>
                </a:effectLst>
                <a:ea typeface="楷体_GB2312" pitchFamily="49" charset="-122"/>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600" b="1" i="0" u="none" strike="noStrike" kern="1200" cap="none" spc="0" normalizeH="0" baseline="0" noProof="0" dirty="0">
                <a:ln>
                  <a:noFill/>
                </a:ln>
                <a:solidFill>
                  <a:srgbClr val="FF33CC"/>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项目集成管理的最后一步</a:t>
            </a:r>
            <a:endParaRPr kumimoji="0" lang="en-US" altLang="zh-CN" sz="2600" b="1" i="0" u="none" strike="noStrike" kern="1200" cap="none" spc="0" normalizeH="0" baseline="0" noProof="0" dirty="0">
              <a:ln>
                <a:noFill/>
              </a:ln>
              <a:solidFill>
                <a:srgbClr val="FF33CC"/>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sp>
        <p:nvSpPr>
          <p:cNvPr id="14" name="Text Box 7"/>
          <p:cNvSpPr txBox="1">
            <a:spLocks noChangeArrowheads="1"/>
          </p:cNvSpPr>
          <p:nvPr/>
        </p:nvSpPr>
        <p:spPr bwMode="auto">
          <a:xfrm>
            <a:off x="1798320" y="1700530"/>
            <a:ext cx="9523730" cy="2091690"/>
          </a:xfrm>
          <a:prstGeom prst="rect">
            <a:avLst/>
          </a:prstGeom>
          <a:noFill/>
          <a:ln w="50800">
            <a:noFill/>
            <a:miter lim="800000"/>
          </a:ln>
          <a:effectLst/>
        </p:spPr>
        <p:txBody>
          <a:bodyPr wrap="square">
            <a:spAutoFit/>
          </a:bodyPr>
          <a:lstStyle/>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solidFill>
                  <a:srgbClr val="0000FF"/>
                </a:solidFill>
                <a:latin typeface="宋体" panose="02010600030101010101" pitchFamily="2" charset="-122"/>
                <a:ea typeface="宋体" panose="02010600030101010101" pitchFamily="2" charset="-122"/>
                <a:cs typeface="+mn-cs"/>
              </a:rPr>
              <a:t>结束项目或阶段</a:t>
            </a:r>
            <a:r>
              <a:rPr kumimoji="0" lang="zh-CN" altLang="en-US" sz="2600" kern="1200" cap="none" spc="0" normalizeH="0" baseline="0" noProof="0" dirty="0">
                <a:latin typeface="宋体" panose="02010600030101010101" pitchFamily="2" charset="-122"/>
                <a:ea typeface="宋体" panose="02010600030101010101" pitchFamily="2" charset="-122"/>
                <a:cs typeface="+mn-cs"/>
              </a:rPr>
              <a:t>是终结项目、阶段或合同的所有活动的过程。</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solidFill>
                  <a:srgbClr val="0000FF"/>
                </a:solidFill>
                <a:latin typeface="宋体" panose="02010600030101010101" pitchFamily="2" charset="-122"/>
                <a:ea typeface="宋体" panose="02010600030101010101" pitchFamily="2" charset="-122"/>
                <a:cs typeface="+mn-cs"/>
              </a:rPr>
              <a:t>主要作用</a:t>
            </a:r>
            <a:r>
              <a:rPr kumimoji="0" lang="zh-CN" altLang="en-US" sz="2600" kern="1200" cap="none" spc="0" normalizeH="0" baseline="0" noProof="0" dirty="0">
                <a:latin typeface="宋体" panose="02010600030101010101" pitchFamily="2" charset="-122"/>
                <a:ea typeface="宋体" panose="02010600030101010101" pitchFamily="2" charset="-122"/>
                <a:cs typeface="+mn-cs"/>
              </a:rPr>
              <a:t>是，存档项目或阶段信息，完成计划的工作，释放组织团队资源以展开新的工作。</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仅开展一次或仅在项目的预定义点开展。</a:t>
            </a:r>
            <a:endParaRPr kumimoji="0" lang="zh-CN" altLang="en-US" sz="2600" kern="1200" cap="none" spc="0" normalizeH="0" baseline="0" noProof="0" dirty="0">
              <a:latin typeface="宋体" panose="02010600030101010101" pitchFamily="2" charset="-122"/>
              <a:ea typeface="宋体" panose="02010600030101010101" pitchFamily="2" charset="-122"/>
              <a:cs typeface="+mn-cs"/>
            </a:endParaRPr>
          </a:p>
        </p:txBody>
      </p:sp>
    </p:spTree>
  </p:cSld>
  <p:clrMapOvr>
    <a:masterClrMapping/>
  </p:clrMapOvr>
  <p:transition spd="slow">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4.7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项目或阶段收尾</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8002" name="Group 8"/>
          <p:cNvGrpSpPr/>
          <p:nvPr/>
        </p:nvGrpSpPr>
        <p:grpSpPr>
          <a:xfrm>
            <a:off x="1524000" y="908050"/>
            <a:ext cx="9148763" cy="85725"/>
            <a:chOff x="0" y="0"/>
            <a:chExt cx="5763" cy="54"/>
          </a:xfrm>
        </p:grpSpPr>
        <p:sp>
          <p:nvSpPr>
            <p:cNvPr id="12800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800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pic>
        <p:nvPicPr>
          <p:cNvPr id="2" name="图片 1"/>
          <p:cNvPicPr>
            <a:picLocks noChangeAspect="1"/>
          </p:cNvPicPr>
          <p:nvPr/>
        </p:nvPicPr>
        <p:blipFill>
          <a:blip r:embed="rId1"/>
          <a:stretch>
            <a:fillRect/>
          </a:stretch>
        </p:blipFill>
        <p:spPr>
          <a:xfrm>
            <a:off x="2927985" y="836930"/>
            <a:ext cx="8085455" cy="5789295"/>
          </a:xfrm>
          <a:prstGeom prst="rect">
            <a:avLst/>
          </a:prstGeom>
        </p:spPr>
      </p:pic>
    </p:spTree>
  </p:cSld>
  <p:clrMapOvr>
    <a:masterClrMapping/>
  </p:clrMapOvr>
  <p:transition spd="slow">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5"/>
          <p:cNvSpPr>
            <a:spLocks noGrp="1"/>
          </p:cNvSpPr>
          <p:nvPr>
            <p:ph type="title" idx="4294967295"/>
          </p:nvPr>
        </p:nvSpPr>
        <p:spPr>
          <a:xfrm>
            <a:off x="2566988" y="347663"/>
            <a:ext cx="3168650" cy="503238"/>
          </a:xfrm>
        </p:spPr>
        <p:txBody>
          <a:bodyPr wrap="square" lIns="0" tIns="0" rIns="0" bIns="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4.7 </a:t>
            </a:r>
            <a:r>
              <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rPr>
              <a:t>项目或阶段收尾</a:t>
            </a:r>
            <a:endParaRPr kumimoji="0" lang="zh-CN" altLang="en-US" sz="2800" b="0" i="0" u="none" strike="noStrike" kern="1200" cap="none" spc="0" normalizeH="0" baseline="0" noProof="0" dirty="0">
              <a:ln>
                <a:noFill/>
              </a:ln>
              <a:solidFill>
                <a:srgbClr val="A50021"/>
              </a:solidFill>
              <a:effectLst>
                <a:outerShdw blurRad="38100" dist="38100" dir="2700000">
                  <a:srgbClr val="000000"/>
                </a:outerShdw>
              </a:effectLst>
              <a:uLnTx/>
              <a:uFillTx/>
              <a:latin typeface="+mj-lt"/>
              <a:ea typeface="+mj-ea"/>
              <a:cs typeface="+mj-cs"/>
            </a:endParaRPr>
          </a:p>
        </p:txBody>
      </p:sp>
      <p:grpSp>
        <p:nvGrpSpPr>
          <p:cNvPr id="128002" name="Group 8"/>
          <p:cNvGrpSpPr/>
          <p:nvPr/>
        </p:nvGrpSpPr>
        <p:grpSpPr>
          <a:xfrm>
            <a:off x="1524000" y="908050"/>
            <a:ext cx="9148763" cy="85725"/>
            <a:chOff x="0" y="0"/>
            <a:chExt cx="5763" cy="54"/>
          </a:xfrm>
        </p:grpSpPr>
        <p:sp>
          <p:nvSpPr>
            <p:cNvPr id="128003" name="Line 9"/>
            <p:cNvSpPr/>
            <p:nvPr/>
          </p:nvSpPr>
          <p:spPr>
            <a:xfrm>
              <a:off x="0" y="0"/>
              <a:ext cx="5760" cy="0"/>
            </a:xfrm>
            <a:prstGeom prst="line">
              <a:avLst/>
            </a:prstGeom>
            <a:ln w="12700" cap="flat" cmpd="sng">
              <a:solidFill>
                <a:schemeClr val="bg2"/>
              </a:solidFill>
              <a:prstDash val="solid"/>
              <a:round/>
              <a:headEnd type="none" w="med" len="med"/>
              <a:tailEnd type="none" w="med" len="med"/>
            </a:ln>
          </p:spPr>
        </p:sp>
        <p:sp>
          <p:nvSpPr>
            <p:cNvPr id="128004" name="Line 10"/>
            <p:cNvSpPr/>
            <p:nvPr/>
          </p:nvSpPr>
          <p:spPr>
            <a:xfrm>
              <a:off x="0" y="54"/>
              <a:ext cx="5763" cy="0"/>
            </a:xfrm>
            <a:prstGeom prst="line">
              <a:avLst/>
            </a:prstGeom>
            <a:ln w="12700" cap="flat" cmpd="sng">
              <a:solidFill>
                <a:schemeClr val="tx1"/>
              </a:solidFill>
              <a:prstDash val="solid"/>
              <a:round/>
              <a:headEnd type="none" w="med" len="med"/>
              <a:tailEnd type="none" w="med" len="med"/>
            </a:ln>
          </p:spPr>
        </p:sp>
      </p:grpSp>
      <p:sp>
        <p:nvSpPr>
          <p:cNvPr id="14" name="Text Box 7"/>
          <p:cNvSpPr txBox="1">
            <a:spLocks noChangeArrowheads="1"/>
          </p:cNvSpPr>
          <p:nvPr/>
        </p:nvSpPr>
        <p:spPr bwMode="auto">
          <a:xfrm>
            <a:off x="2135505" y="1196975"/>
            <a:ext cx="9010650" cy="4292600"/>
          </a:xfrm>
          <a:prstGeom prst="rect">
            <a:avLst/>
          </a:prstGeom>
          <a:noFill/>
          <a:ln w="50800">
            <a:noFill/>
            <a:miter lim="800000"/>
          </a:ln>
          <a:effectLst/>
        </p:spPr>
        <p:txBody>
          <a:bodyPr wrap="square">
            <a:spAutoFit/>
          </a:bodyPr>
          <a:lstStyle/>
          <a:p>
            <a:pPr marR="0" algn="just" defTabSz="914400" eaLnBrk="0" hangingPunct="0">
              <a:spcBef>
                <a:spcPct val="50000"/>
              </a:spcBef>
              <a:buClr>
                <a:schemeClr val="tx1"/>
              </a:buClr>
              <a:buSzTx/>
              <a:buFont typeface="Wingdings" panose="05000000000000000000" pitchFamily="2" charset="2"/>
              <a:buChar char="ü"/>
              <a:defRPr/>
            </a:pPr>
            <a:r>
              <a:rPr kumimoji="0" lang="zh-CN" altLang="en-US" sz="2600" kern="1200" cap="none" spc="0" normalizeH="0" baseline="0" noProof="0" dirty="0">
                <a:latin typeface="宋体" panose="02010600030101010101" pitchFamily="2" charset="-122"/>
                <a:ea typeface="宋体" panose="02010600030101010101" pitchFamily="2" charset="-122"/>
                <a:cs typeface="+mn-cs"/>
              </a:rPr>
              <a:t> 必须要有活动收尾，并向适当的人员交付已完成或取消的工作。主要成果如下：</a:t>
            </a:r>
            <a:endParaRPr kumimoji="0" lang="en-US" altLang="zh-CN" sz="2600" kern="1200" cap="none" spc="0" normalizeH="0" baseline="0" noProof="0" dirty="0">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
                <a:schemeClr val="tx1"/>
              </a:buClr>
              <a:buSzTx/>
              <a:buFont typeface="Wingdings" panose="05000000000000000000" pitchFamily="2" charset="2"/>
              <a:buChar char="Ø"/>
              <a:defRPr/>
            </a:pPr>
            <a:r>
              <a:rPr kumimoji="0" lang="zh-CN" altLang="en-US"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行政收尾程序</a:t>
            </a:r>
            <a:endParaRPr kumimoji="0" lang="en-US" altLang="zh-CN"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
                <a:schemeClr val="tx1"/>
              </a:buClr>
              <a:buSzTx/>
              <a:buFont typeface="Wingdings" panose="05000000000000000000" pitchFamily="2" charset="2"/>
              <a:buChar char="Ø"/>
              <a:defRPr/>
            </a:pPr>
            <a:r>
              <a:rPr kumimoji="0" lang="zh-CN" altLang="en-US"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合同收尾程序</a:t>
            </a:r>
            <a:endParaRPr kumimoji="0" lang="en-US" altLang="zh-CN"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
                <a:schemeClr val="tx1"/>
              </a:buClr>
              <a:buSzTx/>
              <a:buFont typeface="Wingdings" panose="05000000000000000000" pitchFamily="2" charset="2"/>
              <a:buChar char="Ø"/>
              <a:defRPr/>
            </a:pPr>
            <a:r>
              <a:rPr kumimoji="0" lang="zh-CN" altLang="en-US"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最终产品、服务或者成果</a:t>
            </a:r>
            <a:endParaRPr kumimoji="0" lang="en-US" altLang="zh-CN"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L="457200" marR="0" indent="-457200" algn="just" defTabSz="914400" eaLnBrk="0" hangingPunct="0">
              <a:spcBef>
                <a:spcPct val="50000"/>
              </a:spcBef>
              <a:buClr>
                <a:schemeClr val="tx1"/>
              </a:buClr>
              <a:buSzTx/>
              <a:buFont typeface="Wingdings" panose="05000000000000000000" pitchFamily="2" charset="2"/>
              <a:buChar char="Ø"/>
              <a:defRPr/>
            </a:pPr>
            <a:r>
              <a:rPr kumimoji="0" lang="zh-CN" altLang="en-US"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组织过程资产更新</a:t>
            </a:r>
            <a:endParaRPr kumimoji="0" lang="en-US" altLang="zh-CN"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a:p>
            <a:pPr marR="0" algn="just" defTabSz="914400" eaLnBrk="0" hangingPunct="0">
              <a:spcBef>
                <a:spcPct val="50000"/>
              </a:spcBef>
              <a:buClr>
                <a:schemeClr val="tx1"/>
              </a:buClr>
              <a:buSzTx/>
              <a:buFontTx/>
              <a:buNone/>
              <a:defRPr/>
            </a:pPr>
            <a:r>
              <a:rPr kumimoji="0" lang="en-US" altLang="zh-CN"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 </a:t>
            </a:r>
            <a:r>
              <a:rPr kumimoji="0" lang="zh-CN" altLang="en-US" sz="2600" kern="1200" cap="none" spc="0" normalizeH="0" baseline="0" noProof="0"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cs typeface="+mn-cs"/>
              </a:rPr>
              <a:t>过程资产</a:t>
            </a:r>
            <a:r>
              <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rPr>
              <a:t>：项目团队以实用方式提供的一份包括项目文档、项目终止文件和历史信息的清单。</a:t>
            </a:r>
            <a:endParaRPr kumimoji="0" lang="zh-CN" altLang="en-US" sz="2600" kern="1200" cap="none" spc="0" normalizeH="0" baseline="0" noProof="0" dirty="0">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p:txBody>
      </p:sp>
    </p:spTree>
  </p:cSld>
  <p:clrMapOvr>
    <a:masterClrMapping/>
  </p:clrMapOvr>
  <p:transition spd="slow">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02" name="Rectangle 2"/>
          <p:cNvSpPr>
            <a:spLocks noChangeArrowheads="1"/>
          </p:cNvSpPr>
          <p:nvPr/>
        </p:nvSpPr>
        <p:spPr bwMode="auto">
          <a:xfrm>
            <a:off x="5519738" y="260350"/>
            <a:ext cx="2093913" cy="614363"/>
          </a:xfrm>
          <a:prstGeom prst="rect">
            <a:avLst/>
          </a:prstGeom>
          <a:noFill/>
          <a:ln w="9525">
            <a:noFill/>
            <a:miter lim="800000"/>
          </a:ln>
        </p:spPr>
        <p:txBody>
          <a:bodyPr lIns="92075" tIns="46038" rIns="92075" bIns="46038" anchor="ct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zh-CN" altLang="en-US" sz="32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Times New Roman" panose="02020603050405020304" pitchFamily="18" charset="0"/>
              </a:rPr>
              <a:t>推荐读物</a:t>
            </a:r>
            <a:endParaRPr kumimoji="1" lang="en-US" altLang="zh-CN" sz="32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129026" name="灯片编号占位符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en-US" sz="1200" dirty="0">
                <a:solidFill>
                  <a:srgbClr val="898989"/>
                </a:solidFill>
                <a:latin typeface="Times New Roman" panose="02020603050405020304" pitchFamily="18" charset="0"/>
              </a:rPr>
            </a:fld>
            <a:endParaRPr lang="en-US" altLang="en-US" sz="1200" dirty="0">
              <a:solidFill>
                <a:srgbClr val="898989"/>
              </a:solidFill>
              <a:latin typeface="Times New Roman" panose="02020603050405020304" pitchFamily="18" charset="0"/>
            </a:endParaRPr>
          </a:p>
        </p:txBody>
      </p:sp>
      <p:pic>
        <p:nvPicPr>
          <p:cNvPr id="129027" name="Picture 2"/>
          <p:cNvPicPr>
            <a:picLocks noChangeAspect="1"/>
          </p:cNvPicPr>
          <p:nvPr/>
        </p:nvPicPr>
        <p:blipFill>
          <a:blip r:embed="rId1"/>
          <a:stretch>
            <a:fillRect/>
          </a:stretch>
        </p:blipFill>
        <p:spPr>
          <a:xfrm>
            <a:off x="2711450" y="1196975"/>
            <a:ext cx="2882900" cy="3943350"/>
          </a:xfrm>
          <a:prstGeom prst="rect">
            <a:avLst/>
          </a:prstGeom>
          <a:noFill/>
          <a:ln w="9525">
            <a:noFill/>
          </a:ln>
        </p:spPr>
      </p:pic>
      <p:sp>
        <p:nvSpPr>
          <p:cNvPr id="129028" name="文本框 5"/>
          <p:cNvSpPr txBox="1"/>
          <p:nvPr/>
        </p:nvSpPr>
        <p:spPr>
          <a:xfrm>
            <a:off x="6096000" y="1644650"/>
            <a:ext cx="5306060" cy="3107690"/>
          </a:xfrm>
          <a:prstGeom prst="rect">
            <a:avLst/>
          </a:prstGeom>
          <a:noFill/>
          <a:ln w="9525">
            <a:noFill/>
          </a:ln>
        </p:spPr>
        <p:txBody>
          <a:bodyPr wrap="square" anchor="t" anchorCtr="0">
            <a:spAutoFit/>
          </a:bodyPr>
          <a:lstStyle/>
          <a:p>
            <a:pPr eaLnBrk="0" hangingPunct="0"/>
            <a:r>
              <a:rPr lang="en-US" altLang="zh-CN" sz="2800" dirty="0">
                <a:solidFill>
                  <a:srgbClr val="FF0000"/>
                </a:solidFill>
                <a:latin typeface="Times New Roman" panose="02020603050405020304" pitchFamily="18" charset="0"/>
              </a:rPr>
              <a:t>《</a:t>
            </a:r>
            <a:r>
              <a:rPr lang="zh-CN" altLang="en-US" sz="2800" dirty="0">
                <a:solidFill>
                  <a:srgbClr val="FF0000"/>
                </a:solidFill>
                <a:latin typeface="Times New Roman" panose="02020603050405020304" pitchFamily="18" charset="0"/>
                <a:ea typeface="宋体" panose="02010600030101010101" pitchFamily="2" charset="-122"/>
              </a:rPr>
              <a:t>谁说大象不能跳舞</a:t>
            </a:r>
            <a:r>
              <a:rPr lang="en-US" altLang="zh-CN" sz="2800" dirty="0">
                <a:solidFill>
                  <a:srgbClr val="FF0000"/>
                </a:solidFill>
                <a:latin typeface="Times New Roman" panose="02020603050405020304" pitchFamily="18" charset="0"/>
              </a:rPr>
              <a:t>》</a:t>
            </a:r>
            <a:endParaRPr lang="en-US" altLang="zh-CN" sz="2800" dirty="0">
              <a:solidFill>
                <a:srgbClr val="FF0000"/>
              </a:solidFill>
              <a:latin typeface="Times New Roman" panose="02020603050405020304" pitchFamily="18" charset="0"/>
            </a:endParaRPr>
          </a:p>
          <a:p>
            <a:pPr eaLnBrk="0" hangingPunct="0"/>
            <a:r>
              <a:rPr lang="en-US" altLang="zh-CN" sz="2800" dirty="0">
                <a:latin typeface="Times New Roman" panose="02020603050405020304" pitchFamily="18" charset="0"/>
              </a:rPr>
              <a:t>2010</a:t>
            </a:r>
            <a:r>
              <a:rPr lang="zh-CN" altLang="en-US" sz="2800" dirty="0">
                <a:latin typeface="Times New Roman" panose="02020603050405020304" pitchFamily="18" charset="0"/>
                <a:ea typeface="宋体" panose="02010600030101010101" pitchFamily="2" charset="-122"/>
              </a:rPr>
              <a:t>年中信出版社出版的经济学图书，作者是（美）郭士纳。</a:t>
            </a:r>
            <a:endParaRPr lang="en-US" altLang="zh-CN" sz="2800" dirty="0">
              <a:latin typeface="Times New Roman" panose="02020603050405020304" pitchFamily="18" charset="0"/>
            </a:endParaRPr>
          </a:p>
          <a:p>
            <a:pPr eaLnBrk="0" hangingPunct="0"/>
            <a:r>
              <a:rPr lang="zh-CN" altLang="en-US" sz="2800" dirty="0">
                <a:latin typeface="Times New Roman" panose="02020603050405020304" pitchFamily="18" charset="0"/>
                <a:ea typeface="宋体" panose="02010600030101010101" pitchFamily="2" charset="-122"/>
              </a:rPr>
              <a:t>是作者的一部自传，阐述了作者在掌管</a:t>
            </a:r>
            <a:r>
              <a:rPr lang="en-US" altLang="zh-CN" sz="2800" dirty="0">
                <a:latin typeface="Times New Roman" panose="02020603050405020304" pitchFamily="18" charset="0"/>
              </a:rPr>
              <a:t>IBM</a:t>
            </a:r>
            <a:r>
              <a:rPr lang="zh-CN" altLang="en-US" sz="2800" dirty="0">
                <a:latin typeface="Times New Roman" panose="02020603050405020304" pitchFamily="18" charset="0"/>
                <a:ea typeface="宋体" panose="02010600030101010101" pitchFamily="2" charset="-122"/>
              </a:rPr>
              <a:t>公司后的经历，为公司扭转困局所做的各种决策，以及</a:t>
            </a:r>
            <a:r>
              <a:rPr lang="en-US" altLang="zh-CN" sz="2800" dirty="0">
                <a:latin typeface="Times New Roman" panose="02020603050405020304" pitchFamily="18" charset="0"/>
              </a:rPr>
              <a:t>IBM</a:t>
            </a:r>
            <a:r>
              <a:rPr lang="zh-CN" altLang="en-US" sz="2800" dirty="0">
                <a:latin typeface="Times New Roman" panose="02020603050405020304" pitchFamily="18" charset="0"/>
                <a:ea typeface="宋体" panose="02010600030101010101" pitchFamily="2" charset="-122"/>
              </a:rPr>
              <a:t>公司的发展历程。</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transition>
    <p:strips dir="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6"/>
          <p:cNvSpPr txBox="1">
            <a:spLocks noChangeArrowheads="1"/>
          </p:cNvSpPr>
          <p:nvPr/>
        </p:nvSpPr>
        <p:spPr>
          <a:xfrm>
            <a:off x="2495550" y="185738"/>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本章小结</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290638"/>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30051" name="Text Box 4"/>
          <p:cNvSpPr txBox="1"/>
          <p:nvPr/>
        </p:nvSpPr>
        <p:spPr>
          <a:xfrm>
            <a:off x="1559560" y="1412875"/>
            <a:ext cx="9789160" cy="5262245"/>
          </a:xfrm>
          <a:prstGeom prst="rect">
            <a:avLst/>
          </a:prstGeom>
          <a:noFill/>
          <a:ln w="9525">
            <a:noFill/>
          </a:ln>
        </p:spPr>
        <p:txBody>
          <a:bodyPr wrap="square" anchor="t" anchorCtr="0">
            <a:spAutoFit/>
          </a:bodyPr>
          <a:lstStyle/>
          <a:p>
            <a:pPr marL="457200" indent="-457200" algn="just" eaLnBrk="0" hangingPunct="0">
              <a:spcBef>
                <a:spcPct val="50000"/>
              </a:spcBef>
              <a:buAutoNum type="arabicPeriod"/>
            </a:pPr>
            <a:r>
              <a:rPr lang="zh-CN" altLang="en-US" sz="2800" dirty="0">
                <a:latin typeface="宋体" panose="02010600030101010101" pitchFamily="2" charset="-122"/>
                <a:ea typeface="宋体" panose="02010600030101010101" pitchFamily="2" charset="-122"/>
              </a:rPr>
              <a:t>项目整体管理/综合管理是最重要的项目管理知识 。</a:t>
            </a:r>
            <a:endParaRPr lang="zh-CN" altLang="en-US" sz="2800" dirty="0">
              <a:latin typeface="宋体" panose="02010600030101010101" pitchFamily="2" charset="-122"/>
              <a:ea typeface="宋体" panose="02010600030101010101" pitchFamily="2" charset="-122"/>
            </a:endParaRPr>
          </a:p>
          <a:p>
            <a:pPr marL="457200" indent="-457200" algn="just" eaLnBrk="0" hangingPunct="0">
              <a:spcBef>
                <a:spcPct val="50000"/>
              </a:spcBef>
              <a:buAutoNum type="arabicPeriod"/>
            </a:pPr>
            <a:r>
              <a:rPr lang="zh-CN" altLang="en-US" sz="2800" dirty="0">
                <a:latin typeface="宋体" panose="02010600030101010101" pitchFamily="2" charset="-122"/>
                <a:ea typeface="宋体" panose="02010600030101010101" pitchFamily="2" charset="-122"/>
              </a:rPr>
              <a:t>项目集成管理的</a:t>
            </a:r>
            <a:r>
              <a:rPr lang="en-US" altLang="zh-CN" sz="2800" dirty="0">
                <a:solidFill>
                  <a:srgbClr val="FF0000"/>
                </a:solidFill>
                <a:latin typeface="宋体" panose="02010600030101010101" pitchFamily="2" charset="-122"/>
                <a:ea typeface="宋体" panose="02010600030101010101" pitchFamily="2" charset="-122"/>
              </a:rPr>
              <a:t>7</a:t>
            </a:r>
            <a:r>
              <a:rPr lang="zh-CN" altLang="en-US" sz="2800" dirty="0">
                <a:solidFill>
                  <a:srgbClr val="FF0000"/>
                </a:solidFill>
                <a:latin typeface="宋体" panose="02010600030101010101" pitchFamily="2" charset="-122"/>
                <a:ea typeface="宋体" panose="02010600030101010101" pitchFamily="2" charset="-122"/>
              </a:rPr>
              <a:t>个过程、主要输出</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marL="457200" indent="-457200" algn="just" eaLnBrk="0" hangingPunct="0">
              <a:spcBef>
                <a:spcPct val="50000"/>
              </a:spcBef>
              <a:buAutoNum type="arabicPeriod"/>
            </a:pPr>
            <a:r>
              <a:rPr lang="zh-CN" altLang="en-US" sz="2800" dirty="0">
                <a:latin typeface="宋体" panose="02010600030101010101" pitchFamily="2" charset="-122"/>
                <a:ea typeface="宋体" panose="02010600030101010101" pitchFamily="2" charset="-122"/>
              </a:rPr>
              <a:t>项目计划包括项目</a:t>
            </a:r>
            <a:r>
              <a:rPr lang="zh-CN" altLang="en-US" sz="2800" dirty="0">
                <a:solidFill>
                  <a:srgbClr val="FF0000"/>
                </a:solidFill>
                <a:latin typeface="宋体" panose="02010600030101010101" pitchFamily="2" charset="-122"/>
                <a:ea typeface="宋体" panose="02010600030101010101" pitchFamily="2" charset="-122"/>
              </a:rPr>
              <a:t>整体概述，项目的组织，管理与技术过程，项目任务、进度安排与预算</a:t>
            </a:r>
            <a:r>
              <a:rPr lang="zh-CN" altLang="en-US" sz="2800" dirty="0">
                <a:latin typeface="宋体" panose="02010600030101010101" pitchFamily="2" charset="-122"/>
                <a:ea typeface="宋体" panose="02010600030101010101" pitchFamily="2" charset="-122"/>
              </a:rPr>
              <a:t>等。  </a:t>
            </a:r>
            <a:endParaRPr lang="zh-CN" altLang="en-US" sz="2800" dirty="0">
              <a:latin typeface="宋体" panose="02010600030101010101" pitchFamily="2" charset="-122"/>
              <a:ea typeface="宋体" panose="02010600030101010101" pitchFamily="2" charset="-122"/>
            </a:endParaRPr>
          </a:p>
          <a:p>
            <a:pPr marL="457200" indent="-457200" algn="just" eaLnBrk="0" hangingPunct="0">
              <a:spcBef>
                <a:spcPct val="50000"/>
              </a:spcBef>
              <a:buAutoNum type="arabicPeriod"/>
            </a:pPr>
            <a:r>
              <a:rPr lang="zh-CN" altLang="en-US" sz="2800" dirty="0">
                <a:solidFill>
                  <a:srgbClr val="FF0000"/>
                </a:solidFill>
                <a:latin typeface="Gill Sans MT" panose="020B0502020104020203" pitchFamily="34" charset="0"/>
                <a:ea typeface="华文中宋" panose="02010600040101010101" pitchFamily="2" charset="-122"/>
                <a:sym typeface="+mn-ea"/>
              </a:rPr>
              <a:t>战略计划与项目选择的关系</a:t>
            </a:r>
            <a:r>
              <a:rPr lang="zh-CN" altLang="en-US" sz="2800" dirty="0">
                <a:latin typeface="Gill Sans MT" panose="020B0502020104020203" pitchFamily="34" charset="0"/>
                <a:ea typeface="华文中宋" panose="02010600040101010101" pitchFamily="2" charset="-122"/>
                <a:sym typeface="+mn-ea"/>
              </a:rPr>
              <a:t>，应用</a:t>
            </a:r>
            <a:r>
              <a:rPr lang="zh-CN" altLang="en-US" sz="2800" dirty="0">
                <a:solidFill>
                  <a:srgbClr val="FF0000"/>
                </a:solidFill>
                <a:latin typeface="Gill Sans MT" panose="020B0502020104020203" pitchFamily="34" charset="0"/>
                <a:ea typeface="华文中宋" panose="02010600040101010101" pitchFamily="2" charset="-122"/>
                <a:sym typeface="+mn-ea"/>
              </a:rPr>
              <a:t>不同的项目选择方法</a:t>
            </a:r>
            <a:endParaRPr lang="zh-CN" altLang="en-US" sz="2800" dirty="0">
              <a:latin typeface="Gill Sans MT" panose="020B0502020104020203" pitchFamily="34" charset="0"/>
              <a:ea typeface="华文中宋" panose="02010600040101010101" pitchFamily="2" charset="-122"/>
            </a:endParaRPr>
          </a:p>
          <a:p>
            <a:pPr marL="457200" indent="-457200" algn="just" eaLnBrk="0" hangingPunct="0">
              <a:spcBef>
                <a:spcPct val="50000"/>
              </a:spcBef>
              <a:buAutoNum type="arabicPeriod"/>
            </a:pPr>
            <a:r>
              <a:rPr lang="zh-CN" altLang="en-US" sz="2800" dirty="0">
                <a:latin typeface="宋体" panose="02010600030101010101" pitchFamily="2" charset="-122"/>
                <a:ea typeface="宋体" panose="02010600030101010101" pitchFamily="2" charset="-122"/>
              </a:rPr>
              <a:t>项目计划与项目执行应该是相互渗透的。谁负责做这件事，就该由谁来做这个计划。</a:t>
            </a:r>
            <a:endParaRPr lang="zh-CN" altLang="en-US" sz="2800" dirty="0">
              <a:latin typeface="宋体" panose="02010600030101010101" pitchFamily="2" charset="-122"/>
              <a:ea typeface="宋体" panose="02010600030101010101" pitchFamily="2" charset="-122"/>
            </a:endParaRPr>
          </a:p>
          <a:p>
            <a:pPr marL="457200" indent="-457200" algn="just" eaLnBrk="0" hangingPunct="0">
              <a:spcBef>
                <a:spcPct val="50000"/>
              </a:spcBef>
              <a:buAutoNum type="arabicPeriod"/>
            </a:pPr>
            <a:r>
              <a:rPr lang="zh-CN" altLang="en-US" sz="2800" dirty="0">
                <a:latin typeface="宋体" panose="02010600030101010101" pitchFamily="2" charset="-122"/>
                <a:ea typeface="宋体" panose="02010600030101010101" pitchFamily="2" charset="-122"/>
              </a:rPr>
              <a:t>通过进行整体变更控制，使项目朝着提高效率、效益。</a:t>
            </a:r>
            <a:endParaRPr lang="zh-CN" altLang="en-US" sz="2800" dirty="0">
              <a:latin typeface="宋体" panose="02010600030101010101" pitchFamily="2" charset="-122"/>
              <a:ea typeface="宋体" panose="02010600030101010101" pitchFamily="2" charset="-122"/>
            </a:endParaRPr>
          </a:p>
          <a:p>
            <a:pPr algn="just" eaLnBrk="0" hangingPunct="0">
              <a:spcBef>
                <a:spcPct val="50000"/>
              </a:spcBef>
            </a:pPr>
            <a:endParaRPr lang="zh-CN" altLang="en-US" sz="2800" dirty="0">
              <a:latin typeface="Times New Roman" panose="02020603050405020304" pitchFamily="18" charset="0"/>
              <a:ea typeface="Times New Roman" panose="02020603050405020304" pitchFamily="18" charset="0"/>
            </a:endParaRPr>
          </a:p>
        </p:txBody>
      </p:sp>
    </p:spTree>
  </p:cSld>
  <p:clrMapOvr>
    <a:masterClrMapping/>
  </p:clrMapOvr>
  <p:transition>
    <p:strips dir="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6"/>
          <p:cNvSpPr txBox="1">
            <a:spLocks noChangeArrowheads="1"/>
          </p:cNvSpPr>
          <p:nvPr/>
        </p:nvSpPr>
        <p:spPr>
          <a:xfrm>
            <a:off x="2495550" y="185738"/>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体会</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290638"/>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3"/>
          <p:cNvSpPr/>
          <p:nvPr/>
        </p:nvSpPr>
        <p:spPr>
          <a:xfrm>
            <a:off x="2044700" y="1960880"/>
            <a:ext cx="9010650" cy="2934335"/>
          </a:xfrm>
          <a:prstGeom prst="rect">
            <a:avLst/>
          </a:prstGeom>
          <a:noFill/>
          <a:ln w="0">
            <a:noFill/>
          </a:ln>
        </p:spPr>
        <p:txBody>
          <a:bodyPr wrap="square" anchor="t" anchorCtr="0">
            <a:spAutoFit/>
          </a:bodyPr>
          <a:lstStyle/>
          <a:p>
            <a:pPr eaLnBrk="0" hangingPunct="0">
              <a:spcBef>
                <a:spcPct val="30000"/>
              </a:spcBef>
              <a:buClr>
                <a:schemeClr val="hlink"/>
              </a:buClr>
              <a:buFont typeface="Wingdings" panose="05000000000000000000" pitchFamily="2" charset="2"/>
              <a:buChar char="Ø"/>
            </a:pPr>
            <a:r>
              <a:rPr lang="en-US" altLang="zh-CN" sz="2800" dirty="0">
                <a:latin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rPr>
              <a:t>集成管理需要</a:t>
            </a:r>
            <a:r>
              <a:rPr lang="zh-CN" altLang="en-US" sz="2800" dirty="0">
                <a:solidFill>
                  <a:srgbClr val="FF0000"/>
                </a:solidFill>
                <a:latin typeface="Times New Roman" panose="02020603050405020304" pitchFamily="18" charset="0"/>
                <a:ea typeface="宋体" panose="02010600030101010101" pitchFamily="2" charset="-122"/>
              </a:rPr>
              <a:t>专业知识、领域知识和个人的综合素质</a:t>
            </a:r>
            <a:r>
              <a:rPr lang="zh-CN" altLang="en-US" sz="2800" dirty="0">
                <a:latin typeface="Times New Roman" panose="02020603050405020304" pitchFamily="18" charset="0"/>
                <a:ea typeface="宋体" panose="02010600030101010101" pitchFamily="2" charset="-122"/>
              </a:rPr>
              <a:t>，需要通过</a:t>
            </a:r>
            <a:r>
              <a:rPr lang="zh-CN" altLang="en-US" sz="2800" dirty="0">
                <a:solidFill>
                  <a:srgbClr val="FF0000"/>
                </a:solidFill>
                <a:latin typeface="Times New Roman" panose="02020603050405020304" pitchFamily="18" charset="0"/>
                <a:ea typeface="宋体" panose="02010600030101010101" pitchFamily="2" charset="-122"/>
              </a:rPr>
              <a:t>知识、经验和环境</a:t>
            </a:r>
            <a:r>
              <a:rPr lang="zh-CN" altLang="en-US" sz="2800" dirty="0">
                <a:latin typeface="Times New Roman" panose="02020603050405020304" pitchFamily="18" charset="0"/>
                <a:ea typeface="宋体" panose="02010600030101010101" pitchFamily="2" charset="-122"/>
              </a:rPr>
              <a:t>来体现，需要通过</a:t>
            </a:r>
            <a:r>
              <a:rPr lang="zh-CN" altLang="en-US" sz="2800" dirty="0">
                <a:solidFill>
                  <a:srgbClr val="FF0000"/>
                </a:solidFill>
                <a:latin typeface="Times New Roman" panose="02020603050405020304" pitchFamily="18" charset="0"/>
                <a:ea typeface="宋体" panose="02010600030101010101" pitchFamily="2" charset="-122"/>
              </a:rPr>
              <a:t>过程</a:t>
            </a:r>
            <a:r>
              <a:rPr lang="zh-CN" altLang="en-US" sz="2800" dirty="0">
                <a:latin typeface="Times New Roman" panose="02020603050405020304" pitchFamily="18" charset="0"/>
                <a:ea typeface="宋体" panose="02010600030101010101" pitchFamily="2" charset="-122"/>
              </a:rPr>
              <a:t>来</a:t>
            </a:r>
            <a:r>
              <a:rPr lang="zh-CN" altLang="en-US" sz="2800" dirty="0">
                <a:solidFill>
                  <a:srgbClr val="FF0000"/>
                </a:solidFill>
                <a:latin typeface="Times New Roman" panose="02020603050405020304" pitchFamily="18" charset="0"/>
                <a:ea typeface="宋体" panose="02010600030101010101" pitchFamily="2" charset="-122"/>
              </a:rPr>
              <a:t>积累</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pPr eaLnBrk="0" hangingPunct="0">
              <a:spcBef>
                <a:spcPct val="30000"/>
              </a:spcBef>
              <a:buClr>
                <a:schemeClr val="hlink"/>
              </a:buClr>
              <a:buFont typeface="Wingdings" panose="05000000000000000000" pitchFamily="2" charset="2"/>
              <a:buChar char="Ø"/>
            </a:pPr>
            <a:r>
              <a:rPr lang="zh-CN" altLang="en-US" sz="2800" dirty="0">
                <a:latin typeface="Times New Roman" panose="02020603050405020304" pitchFamily="18" charset="0"/>
                <a:ea typeface="宋体" panose="02010600030101010101" pitchFamily="2" charset="-122"/>
              </a:rPr>
              <a:t>集成管理比任何专业和专门的管理</a:t>
            </a:r>
            <a:r>
              <a:rPr lang="zh-CN" altLang="en-US" sz="2800" dirty="0">
                <a:solidFill>
                  <a:srgbClr val="FF0000"/>
                </a:solidFill>
                <a:latin typeface="Times New Roman" panose="02020603050405020304" pitchFamily="18" charset="0"/>
                <a:ea typeface="宋体" panose="02010600030101010101" pitchFamily="2" charset="-122"/>
              </a:rPr>
              <a:t>更重要</a:t>
            </a:r>
            <a:r>
              <a:rPr lang="zh-CN" altLang="en-US" sz="2800" dirty="0">
                <a:latin typeface="Times New Roman" panose="02020603050405020304" pitchFamily="18" charset="0"/>
                <a:ea typeface="宋体" panose="02010600030101010101" pitchFamily="2" charset="-122"/>
              </a:rPr>
              <a:t>，希望大家用心学习，不断提高。</a:t>
            </a:r>
            <a:endParaRPr lang="zh-CN" altLang="en-US" sz="2800" dirty="0">
              <a:latin typeface="Times New Roman" panose="02020603050405020304" pitchFamily="18" charset="0"/>
              <a:ea typeface="宋体" panose="02010600030101010101" pitchFamily="2" charset="-122"/>
            </a:endParaRPr>
          </a:p>
          <a:p>
            <a:pPr eaLnBrk="0" hangingPunct="0">
              <a:spcBef>
                <a:spcPct val="30000"/>
              </a:spcBef>
              <a:buClr>
                <a:schemeClr val="hlink"/>
              </a:buClr>
              <a:buFont typeface="Wingdings" panose="05000000000000000000" pitchFamily="2" charset="2"/>
            </a:pPr>
            <a:endParaRPr lang="zh-CN" altLang="en-US" sz="280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slide(fromBottom)">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slide(fromBottom)">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灯片编号占位符 1"/>
          <p:cNvSpPr>
            <a:spLocks noGrp="1"/>
          </p:cNvSpPr>
          <p:nvPr>
            <p:ph type="sldNum" sz="quarter" idx="12"/>
          </p:nvPr>
        </p:nvSpPr>
        <p:spPr>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0" hangingPunct="0"/>
            <a:fld id="{9A0DB2DC-4C9A-4742-B13C-FB6460FD3503}" type="slidenum">
              <a:rPr lang="zh-CN" altLang="en-US" sz="1200" dirty="0">
                <a:solidFill>
                  <a:srgbClr val="B5A788"/>
                </a:solidFill>
              </a:rPr>
            </a:fld>
            <a:endParaRPr lang="zh-CN" altLang="en-US" sz="1200" dirty="0">
              <a:solidFill>
                <a:srgbClr val="B5A788"/>
              </a:solidFill>
              <a:latin typeface="Arial" panose="020B0604020202020204" pitchFamily="34" charset="0"/>
            </a:endParaRPr>
          </a:p>
        </p:txBody>
      </p:sp>
      <p:sp>
        <p:nvSpPr>
          <p:cNvPr id="945154" name="内容占位符 945153"/>
          <p:cNvSpPr>
            <a:spLocks noGrp="1"/>
          </p:cNvSpPr>
          <p:nvPr>
            <p:ph idx="1"/>
          </p:nvPr>
        </p:nvSpPr>
        <p:spPr>
          <a:xfrm>
            <a:off x="1992313" y="1701800"/>
            <a:ext cx="8001000" cy="2438400"/>
          </a:xfrm>
        </p:spPr>
        <p:txBody>
          <a:bodyPr vert="horz" wrap="square" anchor="t" anchorCtr="0"/>
          <a:lstStyle/>
          <a:p>
            <a:pPr marL="609600" indent="-609600">
              <a:lnSpc>
                <a:spcPct val="120000"/>
              </a:lnSpc>
              <a:buFont typeface="Wingdings" panose="05000000000000000000" pitchFamily="2" charset="2"/>
              <a:buAutoNum type="arabicPeriod"/>
            </a:pPr>
            <a:r>
              <a:rPr lang="zh-CN" altLang="en-US" sz="2000" dirty="0">
                <a:solidFill>
                  <a:srgbClr val="FF3300"/>
                </a:solidFill>
                <a:ea typeface="华文中宋" panose="02010600040101010101" pitchFamily="2" charset="-122"/>
              </a:rPr>
              <a:t>投资收益率</a:t>
            </a:r>
            <a:r>
              <a:rPr lang="zh-CN" altLang="en-US" sz="2000" dirty="0">
                <a:latin typeface="宋体" panose="02010600030101010101" pitchFamily="2" charset="-122"/>
                <a:ea typeface="华文中宋" panose="02010600040101010101" pitchFamily="2" charset="-122"/>
              </a:rPr>
              <a:t>（</a:t>
            </a:r>
            <a:r>
              <a:rPr lang="en-US" altLang="zh-CN" sz="2000" dirty="0">
                <a:latin typeface="宋体" panose="02010600030101010101" pitchFamily="2" charset="-122"/>
                <a:ea typeface="华文中宋" panose="02010600040101010101" pitchFamily="2" charset="-122"/>
              </a:rPr>
              <a:t>ROI）</a:t>
            </a:r>
            <a:r>
              <a:rPr lang="zh-CN" altLang="en-US" sz="2000" dirty="0">
                <a:latin typeface="宋体" panose="02010600030101010101" pitchFamily="2" charset="-122"/>
                <a:ea typeface="华文中宋" panose="02010600040101010101" pitchFamily="2" charset="-122"/>
              </a:rPr>
              <a:t>：</a:t>
            </a:r>
            <a:r>
              <a:rPr lang="zh-CN" altLang="en-US" sz="2000" dirty="0">
                <a:ea typeface="华文中宋" panose="02010600040101010101" pitchFamily="2" charset="-122"/>
              </a:rPr>
              <a:t>建成投产后，在运营正常年获得的净收益与项目总投资的之比。</a:t>
            </a:r>
            <a:endParaRPr lang="zh-CN" altLang="en-US" sz="2000" dirty="0">
              <a:ea typeface="华文中宋" panose="02010600040101010101" pitchFamily="2" charset="-122"/>
            </a:endParaRPr>
          </a:p>
          <a:p>
            <a:pPr marL="609600" indent="-609600">
              <a:lnSpc>
                <a:spcPct val="120000"/>
              </a:lnSpc>
              <a:buFont typeface="Wingdings" panose="05000000000000000000" pitchFamily="2" charset="2"/>
              <a:buAutoNum type="arabicPeriod"/>
            </a:pPr>
            <a:r>
              <a:rPr lang="zh-CN" altLang="en-US" sz="2000" dirty="0">
                <a:solidFill>
                  <a:srgbClr val="FF3300"/>
                </a:solidFill>
                <a:ea typeface="华文中宋" panose="02010600040101010101" pitchFamily="2" charset="-122"/>
              </a:rPr>
              <a:t>投资回收期：</a:t>
            </a:r>
            <a:r>
              <a:rPr lang="zh-CN" altLang="en-US" sz="2000" dirty="0">
                <a:ea typeface="华文中宋" panose="02010600040101010101" pitchFamily="2" charset="-122"/>
              </a:rPr>
              <a:t>项目从投产年算起，用每年的净收益将初始全部投资收回的时间。</a:t>
            </a:r>
            <a:endParaRPr lang="zh-CN" altLang="en-US" sz="2000" dirty="0">
              <a:ea typeface="华文中宋" panose="02010600040101010101" pitchFamily="2" charset="-122"/>
            </a:endParaRPr>
          </a:p>
          <a:p>
            <a:pPr marL="990600" lvl="1" indent="-517525">
              <a:lnSpc>
                <a:spcPct val="120000"/>
              </a:lnSpc>
              <a:buFontTx/>
              <a:buChar char="-"/>
            </a:pPr>
            <a:r>
              <a:rPr lang="zh-CN" altLang="en-US" sz="2500" dirty="0">
                <a:ea typeface="华文中宋" panose="02010600040101010101" pitchFamily="2" charset="-122"/>
              </a:rPr>
              <a:t>静态投资回收期</a:t>
            </a:r>
            <a:endParaRPr lang="zh-CN" altLang="en-US" sz="2500" dirty="0">
              <a:ea typeface="华文中宋" panose="02010600040101010101" pitchFamily="2" charset="-122"/>
            </a:endParaRPr>
          </a:p>
        </p:txBody>
      </p:sp>
      <p:sp>
        <p:nvSpPr>
          <p:cNvPr id="945155" name="标题 945154"/>
          <p:cNvSpPr>
            <a:spLocks noGrp="1"/>
          </p:cNvSpPr>
          <p:nvPr>
            <p:ph type="title"/>
          </p:nvPr>
        </p:nvSpPr>
        <p:spPr>
          <a:xfrm>
            <a:off x="2251075" y="1196975"/>
            <a:ext cx="2309813" cy="3794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graphicFrame>
        <p:nvGraphicFramePr>
          <p:cNvPr id="945156" name="对象 945155"/>
          <p:cNvGraphicFramePr/>
          <p:nvPr/>
        </p:nvGraphicFramePr>
        <p:xfrm>
          <a:off x="4152900" y="4038600"/>
          <a:ext cx="2971800" cy="914400"/>
        </p:xfrm>
        <a:graphic>
          <a:graphicData uri="http://schemas.openxmlformats.org/presentationml/2006/ole">
            <mc:AlternateContent xmlns:mc="http://schemas.openxmlformats.org/markup-compatibility/2006">
              <mc:Choice xmlns:v="urn:schemas-microsoft-com:vml" Requires="v">
                <p:oleObj spid="_x0000_s6158" name="" r:id="rId1" imgW="1533525" imgH="581025" progId="Paint.Picture">
                  <p:embed/>
                </p:oleObj>
              </mc:Choice>
              <mc:Fallback>
                <p:oleObj name="" r:id="rId1" imgW="1533525" imgH="581025" progId="Paint.Picture">
                  <p:embed/>
                  <p:pic>
                    <p:nvPicPr>
                      <p:cNvPr id="0" name="图片 3078"/>
                      <p:cNvPicPr/>
                      <p:nvPr/>
                    </p:nvPicPr>
                    <p:blipFill>
                      <a:blip r:embed="rId2"/>
                      <a:stretch>
                        <a:fillRect/>
                      </a:stretch>
                    </p:blipFill>
                    <p:spPr>
                      <a:xfrm>
                        <a:off x="4152900" y="4038600"/>
                        <a:ext cx="2971800" cy="914400"/>
                      </a:xfrm>
                      <a:prstGeom prst="rect">
                        <a:avLst/>
                      </a:prstGeom>
                      <a:noFill/>
                      <a:ln w="38100">
                        <a:noFill/>
                        <a:miter/>
                      </a:ln>
                    </p:spPr>
                  </p:pic>
                </p:oleObj>
              </mc:Fallback>
            </mc:AlternateContent>
          </a:graphicData>
        </a:graphic>
      </p:graphicFrame>
      <p:sp>
        <p:nvSpPr>
          <p:cNvPr id="945158" name="矩形 945157"/>
          <p:cNvSpPr/>
          <p:nvPr/>
        </p:nvSpPr>
        <p:spPr>
          <a:xfrm>
            <a:off x="2136775" y="5013325"/>
            <a:ext cx="8229600" cy="1752600"/>
          </a:xfrm>
          <a:prstGeom prst="rect">
            <a:avLst/>
          </a:prstGeom>
          <a:noFill/>
          <a:ln w="9525">
            <a:noFill/>
          </a:ln>
        </p:spPr>
        <p:txBody>
          <a:bodyPr/>
          <a:lstStyle/>
          <a:p>
            <a:pPr marL="609600" marR="0" lvl="0" indent="-609600" algn="l" defTabSz="914400" rtl="0" eaLnBrk="0" fontAlgn="base" latinLnBrk="0" hangingPunct="0">
              <a:lnSpc>
                <a:spcPct val="100000"/>
              </a:lnSpc>
              <a:spcBef>
                <a:spcPct val="20000"/>
              </a:spcBef>
              <a:spcAft>
                <a:spcPct val="0"/>
              </a:spcAft>
              <a:buClr>
                <a:srgbClr val="8DC765"/>
              </a:buClr>
              <a:buSzPct val="80000"/>
              <a:buFont typeface="Wingdings" panose="05000000000000000000" pitchFamily="2" charset="2"/>
              <a:buNone/>
              <a:defRPr/>
            </a:pPr>
            <a:r>
              <a:rPr kumimoji="0" lang="zh-CN" altLang="en-US" sz="28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        </a:t>
            </a:r>
            <a:r>
              <a:rPr kumimoji="0" lang="zh-CN" altLang="en-US" sz="20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式中</a:t>
            </a:r>
            <a:r>
              <a:rPr kumimoji="0" lang="en-US" altLang="zh-CN" sz="20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:CI-</a:t>
            </a:r>
            <a:r>
              <a:rPr kumimoji="0" lang="zh-CN" altLang="en-US" sz="20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现金流入量， </a:t>
            </a:r>
            <a:r>
              <a:rPr kumimoji="0" lang="en-US" altLang="zh-CN" sz="20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CO-</a:t>
            </a:r>
            <a:r>
              <a:rPr kumimoji="0" lang="zh-CN" altLang="en-US" sz="20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现金流出量，</a:t>
            </a:r>
            <a:r>
              <a:rPr kumimoji="0" lang="en-US" altLang="zh-CN" sz="20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Pt-</a:t>
            </a:r>
            <a:r>
              <a:rPr kumimoji="0" lang="zh-CN" altLang="en-US" sz="20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投资回收期</a:t>
            </a:r>
            <a:endParaRPr kumimoji="0" lang="zh-CN" altLang="en-US" sz="20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a:p>
            <a:pPr marL="609600" marR="0" lvl="0" indent="-609600" algn="l" defTabSz="914400" rtl="0" eaLnBrk="0" fontAlgn="base" latinLnBrk="0" hangingPunct="0">
              <a:lnSpc>
                <a:spcPct val="100000"/>
              </a:lnSpc>
              <a:spcBef>
                <a:spcPct val="20000"/>
              </a:spcBef>
              <a:spcAft>
                <a:spcPct val="0"/>
              </a:spcAft>
              <a:buClr>
                <a:srgbClr val="8DC765"/>
              </a:buClr>
              <a:buSzPct val="80000"/>
              <a:buFont typeface="Wingdings" panose="05000000000000000000" pitchFamily="2" charset="2"/>
              <a:buNone/>
              <a:defRPr/>
            </a:pP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计算公式： </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Pt=[</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累计净现金流量开始出现正值的年份</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]-1</a:t>
            </a:r>
            <a:endPar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a:p>
            <a:pPr marL="609600" marR="0" lvl="0" indent="-609600" algn="l" defTabSz="914400" rtl="0" eaLnBrk="0" fontAlgn="base" latinLnBrk="0" hangingPunct="0">
              <a:lnSpc>
                <a:spcPct val="100000"/>
              </a:lnSpc>
              <a:spcBef>
                <a:spcPct val="20000"/>
              </a:spcBef>
              <a:spcAft>
                <a:spcPct val="0"/>
              </a:spcAft>
              <a:buClr>
                <a:srgbClr val="8DC765"/>
              </a:buClr>
              <a:buSzPct val="80000"/>
              <a:buFont typeface="Wingdings" panose="05000000000000000000" pitchFamily="2" charset="2"/>
              <a:buNone/>
              <a:defRPr/>
            </a:pP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上年累计净现金流量的绝对值</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当年净现金流量</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5154">
                                            <p:txEl>
                                              <p:pRg st="0" end="0"/>
                                            </p:txEl>
                                          </p:spTgt>
                                        </p:tgtEl>
                                        <p:attrNameLst>
                                          <p:attrName>style.visibility</p:attrName>
                                        </p:attrNameLst>
                                      </p:cBhvr>
                                      <p:to>
                                        <p:strVal val="visible"/>
                                      </p:to>
                                    </p:set>
                                    <p:anim calcmode="lin" valueType="num">
                                      <p:cBhvr>
                                        <p:cTn id="7" dur="500" fill="hold"/>
                                        <p:tgtEl>
                                          <p:spTgt spid="945154">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451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45154">
                                            <p:txEl>
                                              <p:pRg st="1" end="1"/>
                                            </p:txEl>
                                          </p:spTgt>
                                        </p:tgtEl>
                                        <p:attrNameLst>
                                          <p:attrName>style.visibility</p:attrName>
                                        </p:attrNameLst>
                                      </p:cBhvr>
                                      <p:to>
                                        <p:strVal val="visible"/>
                                      </p:to>
                                    </p:set>
                                    <p:anim calcmode="lin" valueType="num">
                                      <p:cBhvr>
                                        <p:cTn id="13" dur="500" fill="hold"/>
                                        <p:tgtEl>
                                          <p:spTgt spid="945154">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94515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45154">
                                            <p:txEl>
                                              <p:pRg st="2" end="2"/>
                                            </p:txEl>
                                          </p:spTgt>
                                        </p:tgtEl>
                                        <p:attrNameLst>
                                          <p:attrName>style.visibility</p:attrName>
                                        </p:attrNameLst>
                                      </p:cBhvr>
                                      <p:to>
                                        <p:strVal val="visible"/>
                                      </p:to>
                                    </p:set>
                                    <p:anim calcmode="lin" valueType="num">
                                      <p:cBhvr>
                                        <p:cTn id="19" dur="500" fill="hold"/>
                                        <p:tgtEl>
                                          <p:spTgt spid="945154">
                                            <p:txEl>
                                              <p:pRg st="2" end="2"/>
                                            </p:txEl>
                                          </p:spTgt>
                                        </p:tgtEl>
                                        <p:attrNameLst>
                                          <p:attrName>ppt_x</p:attrName>
                                        </p:attrNameLst>
                                      </p:cBhvr>
                                      <p:tavLst>
                                        <p:tav tm="0">
                                          <p:val>
                                            <p:strVal val="0-#ppt_w/2"/>
                                          </p:val>
                                        </p:tav>
                                        <p:tav tm="100000">
                                          <p:val>
                                            <p:strVal val="#ppt_x"/>
                                          </p:val>
                                        </p:tav>
                                      </p:tavLst>
                                    </p:anim>
                                    <p:anim calcmode="lin" valueType="num">
                                      <p:cBhvr>
                                        <p:cTn id="20" dur="500" fill="hold"/>
                                        <p:tgtEl>
                                          <p:spTgt spid="94515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45156"/>
                                        </p:tgtEl>
                                        <p:attrNameLst>
                                          <p:attrName>style.visibility</p:attrName>
                                        </p:attrNameLst>
                                      </p:cBhvr>
                                      <p:to>
                                        <p:strVal val="visible"/>
                                      </p:to>
                                    </p:set>
                                    <p:anim calcmode="lin" valueType="num">
                                      <p:cBhvr>
                                        <p:cTn id="25" dur="500" fill="hold"/>
                                        <p:tgtEl>
                                          <p:spTgt spid="945156"/>
                                        </p:tgtEl>
                                        <p:attrNameLst>
                                          <p:attrName>ppt_x</p:attrName>
                                        </p:attrNameLst>
                                      </p:cBhvr>
                                      <p:tavLst>
                                        <p:tav tm="0">
                                          <p:val>
                                            <p:strVal val="0-#ppt_w/2"/>
                                          </p:val>
                                        </p:tav>
                                        <p:tav tm="100000">
                                          <p:val>
                                            <p:strVal val="#ppt_x"/>
                                          </p:val>
                                        </p:tav>
                                      </p:tavLst>
                                    </p:anim>
                                    <p:anim calcmode="lin" valueType="num">
                                      <p:cBhvr>
                                        <p:cTn id="26" dur="500" fill="hold"/>
                                        <p:tgtEl>
                                          <p:spTgt spid="94515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45158">
                                            <p:txEl>
                                              <p:pRg st="0" end="0"/>
                                            </p:txEl>
                                          </p:spTgt>
                                        </p:tgtEl>
                                        <p:attrNameLst>
                                          <p:attrName>style.visibility</p:attrName>
                                        </p:attrNameLst>
                                      </p:cBhvr>
                                      <p:to>
                                        <p:strVal val="visible"/>
                                      </p:to>
                                    </p:set>
                                    <p:anim calcmode="lin" valueType="num">
                                      <p:cBhvr>
                                        <p:cTn id="31" dur="500" fill="hold"/>
                                        <p:tgtEl>
                                          <p:spTgt spid="945158">
                                            <p:txEl>
                                              <p:pRg st="0" end="0"/>
                                            </p:txEl>
                                          </p:spTgt>
                                        </p:tgtEl>
                                        <p:attrNameLst>
                                          <p:attrName>ppt_x</p:attrName>
                                        </p:attrNameLst>
                                      </p:cBhvr>
                                      <p:tavLst>
                                        <p:tav tm="0">
                                          <p:val>
                                            <p:strVal val="0-#ppt_w/2"/>
                                          </p:val>
                                        </p:tav>
                                        <p:tav tm="100000">
                                          <p:val>
                                            <p:strVal val="#ppt_x"/>
                                          </p:val>
                                        </p:tav>
                                      </p:tavLst>
                                    </p:anim>
                                    <p:anim calcmode="lin" valueType="num">
                                      <p:cBhvr>
                                        <p:cTn id="32" dur="500" fill="hold"/>
                                        <p:tgtEl>
                                          <p:spTgt spid="9451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45158">
                                            <p:txEl>
                                              <p:pRg st="1" end="1"/>
                                            </p:txEl>
                                          </p:spTgt>
                                        </p:tgtEl>
                                        <p:attrNameLst>
                                          <p:attrName>style.visibility</p:attrName>
                                        </p:attrNameLst>
                                      </p:cBhvr>
                                      <p:to>
                                        <p:strVal val="visible"/>
                                      </p:to>
                                    </p:set>
                                    <p:anim calcmode="lin" valueType="num">
                                      <p:cBhvr>
                                        <p:cTn id="37" dur="500" fill="hold"/>
                                        <p:tgtEl>
                                          <p:spTgt spid="945158">
                                            <p:txEl>
                                              <p:pRg st="1" end="1"/>
                                            </p:txEl>
                                          </p:spTgt>
                                        </p:tgtEl>
                                        <p:attrNameLst>
                                          <p:attrName>ppt_x</p:attrName>
                                        </p:attrNameLst>
                                      </p:cBhvr>
                                      <p:tavLst>
                                        <p:tav tm="0">
                                          <p:val>
                                            <p:strVal val="0-#ppt_w/2"/>
                                          </p:val>
                                        </p:tav>
                                        <p:tav tm="100000">
                                          <p:val>
                                            <p:strVal val="#ppt_x"/>
                                          </p:val>
                                        </p:tav>
                                      </p:tavLst>
                                    </p:anim>
                                    <p:anim calcmode="lin" valueType="num">
                                      <p:cBhvr>
                                        <p:cTn id="38" dur="500" fill="hold"/>
                                        <p:tgtEl>
                                          <p:spTgt spid="94515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45158">
                                            <p:txEl>
                                              <p:pRg st="2" end="2"/>
                                            </p:txEl>
                                          </p:spTgt>
                                        </p:tgtEl>
                                        <p:attrNameLst>
                                          <p:attrName>style.visibility</p:attrName>
                                        </p:attrNameLst>
                                      </p:cBhvr>
                                      <p:to>
                                        <p:strVal val="visible"/>
                                      </p:to>
                                    </p:set>
                                    <p:anim calcmode="lin" valueType="num">
                                      <p:cBhvr>
                                        <p:cTn id="43" dur="500" fill="hold"/>
                                        <p:tgtEl>
                                          <p:spTgt spid="945158">
                                            <p:txEl>
                                              <p:pRg st="2" end="2"/>
                                            </p:txEl>
                                          </p:spTgt>
                                        </p:tgtEl>
                                        <p:attrNameLst>
                                          <p:attrName>ppt_x</p:attrName>
                                        </p:attrNameLst>
                                      </p:cBhvr>
                                      <p:tavLst>
                                        <p:tav tm="0">
                                          <p:val>
                                            <p:strVal val="0-#ppt_w/2"/>
                                          </p:val>
                                        </p:tav>
                                        <p:tav tm="100000">
                                          <p:val>
                                            <p:strVal val="#ppt_x"/>
                                          </p:val>
                                        </p:tav>
                                      </p:tavLst>
                                    </p:anim>
                                    <p:anim calcmode="lin" valueType="num">
                                      <p:cBhvr>
                                        <p:cTn id="44" dur="500" fill="hold"/>
                                        <p:tgtEl>
                                          <p:spTgt spid="94515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4" grpId="0" bldLvl="2" build="p"/>
      <p:bldP spid="945158"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灯片编号占位符 1"/>
          <p:cNvSpPr>
            <a:spLocks noGrp="1"/>
          </p:cNvSpPr>
          <p:nvPr>
            <p:ph type="sldNum" sz="quarter" idx="12"/>
          </p:nvPr>
        </p:nvSpPr>
        <p:spPr>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0" hangingPunct="0"/>
            <a:fld id="{9A0DB2DC-4C9A-4742-B13C-FB6460FD3503}" type="slidenum">
              <a:rPr lang="zh-CN" altLang="en-US" sz="1200" dirty="0">
                <a:solidFill>
                  <a:srgbClr val="B5A788"/>
                </a:solidFill>
              </a:rPr>
            </a:fld>
            <a:endParaRPr lang="zh-CN" altLang="en-US" sz="1200" dirty="0">
              <a:solidFill>
                <a:srgbClr val="B5A788"/>
              </a:solidFill>
              <a:latin typeface="Arial" panose="020B0604020202020204" pitchFamily="34" charset="0"/>
            </a:endParaRPr>
          </a:p>
        </p:txBody>
      </p:sp>
      <p:sp>
        <p:nvSpPr>
          <p:cNvPr id="937986" name="内容占位符 937985"/>
          <p:cNvSpPr>
            <a:spLocks noGrp="1"/>
          </p:cNvSpPr>
          <p:nvPr>
            <p:ph idx="1"/>
          </p:nvPr>
        </p:nvSpPr>
        <p:spPr>
          <a:xfrm>
            <a:off x="2133600" y="1597025"/>
            <a:ext cx="7924800" cy="1222375"/>
          </a:xfrm>
        </p:spPr>
        <p:txBody>
          <a:bodyPr vert="horz" wrap="square" anchor="t" anchorCtr="0"/>
          <a:lstStyle/>
          <a:p>
            <a:pPr marL="609600" indent="-609600">
              <a:lnSpc>
                <a:spcPct val="120000"/>
              </a:lnSpc>
              <a:buFont typeface="Wingdings" panose="05000000000000000000" pitchFamily="2" charset="2"/>
              <a:buNone/>
            </a:pPr>
            <a:r>
              <a:rPr lang="zh-CN" altLang="en-US" sz="1800" dirty="0">
                <a:solidFill>
                  <a:srgbClr val="FF3300"/>
                </a:solidFill>
                <a:ea typeface="华文中宋" panose="02010600040101010101" pitchFamily="2" charset="-122"/>
              </a:rPr>
              <a:t>2. 投资回收期：</a:t>
            </a:r>
            <a:r>
              <a:rPr lang="zh-CN" altLang="en-US" sz="1800" dirty="0">
                <a:ea typeface="华文中宋" panose="02010600040101010101" pitchFamily="2" charset="-122"/>
              </a:rPr>
              <a:t>项目从投产年算起，用每年的净收益将初始全部投资收回的时间。</a:t>
            </a:r>
            <a:endParaRPr lang="zh-CN" altLang="en-US" sz="1800" dirty="0">
              <a:ea typeface="华文中宋" panose="02010600040101010101" pitchFamily="2" charset="-122"/>
            </a:endParaRPr>
          </a:p>
          <a:p>
            <a:pPr marL="990600" lvl="1" indent="-517525">
              <a:lnSpc>
                <a:spcPct val="120000"/>
              </a:lnSpc>
              <a:buFontTx/>
              <a:buChar char="-"/>
            </a:pPr>
            <a:r>
              <a:rPr lang="zh-CN" altLang="en-US" sz="2000" dirty="0">
                <a:ea typeface="华文中宋" panose="02010600040101010101" pitchFamily="2" charset="-122"/>
              </a:rPr>
              <a:t>动态投资回收期</a:t>
            </a:r>
            <a:endParaRPr lang="zh-CN" altLang="en-US" sz="2000" dirty="0">
              <a:ea typeface="华文中宋" panose="02010600040101010101" pitchFamily="2" charset="-122"/>
            </a:endParaRPr>
          </a:p>
        </p:txBody>
      </p:sp>
      <p:sp>
        <p:nvSpPr>
          <p:cNvPr id="937988" name="矩形 937987"/>
          <p:cNvSpPr/>
          <p:nvPr/>
        </p:nvSpPr>
        <p:spPr>
          <a:xfrm>
            <a:off x="6858000" y="2819400"/>
            <a:ext cx="3505200" cy="1371600"/>
          </a:xfrm>
          <a:prstGeom prst="rect">
            <a:avLst/>
          </a:prstGeom>
          <a:noFill/>
          <a:ln w="9525">
            <a:noFill/>
          </a:ln>
        </p:spPr>
        <p:txBody>
          <a:bodyPr/>
          <a:lstStyle/>
          <a:p>
            <a:pPr marL="342900" marR="0" lvl="0" indent="-342900" algn="l" defTabSz="914400" rtl="0" eaLnBrk="0" fontAlgn="base" latinLnBrk="0" hangingPunct="0">
              <a:lnSpc>
                <a:spcPct val="100000"/>
              </a:lnSpc>
              <a:spcBef>
                <a:spcPct val="20000"/>
              </a:spcBef>
              <a:spcAft>
                <a:spcPct val="0"/>
              </a:spcAft>
              <a:buClr>
                <a:srgbClr val="8DC765"/>
              </a:buClr>
              <a:buSzPct val="80000"/>
              <a:buFontTx/>
              <a:buNone/>
              <a:defRPr/>
            </a:pP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式中：</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8DC765"/>
              </a:buClr>
              <a:buSzPct val="80000"/>
              <a:buFontTx/>
              <a:buNone/>
              <a:defRPr/>
            </a:pP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P-</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总投资的现值</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8DC765"/>
              </a:buClr>
              <a:buSzPct val="80000"/>
              <a:buFontTx/>
              <a:buNone/>
              <a:defRPr/>
            </a:pP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T-</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动态投资回收期</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p:txBody>
      </p:sp>
      <p:sp>
        <p:nvSpPr>
          <p:cNvPr id="937989" name="矩形 937988"/>
          <p:cNvSpPr/>
          <p:nvPr/>
        </p:nvSpPr>
        <p:spPr>
          <a:xfrm>
            <a:off x="2133600" y="4419600"/>
            <a:ext cx="7924800" cy="2057400"/>
          </a:xfrm>
          <a:prstGeom prst="rect">
            <a:avLst/>
          </a:prstGeom>
          <a:noFill/>
          <a:ln w="9525">
            <a:noFill/>
          </a:ln>
        </p:spPr>
        <p:txBody>
          <a:bodyPr/>
          <a:lstStyle/>
          <a:p>
            <a:pPr marL="342900" marR="0" lvl="0" indent="-342900" algn="l" defTabSz="914400" rtl="0" eaLnBrk="0" fontAlgn="base" latinLnBrk="0" hangingPunct="0">
              <a:lnSpc>
                <a:spcPct val="100000"/>
              </a:lnSpc>
              <a:spcBef>
                <a:spcPct val="20000"/>
              </a:spcBef>
              <a:spcAft>
                <a:spcPct val="0"/>
              </a:spcAft>
              <a:buClr>
                <a:srgbClr val="8DC765"/>
              </a:buClr>
              <a:buSzPct val="80000"/>
              <a:buFontTx/>
              <a:buNone/>
              <a:defRPr/>
            </a:pPr>
            <a:r>
              <a:rPr kumimoji="0" lang="zh-CN" altLang="en-US" sz="28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动态</a:t>
            </a:r>
            <a:r>
              <a:rPr kumimoji="0" lang="zh-CN" altLang="en-US" sz="28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投资回收期（</a:t>
            </a:r>
            <a:r>
              <a:rPr kumimoji="0" lang="en-US" altLang="zh-CN" sz="28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T</a:t>
            </a:r>
            <a:r>
              <a:rPr kumimoji="0" lang="zh-CN" altLang="en-US" sz="28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）的计算公式：</a:t>
            </a:r>
            <a:endParaRPr kumimoji="0" lang="zh-CN" altLang="en-US" sz="28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rgbClr val="8DC765"/>
              </a:buClr>
              <a:buSzPct val="80000"/>
              <a:buFontTx/>
              <a:buNone/>
              <a:defRPr/>
            </a:pPr>
            <a:r>
              <a:rPr kumimoji="0" lang="zh-CN" altLang="en-US" sz="2400" b="0" i="0" u="none" strike="noStrike" kern="1200" cap="none" spc="0" normalizeH="0" baseline="0" noProof="0" dirty="0">
                <a:ln>
                  <a:noFill/>
                </a:ln>
                <a:solidFill>
                  <a:prstClr val="black"/>
                </a:solidFill>
                <a:effectLst>
                  <a:outerShdw blurRad="38100" dist="38100" dir="2700000">
                    <a:srgbClr val="000000"/>
                  </a:outerShdw>
                </a:effectLst>
                <a:uLnTx/>
                <a:uFillTx/>
                <a:latin typeface="Arial" panose="020B0604020202020204" pitchFamily="34" charset="0"/>
                <a:ea typeface="宋体" panose="02010600030101010101" pitchFamily="2" charset="-122"/>
                <a:cs typeface="+mn-cs"/>
              </a:rPr>
              <a:t>动态</a:t>
            </a:r>
            <a:r>
              <a:rPr kumimoji="0" lang="zh-CN" altLang="en-US" sz="2400" b="0" i="0" u="none" strike="noStrike" kern="1200" cap="none" spc="0" normalizeH="0" baseline="0" noProof="0" dirty="0">
                <a:ln>
                  <a:noFill/>
                </a:ln>
                <a:solidFill>
                  <a:prstClr val="black"/>
                </a:solidFill>
                <a:effectLst>
                  <a:outerShdw blurRad="38100" dist="38100" dir="2700000">
                    <a:srgbClr val="000000"/>
                  </a:outerShdw>
                </a:effectLst>
                <a:uLnTx/>
                <a:uFillTx/>
                <a:latin typeface="宋体" panose="02010600030101010101" pitchFamily="2" charset="-122"/>
                <a:ea typeface="宋体" panose="02010600030101010101" pitchFamily="2" charset="-122"/>
                <a:cs typeface="+mn-cs"/>
              </a:rPr>
              <a:t>投资回收期（年）</a:t>
            </a:r>
            <a:r>
              <a:rPr kumimoji="0" lang="en-US" altLang="zh-CN" sz="28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累计净现金流量现值开始出现正值的年份</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]-1+[</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上年累计净现金流量现值的绝对值</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当年净现金流量现值</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p:txBody>
      </p:sp>
      <p:graphicFrame>
        <p:nvGraphicFramePr>
          <p:cNvPr id="937990" name="对象 937989"/>
          <p:cNvGraphicFramePr/>
          <p:nvPr/>
        </p:nvGraphicFramePr>
        <p:xfrm>
          <a:off x="3048000" y="3124200"/>
          <a:ext cx="3249613" cy="895350"/>
        </p:xfrm>
        <a:graphic>
          <a:graphicData uri="http://schemas.openxmlformats.org/presentationml/2006/ole">
            <mc:AlternateContent xmlns:mc="http://schemas.openxmlformats.org/markup-compatibility/2006">
              <mc:Choice xmlns:v="urn:schemas-microsoft-com:vml" Requires="v">
                <p:oleObj spid="_x0000_s7182" name="" r:id="rId1" imgW="3248025" imgH="895350" progId="Paint.Picture">
                  <p:embed/>
                </p:oleObj>
              </mc:Choice>
              <mc:Fallback>
                <p:oleObj name="" r:id="rId1" imgW="3248025" imgH="895350" progId="Paint.Picture">
                  <p:embed/>
                  <p:pic>
                    <p:nvPicPr>
                      <p:cNvPr id="0" name="图片 3079"/>
                      <p:cNvPicPr/>
                      <p:nvPr/>
                    </p:nvPicPr>
                    <p:blipFill>
                      <a:blip r:embed="rId2"/>
                      <a:stretch>
                        <a:fillRect/>
                      </a:stretch>
                    </p:blipFill>
                    <p:spPr>
                      <a:xfrm>
                        <a:off x="3048000" y="3124200"/>
                        <a:ext cx="3249613" cy="895350"/>
                      </a:xfrm>
                      <a:prstGeom prst="rect">
                        <a:avLst/>
                      </a:prstGeom>
                      <a:noFill/>
                      <a:ln w="38100">
                        <a:noFill/>
                        <a:miter/>
                      </a:ln>
                    </p:spPr>
                  </p:pic>
                </p:oleObj>
              </mc:Fallback>
            </mc:AlternateContent>
          </a:graphicData>
        </a:graphic>
      </p:graphicFrame>
      <p:sp>
        <p:nvSpPr>
          <p:cNvPr id="945155" name="标题 945154"/>
          <p:cNvSpPr>
            <a:spLocks noGrp="1"/>
          </p:cNvSpPr>
          <p:nvPr>
            <p:ph type="title"/>
          </p:nvPr>
        </p:nvSpPr>
        <p:spPr>
          <a:xfrm>
            <a:off x="2251075" y="1196975"/>
            <a:ext cx="2309813" cy="379413"/>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37986">
                                            <p:txEl>
                                              <p:pRg st="0" end="0"/>
                                            </p:txEl>
                                          </p:spTgt>
                                        </p:tgtEl>
                                        <p:attrNameLst>
                                          <p:attrName>style.visibility</p:attrName>
                                        </p:attrNameLst>
                                      </p:cBhvr>
                                      <p:to>
                                        <p:strVal val="visible"/>
                                      </p:to>
                                    </p:set>
                                    <p:anim calcmode="lin" valueType="num">
                                      <p:cBhvr>
                                        <p:cTn id="7" dur="500" fill="hold"/>
                                        <p:tgtEl>
                                          <p:spTgt spid="937986">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3798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37986">
                                            <p:txEl>
                                              <p:pRg st="1" end="1"/>
                                            </p:txEl>
                                          </p:spTgt>
                                        </p:tgtEl>
                                        <p:attrNameLst>
                                          <p:attrName>style.visibility</p:attrName>
                                        </p:attrNameLst>
                                      </p:cBhvr>
                                      <p:to>
                                        <p:strVal val="visible"/>
                                      </p:to>
                                    </p:set>
                                    <p:anim calcmode="lin" valueType="num">
                                      <p:cBhvr>
                                        <p:cTn id="11" dur="500" fill="hold"/>
                                        <p:tgtEl>
                                          <p:spTgt spid="937986">
                                            <p:txEl>
                                              <p:pRg st="1" end="1"/>
                                            </p:txEl>
                                          </p:spTgt>
                                        </p:tgtEl>
                                        <p:attrNameLst>
                                          <p:attrName>ppt_x</p:attrName>
                                        </p:attrNameLst>
                                      </p:cBhvr>
                                      <p:tavLst>
                                        <p:tav tm="0">
                                          <p:val>
                                            <p:strVal val="0-#ppt_w/2"/>
                                          </p:val>
                                        </p:tav>
                                        <p:tav tm="100000">
                                          <p:val>
                                            <p:strVal val="#ppt_x"/>
                                          </p:val>
                                        </p:tav>
                                      </p:tavLst>
                                    </p:anim>
                                    <p:anim calcmode="lin" valueType="num">
                                      <p:cBhvr>
                                        <p:cTn id="12" dur="500" fill="hold"/>
                                        <p:tgtEl>
                                          <p:spTgt spid="93798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37990"/>
                                        </p:tgtEl>
                                        <p:attrNameLst>
                                          <p:attrName>style.visibility</p:attrName>
                                        </p:attrNameLst>
                                      </p:cBhvr>
                                      <p:to>
                                        <p:strVal val="visible"/>
                                      </p:to>
                                    </p:set>
                                    <p:anim calcmode="lin" valueType="num">
                                      <p:cBhvr>
                                        <p:cTn id="17" dur="500" fill="hold"/>
                                        <p:tgtEl>
                                          <p:spTgt spid="937990"/>
                                        </p:tgtEl>
                                        <p:attrNameLst>
                                          <p:attrName>ppt_x</p:attrName>
                                        </p:attrNameLst>
                                      </p:cBhvr>
                                      <p:tavLst>
                                        <p:tav tm="0">
                                          <p:val>
                                            <p:strVal val="0-#ppt_w/2"/>
                                          </p:val>
                                        </p:tav>
                                        <p:tav tm="100000">
                                          <p:val>
                                            <p:strVal val="#ppt_x"/>
                                          </p:val>
                                        </p:tav>
                                      </p:tavLst>
                                    </p:anim>
                                    <p:anim calcmode="lin" valueType="num">
                                      <p:cBhvr>
                                        <p:cTn id="18" dur="500" fill="hold"/>
                                        <p:tgtEl>
                                          <p:spTgt spid="93799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37988">
                                            <p:txEl>
                                              <p:pRg st="0" end="0"/>
                                            </p:txEl>
                                          </p:spTgt>
                                        </p:tgtEl>
                                        <p:attrNameLst>
                                          <p:attrName>style.visibility</p:attrName>
                                        </p:attrNameLst>
                                      </p:cBhvr>
                                      <p:to>
                                        <p:strVal val="visible"/>
                                      </p:to>
                                    </p:set>
                                    <p:anim calcmode="lin" valueType="num">
                                      <p:cBhvr>
                                        <p:cTn id="23" dur="500" fill="hold"/>
                                        <p:tgtEl>
                                          <p:spTgt spid="937988">
                                            <p:txEl>
                                              <p:pRg st="0" end="0"/>
                                            </p:txEl>
                                          </p:spTgt>
                                        </p:tgtEl>
                                        <p:attrNameLst>
                                          <p:attrName>ppt_x</p:attrName>
                                        </p:attrNameLst>
                                      </p:cBhvr>
                                      <p:tavLst>
                                        <p:tav tm="0">
                                          <p:val>
                                            <p:strVal val="0-#ppt_w/2"/>
                                          </p:val>
                                        </p:tav>
                                        <p:tav tm="100000">
                                          <p:val>
                                            <p:strVal val="#ppt_x"/>
                                          </p:val>
                                        </p:tav>
                                      </p:tavLst>
                                    </p:anim>
                                    <p:anim calcmode="lin" valueType="num">
                                      <p:cBhvr>
                                        <p:cTn id="24" dur="500" fill="hold"/>
                                        <p:tgtEl>
                                          <p:spTgt spid="9379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937988">
                                            <p:txEl>
                                              <p:pRg st="1" end="1"/>
                                            </p:txEl>
                                          </p:spTgt>
                                        </p:tgtEl>
                                        <p:attrNameLst>
                                          <p:attrName>style.visibility</p:attrName>
                                        </p:attrNameLst>
                                      </p:cBhvr>
                                      <p:to>
                                        <p:strVal val="visible"/>
                                      </p:to>
                                    </p:set>
                                    <p:anim calcmode="lin" valueType="num">
                                      <p:cBhvr>
                                        <p:cTn id="29" dur="500" fill="hold"/>
                                        <p:tgtEl>
                                          <p:spTgt spid="937988">
                                            <p:txEl>
                                              <p:pRg st="1" end="1"/>
                                            </p:txEl>
                                          </p:spTgt>
                                        </p:tgtEl>
                                        <p:attrNameLst>
                                          <p:attrName>ppt_x</p:attrName>
                                        </p:attrNameLst>
                                      </p:cBhvr>
                                      <p:tavLst>
                                        <p:tav tm="0">
                                          <p:val>
                                            <p:strVal val="0-#ppt_w/2"/>
                                          </p:val>
                                        </p:tav>
                                        <p:tav tm="100000">
                                          <p:val>
                                            <p:strVal val="#ppt_x"/>
                                          </p:val>
                                        </p:tav>
                                      </p:tavLst>
                                    </p:anim>
                                    <p:anim calcmode="lin" valueType="num">
                                      <p:cBhvr>
                                        <p:cTn id="30" dur="500" fill="hold"/>
                                        <p:tgtEl>
                                          <p:spTgt spid="93798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937988">
                                            <p:txEl>
                                              <p:pRg st="2" end="2"/>
                                            </p:txEl>
                                          </p:spTgt>
                                        </p:tgtEl>
                                        <p:attrNameLst>
                                          <p:attrName>style.visibility</p:attrName>
                                        </p:attrNameLst>
                                      </p:cBhvr>
                                      <p:to>
                                        <p:strVal val="visible"/>
                                      </p:to>
                                    </p:set>
                                    <p:anim calcmode="lin" valueType="num">
                                      <p:cBhvr>
                                        <p:cTn id="35" dur="500" fill="hold"/>
                                        <p:tgtEl>
                                          <p:spTgt spid="937988">
                                            <p:txEl>
                                              <p:pRg st="2" end="2"/>
                                            </p:txEl>
                                          </p:spTgt>
                                        </p:tgtEl>
                                        <p:attrNameLst>
                                          <p:attrName>ppt_x</p:attrName>
                                        </p:attrNameLst>
                                      </p:cBhvr>
                                      <p:tavLst>
                                        <p:tav tm="0">
                                          <p:val>
                                            <p:strVal val="0-#ppt_w/2"/>
                                          </p:val>
                                        </p:tav>
                                        <p:tav tm="100000">
                                          <p:val>
                                            <p:strVal val="#ppt_x"/>
                                          </p:val>
                                        </p:tav>
                                      </p:tavLst>
                                    </p:anim>
                                    <p:anim calcmode="lin" valueType="num">
                                      <p:cBhvr>
                                        <p:cTn id="36" dur="500" fill="hold"/>
                                        <p:tgtEl>
                                          <p:spTgt spid="93798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937989">
                                            <p:txEl>
                                              <p:pRg st="0" end="0"/>
                                            </p:txEl>
                                          </p:spTgt>
                                        </p:tgtEl>
                                        <p:attrNameLst>
                                          <p:attrName>style.visibility</p:attrName>
                                        </p:attrNameLst>
                                      </p:cBhvr>
                                      <p:to>
                                        <p:strVal val="visible"/>
                                      </p:to>
                                    </p:set>
                                    <p:anim calcmode="lin" valueType="num">
                                      <p:cBhvr>
                                        <p:cTn id="41" dur="500" fill="hold"/>
                                        <p:tgtEl>
                                          <p:spTgt spid="937989">
                                            <p:txEl>
                                              <p:pRg st="0" end="0"/>
                                            </p:txEl>
                                          </p:spTgt>
                                        </p:tgtEl>
                                        <p:attrNameLst>
                                          <p:attrName>ppt_x</p:attrName>
                                        </p:attrNameLst>
                                      </p:cBhvr>
                                      <p:tavLst>
                                        <p:tav tm="0">
                                          <p:val>
                                            <p:strVal val="0-#ppt_w/2"/>
                                          </p:val>
                                        </p:tav>
                                        <p:tav tm="100000">
                                          <p:val>
                                            <p:strVal val="#ppt_x"/>
                                          </p:val>
                                        </p:tav>
                                      </p:tavLst>
                                    </p:anim>
                                    <p:anim calcmode="lin" valueType="num">
                                      <p:cBhvr>
                                        <p:cTn id="42" dur="500" fill="hold"/>
                                        <p:tgtEl>
                                          <p:spTgt spid="9379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937989">
                                            <p:txEl>
                                              <p:pRg st="1" end="1"/>
                                            </p:txEl>
                                          </p:spTgt>
                                        </p:tgtEl>
                                        <p:attrNameLst>
                                          <p:attrName>style.visibility</p:attrName>
                                        </p:attrNameLst>
                                      </p:cBhvr>
                                      <p:to>
                                        <p:strVal val="visible"/>
                                      </p:to>
                                    </p:set>
                                    <p:anim calcmode="lin" valueType="num">
                                      <p:cBhvr>
                                        <p:cTn id="47" dur="500" fill="hold"/>
                                        <p:tgtEl>
                                          <p:spTgt spid="937989">
                                            <p:txEl>
                                              <p:pRg st="1" end="1"/>
                                            </p:txEl>
                                          </p:spTgt>
                                        </p:tgtEl>
                                        <p:attrNameLst>
                                          <p:attrName>ppt_x</p:attrName>
                                        </p:attrNameLst>
                                      </p:cBhvr>
                                      <p:tavLst>
                                        <p:tav tm="0">
                                          <p:val>
                                            <p:strVal val="0-#ppt_w/2"/>
                                          </p:val>
                                        </p:tav>
                                        <p:tav tm="100000">
                                          <p:val>
                                            <p:strVal val="#ppt_x"/>
                                          </p:val>
                                        </p:tav>
                                      </p:tavLst>
                                    </p:anim>
                                    <p:anim calcmode="lin" valueType="num">
                                      <p:cBhvr>
                                        <p:cTn id="48" dur="500" fill="hold"/>
                                        <p:tgtEl>
                                          <p:spTgt spid="93798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86" grpId="0" build="p"/>
      <p:bldP spid="937988" grpId="0" build="p"/>
      <p:bldP spid="937989"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灯片编号占位符 1"/>
          <p:cNvSpPr>
            <a:spLocks noGrp="1"/>
          </p:cNvSpPr>
          <p:nvPr>
            <p:ph type="sldNum" sz="quarter" idx="12"/>
          </p:nvPr>
        </p:nvSpPr>
        <p:spPr>
          <a:noFill/>
          <a:ln>
            <a:noFill/>
          </a:ln>
        </p:spPr>
        <p:txBody>
          <a:bodyPr wrap="square" lIns="91440" tIns="45720" rIns="91440" bIns="45720" anchor="b"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0" hangingPunct="0"/>
            <a:fld id="{9A0DB2DC-4C9A-4742-B13C-FB6460FD3503}" type="slidenum">
              <a:rPr lang="zh-CN" altLang="en-US" sz="1200" dirty="0">
                <a:solidFill>
                  <a:srgbClr val="B5A788"/>
                </a:solidFill>
              </a:rPr>
            </a:fld>
            <a:endParaRPr lang="zh-CN" altLang="en-US" sz="1200" dirty="0">
              <a:solidFill>
                <a:srgbClr val="B5A788"/>
              </a:solidFill>
              <a:latin typeface="Arial" panose="020B0604020202020204" pitchFamily="34" charset="0"/>
            </a:endParaRPr>
          </a:p>
        </p:txBody>
      </p:sp>
      <p:sp>
        <p:nvSpPr>
          <p:cNvPr id="939010" name="标题 939009"/>
          <p:cNvSpPr>
            <a:spLocks noGrp="1"/>
          </p:cNvSpPr>
          <p:nvPr>
            <p:ph type="title"/>
          </p:nvPr>
        </p:nvSpPr>
        <p:spPr>
          <a:xfrm>
            <a:off x="1752600" y="1371600"/>
            <a:ext cx="2971800" cy="638175"/>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3.</a:t>
            </a:r>
            <a:r>
              <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财务净现值</a:t>
            </a:r>
            <a:endPar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endParaRPr>
          </a:p>
        </p:txBody>
      </p:sp>
      <p:sp>
        <p:nvSpPr>
          <p:cNvPr id="939011" name="内容占位符 939010"/>
          <p:cNvSpPr>
            <a:spLocks noGrp="1"/>
          </p:cNvSpPr>
          <p:nvPr>
            <p:ph idx="1"/>
          </p:nvPr>
        </p:nvSpPr>
        <p:spPr>
          <a:xfrm>
            <a:off x="2057400" y="3165475"/>
            <a:ext cx="8229600" cy="3006725"/>
          </a:xfrm>
        </p:spPr>
        <p:txBody>
          <a:bodyPr vert="horz" wrap="square" anchor="t" anchorCtr="0"/>
          <a:lstStyle/>
          <a:p>
            <a:pPr>
              <a:buNone/>
            </a:pPr>
            <a:r>
              <a:rPr lang="zh-CN" altLang="en-US" sz="1800" dirty="0">
                <a:ea typeface="华文中宋" panose="02010600040101010101" pitchFamily="2" charset="-122"/>
              </a:rPr>
              <a:t>意义：</a:t>
            </a:r>
            <a:endParaRPr lang="zh-CN" altLang="en-US" sz="1800" dirty="0">
              <a:ea typeface="华文中宋" panose="02010600040101010101" pitchFamily="2" charset="-122"/>
            </a:endParaRPr>
          </a:p>
          <a:p>
            <a:pPr>
              <a:buFontTx/>
              <a:buChar char="-"/>
            </a:pPr>
            <a:r>
              <a:rPr lang="zh-CN" altLang="en-US" sz="1800" dirty="0">
                <a:ea typeface="华文中宋" panose="02010600040101010101" pitchFamily="2" charset="-122"/>
              </a:rPr>
              <a:t>净现值等于零，项目获利能力等于给定的折现率，即与资本的最低获利要求相等。</a:t>
            </a:r>
            <a:endParaRPr lang="zh-CN" altLang="en-US" sz="1800" dirty="0">
              <a:ea typeface="华文中宋" panose="02010600040101010101" pitchFamily="2" charset="-122"/>
            </a:endParaRPr>
          </a:p>
          <a:p>
            <a:pPr>
              <a:buFontTx/>
              <a:buChar char="-"/>
            </a:pPr>
            <a:r>
              <a:rPr lang="zh-CN" altLang="en-US" sz="1800" dirty="0">
                <a:ea typeface="华文中宋" panose="02010600040101010101" pitchFamily="2" charset="-122"/>
              </a:rPr>
              <a:t>净现值大于零，项目获利能力高于给定的折现率，即高于资本的最低获利要求。</a:t>
            </a:r>
            <a:endParaRPr lang="zh-CN" altLang="en-US" sz="1800" dirty="0">
              <a:ea typeface="华文中宋" panose="02010600040101010101" pitchFamily="2" charset="-122"/>
            </a:endParaRPr>
          </a:p>
          <a:p>
            <a:pPr>
              <a:buFontTx/>
              <a:buChar char="-"/>
            </a:pPr>
            <a:r>
              <a:rPr lang="zh-CN" altLang="en-US" sz="1800" dirty="0">
                <a:ea typeface="华文中宋" panose="02010600040101010101" pitchFamily="2" charset="-122"/>
              </a:rPr>
              <a:t>净现值小于零，项目获利能力低于给定的折现率，即小于资本的最低获利要求。</a:t>
            </a:r>
            <a:endParaRPr lang="zh-CN" altLang="en-US" sz="1800" dirty="0">
              <a:ea typeface="华文中宋" panose="02010600040101010101" pitchFamily="2" charset="-122"/>
            </a:endParaRPr>
          </a:p>
        </p:txBody>
      </p:sp>
      <p:graphicFrame>
        <p:nvGraphicFramePr>
          <p:cNvPr id="939012" name="对象 939011"/>
          <p:cNvGraphicFramePr/>
          <p:nvPr/>
        </p:nvGraphicFramePr>
        <p:xfrm>
          <a:off x="3657600" y="2133600"/>
          <a:ext cx="4191000" cy="923925"/>
        </p:xfrm>
        <a:graphic>
          <a:graphicData uri="http://schemas.openxmlformats.org/presentationml/2006/ole">
            <mc:AlternateContent xmlns:mc="http://schemas.openxmlformats.org/markup-compatibility/2006">
              <mc:Choice xmlns:v="urn:schemas-microsoft-com:vml" Requires="v">
                <p:oleObj spid="_x0000_s8206" name="" r:id="rId1" imgW="2428875" imgH="638175" progId="Paint.Picture">
                  <p:embed/>
                </p:oleObj>
              </mc:Choice>
              <mc:Fallback>
                <p:oleObj name="" r:id="rId1" imgW="2428875" imgH="638175" progId="Paint.Picture">
                  <p:embed/>
                  <p:pic>
                    <p:nvPicPr>
                      <p:cNvPr id="0" name="图片 3080"/>
                      <p:cNvPicPr/>
                      <p:nvPr/>
                    </p:nvPicPr>
                    <p:blipFill>
                      <a:blip r:embed="rId2"/>
                      <a:stretch>
                        <a:fillRect/>
                      </a:stretch>
                    </p:blipFill>
                    <p:spPr>
                      <a:xfrm>
                        <a:off x="3657600" y="2133600"/>
                        <a:ext cx="4191000" cy="923925"/>
                      </a:xfrm>
                      <a:prstGeom prst="rect">
                        <a:avLst/>
                      </a:prstGeom>
                      <a:noFill/>
                      <a:ln w="38100">
                        <a:noFill/>
                        <a:miter/>
                      </a:ln>
                    </p:spPr>
                  </p:pic>
                </p:oleObj>
              </mc:Fallback>
            </mc:AlternateContent>
          </a:graphicData>
        </a:graphic>
      </p:graphicFrame>
      <p:sp>
        <p:nvSpPr>
          <p:cNvPr id="945155" name="标题 945154"/>
          <p:cNvSpPr>
            <a:spLocks noGrp="1"/>
          </p:cNvSpPr>
          <p:nvPr/>
        </p:nvSpPr>
        <p:spPr>
          <a:xfrm>
            <a:off x="2251075" y="1196975"/>
            <a:ext cx="2309813" cy="379413"/>
          </a:xfrm>
          <a:prstGeom prst="rect">
            <a:avLst/>
          </a:prstGeom>
        </p:spPr>
        <p:txBody>
          <a:bodyPr vert="horz" wrap="square" lIns="91440" tIns="45720" rIns="91440" bIns="45720"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39012"/>
                                        </p:tgtEl>
                                        <p:attrNameLst>
                                          <p:attrName>style.visibility</p:attrName>
                                        </p:attrNameLst>
                                      </p:cBhvr>
                                      <p:to>
                                        <p:strVal val="visible"/>
                                      </p:to>
                                    </p:set>
                                    <p:anim calcmode="lin" valueType="num">
                                      <p:cBhvr>
                                        <p:cTn id="7" dur="500" fill="hold"/>
                                        <p:tgtEl>
                                          <p:spTgt spid="939012"/>
                                        </p:tgtEl>
                                        <p:attrNameLst>
                                          <p:attrName>ppt_x</p:attrName>
                                        </p:attrNameLst>
                                      </p:cBhvr>
                                      <p:tavLst>
                                        <p:tav tm="0">
                                          <p:val>
                                            <p:strVal val="0-#ppt_w/2"/>
                                          </p:val>
                                        </p:tav>
                                        <p:tav tm="100000">
                                          <p:val>
                                            <p:strVal val="#ppt_x"/>
                                          </p:val>
                                        </p:tav>
                                      </p:tavLst>
                                    </p:anim>
                                    <p:anim calcmode="lin" valueType="num">
                                      <p:cBhvr>
                                        <p:cTn id="8" dur="500" fill="hold"/>
                                        <p:tgtEl>
                                          <p:spTgt spid="9390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9011">
                                            <p:txEl>
                                              <p:pRg st="0" end="0"/>
                                            </p:txEl>
                                          </p:spTgt>
                                        </p:tgtEl>
                                        <p:attrNameLst>
                                          <p:attrName>style.visibility</p:attrName>
                                        </p:attrNameLst>
                                      </p:cBhvr>
                                      <p:to>
                                        <p:strVal val="visible"/>
                                      </p:to>
                                    </p:set>
                                    <p:anim calcmode="lin" valueType="num">
                                      <p:cBhvr>
                                        <p:cTn id="13" dur="500" fill="hold"/>
                                        <p:tgtEl>
                                          <p:spTgt spid="939011">
                                            <p:txEl>
                                              <p:pRg st="0" end="0"/>
                                            </p:txEl>
                                          </p:spTgt>
                                        </p:tgtEl>
                                        <p:attrNameLst>
                                          <p:attrName>ppt_x</p:attrName>
                                        </p:attrNameLst>
                                      </p:cBhvr>
                                      <p:tavLst>
                                        <p:tav tm="0">
                                          <p:val>
                                            <p:strVal val="0-#ppt_w/2"/>
                                          </p:val>
                                        </p:tav>
                                        <p:tav tm="100000">
                                          <p:val>
                                            <p:strVal val="#ppt_x"/>
                                          </p:val>
                                        </p:tav>
                                      </p:tavLst>
                                    </p:anim>
                                    <p:anim calcmode="lin" valueType="num">
                                      <p:cBhvr>
                                        <p:cTn id="14" dur="500" fill="hold"/>
                                        <p:tgtEl>
                                          <p:spTgt spid="939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39011">
                                            <p:txEl>
                                              <p:pRg st="1" end="1"/>
                                            </p:txEl>
                                          </p:spTgt>
                                        </p:tgtEl>
                                        <p:attrNameLst>
                                          <p:attrName>style.visibility</p:attrName>
                                        </p:attrNameLst>
                                      </p:cBhvr>
                                      <p:to>
                                        <p:strVal val="visible"/>
                                      </p:to>
                                    </p:set>
                                    <p:anim calcmode="lin" valueType="num">
                                      <p:cBhvr>
                                        <p:cTn id="19" dur="500" fill="hold"/>
                                        <p:tgtEl>
                                          <p:spTgt spid="939011">
                                            <p:txEl>
                                              <p:pRg st="1" end="1"/>
                                            </p:txEl>
                                          </p:spTgt>
                                        </p:tgtEl>
                                        <p:attrNameLst>
                                          <p:attrName>ppt_x</p:attrName>
                                        </p:attrNameLst>
                                      </p:cBhvr>
                                      <p:tavLst>
                                        <p:tav tm="0">
                                          <p:val>
                                            <p:strVal val="0-#ppt_w/2"/>
                                          </p:val>
                                        </p:tav>
                                        <p:tav tm="100000">
                                          <p:val>
                                            <p:strVal val="#ppt_x"/>
                                          </p:val>
                                        </p:tav>
                                      </p:tavLst>
                                    </p:anim>
                                    <p:anim calcmode="lin" valueType="num">
                                      <p:cBhvr>
                                        <p:cTn id="20" dur="500" fill="hold"/>
                                        <p:tgtEl>
                                          <p:spTgt spid="939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39011">
                                            <p:txEl>
                                              <p:pRg st="2" end="2"/>
                                            </p:txEl>
                                          </p:spTgt>
                                        </p:tgtEl>
                                        <p:attrNameLst>
                                          <p:attrName>style.visibility</p:attrName>
                                        </p:attrNameLst>
                                      </p:cBhvr>
                                      <p:to>
                                        <p:strVal val="visible"/>
                                      </p:to>
                                    </p:set>
                                    <p:anim calcmode="lin" valueType="num">
                                      <p:cBhvr>
                                        <p:cTn id="25" dur="500" fill="hold"/>
                                        <p:tgtEl>
                                          <p:spTgt spid="939011">
                                            <p:txEl>
                                              <p:pRg st="2" end="2"/>
                                            </p:txEl>
                                          </p:spTgt>
                                        </p:tgtEl>
                                        <p:attrNameLst>
                                          <p:attrName>ppt_x</p:attrName>
                                        </p:attrNameLst>
                                      </p:cBhvr>
                                      <p:tavLst>
                                        <p:tav tm="0">
                                          <p:val>
                                            <p:strVal val="0-#ppt_w/2"/>
                                          </p:val>
                                        </p:tav>
                                        <p:tav tm="100000">
                                          <p:val>
                                            <p:strVal val="#ppt_x"/>
                                          </p:val>
                                        </p:tav>
                                      </p:tavLst>
                                    </p:anim>
                                    <p:anim calcmode="lin" valueType="num">
                                      <p:cBhvr>
                                        <p:cTn id="26" dur="500" fill="hold"/>
                                        <p:tgtEl>
                                          <p:spTgt spid="939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39011">
                                            <p:txEl>
                                              <p:pRg st="3" end="3"/>
                                            </p:txEl>
                                          </p:spTgt>
                                        </p:tgtEl>
                                        <p:attrNameLst>
                                          <p:attrName>style.visibility</p:attrName>
                                        </p:attrNameLst>
                                      </p:cBhvr>
                                      <p:to>
                                        <p:strVal val="visible"/>
                                      </p:to>
                                    </p:set>
                                    <p:anim calcmode="lin" valueType="num">
                                      <p:cBhvr>
                                        <p:cTn id="31" dur="500" fill="hold"/>
                                        <p:tgtEl>
                                          <p:spTgt spid="939011">
                                            <p:txEl>
                                              <p:pRg st="3" end="3"/>
                                            </p:txEl>
                                          </p:spTgt>
                                        </p:tgtEl>
                                        <p:attrNameLst>
                                          <p:attrName>ppt_x</p:attrName>
                                        </p:attrNameLst>
                                      </p:cBhvr>
                                      <p:tavLst>
                                        <p:tav tm="0">
                                          <p:val>
                                            <p:strVal val="0-#ppt_w/2"/>
                                          </p:val>
                                        </p:tav>
                                        <p:tav tm="100000">
                                          <p:val>
                                            <p:strVal val="#ppt_x"/>
                                          </p:val>
                                        </p:tav>
                                      </p:tavLst>
                                    </p:anim>
                                    <p:anim calcmode="lin" valueType="num">
                                      <p:cBhvr>
                                        <p:cTn id="32" dur="500" fill="hold"/>
                                        <p:tgtEl>
                                          <p:spTgt spid="93901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9011"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标题 940033"/>
          <p:cNvSpPr>
            <a:spLocks noGrp="1"/>
          </p:cNvSpPr>
          <p:nvPr>
            <p:ph type="title"/>
          </p:nvPr>
        </p:nvSpPr>
        <p:spPr>
          <a:xfrm>
            <a:off x="1919288" y="1573213"/>
            <a:ext cx="3657600" cy="68580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mj-lt"/>
                <a:ea typeface="+mj-ea"/>
                <a:cs typeface="+mj-cs"/>
              </a:rPr>
              <a:t>净现值法的缺陷</a:t>
            </a:r>
            <a:endParaRPr kumimoji="0" lang="zh-CN" altLang="en-US" sz="24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mj-lt"/>
              <a:ea typeface="+mj-ea"/>
              <a:cs typeface="+mj-cs"/>
            </a:endParaRPr>
          </a:p>
        </p:txBody>
      </p:sp>
      <p:sp>
        <p:nvSpPr>
          <p:cNvPr id="940035" name="内容占位符 940034"/>
          <p:cNvSpPr>
            <a:spLocks noGrp="1"/>
          </p:cNvSpPr>
          <p:nvPr>
            <p:ph idx="1"/>
          </p:nvPr>
        </p:nvSpPr>
        <p:spPr>
          <a:xfrm>
            <a:off x="2224088" y="2420938"/>
            <a:ext cx="3638550" cy="1247775"/>
          </a:xfrm>
        </p:spPr>
        <p:txBody>
          <a:bodyPr vert="horz" wrap="square" anchor="t" anchorCtr="0"/>
          <a:lstStyle/>
          <a:p>
            <a:pPr>
              <a:buNone/>
            </a:pPr>
            <a:r>
              <a:rPr lang="en-US" altLang="zh-CN" sz="1800" dirty="0">
                <a:latin typeface="宋体" panose="02010600030101010101" pitchFamily="2" charset="-122"/>
                <a:ea typeface="华文中宋" panose="02010600040101010101" pitchFamily="2" charset="-122"/>
              </a:rPr>
              <a:t>1</a:t>
            </a:r>
            <a:r>
              <a:rPr lang="zh-CN" altLang="en-US" sz="1800" dirty="0">
                <a:latin typeface="宋体" panose="02010600030101010101" pitchFamily="2" charset="-122"/>
                <a:ea typeface="华文中宋" panose="02010600040101010101" pitchFamily="2" charset="-122"/>
              </a:rPr>
              <a:t>）预先设定折现率给项目 决策带来困难</a:t>
            </a:r>
            <a:endParaRPr lang="zh-CN" altLang="en-US" sz="1800" dirty="0">
              <a:latin typeface="宋体" panose="02010600030101010101" pitchFamily="2" charset="-122"/>
              <a:ea typeface="华文中宋" panose="02010600040101010101" pitchFamily="2" charset="-122"/>
            </a:endParaRPr>
          </a:p>
          <a:p>
            <a:pPr>
              <a:buNone/>
            </a:pPr>
            <a:r>
              <a:rPr lang="en-US" altLang="zh-CN" sz="1800" dirty="0">
                <a:latin typeface="宋体" panose="02010600030101010101" pitchFamily="2" charset="-122"/>
                <a:ea typeface="华文中宋" panose="02010600040101010101" pitchFamily="2" charset="-122"/>
              </a:rPr>
              <a:t>2</a:t>
            </a:r>
            <a:r>
              <a:rPr lang="zh-CN" altLang="en-US" sz="1800" dirty="0">
                <a:latin typeface="宋体" panose="02010600030101010101" pitchFamily="2" charset="-122"/>
                <a:ea typeface="华文中宋" panose="02010600040101010101" pitchFamily="2" charset="-122"/>
              </a:rPr>
              <a:t>）无法评定可接受的备选项目优劣</a:t>
            </a:r>
            <a:endParaRPr lang="zh-CN" altLang="en-US" sz="1800" dirty="0">
              <a:latin typeface="宋体" panose="02010600030101010101" pitchFamily="2" charset="-122"/>
              <a:ea typeface="华文中宋" panose="02010600040101010101" pitchFamily="2" charset="-122"/>
            </a:endParaRPr>
          </a:p>
        </p:txBody>
      </p:sp>
      <p:grpSp>
        <p:nvGrpSpPr>
          <p:cNvPr id="940084" name="组合 940083"/>
          <p:cNvGrpSpPr/>
          <p:nvPr/>
        </p:nvGrpSpPr>
        <p:grpSpPr>
          <a:xfrm>
            <a:off x="5942012" y="1447800"/>
            <a:ext cx="4060826" cy="2127251"/>
            <a:chOff x="2735" y="816"/>
            <a:chExt cx="2558" cy="1340"/>
          </a:xfrm>
        </p:grpSpPr>
        <p:grpSp>
          <p:nvGrpSpPr>
            <p:cNvPr id="135172" name="组合 940082"/>
            <p:cNvGrpSpPr/>
            <p:nvPr/>
          </p:nvGrpSpPr>
          <p:grpSpPr>
            <a:xfrm>
              <a:off x="2735" y="816"/>
              <a:ext cx="2302" cy="1340"/>
              <a:chOff x="2831" y="768"/>
              <a:chExt cx="2302" cy="1340"/>
            </a:xfrm>
          </p:grpSpPr>
          <p:sp>
            <p:nvSpPr>
              <p:cNvPr id="135173" name="直接连接符 940036"/>
              <p:cNvSpPr/>
              <p:nvPr/>
            </p:nvSpPr>
            <p:spPr>
              <a:xfrm>
                <a:off x="3083" y="1876"/>
                <a:ext cx="2050" cy="0"/>
              </a:xfrm>
              <a:prstGeom prst="line">
                <a:avLst/>
              </a:prstGeom>
              <a:ln w="12700" cap="flat" cmpd="sng">
                <a:solidFill>
                  <a:schemeClr val="tx1"/>
                </a:solidFill>
                <a:prstDash val="solid"/>
                <a:round/>
                <a:headEnd type="none" w="med" len="med"/>
                <a:tailEnd type="triangle" w="med" len="med"/>
              </a:ln>
            </p:spPr>
          </p:sp>
          <p:sp>
            <p:nvSpPr>
              <p:cNvPr id="135174" name="直接连接符 940037"/>
              <p:cNvSpPr/>
              <p:nvPr/>
            </p:nvSpPr>
            <p:spPr>
              <a:xfrm flipV="1">
                <a:off x="3083" y="768"/>
                <a:ext cx="0" cy="1108"/>
              </a:xfrm>
              <a:prstGeom prst="line">
                <a:avLst/>
              </a:prstGeom>
              <a:ln w="12700" cap="flat" cmpd="sng">
                <a:solidFill>
                  <a:schemeClr val="tx1"/>
                </a:solidFill>
                <a:prstDash val="solid"/>
                <a:round/>
                <a:headEnd type="none" w="med" len="med"/>
                <a:tailEnd type="triangle" w="med" len="med"/>
              </a:ln>
            </p:spPr>
          </p:sp>
          <p:sp>
            <p:nvSpPr>
              <p:cNvPr id="135175" name="直接连接符 940038"/>
              <p:cNvSpPr/>
              <p:nvPr/>
            </p:nvSpPr>
            <p:spPr>
              <a:xfrm>
                <a:off x="3083" y="1045"/>
                <a:ext cx="969" cy="831"/>
              </a:xfrm>
              <a:prstGeom prst="line">
                <a:avLst/>
              </a:prstGeom>
              <a:ln w="9525" cap="flat" cmpd="sng">
                <a:solidFill>
                  <a:schemeClr val="tx1"/>
                </a:solidFill>
                <a:prstDash val="solid"/>
                <a:round/>
                <a:headEnd type="none" w="med" len="med"/>
                <a:tailEnd type="none" w="med" len="med"/>
              </a:ln>
            </p:spPr>
          </p:sp>
          <p:sp>
            <p:nvSpPr>
              <p:cNvPr id="135176" name="直接连接符 940039"/>
              <p:cNvSpPr/>
              <p:nvPr/>
            </p:nvSpPr>
            <p:spPr>
              <a:xfrm>
                <a:off x="3083" y="1362"/>
                <a:ext cx="1715" cy="514"/>
              </a:xfrm>
              <a:prstGeom prst="line">
                <a:avLst/>
              </a:prstGeom>
              <a:ln w="9525" cap="flat" cmpd="sng">
                <a:solidFill>
                  <a:schemeClr val="tx1"/>
                </a:solidFill>
                <a:prstDash val="solid"/>
                <a:round/>
                <a:headEnd type="none" w="med" len="med"/>
                <a:tailEnd type="none" w="med" len="med"/>
              </a:ln>
            </p:spPr>
          </p:sp>
          <p:sp>
            <p:nvSpPr>
              <p:cNvPr id="135177" name="文本框 940040"/>
              <p:cNvSpPr txBox="1"/>
              <p:nvPr/>
            </p:nvSpPr>
            <p:spPr>
              <a:xfrm>
                <a:off x="2831" y="847"/>
                <a:ext cx="290" cy="792"/>
              </a:xfrm>
              <a:prstGeom prst="rect">
                <a:avLst/>
              </a:prstGeom>
              <a:noFill/>
              <a:ln w="9525">
                <a:noFill/>
              </a:ln>
            </p:spPr>
            <p:txBody>
              <a:bodyPr vert="eaVert" anchor="t" anchorCtr="0">
                <a:spAutoFit/>
              </a:bodyPr>
              <a:lstStyle/>
              <a:p>
                <a:pPr algn="ctr" eaLnBrk="0" hangingPunct="0">
                  <a:spcBef>
                    <a:spcPct val="50000"/>
                  </a:spcBef>
                </a:pPr>
                <a:r>
                  <a:rPr lang="zh-CN" altLang="en-US" sz="1800" dirty="0">
                    <a:solidFill>
                      <a:srgbClr val="000000"/>
                    </a:solidFill>
                    <a:latin typeface="Tahoma" panose="020B0604030504040204" pitchFamily="34" charset="0"/>
                  </a:rPr>
                  <a:t>净现值</a:t>
                </a:r>
                <a:endParaRPr lang="zh-CN" altLang="en-US" sz="1800" dirty="0">
                  <a:solidFill>
                    <a:srgbClr val="000000"/>
                  </a:solidFill>
                  <a:latin typeface="Tahoma" panose="020B0604030504040204" pitchFamily="34" charset="0"/>
                </a:endParaRPr>
              </a:p>
            </p:txBody>
          </p:sp>
          <p:sp>
            <p:nvSpPr>
              <p:cNvPr id="135178" name="文本框 940041"/>
              <p:cNvSpPr txBox="1"/>
              <p:nvPr/>
            </p:nvSpPr>
            <p:spPr>
              <a:xfrm>
                <a:off x="3194" y="887"/>
                <a:ext cx="597" cy="232"/>
              </a:xfrm>
              <a:prstGeom prst="rect">
                <a:avLst/>
              </a:prstGeom>
              <a:noFill/>
              <a:ln w="9525">
                <a:noFill/>
              </a:ln>
            </p:spPr>
            <p:txBody>
              <a:bodyPr anchor="t" anchorCtr="0">
                <a:spAutoFit/>
              </a:bodyPr>
              <a:lstStyle/>
              <a:p>
                <a:pPr eaLnBrk="0" hangingPunct="0">
                  <a:spcBef>
                    <a:spcPct val="50000"/>
                  </a:spcBef>
                </a:pPr>
                <a:r>
                  <a:rPr lang="en-US" altLang="zh-CN" sz="1800" dirty="0">
                    <a:solidFill>
                      <a:srgbClr val="000000"/>
                    </a:solidFill>
                    <a:latin typeface="Tahoma" panose="020B0604030504040204" pitchFamily="34" charset="0"/>
                  </a:rPr>
                  <a:t>A</a:t>
                </a:r>
                <a:r>
                  <a:rPr lang="zh-CN" altLang="en-US" sz="1800" dirty="0">
                    <a:solidFill>
                      <a:srgbClr val="000000"/>
                    </a:solidFill>
                    <a:latin typeface="Tahoma" panose="020B0604030504040204" pitchFamily="34" charset="0"/>
                  </a:rPr>
                  <a:t>项目</a:t>
                </a:r>
                <a:endParaRPr lang="zh-CN" altLang="en-US" sz="1800" dirty="0">
                  <a:solidFill>
                    <a:srgbClr val="000000"/>
                  </a:solidFill>
                  <a:latin typeface="Tahoma" panose="020B0604030504040204" pitchFamily="34" charset="0"/>
                </a:endParaRPr>
              </a:p>
            </p:txBody>
          </p:sp>
          <p:sp>
            <p:nvSpPr>
              <p:cNvPr id="135179" name="文本框 940042"/>
              <p:cNvSpPr txBox="1"/>
              <p:nvPr/>
            </p:nvSpPr>
            <p:spPr>
              <a:xfrm>
                <a:off x="4015" y="1477"/>
                <a:ext cx="596" cy="232"/>
              </a:xfrm>
              <a:prstGeom prst="rect">
                <a:avLst/>
              </a:prstGeom>
              <a:noFill/>
              <a:ln w="9525">
                <a:noFill/>
              </a:ln>
            </p:spPr>
            <p:txBody>
              <a:bodyPr anchor="t" anchorCtr="0">
                <a:spAutoFit/>
              </a:bodyPr>
              <a:lstStyle/>
              <a:p>
                <a:pPr eaLnBrk="0" hangingPunct="0">
                  <a:spcBef>
                    <a:spcPct val="50000"/>
                  </a:spcBef>
                </a:pPr>
                <a:r>
                  <a:rPr lang="en-US" altLang="zh-CN" sz="1800" dirty="0">
                    <a:solidFill>
                      <a:srgbClr val="000000"/>
                    </a:solidFill>
                    <a:latin typeface="Tahoma" panose="020B0604030504040204" pitchFamily="34" charset="0"/>
                  </a:rPr>
                  <a:t>B</a:t>
                </a:r>
                <a:r>
                  <a:rPr lang="zh-CN" altLang="en-US" sz="1800" dirty="0">
                    <a:solidFill>
                      <a:srgbClr val="000000"/>
                    </a:solidFill>
                    <a:latin typeface="Tahoma" panose="020B0604030504040204" pitchFamily="34" charset="0"/>
                  </a:rPr>
                  <a:t>项目</a:t>
                </a:r>
                <a:endParaRPr lang="zh-CN" altLang="en-US" sz="1800" dirty="0">
                  <a:solidFill>
                    <a:srgbClr val="000000"/>
                  </a:solidFill>
                  <a:latin typeface="Tahoma" panose="020B0604030504040204" pitchFamily="34" charset="0"/>
                </a:endParaRPr>
              </a:p>
            </p:txBody>
          </p:sp>
          <p:sp>
            <p:nvSpPr>
              <p:cNvPr id="135180" name="文本框 940043"/>
              <p:cNvSpPr txBox="1"/>
              <p:nvPr/>
            </p:nvSpPr>
            <p:spPr>
              <a:xfrm>
                <a:off x="3009" y="1876"/>
                <a:ext cx="223" cy="232"/>
              </a:xfrm>
              <a:prstGeom prst="rect">
                <a:avLst/>
              </a:prstGeom>
              <a:noFill/>
              <a:ln w="9525">
                <a:noFill/>
              </a:ln>
            </p:spPr>
            <p:txBody>
              <a:bodyPr anchor="t" anchorCtr="0">
                <a:spAutoFit/>
              </a:bodyPr>
              <a:lstStyle/>
              <a:p>
                <a:pPr eaLnBrk="0" hangingPunct="0">
                  <a:spcBef>
                    <a:spcPct val="50000"/>
                  </a:spcBef>
                </a:pPr>
                <a:r>
                  <a:rPr lang="en-US" altLang="zh-CN" sz="1800" dirty="0">
                    <a:solidFill>
                      <a:srgbClr val="000000"/>
                    </a:solidFill>
                    <a:latin typeface="Tahoma" panose="020B0604030504040204" pitchFamily="34" charset="0"/>
                  </a:rPr>
                  <a:t>0</a:t>
                </a:r>
                <a:endParaRPr lang="en-US" altLang="zh-CN" sz="1800" dirty="0">
                  <a:solidFill>
                    <a:srgbClr val="000000"/>
                  </a:solidFill>
                  <a:latin typeface="Tahoma" panose="020B0604030504040204" pitchFamily="34" charset="0"/>
                </a:endParaRPr>
              </a:p>
            </p:txBody>
          </p:sp>
          <p:sp>
            <p:nvSpPr>
              <p:cNvPr id="135181" name="文本框 940044"/>
              <p:cNvSpPr txBox="1"/>
              <p:nvPr/>
            </p:nvSpPr>
            <p:spPr>
              <a:xfrm>
                <a:off x="3679" y="1876"/>
                <a:ext cx="447" cy="232"/>
              </a:xfrm>
              <a:prstGeom prst="rect">
                <a:avLst/>
              </a:prstGeom>
              <a:noFill/>
              <a:ln w="9525">
                <a:noFill/>
              </a:ln>
            </p:spPr>
            <p:txBody>
              <a:bodyPr anchor="t" anchorCtr="0">
                <a:spAutoFit/>
              </a:bodyPr>
              <a:lstStyle/>
              <a:p>
                <a:pPr eaLnBrk="0" hangingPunct="0">
                  <a:spcBef>
                    <a:spcPct val="50000"/>
                  </a:spcBef>
                </a:pPr>
                <a:r>
                  <a:rPr lang="en-US" altLang="zh-CN" sz="1800" dirty="0">
                    <a:solidFill>
                      <a:srgbClr val="000000"/>
                    </a:solidFill>
                    <a:latin typeface="Tahoma" panose="020B0604030504040204" pitchFamily="34" charset="0"/>
                  </a:rPr>
                  <a:t>10%</a:t>
                </a:r>
                <a:endParaRPr lang="en-US" altLang="zh-CN" sz="1800" dirty="0">
                  <a:solidFill>
                    <a:srgbClr val="000000"/>
                  </a:solidFill>
                  <a:latin typeface="Tahoma" panose="020B0604030504040204" pitchFamily="34" charset="0"/>
                </a:endParaRPr>
              </a:p>
            </p:txBody>
          </p:sp>
          <p:sp>
            <p:nvSpPr>
              <p:cNvPr id="135182" name="文本框 940045"/>
              <p:cNvSpPr txBox="1"/>
              <p:nvPr/>
            </p:nvSpPr>
            <p:spPr>
              <a:xfrm>
                <a:off x="4425" y="1876"/>
                <a:ext cx="615" cy="232"/>
              </a:xfrm>
              <a:prstGeom prst="rect">
                <a:avLst/>
              </a:prstGeom>
              <a:noFill/>
              <a:ln w="9525">
                <a:noFill/>
              </a:ln>
            </p:spPr>
            <p:txBody>
              <a:bodyPr anchor="t" anchorCtr="0">
                <a:spAutoFit/>
              </a:bodyPr>
              <a:lstStyle/>
              <a:p>
                <a:pPr eaLnBrk="0" hangingPunct="0">
                  <a:spcBef>
                    <a:spcPct val="50000"/>
                  </a:spcBef>
                </a:pPr>
                <a:r>
                  <a:rPr lang="en-US" altLang="zh-CN" sz="1800" dirty="0">
                    <a:solidFill>
                      <a:srgbClr val="000000"/>
                    </a:solidFill>
                    <a:latin typeface="Tahoma" panose="020B0604030504040204" pitchFamily="34" charset="0"/>
                  </a:rPr>
                  <a:t>12%</a:t>
                </a:r>
                <a:endParaRPr lang="zh-CN" altLang="en-US" sz="1800" dirty="0">
                  <a:solidFill>
                    <a:srgbClr val="000000"/>
                  </a:solidFill>
                  <a:latin typeface="Tahoma" panose="020B0604030504040204" pitchFamily="34" charset="0"/>
                </a:endParaRPr>
              </a:p>
            </p:txBody>
          </p:sp>
        </p:grpSp>
        <p:sp>
          <p:nvSpPr>
            <p:cNvPr id="135183" name="文本框 940046"/>
            <p:cNvSpPr txBox="1"/>
            <p:nvPr/>
          </p:nvSpPr>
          <p:spPr>
            <a:xfrm>
              <a:off x="4704" y="1916"/>
              <a:ext cx="589" cy="232"/>
            </a:xfrm>
            <a:prstGeom prst="rect">
              <a:avLst/>
            </a:prstGeom>
            <a:noFill/>
            <a:ln w="9525">
              <a:noFill/>
            </a:ln>
          </p:spPr>
          <p:txBody>
            <a:bodyPr anchor="t" anchorCtr="0">
              <a:spAutoFit/>
            </a:bodyPr>
            <a:lstStyle/>
            <a:p>
              <a:pPr eaLnBrk="0" hangingPunct="0">
                <a:spcBef>
                  <a:spcPct val="50000"/>
                </a:spcBef>
              </a:pPr>
              <a:r>
                <a:rPr lang="zh-CN" altLang="en-US" sz="1800" dirty="0">
                  <a:solidFill>
                    <a:srgbClr val="000000"/>
                  </a:solidFill>
                  <a:latin typeface="Tahoma" panose="020B0604030504040204" pitchFamily="34" charset="0"/>
                </a:rPr>
                <a:t>折现率</a:t>
              </a:r>
              <a:endParaRPr lang="zh-CN" altLang="en-US" sz="1800" dirty="0">
                <a:solidFill>
                  <a:srgbClr val="000000"/>
                </a:solidFill>
                <a:latin typeface="Tahoma" panose="020B0604030504040204" pitchFamily="34" charset="0"/>
              </a:endParaRPr>
            </a:p>
          </p:txBody>
        </p:sp>
      </p:grpSp>
      <p:graphicFrame>
        <p:nvGraphicFramePr>
          <p:cNvPr id="940081" name="表格 940080"/>
          <p:cNvGraphicFramePr/>
          <p:nvPr/>
        </p:nvGraphicFramePr>
        <p:xfrm>
          <a:off x="2057400" y="4086225"/>
          <a:ext cx="8064500" cy="2352675"/>
        </p:xfrm>
        <a:graphic>
          <a:graphicData uri="http://schemas.openxmlformats.org/drawingml/2006/table">
            <a:tbl>
              <a:tblPr/>
              <a:tblGrid>
                <a:gridCol w="1612900"/>
                <a:gridCol w="1612900"/>
                <a:gridCol w="1612900"/>
                <a:gridCol w="1612900"/>
                <a:gridCol w="1612900"/>
              </a:tblGrid>
              <a:tr h="694690">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buNone/>
                      </a:pPr>
                      <a:r>
                        <a:rPr lang="zh-CN" altLang="en-US" sz="1800" b="0" dirty="0"/>
                        <a:t>项目类型</a:t>
                      </a:r>
                      <a:endParaRPr lang="zh-CN" altLang="en-US"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投资总额</a:t>
                      </a:r>
                      <a:endParaRPr lang="zh-CN" altLang="en-US" sz="1800" b="0" dirty="0"/>
                    </a:p>
                    <a:p>
                      <a:pPr marL="0" lvl="0" indent="0" algn="ctr">
                        <a:buNone/>
                      </a:pPr>
                      <a:r>
                        <a:rPr lang="zh-CN" altLang="en-US" sz="1800" b="0" dirty="0"/>
                        <a:t>（万元）</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净现值</a:t>
                      </a:r>
                      <a:endParaRPr lang="zh-CN" altLang="en-US" sz="1800" b="0" dirty="0"/>
                    </a:p>
                    <a:p>
                      <a:pPr marL="0" lvl="0" indent="0" algn="ctr">
                        <a:buNone/>
                      </a:pPr>
                      <a:r>
                        <a:rPr lang="zh-CN" altLang="en-US" sz="1800" b="0" dirty="0"/>
                        <a:t>（万元）</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目测优劣</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实际优劣</a:t>
                      </a:r>
                      <a:endParaRPr lang="zh-CN" altLang="en-US"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51815">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大</a:t>
                      </a:r>
                      <a:endParaRPr lang="zh-CN" altLang="en-US"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800" b="0"/>
                        <a:t>1000</a:t>
                      </a:r>
                      <a:endParaRPr lang="en-US" altLang="zh-CN"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800" b="0"/>
                        <a:t>15</a:t>
                      </a:r>
                      <a:endParaRPr lang="en-US" altLang="zh-CN"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优</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劣</a:t>
                      </a:r>
                      <a:endParaRPr lang="zh-CN" altLang="en-US"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53720">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中</a:t>
                      </a:r>
                      <a:endParaRPr lang="zh-CN" altLang="en-US"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800" b="0"/>
                        <a:t>300</a:t>
                      </a:r>
                      <a:endParaRPr lang="en-US" altLang="zh-CN"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800" b="0"/>
                        <a:t>6</a:t>
                      </a:r>
                      <a:endParaRPr lang="en-US" altLang="zh-CN"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中</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中</a:t>
                      </a:r>
                      <a:endParaRPr lang="zh-CN" altLang="en-US"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52450">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小</a:t>
                      </a:r>
                      <a:endParaRPr lang="zh-CN" altLang="en-US"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800" b="0"/>
                        <a:t>50</a:t>
                      </a:r>
                      <a:endParaRPr lang="en-US" altLang="zh-CN"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800" b="0"/>
                        <a:t>3</a:t>
                      </a:r>
                      <a:endParaRPr lang="en-US" altLang="zh-CN"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劣</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800" b="0" dirty="0"/>
                        <a:t>优</a:t>
                      </a:r>
                      <a:endParaRPr lang="zh-CN" altLang="en-US"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45155" name="标题 945154"/>
          <p:cNvSpPr>
            <a:spLocks noGrp="1"/>
          </p:cNvSpPr>
          <p:nvPr/>
        </p:nvSpPr>
        <p:spPr>
          <a:xfrm>
            <a:off x="2251075" y="1196975"/>
            <a:ext cx="2309813" cy="379413"/>
          </a:xfrm>
          <a:prstGeom prst="rect">
            <a:avLst/>
          </a:prstGeom>
        </p:spPr>
        <p:txBody>
          <a:bodyPr vert="horz" wrap="square" lIns="91440" tIns="45720" rIns="91440" bIns="45720"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0035">
                                            <p:txEl>
                                              <p:pRg st="0" end="0"/>
                                            </p:txEl>
                                          </p:spTgt>
                                        </p:tgtEl>
                                        <p:attrNameLst>
                                          <p:attrName>style.visibility</p:attrName>
                                        </p:attrNameLst>
                                      </p:cBhvr>
                                      <p:to>
                                        <p:strVal val="visible"/>
                                      </p:to>
                                    </p:set>
                                    <p:anim calcmode="lin" valueType="num">
                                      <p:cBhvr>
                                        <p:cTn id="7" dur="500" fill="hold"/>
                                        <p:tgtEl>
                                          <p:spTgt spid="940035">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400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40035">
                                            <p:txEl>
                                              <p:pRg st="1" end="1"/>
                                            </p:txEl>
                                          </p:spTgt>
                                        </p:tgtEl>
                                        <p:attrNameLst>
                                          <p:attrName>style.visibility</p:attrName>
                                        </p:attrNameLst>
                                      </p:cBhvr>
                                      <p:to>
                                        <p:strVal val="visible"/>
                                      </p:to>
                                    </p:set>
                                    <p:anim calcmode="lin" valueType="num">
                                      <p:cBhvr>
                                        <p:cTn id="13" dur="500" fill="hold"/>
                                        <p:tgtEl>
                                          <p:spTgt spid="940035">
                                            <p:txEl>
                                              <p:pRg st="1" end="1"/>
                                            </p:txEl>
                                          </p:spTgt>
                                        </p:tgtEl>
                                        <p:attrNameLst>
                                          <p:attrName>ppt_x</p:attrName>
                                        </p:attrNameLst>
                                      </p:cBhvr>
                                      <p:tavLst>
                                        <p:tav tm="0">
                                          <p:val>
                                            <p:strVal val="0-#ppt_w/2"/>
                                          </p:val>
                                        </p:tav>
                                        <p:tav tm="100000">
                                          <p:val>
                                            <p:strVal val="#ppt_x"/>
                                          </p:val>
                                        </p:tav>
                                      </p:tavLst>
                                    </p:anim>
                                    <p:anim calcmode="lin" valueType="num">
                                      <p:cBhvr>
                                        <p:cTn id="14" dur="500" fill="hold"/>
                                        <p:tgtEl>
                                          <p:spTgt spid="9400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40084"/>
                                        </p:tgtEl>
                                        <p:attrNameLst>
                                          <p:attrName>style.visibility</p:attrName>
                                        </p:attrNameLst>
                                      </p:cBhvr>
                                      <p:to>
                                        <p:strVal val="visible"/>
                                      </p:to>
                                    </p:set>
                                    <p:anim calcmode="lin" valueType="num">
                                      <p:cBhvr>
                                        <p:cTn id="19" dur="500" fill="hold"/>
                                        <p:tgtEl>
                                          <p:spTgt spid="940084"/>
                                        </p:tgtEl>
                                        <p:attrNameLst>
                                          <p:attrName>ppt_x</p:attrName>
                                        </p:attrNameLst>
                                      </p:cBhvr>
                                      <p:tavLst>
                                        <p:tav tm="0">
                                          <p:val>
                                            <p:strVal val="0-#ppt_w/2"/>
                                          </p:val>
                                        </p:tav>
                                        <p:tav tm="100000">
                                          <p:val>
                                            <p:strVal val="#ppt_x"/>
                                          </p:val>
                                        </p:tav>
                                      </p:tavLst>
                                    </p:anim>
                                    <p:anim calcmode="lin" valueType="num">
                                      <p:cBhvr>
                                        <p:cTn id="20" dur="500" fill="hold"/>
                                        <p:tgtEl>
                                          <p:spTgt spid="94008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40081"/>
                                        </p:tgtEl>
                                        <p:attrNameLst>
                                          <p:attrName>style.visibility</p:attrName>
                                        </p:attrNameLst>
                                      </p:cBhvr>
                                      <p:to>
                                        <p:strVal val="visible"/>
                                      </p:to>
                                    </p:set>
                                    <p:anim calcmode="lin" valueType="num">
                                      <p:cBhvr>
                                        <p:cTn id="25" dur="500" fill="hold"/>
                                        <p:tgtEl>
                                          <p:spTgt spid="940081"/>
                                        </p:tgtEl>
                                        <p:attrNameLst>
                                          <p:attrName>ppt_x</p:attrName>
                                        </p:attrNameLst>
                                      </p:cBhvr>
                                      <p:tavLst>
                                        <p:tav tm="0">
                                          <p:val>
                                            <p:strVal val="0-#ppt_w/2"/>
                                          </p:val>
                                        </p:tav>
                                        <p:tav tm="100000">
                                          <p:val>
                                            <p:strVal val="#ppt_x"/>
                                          </p:val>
                                        </p:tav>
                                      </p:tavLst>
                                    </p:anim>
                                    <p:anim calcmode="lin" valueType="num">
                                      <p:cBhvr>
                                        <p:cTn id="26" dur="500" fill="hold"/>
                                        <p:tgtEl>
                                          <p:spTgt spid="9400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5"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标题 941057"/>
          <p:cNvSpPr>
            <a:spLocks noGrp="1"/>
          </p:cNvSpPr>
          <p:nvPr>
            <p:ph type="title"/>
          </p:nvPr>
        </p:nvSpPr>
        <p:spPr>
          <a:xfrm>
            <a:off x="2640013" y="1412875"/>
            <a:ext cx="4114800" cy="94456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4.</a:t>
            </a:r>
            <a:r>
              <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内部收益率法</a:t>
            </a:r>
            <a:endPar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endParaRPr>
          </a:p>
        </p:txBody>
      </p:sp>
      <p:sp>
        <p:nvSpPr>
          <p:cNvPr id="941059" name="内容占位符 941058"/>
          <p:cNvSpPr>
            <a:spLocks noGrp="1"/>
          </p:cNvSpPr>
          <p:nvPr>
            <p:ph idx="1"/>
          </p:nvPr>
        </p:nvSpPr>
        <p:spPr>
          <a:xfrm>
            <a:off x="2206625" y="2420938"/>
            <a:ext cx="7629525" cy="958850"/>
          </a:xfrm>
        </p:spPr>
        <p:txBody>
          <a:bodyPr vert="horz" wrap="square" anchor="t" anchorCtr="0"/>
          <a:lstStyle/>
          <a:p>
            <a:pPr>
              <a:buNone/>
            </a:pPr>
            <a:r>
              <a:rPr lang="zh-CN" altLang="en-US" sz="1800" dirty="0">
                <a:ea typeface="华文中宋" panose="02010600040101010101" pitchFamily="2" charset="-122"/>
              </a:rPr>
              <a:t>    是指项目在计算期内，各年净现金流量现值累计（</a:t>
            </a:r>
            <a:r>
              <a:rPr lang="en-US" altLang="zh-CN" sz="1800" dirty="0">
                <a:ea typeface="华文中宋" panose="02010600040101010101" pitchFamily="2" charset="-122"/>
              </a:rPr>
              <a:t>NPV</a:t>
            </a:r>
            <a:r>
              <a:rPr lang="zh-CN" altLang="en-US" sz="1800" dirty="0">
                <a:ea typeface="华文中宋" panose="02010600040101010101" pitchFamily="2" charset="-122"/>
              </a:rPr>
              <a:t>）等于零时的折现率。</a:t>
            </a:r>
            <a:endParaRPr lang="zh-CN" altLang="en-US" sz="2000" dirty="0">
              <a:ea typeface="华文中宋" panose="02010600040101010101" pitchFamily="2" charset="-122"/>
            </a:endParaRPr>
          </a:p>
        </p:txBody>
      </p:sp>
      <p:graphicFrame>
        <p:nvGraphicFramePr>
          <p:cNvPr id="941060" name="对象 941059"/>
          <p:cNvGraphicFramePr/>
          <p:nvPr/>
        </p:nvGraphicFramePr>
        <p:xfrm>
          <a:off x="3216275" y="3502025"/>
          <a:ext cx="4876800" cy="914400"/>
        </p:xfrm>
        <a:graphic>
          <a:graphicData uri="http://schemas.openxmlformats.org/presentationml/2006/ole">
            <mc:AlternateContent xmlns:mc="http://schemas.openxmlformats.org/markup-compatibility/2006">
              <mc:Choice xmlns:v="urn:schemas-microsoft-com:vml" Requires="v">
                <p:oleObj spid="_x0000_s9230" name="" r:id="rId1" imgW="2667000" imgH="647700" progId="Paint.Picture">
                  <p:embed/>
                </p:oleObj>
              </mc:Choice>
              <mc:Fallback>
                <p:oleObj name="" r:id="rId1" imgW="2667000" imgH="647700" progId="Paint.Picture">
                  <p:embed/>
                  <p:pic>
                    <p:nvPicPr>
                      <p:cNvPr id="0" name="图片 3081"/>
                      <p:cNvPicPr/>
                      <p:nvPr/>
                    </p:nvPicPr>
                    <p:blipFill>
                      <a:blip r:embed="rId2"/>
                      <a:stretch>
                        <a:fillRect/>
                      </a:stretch>
                    </p:blipFill>
                    <p:spPr>
                      <a:xfrm>
                        <a:off x="3216275" y="3502025"/>
                        <a:ext cx="4876800" cy="914400"/>
                      </a:xfrm>
                      <a:prstGeom prst="rect">
                        <a:avLst/>
                      </a:prstGeom>
                      <a:noFill/>
                      <a:ln w="38100">
                        <a:noFill/>
                        <a:miter/>
                      </a:ln>
                    </p:spPr>
                  </p:pic>
                </p:oleObj>
              </mc:Fallback>
            </mc:AlternateContent>
          </a:graphicData>
        </a:graphic>
      </p:graphicFrame>
      <p:sp>
        <p:nvSpPr>
          <p:cNvPr id="941062" name="矩形 941061"/>
          <p:cNvSpPr/>
          <p:nvPr/>
        </p:nvSpPr>
        <p:spPr>
          <a:xfrm>
            <a:off x="2057400" y="4343400"/>
            <a:ext cx="7696200" cy="1905000"/>
          </a:xfrm>
          <a:prstGeom prst="rect">
            <a:avLst/>
          </a:prstGeom>
          <a:noFill/>
          <a:ln w="9525">
            <a:noFill/>
          </a:ln>
        </p:spPr>
        <p:txBody>
          <a:bodyPr/>
          <a:lstStyle/>
          <a:p>
            <a:pPr marL="342900" marR="0" lvl="0" indent="-342900" algn="l" defTabSz="914400" rtl="0" eaLnBrk="0" fontAlgn="base" latinLnBrk="0" hangingPunct="0">
              <a:lnSpc>
                <a:spcPct val="90000"/>
              </a:lnSpc>
              <a:spcBef>
                <a:spcPct val="20000"/>
              </a:spcBef>
              <a:spcAft>
                <a:spcPct val="0"/>
              </a:spcAft>
              <a:buClr>
                <a:srgbClr val="8DC765"/>
              </a:buClr>
              <a:buSzPct val="90000"/>
              <a:buFont typeface="Wingdings" panose="05000000000000000000" pitchFamily="2" charset="2"/>
              <a:buNone/>
              <a:defRPr/>
            </a:pP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	 </a:t>
            </a: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1</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rPr>
              <a:t>）选定基准收益率</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8DC765"/>
              </a:buClr>
              <a:buSzPct val="90000"/>
              <a:buFont typeface="Wingdings" panose="05000000000000000000" pitchFamily="2" charset="2"/>
              <a:buNone/>
              <a:defRPr/>
            </a:pP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     2</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）项目内部收益率大于或等于基准收益率，可行。</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8DC765"/>
              </a:buClr>
              <a:buSzPct val="90000"/>
              <a:buFont typeface="Wingdings" panose="05000000000000000000" pitchFamily="2" charset="2"/>
              <a:buNone/>
              <a:defRPr/>
            </a:pP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     3</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）同一项目的不同方案比较，内部收益率大者优先</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90000"/>
              </a:lnSpc>
              <a:spcBef>
                <a:spcPct val="20000"/>
              </a:spcBef>
              <a:spcAft>
                <a:spcPct val="0"/>
              </a:spcAft>
              <a:buClr>
                <a:srgbClr val="8DC765"/>
              </a:buClr>
              <a:buSzPct val="90000"/>
              <a:buFont typeface="Wingdings" panose="05000000000000000000" pitchFamily="2" charset="2"/>
              <a:buNone/>
              <a:defRPr/>
            </a:pPr>
            <a:r>
              <a:rPr kumimoji="0" lang="en-US" altLang="zh-CN" sz="2400" b="0" i="0" u="none" strike="noStrike" kern="1200" cap="none" spc="0" normalizeH="0" baseline="0" noProof="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     4</a:t>
            </a:r>
            <a:r>
              <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rPr>
              <a:t>）是衡量项目获益能力的良好指标</a:t>
            </a:r>
            <a:endParaRPr kumimoji="0" lang="zh-CN" altLang="en-US" sz="2400" b="0" i="0" u="none" strike="noStrike" kern="1200" cap="none" spc="0" normalizeH="0" baseline="0" noProof="0" dirty="0">
              <a:ln>
                <a:noFill/>
              </a:ln>
              <a:solidFill>
                <a:prstClr val="black"/>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p:txBody>
      </p:sp>
      <p:sp>
        <p:nvSpPr>
          <p:cNvPr id="945155" name="标题 945154"/>
          <p:cNvSpPr>
            <a:spLocks noGrp="1"/>
          </p:cNvSpPr>
          <p:nvPr/>
        </p:nvSpPr>
        <p:spPr>
          <a:xfrm>
            <a:off x="2251075" y="1196975"/>
            <a:ext cx="2309813" cy="379413"/>
          </a:xfrm>
          <a:prstGeom prst="rect">
            <a:avLst/>
          </a:prstGeom>
        </p:spPr>
        <p:txBody>
          <a:bodyPr vert="horz" wrap="square" lIns="91440" tIns="45720" rIns="91440" bIns="45720"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1059">
                                            <p:txEl>
                                              <p:pRg st="0" end="0"/>
                                            </p:txEl>
                                          </p:spTgt>
                                        </p:tgtEl>
                                        <p:attrNameLst>
                                          <p:attrName>style.visibility</p:attrName>
                                        </p:attrNameLst>
                                      </p:cBhvr>
                                      <p:to>
                                        <p:strVal val="visible"/>
                                      </p:to>
                                    </p:set>
                                    <p:anim calcmode="lin" valueType="num">
                                      <p:cBhvr>
                                        <p:cTn id="7" dur="500" fill="hold"/>
                                        <p:tgtEl>
                                          <p:spTgt spid="941059">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41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41060"/>
                                        </p:tgtEl>
                                        <p:attrNameLst>
                                          <p:attrName>style.visibility</p:attrName>
                                        </p:attrNameLst>
                                      </p:cBhvr>
                                      <p:to>
                                        <p:strVal val="visible"/>
                                      </p:to>
                                    </p:set>
                                    <p:anim calcmode="lin" valueType="num">
                                      <p:cBhvr>
                                        <p:cTn id="13" dur="500" fill="hold"/>
                                        <p:tgtEl>
                                          <p:spTgt spid="941060"/>
                                        </p:tgtEl>
                                        <p:attrNameLst>
                                          <p:attrName>ppt_x</p:attrName>
                                        </p:attrNameLst>
                                      </p:cBhvr>
                                      <p:tavLst>
                                        <p:tav tm="0">
                                          <p:val>
                                            <p:strVal val="0-#ppt_w/2"/>
                                          </p:val>
                                        </p:tav>
                                        <p:tav tm="100000">
                                          <p:val>
                                            <p:strVal val="#ppt_x"/>
                                          </p:val>
                                        </p:tav>
                                      </p:tavLst>
                                    </p:anim>
                                    <p:anim calcmode="lin" valueType="num">
                                      <p:cBhvr>
                                        <p:cTn id="14" dur="500" fill="hold"/>
                                        <p:tgtEl>
                                          <p:spTgt spid="94106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41062">
                                            <p:txEl>
                                              <p:pRg st="0" end="0"/>
                                            </p:txEl>
                                          </p:spTgt>
                                        </p:tgtEl>
                                        <p:attrNameLst>
                                          <p:attrName>style.visibility</p:attrName>
                                        </p:attrNameLst>
                                      </p:cBhvr>
                                      <p:to>
                                        <p:strVal val="visible"/>
                                      </p:to>
                                    </p:set>
                                    <p:anim calcmode="lin" valueType="num">
                                      <p:cBhvr>
                                        <p:cTn id="19" dur="500" fill="hold"/>
                                        <p:tgtEl>
                                          <p:spTgt spid="941062">
                                            <p:txEl>
                                              <p:pRg st="0" end="0"/>
                                            </p:txEl>
                                          </p:spTgt>
                                        </p:tgtEl>
                                        <p:attrNameLst>
                                          <p:attrName>ppt_x</p:attrName>
                                        </p:attrNameLst>
                                      </p:cBhvr>
                                      <p:tavLst>
                                        <p:tav tm="0">
                                          <p:val>
                                            <p:strVal val="0-#ppt_w/2"/>
                                          </p:val>
                                        </p:tav>
                                        <p:tav tm="100000">
                                          <p:val>
                                            <p:strVal val="#ppt_x"/>
                                          </p:val>
                                        </p:tav>
                                      </p:tavLst>
                                    </p:anim>
                                    <p:anim calcmode="lin" valueType="num">
                                      <p:cBhvr>
                                        <p:cTn id="20" dur="500" fill="hold"/>
                                        <p:tgtEl>
                                          <p:spTgt spid="9410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41062">
                                            <p:txEl>
                                              <p:pRg st="1" end="1"/>
                                            </p:txEl>
                                          </p:spTgt>
                                        </p:tgtEl>
                                        <p:attrNameLst>
                                          <p:attrName>style.visibility</p:attrName>
                                        </p:attrNameLst>
                                      </p:cBhvr>
                                      <p:to>
                                        <p:strVal val="visible"/>
                                      </p:to>
                                    </p:set>
                                    <p:anim calcmode="lin" valueType="num">
                                      <p:cBhvr>
                                        <p:cTn id="25" dur="500" fill="hold"/>
                                        <p:tgtEl>
                                          <p:spTgt spid="941062">
                                            <p:txEl>
                                              <p:pRg st="1" end="1"/>
                                            </p:txEl>
                                          </p:spTgt>
                                        </p:tgtEl>
                                        <p:attrNameLst>
                                          <p:attrName>ppt_x</p:attrName>
                                        </p:attrNameLst>
                                      </p:cBhvr>
                                      <p:tavLst>
                                        <p:tav tm="0">
                                          <p:val>
                                            <p:strVal val="0-#ppt_w/2"/>
                                          </p:val>
                                        </p:tav>
                                        <p:tav tm="100000">
                                          <p:val>
                                            <p:strVal val="#ppt_x"/>
                                          </p:val>
                                        </p:tav>
                                      </p:tavLst>
                                    </p:anim>
                                    <p:anim calcmode="lin" valueType="num">
                                      <p:cBhvr>
                                        <p:cTn id="26" dur="500" fill="hold"/>
                                        <p:tgtEl>
                                          <p:spTgt spid="94106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41062">
                                            <p:txEl>
                                              <p:pRg st="2" end="2"/>
                                            </p:txEl>
                                          </p:spTgt>
                                        </p:tgtEl>
                                        <p:attrNameLst>
                                          <p:attrName>style.visibility</p:attrName>
                                        </p:attrNameLst>
                                      </p:cBhvr>
                                      <p:to>
                                        <p:strVal val="visible"/>
                                      </p:to>
                                    </p:set>
                                    <p:anim calcmode="lin" valueType="num">
                                      <p:cBhvr>
                                        <p:cTn id="31" dur="500" fill="hold"/>
                                        <p:tgtEl>
                                          <p:spTgt spid="941062">
                                            <p:txEl>
                                              <p:pRg st="2" end="2"/>
                                            </p:txEl>
                                          </p:spTgt>
                                        </p:tgtEl>
                                        <p:attrNameLst>
                                          <p:attrName>ppt_x</p:attrName>
                                        </p:attrNameLst>
                                      </p:cBhvr>
                                      <p:tavLst>
                                        <p:tav tm="0">
                                          <p:val>
                                            <p:strVal val="0-#ppt_w/2"/>
                                          </p:val>
                                        </p:tav>
                                        <p:tav tm="100000">
                                          <p:val>
                                            <p:strVal val="#ppt_x"/>
                                          </p:val>
                                        </p:tav>
                                      </p:tavLst>
                                    </p:anim>
                                    <p:anim calcmode="lin" valueType="num">
                                      <p:cBhvr>
                                        <p:cTn id="32" dur="500" fill="hold"/>
                                        <p:tgtEl>
                                          <p:spTgt spid="94106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41062">
                                            <p:txEl>
                                              <p:pRg st="3" end="3"/>
                                            </p:txEl>
                                          </p:spTgt>
                                        </p:tgtEl>
                                        <p:attrNameLst>
                                          <p:attrName>style.visibility</p:attrName>
                                        </p:attrNameLst>
                                      </p:cBhvr>
                                      <p:to>
                                        <p:strVal val="visible"/>
                                      </p:to>
                                    </p:set>
                                    <p:anim calcmode="lin" valueType="num">
                                      <p:cBhvr>
                                        <p:cTn id="37" dur="500" fill="hold"/>
                                        <p:tgtEl>
                                          <p:spTgt spid="941062">
                                            <p:txEl>
                                              <p:pRg st="3" end="3"/>
                                            </p:txEl>
                                          </p:spTgt>
                                        </p:tgtEl>
                                        <p:attrNameLst>
                                          <p:attrName>ppt_x</p:attrName>
                                        </p:attrNameLst>
                                      </p:cBhvr>
                                      <p:tavLst>
                                        <p:tav tm="0">
                                          <p:val>
                                            <p:strVal val="0-#ppt_w/2"/>
                                          </p:val>
                                        </p:tav>
                                        <p:tav tm="100000">
                                          <p:val>
                                            <p:strVal val="#ppt_x"/>
                                          </p:val>
                                        </p:tav>
                                      </p:tavLst>
                                    </p:anim>
                                    <p:anim calcmode="lin" valueType="num">
                                      <p:cBhvr>
                                        <p:cTn id="38" dur="500" fill="hold"/>
                                        <p:tgtEl>
                                          <p:spTgt spid="94106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59" grpId="0" build="p"/>
      <p:bldP spid="941062"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标题 942081"/>
          <p:cNvSpPr>
            <a:spLocks noGrp="1"/>
          </p:cNvSpPr>
          <p:nvPr>
            <p:ph type="title"/>
          </p:nvPr>
        </p:nvSpPr>
        <p:spPr>
          <a:xfrm>
            <a:off x="2063750" y="1450975"/>
            <a:ext cx="8229600" cy="65405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5.</a:t>
            </a:r>
            <a:r>
              <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要素加权分析方法</a:t>
            </a:r>
            <a:endPar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endParaRPr>
          </a:p>
        </p:txBody>
      </p:sp>
      <p:graphicFrame>
        <p:nvGraphicFramePr>
          <p:cNvPr id="942155" name="表格 942154"/>
          <p:cNvGraphicFramePr/>
          <p:nvPr/>
        </p:nvGraphicFramePr>
        <p:xfrm>
          <a:off x="2286000" y="2286000"/>
          <a:ext cx="7620000" cy="3522345"/>
        </p:xfrm>
        <a:graphic>
          <a:graphicData uri="http://schemas.openxmlformats.org/drawingml/2006/table">
            <a:tbl>
              <a:tblPr/>
              <a:tblGrid>
                <a:gridCol w="2292350"/>
                <a:gridCol w="876300"/>
                <a:gridCol w="741680"/>
                <a:gridCol w="810895"/>
                <a:gridCol w="741680"/>
                <a:gridCol w="741045"/>
                <a:gridCol w="742950"/>
                <a:gridCol w="673100"/>
              </a:tblGrid>
              <a:tr h="395605">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要素</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solidFill>
                            <a:srgbClr val="FF3300"/>
                          </a:solidFill>
                        </a:rPr>
                        <a:t>权重？</a:t>
                      </a:r>
                      <a:endParaRPr lang="zh-CN" altLang="en-US" sz="1600" b="0" dirty="0">
                        <a:solidFill>
                          <a:srgbClr val="FF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3">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单项得分</a:t>
                      </a:r>
                      <a:endParaRPr lang="zh-CN" altLang="en-US" sz="16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3">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加权得分</a:t>
                      </a:r>
                      <a:endParaRPr lang="zh-CN" altLang="en-US" sz="16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94970">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项目</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endParaRPr lang="zh-CN" altLang="en-US" sz="16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A</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B</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C</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A</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B</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C</a:t>
                      </a:r>
                      <a:endParaRPr lang="en-US" altLang="zh-CN" sz="16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00405">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项目计划执行前后比对</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5</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20</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15</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15</a:t>
                      </a:r>
                      <a:endParaRPr lang="en-US" altLang="zh-CN" sz="16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4335">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内部收益率</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9</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12</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9</a:t>
                      </a:r>
                      <a:endParaRPr lang="en-US" altLang="zh-CN" sz="16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41655">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公司运营必要约束</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5</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15</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12</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12</a:t>
                      </a:r>
                      <a:endParaRPr lang="en-US" altLang="zh-CN" sz="16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99770">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所含风险大小（</a:t>
                      </a:r>
                      <a:r>
                        <a:rPr lang="en-US" altLang="zh-CN" sz="1600" b="0"/>
                        <a:t>5</a:t>
                      </a:r>
                      <a:r>
                        <a:rPr lang="zh-CN" altLang="en-US" sz="1600" b="0" dirty="0"/>
                        <a:t>表示最低）</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2</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3</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6</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8</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8</a:t>
                      </a:r>
                      <a:endParaRPr lang="en-US" altLang="zh-CN" sz="16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5605">
                <a:tc gridSpan="5">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zh-CN" altLang="en-US" sz="1600" b="0" dirty="0"/>
                        <a:t>总加权的分</a:t>
                      </a:r>
                      <a:endParaRPr lang="zh-CN" altLang="en-US" sz="16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hMerge="1">
                  <a:tcP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50</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47</a:t>
                      </a:r>
                      <a:endParaRPr lang="en-US" altLang="zh-CN" sz="16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rtl="0" eaLnBrk="1" fontAlgn="base" latinLnBrk="0" hangingPunct="1">
                        <a:lnSpc>
                          <a:spcPct val="100000"/>
                        </a:lnSpc>
                        <a:spcBef>
                          <a:spcPct val="20000"/>
                        </a:spcBef>
                        <a:spcAft>
                          <a:spcPct val="0"/>
                        </a:spcAft>
                        <a:buClr>
                          <a:schemeClr val="accent2"/>
                        </a:buClr>
                        <a:buSzPct val="120000"/>
                        <a:buFont typeface="Wingdings" panose="05000000000000000000" pitchFamily="2" charset="2"/>
                        <a:buBlip>
                          <a:blip r:embed="rId1"/>
                        </a:buBlip>
                        <a:defRPr sz="2000" b="1" u="none" kern="1200" baseline="0">
                          <a:solidFill>
                            <a:schemeClr val="tx1"/>
                          </a:solidFill>
                          <a:latin typeface="Verdana" panose="020B0604030504040204" pitchFamily="34" charset="0"/>
                          <a:ea typeface="黑体" panose="0201060906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Ø"/>
                        <a:defRPr sz="2000" b="1" i="0" u="none" kern="1200" baseline="0">
                          <a:solidFill>
                            <a:schemeClr val="tx1"/>
                          </a:solidFill>
                          <a:latin typeface="Verdana" panose="020B0604030504040204" pitchFamily="34" charset="0"/>
                          <a:ea typeface="黑体" panose="0201060906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l"/>
                        <a:defRPr sz="2200" b="1" i="0" u="none" kern="1200" baseline="0">
                          <a:solidFill>
                            <a:schemeClr val="tx1"/>
                          </a:solidFill>
                          <a:latin typeface="Verdana" panose="020B0604030504040204" pitchFamily="34" charset="0"/>
                          <a:ea typeface="黑体" panose="0201060906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sz="2000" b="1" i="0" u="none" kern="1200" baseline="0">
                          <a:solidFill>
                            <a:schemeClr val="tx1"/>
                          </a:solidFill>
                          <a:latin typeface="Verdana" panose="020B0604030504040204" pitchFamily="34" charset="0"/>
                          <a:ea typeface="黑体" panose="0201060906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SzTx/>
                        <a:buFont typeface="Wingdings" panose="05000000000000000000" pitchFamily="2" charset="2"/>
                        <a:buChar char="§"/>
                        <a:defRPr sz="2000" b="1" i="0" u="none" kern="1200" baseline="0">
                          <a:solidFill>
                            <a:schemeClr val="tx1"/>
                          </a:solidFill>
                          <a:latin typeface="Verdana" panose="020B0604030504040204" pitchFamily="34" charset="0"/>
                          <a:ea typeface="黑体" panose="02010609060101010101" pitchFamily="49" charset="-122"/>
                        </a:defRPr>
                      </a:lvl5pPr>
                    </a:lstStyle>
                    <a:p>
                      <a:pPr marL="0" lvl="0" indent="0" algn="ctr">
                        <a:buNone/>
                      </a:pPr>
                      <a:r>
                        <a:rPr lang="en-US" altLang="zh-CN" sz="1600" b="0"/>
                        <a:t>44</a:t>
                      </a:r>
                      <a:endParaRPr lang="en-US" altLang="zh-CN" sz="16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45155" name="标题 945154"/>
          <p:cNvSpPr>
            <a:spLocks noGrp="1"/>
          </p:cNvSpPr>
          <p:nvPr/>
        </p:nvSpPr>
        <p:spPr>
          <a:xfrm>
            <a:off x="2251075" y="1196975"/>
            <a:ext cx="2309813" cy="379413"/>
          </a:xfrm>
          <a:prstGeom prst="rect">
            <a:avLst/>
          </a:prstGeom>
        </p:spPr>
        <p:txBody>
          <a:bodyPr vert="horz" wrap="square" lIns="91440" tIns="45720" rIns="91440" bIns="45720"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标题 943105"/>
          <p:cNvSpPr>
            <a:spLocks noGrp="1"/>
          </p:cNvSpPr>
          <p:nvPr>
            <p:ph type="title"/>
          </p:nvPr>
        </p:nvSpPr>
        <p:spPr>
          <a:xfrm>
            <a:off x="1981200" y="1447800"/>
            <a:ext cx="8229600" cy="735013"/>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6.</a:t>
            </a:r>
            <a:r>
              <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rPr>
              <a:t>层次分析法</a:t>
            </a:r>
            <a:endParaRPr kumimoji="0" lang="zh-CN" altLang="en-US" sz="1800" b="1" i="0" u="none" strike="noStrike" kern="1200" cap="none" spc="0" normalizeH="0" baseline="0" noProof="0" dirty="0">
              <a:ln>
                <a:noFill/>
              </a:ln>
              <a:solidFill>
                <a:srgbClr val="FF3300"/>
              </a:solidFill>
              <a:effectLst>
                <a:outerShdw blurRad="50000" dist="30000" dir="5400000" algn="tl" rotWithShape="0">
                  <a:srgbClr val="000000">
                    <a:alpha val="30000"/>
                  </a:srgbClr>
                </a:outerShdw>
              </a:effectLst>
              <a:uLnTx/>
              <a:uFillTx/>
              <a:latin typeface="宋体" panose="02010600030101010101" pitchFamily="2" charset="-122"/>
              <a:ea typeface="+mj-ea"/>
              <a:cs typeface="+mj-cs"/>
            </a:endParaRPr>
          </a:p>
        </p:txBody>
      </p:sp>
      <p:sp>
        <p:nvSpPr>
          <p:cNvPr id="943107" name="内容占位符 943106"/>
          <p:cNvSpPr>
            <a:spLocks noGrp="1"/>
          </p:cNvSpPr>
          <p:nvPr>
            <p:ph idx="1"/>
          </p:nvPr>
        </p:nvSpPr>
        <p:spPr>
          <a:xfrm>
            <a:off x="1981200" y="2743200"/>
            <a:ext cx="1954213" cy="3581400"/>
          </a:xfrm>
        </p:spPr>
        <p:txBody>
          <a:bodyPr vert="horz" wrap="square" anchor="t" anchorCtr="0"/>
          <a:lstStyle/>
          <a:p>
            <a:r>
              <a:rPr lang="zh-CN" altLang="en-US" sz="1800" dirty="0">
                <a:ea typeface="华文中宋" panose="02010600040101010101" pitchFamily="2" charset="-122"/>
              </a:rPr>
              <a:t>目标层</a:t>
            </a:r>
            <a:endParaRPr lang="zh-CN" altLang="en-US" sz="1800" dirty="0">
              <a:ea typeface="华文中宋" panose="02010600040101010101" pitchFamily="2" charset="-122"/>
            </a:endParaRPr>
          </a:p>
          <a:p>
            <a:endParaRPr lang="zh-CN" altLang="en-US" sz="1800" dirty="0">
              <a:ea typeface="华文中宋" panose="02010600040101010101" pitchFamily="2" charset="-122"/>
            </a:endParaRPr>
          </a:p>
          <a:p>
            <a:r>
              <a:rPr lang="zh-CN" altLang="en-US" sz="1800" dirty="0">
                <a:ea typeface="华文中宋" panose="02010600040101010101" pitchFamily="2" charset="-122"/>
              </a:rPr>
              <a:t>标准层</a:t>
            </a:r>
            <a:endParaRPr lang="zh-CN" altLang="en-US" sz="1800" dirty="0">
              <a:ea typeface="华文中宋" panose="02010600040101010101" pitchFamily="2" charset="-122"/>
            </a:endParaRPr>
          </a:p>
          <a:p>
            <a:endParaRPr lang="zh-CN" altLang="en-US" sz="1800" dirty="0">
              <a:ea typeface="华文中宋" panose="02010600040101010101" pitchFamily="2" charset="-122"/>
            </a:endParaRPr>
          </a:p>
          <a:p>
            <a:r>
              <a:rPr lang="zh-CN" altLang="en-US" sz="1800" dirty="0">
                <a:ea typeface="华文中宋" panose="02010600040101010101" pitchFamily="2" charset="-122"/>
              </a:rPr>
              <a:t>方案层</a:t>
            </a:r>
            <a:endParaRPr lang="zh-CN" altLang="en-US" sz="1800" dirty="0">
              <a:ea typeface="华文中宋" panose="02010600040101010101" pitchFamily="2" charset="-122"/>
            </a:endParaRPr>
          </a:p>
        </p:txBody>
      </p:sp>
      <p:grpSp>
        <p:nvGrpSpPr>
          <p:cNvPr id="943108" name="组合 943107"/>
          <p:cNvGrpSpPr/>
          <p:nvPr/>
        </p:nvGrpSpPr>
        <p:grpSpPr>
          <a:xfrm>
            <a:off x="4114800" y="2514600"/>
            <a:ext cx="5292725" cy="2960688"/>
            <a:chOff x="1610" y="1207"/>
            <a:chExt cx="3947" cy="1906"/>
          </a:xfrm>
        </p:grpSpPr>
        <p:sp>
          <p:nvSpPr>
            <p:cNvPr id="138244" name="矩形 943108"/>
            <p:cNvSpPr/>
            <p:nvPr/>
          </p:nvSpPr>
          <p:spPr>
            <a:xfrm>
              <a:off x="3061" y="1207"/>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dirty="0">
                  <a:solidFill>
                    <a:srgbClr val="000000"/>
                  </a:solidFill>
                  <a:latin typeface="Tahoma" panose="020B0604030504040204" pitchFamily="34" charset="0"/>
                </a:rPr>
                <a:t>目标</a:t>
              </a:r>
              <a:r>
                <a:rPr lang="en-US" altLang="zh-CN" dirty="0">
                  <a:solidFill>
                    <a:srgbClr val="000000"/>
                  </a:solidFill>
                  <a:latin typeface="Tahoma" panose="020B0604030504040204" pitchFamily="34" charset="0"/>
                </a:rPr>
                <a:t>/</a:t>
              </a:r>
              <a:r>
                <a:rPr lang="zh-CN" altLang="en-US" dirty="0">
                  <a:solidFill>
                    <a:srgbClr val="000000"/>
                  </a:solidFill>
                  <a:latin typeface="Tahoma" panose="020B0604030504040204" pitchFamily="34" charset="0"/>
                </a:rPr>
                <a:t>主题</a:t>
              </a:r>
              <a:endParaRPr lang="zh-CN" altLang="en-US" dirty="0">
                <a:solidFill>
                  <a:srgbClr val="000000"/>
                </a:solidFill>
                <a:latin typeface="Tahoma" panose="020B0604030504040204" pitchFamily="34" charset="0"/>
              </a:endParaRPr>
            </a:p>
          </p:txBody>
        </p:sp>
        <p:sp>
          <p:nvSpPr>
            <p:cNvPr id="138245" name="矩形 943109"/>
            <p:cNvSpPr/>
            <p:nvPr/>
          </p:nvSpPr>
          <p:spPr>
            <a:xfrm>
              <a:off x="4468" y="1888"/>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en-US" altLang="zh-CN" dirty="0">
                  <a:solidFill>
                    <a:srgbClr val="000000"/>
                  </a:solidFill>
                  <a:latin typeface="Arial" panose="020B0604020202020204" pitchFamily="34" charset="0"/>
                </a:rPr>
                <a:t>…</a:t>
              </a:r>
              <a:r>
                <a:rPr lang="zh-CN" altLang="en-US" dirty="0">
                  <a:solidFill>
                    <a:srgbClr val="000000"/>
                  </a:solidFill>
                  <a:latin typeface="Tahoma" panose="020B0604030504040204" pitchFamily="34" charset="0"/>
                </a:rPr>
                <a:t>标准</a:t>
              </a:r>
              <a:r>
                <a:rPr lang="en-US" altLang="zh-CN" dirty="0">
                  <a:solidFill>
                    <a:srgbClr val="000000"/>
                  </a:solidFill>
                  <a:latin typeface="Tahoma" panose="020B0604030504040204" pitchFamily="34" charset="0"/>
                </a:rPr>
                <a:t>n</a:t>
              </a:r>
              <a:endParaRPr lang="en-US" altLang="zh-CN" dirty="0">
                <a:solidFill>
                  <a:srgbClr val="000000"/>
                </a:solidFill>
                <a:latin typeface="Tahoma" panose="020B0604030504040204" pitchFamily="34" charset="0"/>
              </a:endParaRPr>
            </a:p>
          </p:txBody>
        </p:sp>
        <p:sp>
          <p:nvSpPr>
            <p:cNvPr id="138246" name="矩形 943110"/>
            <p:cNvSpPr/>
            <p:nvPr/>
          </p:nvSpPr>
          <p:spPr>
            <a:xfrm>
              <a:off x="3061" y="1888"/>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dirty="0">
                  <a:solidFill>
                    <a:srgbClr val="000000"/>
                  </a:solidFill>
                  <a:latin typeface="Tahoma" panose="020B0604030504040204" pitchFamily="34" charset="0"/>
                </a:rPr>
                <a:t>标准</a:t>
              </a:r>
              <a:r>
                <a:rPr lang="en-US" altLang="zh-CN" dirty="0">
                  <a:solidFill>
                    <a:srgbClr val="000000"/>
                  </a:solidFill>
                  <a:latin typeface="Tahoma" panose="020B0604030504040204" pitchFamily="34" charset="0"/>
                </a:rPr>
                <a:t>2</a:t>
              </a:r>
              <a:endParaRPr lang="en-US" altLang="zh-CN" dirty="0">
                <a:solidFill>
                  <a:srgbClr val="000000"/>
                </a:solidFill>
                <a:latin typeface="Tahoma" panose="020B0604030504040204" pitchFamily="34" charset="0"/>
              </a:endParaRPr>
            </a:p>
          </p:txBody>
        </p:sp>
        <p:sp>
          <p:nvSpPr>
            <p:cNvPr id="138247" name="矩形 943111"/>
            <p:cNvSpPr/>
            <p:nvPr/>
          </p:nvSpPr>
          <p:spPr>
            <a:xfrm>
              <a:off x="1610" y="1888"/>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dirty="0">
                  <a:solidFill>
                    <a:srgbClr val="000000"/>
                  </a:solidFill>
                  <a:latin typeface="Tahoma" panose="020B0604030504040204" pitchFamily="34" charset="0"/>
                </a:rPr>
                <a:t>标准</a:t>
              </a:r>
              <a:r>
                <a:rPr lang="en-US" altLang="zh-CN" dirty="0">
                  <a:solidFill>
                    <a:srgbClr val="000000"/>
                  </a:solidFill>
                  <a:latin typeface="Tahoma" panose="020B0604030504040204" pitchFamily="34" charset="0"/>
                </a:rPr>
                <a:t>1</a:t>
              </a:r>
              <a:endParaRPr lang="en-US" altLang="zh-CN" dirty="0">
                <a:solidFill>
                  <a:srgbClr val="000000"/>
                </a:solidFill>
                <a:latin typeface="Tahoma" panose="020B0604030504040204" pitchFamily="34" charset="0"/>
              </a:endParaRPr>
            </a:p>
          </p:txBody>
        </p:sp>
        <p:sp>
          <p:nvSpPr>
            <p:cNvPr id="138248" name="矩形 943112"/>
            <p:cNvSpPr/>
            <p:nvPr/>
          </p:nvSpPr>
          <p:spPr>
            <a:xfrm>
              <a:off x="1610" y="2750"/>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dirty="0">
                  <a:solidFill>
                    <a:srgbClr val="000000"/>
                  </a:solidFill>
                  <a:latin typeface="Tahoma" panose="020B0604030504040204" pitchFamily="34" charset="0"/>
                </a:rPr>
                <a:t>方案</a:t>
              </a:r>
              <a:r>
                <a:rPr lang="en-US" altLang="zh-CN" dirty="0">
                  <a:solidFill>
                    <a:srgbClr val="000000"/>
                  </a:solidFill>
                  <a:latin typeface="Tahoma" panose="020B0604030504040204" pitchFamily="34" charset="0"/>
                </a:rPr>
                <a:t>1</a:t>
              </a:r>
              <a:endParaRPr lang="en-US" altLang="zh-CN" dirty="0">
                <a:solidFill>
                  <a:srgbClr val="000000"/>
                </a:solidFill>
                <a:latin typeface="Tahoma" panose="020B0604030504040204" pitchFamily="34" charset="0"/>
              </a:endParaRPr>
            </a:p>
          </p:txBody>
        </p:sp>
        <p:sp>
          <p:nvSpPr>
            <p:cNvPr id="138249" name="矩形 943113"/>
            <p:cNvSpPr/>
            <p:nvPr/>
          </p:nvSpPr>
          <p:spPr>
            <a:xfrm>
              <a:off x="3061" y="2750"/>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zh-CN" altLang="en-US" dirty="0">
                  <a:solidFill>
                    <a:srgbClr val="000000"/>
                  </a:solidFill>
                  <a:latin typeface="Tahoma" panose="020B0604030504040204" pitchFamily="34" charset="0"/>
                </a:rPr>
                <a:t>方案</a:t>
              </a:r>
              <a:r>
                <a:rPr lang="en-US" altLang="zh-CN" dirty="0">
                  <a:solidFill>
                    <a:srgbClr val="000000"/>
                  </a:solidFill>
                  <a:latin typeface="Tahoma" panose="020B0604030504040204" pitchFamily="34" charset="0"/>
                </a:rPr>
                <a:t>2</a:t>
              </a:r>
              <a:endParaRPr lang="en-US" altLang="zh-CN" dirty="0">
                <a:solidFill>
                  <a:srgbClr val="000000"/>
                </a:solidFill>
                <a:latin typeface="Tahoma" panose="020B0604030504040204" pitchFamily="34" charset="0"/>
              </a:endParaRPr>
            </a:p>
          </p:txBody>
        </p:sp>
        <p:sp>
          <p:nvSpPr>
            <p:cNvPr id="138250" name="矩形 943114"/>
            <p:cNvSpPr/>
            <p:nvPr/>
          </p:nvSpPr>
          <p:spPr>
            <a:xfrm>
              <a:off x="4467" y="2750"/>
              <a:ext cx="1089" cy="3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eaLnBrk="0" hangingPunct="0"/>
              <a:r>
                <a:rPr lang="en-US" altLang="zh-CN" dirty="0">
                  <a:solidFill>
                    <a:srgbClr val="000000"/>
                  </a:solidFill>
                  <a:latin typeface="Arial" panose="020B0604020202020204" pitchFamily="34" charset="0"/>
                </a:rPr>
                <a:t>…</a:t>
              </a:r>
              <a:r>
                <a:rPr lang="zh-CN" altLang="en-US" dirty="0">
                  <a:solidFill>
                    <a:srgbClr val="000000"/>
                  </a:solidFill>
                  <a:latin typeface="Tahoma" panose="020B0604030504040204" pitchFamily="34" charset="0"/>
                </a:rPr>
                <a:t>方案</a:t>
              </a:r>
              <a:r>
                <a:rPr lang="en-US" altLang="zh-CN" dirty="0">
                  <a:solidFill>
                    <a:srgbClr val="000000"/>
                  </a:solidFill>
                  <a:latin typeface="Tahoma" panose="020B0604030504040204" pitchFamily="34" charset="0"/>
                </a:rPr>
                <a:t>n</a:t>
              </a:r>
              <a:endParaRPr lang="en-US" altLang="zh-CN" dirty="0">
                <a:solidFill>
                  <a:srgbClr val="000000"/>
                </a:solidFill>
                <a:latin typeface="Tahoma" panose="020B0604030504040204" pitchFamily="34" charset="0"/>
              </a:endParaRPr>
            </a:p>
          </p:txBody>
        </p:sp>
        <p:sp>
          <p:nvSpPr>
            <p:cNvPr id="138251" name="直接连接符 943115"/>
            <p:cNvSpPr/>
            <p:nvPr/>
          </p:nvSpPr>
          <p:spPr>
            <a:xfrm>
              <a:off x="2154" y="1706"/>
              <a:ext cx="2858" cy="0"/>
            </a:xfrm>
            <a:prstGeom prst="line">
              <a:avLst/>
            </a:prstGeom>
            <a:ln w="9525" cap="flat" cmpd="sng">
              <a:solidFill>
                <a:schemeClr val="tx1"/>
              </a:solidFill>
              <a:prstDash val="solid"/>
              <a:round/>
              <a:headEnd type="none" w="med" len="med"/>
              <a:tailEnd type="none" w="med" len="med"/>
            </a:ln>
          </p:spPr>
        </p:sp>
        <p:sp>
          <p:nvSpPr>
            <p:cNvPr id="138252" name="直接连接符 943116"/>
            <p:cNvSpPr/>
            <p:nvPr/>
          </p:nvSpPr>
          <p:spPr>
            <a:xfrm>
              <a:off x="3606" y="1570"/>
              <a:ext cx="0" cy="318"/>
            </a:xfrm>
            <a:prstGeom prst="line">
              <a:avLst/>
            </a:prstGeom>
            <a:ln w="9525" cap="flat" cmpd="sng">
              <a:solidFill>
                <a:schemeClr val="tx1"/>
              </a:solidFill>
              <a:prstDash val="solid"/>
              <a:round/>
              <a:headEnd type="none" w="med" len="med"/>
              <a:tailEnd type="none" w="med" len="med"/>
            </a:ln>
          </p:spPr>
        </p:sp>
        <p:sp>
          <p:nvSpPr>
            <p:cNvPr id="138253" name="直接连接符 943117"/>
            <p:cNvSpPr/>
            <p:nvPr/>
          </p:nvSpPr>
          <p:spPr>
            <a:xfrm>
              <a:off x="2154" y="1706"/>
              <a:ext cx="0" cy="182"/>
            </a:xfrm>
            <a:prstGeom prst="line">
              <a:avLst/>
            </a:prstGeom>
            <a:ln w="9525" cap="flat" cmpd="sng">
              <a:solidFill>
                <a:schemeClr val="tx1"/>
              </a:solidFill>
              <a:prstDash val="solid"/>
              <a:round/>
              <a:headEnd type="none" w="med" len="med"/>
              <a:tailEnd type="none" w="med" len="med"/>
            </a:ln>
          </p:spPr>
        </p:sp>
        <p:sp>
          <p:nvSpPr>
            <p:cNvPr id="138254" name="直接连接符 943118"/>
            <p:cNvSpPr/>
            <p:nvPr/>
          </p:nvSpPr>
          <p:spPr>
            <a:xfrm>
              <a:off x="5012" y="1706"/>
              <a:ext cx="0" cy="181"/>
            </a:xfrm>
            <a:prstGeom prst="line">
              <a:avLst/>
            </a:prstGeom>
            <a:ln w="9525" cap="flat" cmpd="sng">
              <a:solidFill>
                <a:schemeClr val="tx1"/>
              </a:solidFill>
              <a:prstDash val="solid"/>
              <a:round/>
              <a:headEnd type="none" w="med" len="med"/>
              <a:tailEnd type="none" w="med" len="med"/>
            </a:ln>
          </p:spPr>
        </p:sp>
        <p:sp>
          <p:nvSpPr>
            <p:cNvPr id="138255" name="直接连接符 943119"/>
            <p:cNvSpPr/>
            <p:nvPr/>
          </p:nvSpPr>
          <p:spPr>
            <a:xfrm>
              <a:off x="2154" y="2251"/>
              <a:ext cx="0" cy="499"/>
            </a:xfrm>
            <a:prstGeom prst="line">
              <a:avLst/>
            </a:prstGeom>
            <a:ln w="9525" cap="flat" cmpd="sng">
              <a:solidFill>
                <a:schemeClr val="tx1"/>
              </a:solidFill>
              <a:prstDash val="solid"/>
              <a:round/>
              <a:headEnd type="none" w="med" len="med"/>
              <a:tailEnd type="none" w="med" len="med"/>
            </a:ln>
          </p:spPr>
        </p:sp>
        <p:sp>
          <p:nvSpPr>
            <p:cNvPr id="138256" name="直接连接符 943120"/>
            <p:cNvSpPr/>
            <p:nvPr/>
          </p:nvSpPr>
          <p:spPr>
            <a:xfrm>
              <a:off x="3606" y="2251"/>
              <a:ext cx="0" cy="499"/>
            </a:xfrm>
            <a:prstGeom prst="line">
              <a:avLst/>
            </a:prstGeom>
            <a:ln w="9525" cap="flat" cmpd="sng">
              <a:solidFill>
                <a:schemeClr val="tx1"/>
              </a:solidFill>
              <a:prstDash val="solid"/>
              <a:round/>
              <a:headEnd type="none" w="med" len="med"/>
              <a:tailEnd type="none" w="med" len="med"/>
            </a:ln>
          </p:spPr>
        </p:sp>
        <p:sp>
          <p:nvSpPr>
            <p:cNvPr id="138257" name="直接连接符 943121"/>
            <p:cNvSpPr/>
            <p:nvPr/>
          </p:nvSpPr>
          <p:spPr>
            <a:xfrm>
              <a:off x="5012" y="2251"/>
              <a:ext cx="0" cy="499"/>
            </a:xfrm>
            <a:prstGeom prst="line">
              <a:avLst/>
            </a:prstGeom>
            <a:ln w="9525" cap="flat" cmpd="sng">
              <a:solidFill>
                <a:schemeClr val="tx1"/>
              </a:solidFill>
              <a:prstDash val="solid"/>
              <a:round/>
              <a:headEnd type="none" w="med" len="med"/>
              <a:tailEnd type="none" w="med" len="med"/>
            </a:ln>
          </p:spPr>
        </p:sp>
        <p:sp>
          <p:nvSpPr>
            <p:cNvPr id="138258" name="直接连接符 943122"/>
            <p:cNvSpPr/>
            <p:nvPr/>
          </p:nvSpPr>
          <p:spPr>
            <a:xfrm>
              <a:off x="2154" y="2251"/>
              <a:ext cx="1452" cy="499"/>
            </a:xfrm>
            <a:prstGeom prst="line">
              <a:avLst/>
            </a:prstGeom>
            <a:ln w="9525" cap="flat" cmpd="sng">
              <a:solidFill>
                <a:schemeClr val="tx1"/>
              </a:solidFill>
              <a:prstDash val="solid"/>
              <a:round/>
              <a:headEnd type="none" w="med" len="med"/>
              <a:tailEnd type="none" w="med" len="med"/>
            </a:ln>
          </p:spPr>
        </p:sp>
        <p:sp>
          <p:nvSpPr>
            <p:cNvPr id="138259" name="直接连接符 943123"/>
            <p:cNvSpPr/>
            <p:nvPr/>
          </p:nvSpPr>
          <p:spPr>
            <a:xfrm>
              <a:off x="3606" y="2251"/>
              <a:ext cx="1406" cy="453"/>
            </a:xfrm>
            <a:prstGeom prst="line">
              <a:avLst/>
            </a:prstGeom>
            <a:ln w="9525" cap="flat" cmpd="sng">
              <a:solidFill>
                <a:schemeClr val="tx1"/>
              </a:solidFill>
              <a:prstDash val="solid"/>
              <a:round/>
              <a:headEnd type="none" w="med" len="med"/>
              <a:tailEnd type="none" w="med" len="med"/>
            </a:ln>
          </p:spPr>
        </p:sp>
        <p:sp>
          <p:nvSpPr>
            <p:cNvPr id="138260" name="直接连接符 943124"/>
            <p:cNvSpPr/>
            <p:nvPr/>
          </p:nvSpPr>
          <p:spPr>
            <a:xfrm>
              <a:off x="2154" y="2251"/>
              <a:ext cx="2858" cy="453"/>
            </a:xfrm>
            <a:prstGeom prst="line">
              <a:avLst/>
            </a:prstGeom>
            <a:ln w="9525" cap="flat" cmpd="sng">
              <a:solidFill>
                <a:schemeClr val="tx1"/>
              </a:solidFill>
              <a:prstDash val="solid"/>
              <a:round/>
              <a:headEnd type="none" w="med" len="med"/>
              <a:tailEnd type="none" w="med" len="med"/>
            </a:ln>
          </p:spPr>
        </p:sp>
        <p:sp>
          <p:nvSpPr>
            <p:cNvPr id="138261" name="直接连接符 943125"/>
            <p:cNvSpPr/>
            <p:nvPr/>
          </p:nvSpPr>
          <p:spPr>
            <a:xfrm flipH="1">
              <a:off x="3651" y="2296"/>
              <a:ext cx="1316" cy="454"/>
            </a:xfrm>
            <a:prstGeom prst="line">
              <a:avLst/>
            </a:prstGeom>
            <a:ln w="9525" cap="flat" cmpd="sng">
              <a:solidFill>
                <a:schemeClr val="tx1"/>
              </a:solidFill>
              <a:prstDash val="solid"/>
              <a:round/>
              <a:headEnd type="none" w="med" len="med"/>
              <a:tailEnd type="none" w="med" len="med"/>
            </a:ln>
          </p:spPr>
        </p:sp>
        <p:sp>
          <p:nvSpPr>
            <p:cNvPr id="138262" name="直接连接符 943126"/>
            <p:cNvSpPr/>
            <p:nvPr/>
          </p:nvSpPr>
          <p:spPr>
            <a:xfrm flipH="1">
              <a:off x="2109" y="2251"/>
              <a:ext cx="2858" cy="499"/>
            </a:xfrm>
            <a:prstGeom prst="line">
              <a:avLst/>
            </a:prstGeom>
            <a:ln w="9525" cap="flat" cmpd="sng">
              <a:solidFill>
                <a:schemeClr val="tx1"/>
              </a:solidFill>
              <a:prstDash val="solid"/>
              <a:round/>
              <a:headEnd type="none" w="med" len="med"/>
              <a:tailEnd type="none" w="med" len="med"/>
            </a:ln>
          </p:spPr>
        </p:sp>
        <p:sp>
          <p:nvSpPr>
            <p:cNvPr id="138263" name="直接连接符 943127"/>
            <p:cNvSpPr/>
            <p:nvPr/>
          </p:nvSpPr>
          <p:spPr>
            <a:xfrm flipH="1">
              <a:off x="2109" y="2251"/>
              <a:ext cx="1497" cy="499"/>
            </a:xfrm>
            <a:prstGeom prst="line">
              <a:avLst/>
            </a:prstGeom>
            <a:ln w="9525" cap="flat" cmpd="sng">
              <a:solidFill>
                <a:schemeClr val="tx1"/>
              </a:solidFill>
              <a:prstDash val="solid"/>
              <a:round/>
              <a:headEnd type="none" w="med" len="med"/>
              <a:tailEnd type="none" w="med" len="med"/>
            </a:ln>
          </p:spPr>
        </p:sp>
      </p:grpSp>
      <p:sp>
        <p:nvSpPr>
          <p:cNvPr id="945155" name="标题 945154"/>
          <p:cNvSpPr>
            <a:spLocks noGrp="1"/>
          </p:cNvSpPr>
          <p:nvPr/>
        </p:nvSpPr>
        <p:spPr>
          <a:xfrm>
            <a:off x="2251075" y="1196975"/>
            <a:ext cx="2309813" cy="379413"/>
          </a:xfrm>
          <a:prstGeom prst="rect">
            <a:avLst/>
          </a:prstGeom>
        </p:spPr>
        <p:txBody>
          <a:bodyPr vert="horz" wrap="square" lIns="91440" tIns="45720" rIns="91440" bIns="45720" numCol="1" anchor="ctr" anchorCtr="0" compatLnSpc="1"/>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rPr>
              <a:t>收益测量法</a:t>
            </a:r>
            <a:endParaRPr kumimoji="0" lang="zh-CN" altLang="en-US" sz="3200" b="1" i="0" u="none" strike="noStrike" kern="1200" cap="none" spc="0" normalizeH="0" baseline="0" noProof="0" dirty="0">
              <a:ln>
                <a:noFill/>
              </a:ln>
              <a:solidFill>
                <a:srgbClr val="572314"/>
              </a:solidFill>
              <a:effectLst>
                <a:outerShdw blurRad="50000" dist="30000" dir="5400000" algn="tl" rotWithShape="0">
                  <a:srgbClr val="000000">
                    <a:alpha val="30000"/>
                  </a:srgbClr>
                </a:outerShdw>
              </a:effectLst>
              <a:uLnTx/>
              <a:uFillTx/>
              <a:latin typeface="+mj-lt"/>
              <a:ea typeface="+mj-ea"/>
              <a:cs typeface="+mj-cs"/>
            </a:endParaRPr>
          </a:p>
        </p:txBody>
      </p:sp>
      <p:sp>
        <p:nvSpPr>
          <p:cNvPr id="4" name="Rectangle 1026"/>
          <p:cNvSpPr txBox="1">
            <a:spLocks noChangeArrowheads="1"/>
          </p:cNvSpPr>
          <p:nvPr/>
        </p:nvSpPr>
        <p:spPr>
          <a:xfrm>
            <a:off x="2252663" y="44450"/>
            <a:ext cx="7740650" cy="1223963"/>
          </a:xfrm>
          <a:prstGeom prst="rect">
            <a:avLst/>
          </a:prstGeom>
        </p:spPr>
        <p:txBody>
          <a:bodyPr anchor="ct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anose="020B0502020104020203" pitchFamily="34" charset="0"/>
              </a:defRPr>
            </a:lvl2pPr>
            <a:lvl3pPr algn="l" rtl="0" eaLnBrk="0" fontAlgn="base" hangingPunct="0">
              <a:spcBef>
                <a:spcPct val="0"/>
              </a:spcBef>
              <a:spcAft>
                <a:spcPct val="0"/>
              </a:spcAft>
              <a:defRPr sz="4300">
                <a:solidFill>
                  <a:srgbClr val="572314"/>
                </a:solidFill>
                <a:latin typeface="Gill Sans MT" panose="020B0502020104020203" pitchFamily="34" charset="0"/>
              </a:defRPr>
            </a:lvl3pPr>
            <a:lvl4pPr algn="l" rtl="0" eaLnBrk="0" fontAlgn="base" hangingPunct="0">
              <a:spcBef>
                <a:spcPct val="0"/>
              </a:spcBef>
              <a:spcAft>
                <a:spcPct val="0"/>
              </a:spcAft>
              <a:defRPr sz="4300">
                <a:solidFill>
                  <a:srgbClr val="572314"/>
                </a:solidFill>
                <a:latin typeface="Gill Sans MT" panose="020B0502020104020203" pitchFamily="34" charset="0"/>
              </a:defRPr>
            </a:lvl4pPr>
            <a:lvl5pPr algn="l" rtl="0" eaLnBrk="0" fontAlgn="base" hangingPunct="0">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n"/>
              <a:defRPr/>
            </a:pPr>
            <a:r>
              <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rPr>
              <a:t>扩展学习</a:t>
            </a:r>
            <a:endParaRPr kumimoji="0" lang="zh-CN" altLang="en-US" sz="3200" b="1" i="0" u="none" strike="noStrike" kern="1200" cap="none" spc="0" normalizeH="0" baseline="0" noProof="0" dirty="0">
              <a:ln>
                <a:noFill/>
              </a:ln>
              <a:solidFill>
                <a:srgbClr val="2306FA"/>
              </a:solidFill>
              <a:effectLst>
                <a:outerShdw blurRad="50000" dist="30000" dir="5400000" algn="tl" rotWithShape="0">
                  <a:srgbClr val="000000">
                    <a:alpha val="30000"/>
                  </a:srgbClr>
                </a:outerShdw>
              </a:effectLst>
              <a:uLnTx/>
              <a:uFillTx/>
              <a:latin typeface="+mn-ea"/>
              <a:ea typeface="+mn-ea"/>
              <a:cs typeface="+mj-cs"/>
            </a:endParaRPr>
          </a:p>
        </p:txBody>
      </p:sp>
      <p:cxnSp>
        <p:nvCxnSpPr>
          <p:cNvPr id="5" name="直接连接符 4"/>
          <p:cNvCxnSpPr/>
          <p:nvPr/>
        </p:nvCxnSpPr>
        <p:spPr>
          <a:xfrm>
            <a:off x="2474913" y="1003300"/>
            <a:ext cx="770413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43107">
                                            <p:txEl>
                                              <p:pRg st="0" end="0"/>
                                            </p:txEl>
                                          </p:spTgt>
                                        </p:tgtEl>
                                        <p:attrNameLst>
                                          <p:attrName>style.visibility</p:attrName>
                                        </p:attrNameLst>
                                      </p:cBhvr>
                                      <p:to>
                                        <p:strVal val="visible"/>
                                      </p:to>
                                    </p:set>
                                    <p:anim calcmode="lin" valueType="num">
                                      <p:cBhvr>
                                        <p:cTn id="7" dur="500" fill="hold"/>
                                        <p:tgtEl>
                                          <p:spTgt spid="943107">
                                            <p:txEl>
                                              <p:pRg st="0" end="0"/>
                                            </p:txEl>
                                          </p:spTgt>
                                        </p:tgtEl>
                                        <p:attrNameLst>
                                          <p:attrName>ppt_x</p:attrName>
                                        </p:attrNameLst>
                                      </p:cBhvr>
                                      <p:tavLst>
                                        <p:tav tm="0">
                                          <p:val>
                                            <p:strVal val="0-#ppt_w/2"/>
                                          </p:val>
                                        </p:tav>
                                        <p:tav tm="100000">
                                          <p:val>
                                            <p:strVal val="#ppt_x"/>
                                          </p:val>
                                        </p:tav>
                                      </p:tavLst>
                                    </p:anim>
                                    <p:anim calcmode="lin" valueType="num">
                                      <p:cBhvr>
                                        <p:cTn id="8" dur="500" fill="hold"/>
                                        <p:tgtEl>
                                          <p:spTgt spid="943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43107">
                                            <p:txEl>
                                              <p:pRg st="2" end="2"/>
                                            </p:txEl>
                                          </p:spTgt>
                                        </p:tgtEl>
                                        <p:attrNameLst>
                                          <p:attrName>style.visibility</p:attrName>
                                        </p:attrNameLst>
                                      </p:cBhvr>
                                      <p:to>
                                        <p:strVal val="visible"/>
                                      </p:to>
                                    </p:set>
                                    <p:anim calcmode="lin" valueType="num">
                                      <p:cBhvr>
                                        <p:cTn id="13" dur="500" fill="hold"/>
                                        <p:tgtEl>
                                          <p:spTgt spid="943107">
                                            <p:txEl>
                                              <p:pRg st="2" end="2"/>
                                            </p:txEl>
                                          </p:spTgt>
                                        </p:tgtEl>
                                        <p:attrNameLst>
                                          <p:attrName>ppt_x</p:attrName>
                                        </p:attrNameLst>
                                      </p:cBhvr>
                                      <p:tavLst>
                                        <p:tav tm="0">
                                          <p:val>
                                            <p:strVal val="0-#ppt_w/2"/>
                                          </p:val>
                                        </p:tav>
                                        <p:tav tm="100000">
                                          <p:val>
                                            <p:strVal val="#ppt_x"/>
                                          </p:val>
                                        </p:tav>
                                      </p:tavLst>
                                    </p:anim>
                                    <p:anim calcmode="lin" valueType="num">
                                      <p:cBhvr>
                                        <p:cTn id="14" dur="500" fill="hold"/>
                                        <p:tgtEl>
                                          <p:spTgt spid="9431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43107">
                                            <p:txEl>
                                              <p:pRg st="4" end="4"/>
                                            </p:txEl>
                                          </p:spTgt>
                                        </p:tgtEl>
                                        <p:attrNameLst>
                                          <p:attrName>style.visibility</p:attrName>
                                        </p:attrNameLst>
                                      </p:cBhvr>
                                      <p:to>
                                        <p:strVal val="visible"/>
                                      </p:to>
                                    </p:set>
                                    <p:anim calcmode="lin" valueType="num">
                                      <p:cBhvr>
                                        <p:cTn id="19" dur="500" fill="hold"/>
                                        <p:tgtEl>
                                          <p:spTgt spid="943107">
                                            <p:txEl>
                                              <p:pRg st="4" end="4"/>
                                            </p:txEl>
                                          </p:spTgt>
                                        </p:tgtEl>
                                        <p:attrNameLst>
                                          <p:attrName>ppt_x</p:attrName>
                                        </p:attrNameLst>
                                      </p:cBhvr>
                                      <p:tavLst>
                                        <p:tav tm="0">
                                          <p:val>
                                            <p:strVal val="0-#ppt_w/2"/>
                                          </p:val>
                                        </p:tav>
                                        <p:tav tm="100000">
                                          <p:val>
                                            <p:strVal val="#ppt_x"/>
                                          </p:val>
                                        </p:tav>
                                      </p:tavLst>
                                    </p:anim>
                                    <p:anim calcmode="lin" valueType="num">
                                      <p:cBhvr>
                                        <p:cTn id="20" dur="500" fill="hold"/>
                                        <p:tgtEl>
                                          <p:spTgt spid="9431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43108"/>
                                        </p:tgtEl>
                                        <p:attrNameLst>
                                          <p:attrName>style.visibility</p:attrName>
                                        </p:attrNameLst>
                                      </p:cBhvr>
                                      <p:to>
                                        <p:strVal val="visible"/>
                                      </p:to>
                                    </p:set>
                                    <p:anim calcmode="lin" valueType="num">
                                      <p:cBhvr>
                                        <p:cTn id="25" dur="500" fill="hold"/>
                                        <p:tgtEl>
                                          <p:spTgt spid="943108"/>
                                        </p:tgtEl>
                                        <p:attrNameLst>
                                          <p:attrName>ppt_x</p:attrName>
                                        </p:attrNameLst>
                                      </p:cBhvr>
                                      <p:tavLst>
                                        <p:tav tm="0">
                                          <p:val>
                                            <p:strVal val="0-#ppt_w/2"/>
                                          </p:val>
                                        </p:tav>
                                        <p:tav tm="100000">
                                          <p:val>
                                            <p:strVal val="#ppt_x"/>
                                          </p:val>
                                        </p:tav>
                                      </p:tavLst>
                                    </p:anim>
                                    <p:anim calcmode="lin" valueType="num">
                                      <p:cBhvr>
                                        <p:cTn id="26" dur="500" fill="hold"/>
                                        <p:tgtEl>
                                          <p:spTgt spid="943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7"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02" name="Rectangle 2"/>
          <p:cNvSpPr>
            <a:spLocks noChangeArrowheads="1"/>
          </p:cNvSpPr>
          <p:nvPr/>
        </p:nvSpPr>
        <p:spPr bwMode="auto">
          <a:xfrm>
            <a:off x="4079875" y="1844675"/>
            <a:ext cx="5286375" cy="2163763"/>
          </a:xfrm>
          <a:prstGeom prst="rect">
            <a:avLst/>
          </a:prstGeom>
          <a:noFill/>
          <a:ln w="9525">
            <a:noFill/>
            <a:miter lim="800000"/>
          </a:ln>
        </p:spPr>
        <p:txBody>
          <a:bodyPr lIns="92075" tIns="46038" rIns="92075" bIns="46038" anchor="ct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zh-CN" altLang="en-US" sz="6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Times New Roman" panose="02020603050405020304" pitchFamily="18" charset="0"/>
              </a:rPr>
              <a:t>谢谢！</a:t>
            </a:r>
            <a:endParaRPr kumimoji="1" lang="en-US" altLang="zh-CN" sz="6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139266" name="灯片编号占位符 5"/>
          <p:cNvSpPr>
            <a:spLocks noGrp="1"/>
          </p:cNvSpPr>
          <p:nvPr>
            <p:ph type="sldNum" sz="quarter" idx="4"/>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en-US" sz="1200" dirty="0">
                <a:solidFill>
                  <a:srgbClr val="898989"/>
                </a:solidFill>
                <a:latin typeface="Times New Roman" panose="02020603050405020304" pitchFamily="18" charset="0"/>
              </a:rPr>
            </a:fld>
            <a:endParaRPr lang="en-US" altLang="en-US" sz="1200" dirty="0">
              <a:solidFill>
                <a:srgbClr val="898989"/>
              </a:solidFill>
              <a:latin typeface="Times New Roman" panose="02020603050405020304" pitchFamily="18" charset="0"/>
            </a:endParaRPr>
          </a:p>
        </p:txBody>
      </p:sp>
    </p:spTree>
  </p:cSld>
  <p:clrMapOvr>
    <a:masterClrMapping/>
  </p:clrMapOvr>
  <p:transition>
    <p:strips dir="rd"/>
  </p:transition>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UNIT_TABLE_BEAUTIFY" val="smartTable{38fa51e0-45c7-47e5-b1ed-009c34ef54e1}"/>
</p:tagLst>
</file>

<file path=ppt/tags/tag3.xml><?xml version="1.0" encoding="utf-8"?>
<p:tagLst xmlns:p="http://schemas.openxmlformats.org/presentationml/2006/main">
  <p:tag name="TABLE_ENDDRAG_ORIGIN_RECT" val="712*451"/>
  <p:tag name="TABLE_ENDDRAG_RECT" val="120*79*712*451"/>
</p:tagLst>
</file>

<file path=ppt/tags/tag4.xml><?xml version="1.0" encoding="utf-8"?>
<p:tagLst xmlns:p="http://schemas.openxmlformats.org/presentationml/2006/main">
  <p:tag name="TABLE_ENDDRAG_ORIGIN_RECT" val="762*385"/>
  <p:tag name="TABLE_ENDDRAG_RECT" val="139*122*762*385"/>
</p:tagLst>
</file>

<file path=ppt/tags/tag5.xml><?xml version="1.0" encoding="utf-8"?>
<p:tagLst xmlns:p="http://schemas.openxmlformats.org/presentationml/2006/main">
  <p:tag name="KSO_WPP_MARK_KEY" val="00d7634e-2b25-40a6-9e5a-3449928beb6f"/>
  <p:tag name="COMMONDATA" val="eyJoZGlkIjoiNjBiNzQ1ZDc1NjM1ZjkwYjdkMmU4NGUyNGE2NzVjMzIifQ=="/>
  <p:tag name="commondata" val="eyJoZGlkIjoiNTYxMGZjMzAzM2E0NDZlZWQwNDNkNjViZDM1YmQwYmYifQ=="/>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16727</Words>
  <Application>WPS 演示</Application>
  <PresentationFormat>全屏显示(4:3)</PresentationFormat>
  <Paragraphs>1883</Paragraphs>
  <Slides>113</Slides>
  <Notes>6</Notes>
  <HiddenSlides>0</HiddenSlides>
  <MMClips>0</MMClips>
  <ScaleCrop>false</ScaleCrop>
  <HeadingPairs>
    <vt:vector size="8" baseType="variant">
      <vt:variant>
        <vt:lpstr>已用的字体</vt:lpstr>
      </vt:variant>
      <vt:variant>
        <vt:i4>31</vt:i4>
      </vt:variant>
      <vt:variant>
        <vt:lpstr>主题</vt:lpstr>
      </vt:variant>
      <vt:variant>
        <vt:i4>4</vt:i4>
      </vt:variant>
      <vt:variant>
        <vt:lpstr>嵌入 OLE 服务器</vt:lpstr>
      </vt:variant>
      <vt:variant>
        <vt:i4>8</vt:i4>
      </vt:variant>
      <vt:variant>
        <vt:lpstr>幻灯片标题</vt:lpstr>
      </vt:variant>
      <vt:variant>
        <vt:i4>113</vt:i4>
      </vt:variant>
    </vt:vector>
  </HeadingPairs>
  <TitlesOfParts>
    <vt:vector size="156" baseType="lpstr">
      <vt:lpstr>Arial</vt:lpstr>
      <vt:lpstr>宋体</vt:lpstr>
      <vt:lpstr>Wingdings</vt:lpstr>
      <vt:lpstr>Times New Roman</vt:lpstr>
      <vt:lpstr>Gill Sans MT</vt:lpstr>
      <vt:lpstr>Wingdings 2</vt:lpstr>
      <vt:lpstr>Verdana</vt:lpstr>
      <vt:lpstr>Wingdings 2</vt:lpstr>
      <vt:lpstr>隶书</vt:lpstr>
      <vt:lpstr>华文中宋</vt:lpstr>
      <vt:lpstr>华文行楷</vt:lpstr>
      <vt:lpstr>楷体_GB2312</vt:lpstr>
      <vt:lpstr>楷体_GB2312</vt:lpstr>
      <vt:lpstr>新宋体</vt:lpstr>
      <vt:lpstr>Wingdings</vt:lpstr>
      <vt:lpstr>Tahoma</vt:lpstr>
      <vt:lpstr>微软雅黑</vt:lpstr>
      <vt:lpstr>Arial Unicode MS</vt:lpstr>
      <vt:lpstr>华文新魏</vt:lpstr>
      <vt:lpstr>华文楷体</vt:lpstr>
      <vt:lpstr>Franklin Gothic Book</vt:lpstr>
      <vt:lpstr>黑体</vt:lpstr>
      <vt:lpstr>Arial Black</vt:lpstr>
      <vt:lpstr>Symbol</vt:lpstr>
      <vt:lpstr>Calibri</vt:lpstr>
      <vt:lpstr>仿宋</vt:lpstr>
      <vt:lpstr>楷体</vt:lpstr>
      <vt:lpstr>var(--dsw-font-markdown-table-head)</vt:lpstr>
      <vt:lpstr>var(--dsw-font-markdown-table)</vt:lpstr>
      <vt:lpstr>Helvetica Neue</vt:lpstr>
      <vt:lpstr>ksdb</vt:lpstr>
      <vt:lpstr>夏至</vt:lpstr>
      <vt:lpstr>5_夏至</vt:lpstr>
      <vt:lpstr>1_夏至</vt:lpstr>
      <vt:lpstr>2_夏至</vt:lpstr>
      <vt:lpstr>Paint.Picture</vt:lpstr>
      <vt:lpstr>Visio.Drawing.11</vt:lpstr>
      <vt:lpstr>Equation.3</vt:lpstr>
      <vt:lpstr>Equation.3</vt:lpstr>
      <vt:lpstr>Paint.Picture</vt:lpstr>
      <vt:lpstr>Paint.Picture</vt:lpstr>
      <vt:lpstr>Paint.Picture</vt:lpstr>
      <vt:lpstr>Paint.Picture</vt:lpstr>
      <vt:lpstr>PowerPoint 演示文稿</vt:lpstr>
      <vt:lpstr>PowerPoint 演示文稿</vt:lpstr>
      <vt:lpstr>课 程 回 顾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 什么是项目集成管理</vt:lpstr>
      <vt:lpstr>PowerPoint 演示文稿</vt:lpstr>
      <vt:lpstr>4.1 什么是项目集成管理</vt:lpstr>
      <vt:lpstr>4.1 什么是项目集成管理</vt:lpstr>
      <vt:lpstr>4.1 什么是项目集成管理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 什么是项目集成管理</vt:lpstr>
      <vt:lpstr>4.1 什么是项目集成管理</vt:lpstr>
      <vt:lpstr>4.1 什么是项目集成管理</vt:lpstr>
      <vt:lpstr>PowerPoint 演示文稿</vt:lpstr>
      <vt:lpstr>PowerPoint 演示文稿</vt:lpstr>
      <vt:lpstr>PowerPoint 演示文稿</vt:lpstr>
      <vt:lpstr>PowerPoint 演示文稿</vt:lpstr>
      <vt:lpstr>项目集成管理中的几个要素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选择项目的方法</vt:lpstr>
      <vt:lpstr>1. 关注整个组织的需求</vt:lpstr>
      <vt:lpstr>2. 对IT项目进行分类</vt:lpstr>
      <vt:lpstr>3. 进行财务分析</vt:lpstr>
      <vt:lpstr>净现值分析（对未来收入或支出的一笔资金的当前价值的估算）</vt:lpstr>
      <vt:lpstr>PowerPoint 演示文稿</vt:lpstr>
      <vt:lpstr>PowerPoint 演示文稿</vt:lpstr>
      <vt:lpstr>PowerPoint 演示文稿</vt:lpstr>
      <vt:lpstr>投资回报率/投资回报</vt:lpstr>
      <vt:lpstr>回收期分析</vt:lpstr>
      <vt:lpstr>4. 加权评分模型</vt:lpstr>
      <vt:lpstr>PowerPoint 演示文稿</vt:lpstr>
      <vt:lpstr>公司投资IT项目的原因</vt:lpstr>
      <vt:lpstr>5、平衡计分卡方法</vt:lpstr>
      <vt:lpstr>5、平衡计分卡方法</vt:lpstr>
      <vt:lpstr>PowerPoint 演示文稿</vt:lpstr>
      <vt:lpstr>PowerPoint 演示文稿</vt:lpstr>
      <vt:lpstr>PowerPoint 演示文稿</vt:lpstr>
      <vt:lpstr>PowerPoint 演示文稿</vt:lpstr>
      <vt:lpstr>PowerPoint 演示文稿</vt:lpstr>
      <vt:lpstr>4.3 制定项目管理计划</vt:lpstr>
      <vt:lpstr>PowerPoint 演示文稿</vt:lpstr>
      <vt:lpstr>PowerPoint 演示文稿</vt:lpstr>
      <vt:lpstr>PowerPoint 演示文稿</vt:lpstr>
      <vt:lpstr>PowerPoint 演示文稿</vt:lpstr>
      <vt:lpstr>4.3 制定项目管理计划</vt:lpstr>
      <vt:lpstr>4.3 制定项目管理计划</vt:lpstr>
      <vt:lpstr>4.3 制定项目管理计划</vt:lpstr>
      <vt:lpstr>4.3 制定项目管理计划</vt:lpstr>
      <vt:lpstr>4.3 制定项目管理计划</vt:lpstr>
      <vt:lpstr>4.3 制定项目管理计划</vt:lpstr>
      <vt:lpstr>4.3 制定项目管理计划</vt:lpstr>
      <vt:lpstr>4.3 制定项目管理计划</vt:lpstr>
      <vt:lpstr>PowerPoint 演示文稿</vt:lpstr>
      <vt:lpstr>PowerPoint 演示文稿</vt:lpstr>
      <vt:lpstr>PowerPoint 演示文稿</vt:lpstr>
      <vt:lpstr>PowerPoint 演示文稿</vt:lpstr>
      <vt:lpstr>PowerPoint 演示文稿</vt:lpstr>
      <vt:lpstr>PowerPoint 演示文稿</vt:lpstr>
      <vt:lpstr>*  管理项目知识</vt:lpstr>
      <vt:lpstr>*  管理项目知识</vt:lpstr>
      <vt:lpstr>4.5 监控项目工作</vt:lpstr>
      <vt:lpstr>4.5 监控项目工作</vt:lpstr>
      <vt:lpstr>4.5 监控项目工作</vt:lpstr>
      <vt:lpstr>4.5 监控项目工作</vt:lpstr>
      <vt:lpstr>4.5 监控项目工作</vt:lpstr>
      <vt:lpstr>4.6 实施集成变更控制</vt:lpstr>
      <vt:lpstr>4.6 实施集成变更控制</vt:lpstr>
      <vt:lpstr>4.6 实施集成变更控制</vt:lpstr>
      <vt:lpstr>4.6 实施集成变更控制</vt:lpstr>
      <vt:lpstr>4.6 实施集成变更控制</vt:lpstr>
      <vt:lpstr>4.6 实施集成变更控制</vt:lpstr>
      <vt:lpstr>4.6 实施集成变更控制</vt:lpstr>
      <vt:lpstr>4.7 项目或阶段收尾</vt:lpstr>
      <vt:lpstr>4.7 项目或阶段收尾</vt:lpstr>
      <vt:lpstr>4.7 项目或阶段收尾</vt:lpstr>
      <vt:lpstr>PowerPoint 演示文稿</vt:lpstr>
      <vt:lpstr>PowerPoint 演示文稿</vt:lpstr>
      <vt:lpstr>PowerPoint 演示文稿</vt:lpstr>
      <vt:lpstr>收益测量法</vt:lpstr>
      <vt:lpstr>收益测量法</vt:lpstr>
      <vt:lpstr>3.财务净现值</vt:lpstr>
      <vt:lpstr>净现值法的缺陷</vt:lpstr>
      <vt:lpstr>4.内部收益率法</vt:lpstr>
      <vt:lpstr>5.要素加权分析方法</vt:lpstr>
      <vt:lpstr>6.层次分析法</vt:lpstr>
      <vt:lpstr>PowerPoint 演示文稿</vt:lpstr>
    </vt:vector>
  </TitlesOfParts>
  <Company>csu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第一部分  多媒体技术基础</dc:title>
  <dc:creator>djhuang</dc:creator>
  <cp:lastModifiedBy>琦</cp:lastModifiedBy>
  <cp:revision>769</cp:revision>
  <dcterms:created xsi:type="dcterms:W3CDTF">2010-05-04T15:11:00Z</dcterms:created>
  <dcterms:modified xsi:type="dcterms:W3CDTF">2026-05-26T03:12:39Z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FD7F20C2C0D34664B8BBE88E9D8233C4_13</vt:lpwstr>
  </property>
</Properties>
</file>